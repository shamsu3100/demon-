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c:v>
                </c:pt>
              </c:strCache>
            </c:strRef>
          </c:tx>
          <c:spPr>
            <a:solidFill>
              <a:srgbClr val="00776A"/>
            </a:solidFill>
            <a:effectLst/>
          </c:spPr>
          <c:invertIfNegative val="0"/>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dPt>
            <c:idx val="0"/>
            <c:invertIfNegative val="0"/>
            <c:bubble3D val="0"/>
            <c:spPr>
              <a:solidFill>
                <a:srgbClr val="00776A"/>
              </a:solidFill>
              <a:effectLst/>
            </c:spPr>
          </c:dPt>
          <c:dPt>
            <c:idx val="1"/>
            <c:invertIfNegative val="0"/>
            <c:bubble3D val="0"/>
            <c:spPr>
              <a:solidFill>
                <a:srgbClr val="BE3A2B"/>
              </a:solidFill>
              <a:effectLst/>
            </c:spPr>
          </c:dPt>
          <c:dPt>
            <c:idx val="2"/>
            <c:invertIfNegative val="0"/>
            <c:bubble3D val="0"/>
            <c:spPr>
              <a:solidFill>
                <a:srgbClr val="A85F00"/>
              </a:solidFill>
              <a:effectLst/>
            </c:spPr>
          </c:dPt>
          <c:cat>
            <c:multiLvlStrRef>
              <c:f>Sheet1!$A$2:$A$4</c:f>
              <c:multiLvlStrCache>
                <c:ptCount val="3"/>
                <c:lvl>
                  <c:pt idx="0">
                    <c:v>Plain arithmetic</c:v>
                  </c:pt>
                  <c:pt idx="1">
                    <c:v>Small model</c:v>
                  </c:pt>
                  <c:pt idx="2">
                    <c:v>Larger model</c:v>
                  </c:pt>
                </c:lvl>
              </c:multiLvlStrCache>
            </c:multiLvlStrRef>
          </c:cat>
          <c:val>
            <c:numRef>
              <c:f>Sheet1!$B$2:$B$4</c:f>
              <c:numCache>
                <c:formatCode>General</c:formatCode>
                <c:ptCount val="3"/>
                <c:pt idx="0">
                  <c:v>100</c:v>
                </c:pt>
                <c:pt idx="1">
                  <c:v>38</c:v>
                </c:pt>
                <c:pt idx="2">
                  <c:v>83</c:v>
                </c:pt>
              </c:numCache>
            </c:numRef>
          </c:val>
        </c:ser>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470"/>
                </a:solidFill>
                <a:latin typeface="Arial"/>
              </a:defRPr>
            </a:pPr>
            <a:endParaRPr lang="en-US"/>
          </a:p>
        </c:txPr>
        <c:crossAx val="2094734552"/>
        <c:crosses val="autoZero"/>
        <c:auto val="1"/>
        <c:lblAlgn val="ctr"/>
        <c:noMultiLvlLbl val="1"/>
      </c:catAx>
      <c:valAx>
        <c:axId val="2094734552"/>
        <c:scaling>
          <c:orientation val="minMax"/>
          <c:max val="1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level in the first minute, explicitly:
"I am going to assume you can program. I am going to assume you have never put anything on the internet. If you have, some of this is revision."
A good part of the room is worried they are the only one who does not know this. Tell them they are not.
Housekeeping:
- 90 minutes. Roughly 70 building, 20 for questions.
- Everything is free. No API key, no card, no account until Stage 6.
- Every command is also in the written guide. Post the repository link in the chat now.
Ask everyone to open a terminal and a code editor before you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Vague promises lose an audience.
Point 2 is the hook. For most of this room, "someone in another city can open my thing on their phone" has never happened. It is genuinely exciting the first time.
Point 3 is why we build from scratch instead of handing out a finished project. A repository you did not write is one you cannot debug at 2am.
Then remove the money barrier out loud. Some students have already decided they cannot follow along without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Python version with them now, out loud. It is the single most common thing that stops someone in the first ten minutes.
If anyone is on 3.9 or older, they can still watch and use the stage folders afterwards. Do not let one person's install problem hold the room; hand them to the moderator.
Say the green box out loud even though it repeats the previous slide. Money anxiety is the biggest silent drop-out cause in a free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Tell them explicitly: no code in this part, do not open your editor yet, just watch.
That instruction helps. Anxious students otherwise fiddle with their terminal instead of listening.
If they leave with only Part 1, they can still read documentation and follow tutorials. That is worth a lot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one warning. Keep it to that.
The red box is why this slide exists. Do it live: open any site, press F12, click through the sources for thirty seconds. Ask them to do the same on a tab they already have open.
Say it in this form, because it is the version that sticks: "when someone visits your page, you are not showing it to them, you are giving them a copy."
Then plant the flag: "Remember this. At Stage 4 it decides where your API key is allowed to live, and it is the reason the backend exists at all."
Do not explain HTTP, DNS or hosting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model everything else sits on.
Walk the two arrows aloud, twice. Then give three examples they know: opening Instagram, tapping like, sending a WhatsApp message. All request and response.
The bottom line is the reframe that matters. They are not building the internet. They are writing one small function that decides what the answer is. That is manageable to picture, and it is accurate.
If someone asks about HTTP or TCP: that is the plumbing, not needed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word. Students imagine a rack of machines in a cold room, or something only a company can have.
Say it plainly: a server is just a computer that is always on. The laptop in front of you is one for the next hour.
Then the useful clarification: for most of today they ARE running a server. Stage 6 is not learning a new thing, it is moving the same thing somewhere that does not sleep.
Do not explain hosting providers, containers or regions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two thirds of the room switching off.
If you only ever show a soil moisture sensor, the healthcare teams conclude this is an IoT talk and stop listening. Show all six examples and say directly: "whichever track you are in, your project is in this list."
There is a real engineering point too: when several problems share the same shape, you write one program instead of three. Recognising that shape is a large part of software design.
Ask the chat what their projects measure. Take two or three and place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55 minutes.
Tell them the working rule now: build in ONE folder of your own the whole way through, adding to it each stage. The stage folders in the repository are complete working copies for rescue only.
Repeat that at every stage boundary. With this many people, some will fall behind in the first five minutes, and without a way back you lose them for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with them and wait. This is the last easy place to synchronise the room.
Explain the virtual environment in one sentence: a private copy of Python for this project only, so packages here do not affect your other projects. They will see (.venv) appear at the start of their prompt when it is active.
The activate command differs by operating system and that trips people up. Say both, slowly, and put both in the chat.
Ask for a thumbs-up or "ok" in the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packages, and it is worth naming what each one does rather than letting them paste blindly.
The distinction between fastapi and uvicorn confuses people. FastAPI is the library you write against; uvicorn is the program that runs it and listens for requests. You import one and you type the other.
Installing takes thirty seconds or so. Use the time to check nobody is stuck on the activate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what is coming, then switch to the editor.
Type this one live rather than pasting. It is six lines and watching it appear from nothing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line and say what it does as you go.
Line 1 imports the framework. Line 3 creates the application object. The decorator on line 6 is the interesting one: it tells FastAPI that when a GET request arrives for the address /health, run the function underneath.
The function itself is ordinary Python returning an ordinary dictionary. FastAPI converts it to JSON for you.
Emphasise the smallness. Students expect a web server to be a large complicated thing.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browser showing the JSON. Say it plainly: "that is a web server, and you are running one."
Explain main:app once — the file called main, the object called app inside it. People mistype this constantly. If they named the file something else, that first word changes.
If someone gets "Address already in use", they have an old server running. Tell them to add --port 8001.
Wait for "running" in the chat before continuing. This is the first real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Stage 1 exists for.
Fifteen minutes in, with no frontend written, they are using their own API in a real interface. For a beginner that is when it stops feeling theoretical and starts feeling like something they made.
Show it: expand /health, click Try it out, click Execute, point at the response.
Tell them explicitly that they will use this page instead of a frontend until Stage 5. It removes the anxiety about "when do I get something I can see?"
Also mention why /health exists: hosting platforms call an address like this every few seconds to check your app is alive. We point Render at it in Stage 6. Nearly every production service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server only talks. Now it needs to listen.
Three pieces: a class that says what valid input looks like, a function that does the arithmetic, and an endpoint that ties them together. We will do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a description, not code that runs. You are telling FastAPI the shape you expect.
Five fields: what the sensor is, what it read, the unit, and the two ends of the safe range.
The types matter. value: float means a number. If somebody sends text there, FastAPI rejects the request before your function is ever called. We will prove that in a moment, and it is the most valuable thing in this stage.
Point out that they get this for free. In most frameworks validation is code you write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logic aloud: inside the range is normal; a long way outside is critical; otherwise warning.
The margin line is the only slightly clever part. Half the width of the safe range is "a lot" — so for a body temperature range of 36.1 to 37.2 that is about half a degree, and for a motor range of 20 to 60 it is twenty degrees. The rule adapts to the scale of the thing being measured.
Say the green box now. It sets up the design decision at Stage 4 and makes that slide land much harder when you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decorator is app.post, not app.get, because this request carries data.
The function signature is the important line: reading: Reading. That type annotation is what tells FastAPI to read the request body, check it against the class, and hand you a ready-made object. You never parse anything yourself.
GET versus POST in one sentence: reading a page is a GET, submitting a form is a POST. That is the practical difference and it is enough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these with them rather than just showing the table. Ask what they expect before each one.
The last row is worth a comment: 8% against a safe range of 30-70% is a long way below, so it is critical rather than warning. The rule scaled itself to the range without you telling it to.
Give people a minute to try their own numbers. Curiosity here is good; it means they understand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It takes fifteen seconds and it is the most useful thing in Stage 2.
The point is not that an error appeared. It is WHERE it appeared. The request was rejected at the boundary of the application. Their code never saw the bad value, so it could not crash on it.
Make the threat model concrete for their projects: a sensor with a loose wire sends nonsense; a teammate's code has a typo; and once your address is public, strangers will send it deliberately malformed data to see what happens. Same defence for all three.
This is a habit worth naming: define the shape of your input at the edge,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every reading is forgotten the moment you reply. Let's keep them.
This stage is mostly boilerplate. Let them copy it from the guide rather than typing every line, and spend the time saved on the two ideas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decorator turns this into something you can use with a with-block. Whatever happens inside, the finally clause closes the connection.
That matters more than it looks. A database connection left open is a resource leak, and in a server that runs for weeks it eventually becomes a crash. Writing it once here means every use is safe.
conn.row_factory = sqlite3.Row lets you read a column by its name instead of counting positions. Without it you get tuples and code full of row[3].
Do not go deeper into context managers. One sentence about the guarantee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init_db runs once when the file loads. IF NOT EXISTS means it is safe to run every time.
Flag the trap now, because they will hit it at Stage 4: IF NOT EXISTS will NOT change a table that already exists. When we add columns next stage, they must delete readings.db first. Saying it here saves ten confused minutes later.
The INSERT statement, and the question mark in this SELECT, are the other point: never build SQL by joining strings together. Pass the values separately and let the library handle them. That is what stops SQL injection, and it is a one-character habit.
The guide has the matching INSERT for create_reading; have them copy that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restart live. It is the whole point of the stage and it takes twenty seconds.
Before restarting, ask the room what they expect to happen. Some will say the data is gone. Then show that it is not.
Point at readings.db in the file listing and say: that file is the database. No server to install, no configuration, no password. For a prototype it is genuinely the right choice, and plenty of production applications use it too.
Then set up the next stage: "your application now works. Everything from here is making it more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of the workshop, and the longest stage. Budget thirteen minutes and do not let it get squeezed.
Before writing any code we make one design decision, and it is the most valuable idea in the whole session. Do not skip straight to the API call.
The order of this stage matters:
1. The design decision (why the AI does not decide the number)
2. The two small files, .env and .gitignore, so the habit exists before there is ever a real key
3. ai.py, in two parts
4. Wiring it into main.py
Tell them now that everything in this stage works with no API key at all, so nobody disengages thinking they cannot follow along.
Remind them again to delete readings.db before restarting, because we add two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three or four minutes. It is the idea most likely to change how they build.
The instinct students have is that AI is the clever option and plain code is the primitive one, so anything difficult should go to the model. For anything numeric that is backwards.
Comparing two numbers is something computers have done perfectly since the 1940s. Routing it through a language model makes it slower, more expensive and less reliable, and you can measure all three.
Be fair about the data: a large paid model would score higher. But you would be paying for something an if-statement does instantly and with certainty. The lesson is not "AI is bad". It is: know what each component is good at, and do not route work to the wrong one. That is ordinary engineering judgement, and it applies well beyond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we are about to build, in one picture.
The right-hand box is the positive half and it is easy to skip. Writing a clear sentence for a tired engineer at 2am is genuinely something code cannot do. That is not a consolation prize; it is a real capability and it is why the AI is in this application at all.
Make the bottom-left line explicit: severity is a fact, computed by your code, and it is always there. Everything the AI produces is an addition. If the AI is unavailable, the application still works and still gives a correct answer.
That principle matters far beyond today: know which parts of your system are essential and which are enhancements, and make sure the enhancements cannot take the essentials down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files, four lines each. Small, and they carry a lot.
.env holds settings that change between your laptop and the server, and secrets that must never be in your code.
.gitignore is a list of things git must never upload. .env is the first line for a reason.
Tell them to create both now, before writing ai.py, so the habit is in place before there is ever a real key to lose. That ordering is deliberate — most people add .gitignore after they already have a key sitting in the folder.
Note USE_MOCK=true is the default, so everything works with no key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 card comparison is the one that lands. Use it and let it sit for a moment.
Emphasise "no PIN": there is no second factor, no confirmation email, no approval step. That is genuinely how API keys work and students find it surprising.
Add the warnings that are not on the slide: not in a screenshot, not in a demo video, not pasted into a group chat. Those happen constantly and students do not think of them as leaks.
Then connect back to Concept 1 from Part 1: the frontend is public, so the key can never go there either. That is the reason the backend exists at all. If you only had a frontend you would have nowhere safe to put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 do with the AI goes in its own file, including the key. That separation is deliberate and it pays off later: if you ever change provider, only this file changes.
os.getenv reads a setting from the environment, with a default if it is missing. Note that the key is not read here at all — the library will find it by itself.
The SYSTEM text is the instruction that shapes how the model answers. Think of it as the job description you give it.
The Advice class is the important part and the next slide explains why. For now, just note that it names exactly two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halves. If USE_MOCK is on, return a canned answer and stop. Otherwise build a prompt and call the API.
The prompt is just a sentence of plain English with the numbers filled in. Nothing mystical. Students often expect prompts to be some special language; show them it is not.
Note that we tell the model what the automatic check already decided. We are not asking it to classify. We are asking it to explain a decision that has already been made correctly.
The next slide covers the three lines that matter most, so do not dwell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line in the editor as you say it.
Number 2 is the one they will thank you for. Without structured output they would be writing code to find the useful part of a paragraph of prose, and that code breaks constantly. Naming the fields you require and getting a validated object back is the difference between a demo and something you can build on.
Number 3 is about the room, not the code. Nobody is blocked. Say it clearly so anyone without an account stops worrying.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load_dotenv() must run before anything reads the environment, which is why it goes above the other imports. That is unusual — normally imports are grouped at the top — and it is worth saying so, otherwise it looks like a mistake.
The two numbered comments are the architecture in the code. Read them aloud. This is the design decision from four slides ago, now written down.
The yellow warning is the one you already flagged at Stage 3. Several people will forget. Have them delete readings.db now, before they restart, and they will avoid a confusing error about a missing column.
Full INSERT statement is in the guide; have them copy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key, switch it on and show one real answer on screen. It is worth thirty seconds — seeing the model write a sensible sentence about their own numbers is memorable.
Then be honest about cost so nobody is frightened of it. A request like this is roughly 500 tokens in and 150 out. Normal use during a project costs a few cents.
Two pieces of advice to give: set a spending limit on the account before you start, and keep USE_MOCK=true while you are developing so you are not paying for every test run.
If nobody in the room has a key, that is fine. The application is finished either way, and that is the point of building it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backend is finished. Now give it a face.
Let them copy the HTML rather than typing it. JavaScript and CSS are not the subject and typing them costs eight minutes that teach nothing about deployment. Spend the time on the diagram two slides from now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before they paste, not after. Several people will put the mount line in the wrong place and then spend ten minutes wondering why /readings returns HTML.
The rule is easy to remember: the mount line is always the last line in the file.
The reason is worth one sentence: FastAPI checks routes in the order you declared them, and mounting at "/" matches everything. First match wins, so anything declared after it is unreachable.
Once it works, have them open 127.0.0.1:8000 and press Send. Point out that the verdict came from their classify function and the sentence came from ai.py.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structural idea in the workshop. Walk the diagram left to right twice, then ask them to tell you what is in each box.
Point at the fetch call and note the address: "/readings". Not an AI company's address. Their own server. That one detail is the whole security design.
A sharp student may ask: "if anyone can post to my server, can they not use my AI for free?" Good question, answer it honestly. They could send requests, but they cannot take the key and use it elsewhere, and a spending limit caps the damage. Real services add authentication and rate limiting; that is the natural next thing to learn after today.
Connect it back to Part 1 explicitly: the frontend is public, so there was never anywhere safe in the browser to put a secret. The backend is the answer to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runs on their laptop. Close the lid and it is gone. Now we move it to a computer that never turns off.
Students expect this to be the hardest part of the day. It is the easiest. Say so before you start; it changes how they approach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how the server knows what your project needs. Your laptop has the packages already; the server starts empty.
The warning is worth real time because it is a failure students find genuinely baffling. Nothing in their code changed, they did not touch the server, and one day the build fails. The cause is a dependency that released a new version.
This happened to me while preparing this workshop: installing an unrelated package upgraded a library underneath FastAPI and broke the application. requirements.txt had pinned FastAPI but not the library beneath it.
pip freeze prints the exact versions currently installed. Use it and paste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describes the whole service. Read it top to bottom; it is close to plain English.
buildCommand is what runs once when the code arrives. startCommand is what runs to keep the app alive.
healthCheckPath is why we wrote /health in Stage 1. Render calls it to decide whether the app is running and whether to restart it. That endpoint has been waiting for this moment since minute fifteen.
The next slide covers the two details worth understanding properly, so do not explain $PORT or sync: false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point is small but it stops a confusing failure. The app appears to start fine, the logs look healthy, and yet the address shows nothing — because the platform is sending traffic to a port the app is not listening on.
The sync: false point is the more important one, and it catches people who have already learned the .env lesson. They protect .env carefully, feel safe, and then paste the key into a YAML file three days later. I made exactly this mistake while preparing this workshop.
The bottom line generalises: any file that gets committed is a place a secret can end up. Config files, CI workflow files, Docker files, notebooks. The habit to build is to ask "is this file uploaded?" before typing a secret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create an empty repository on GitHub first, then run these.
The git status check in the middle is the habit worth building. It costs three seconds and it is the last moment before a mistake becomes permanent. Do it yourself on screen and read the list aloud.
Explain the three commands in one line each: init makes this folder a git project, add stages everything, commit records a version. Then remote points at GitHub and push uploads.
Do not teach branching or pull requests.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in a throwaway folder. It takes ninety seconds and it is the most memorable moment of the session.
Sequence: make a folder, git init, save a file with a fake key, commit, delete the key, commit again, show the clean file — then run git show against the earlier commit and watch the key reappear.
Use an obviously fake key so nobody panics.
The emotional beat is what makes it stick: they see the file is clean, they relax, and then the key comes back.
Then give the only correct response. If a key has been uploaded, even for one minute, treat it as stolen. Go to the provider's website, delete that key, create a new one. Thirty seconds, and it is the only thing that actually works.
Add that providers scan public repositories automatically and disable keys they find, often within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narrating every click, ideally from a fresh account so they see exactly what they will see.
Warn them before step 4 that a blank page or an error for two or three minutes is normal while it builds, not a failure. Beginners assume any error is their fault and give up.
When your address appears, open it on your phone and hold the phone up to the camera. That image is worth more than any slide.
Then invite them to paste their own addresses in the chat. Some will succeed during the session and that is a very good moment for the room — let people react to it.
If someone's build fails, the Render logs page shows why. Most failures are a typo in render.yaml or a missing package in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sync: false. The setting exists on the server, its value was typed into a private dashboard, and it was never in the repository.
The yellow warning is a genuine trap and it happened to me while building this. I changed a value in the dashboard, watched for fifteen minutes, and nothing happened, because the file was the source of truth.
The general rule once you use a configuration file: the file is the control panel, not the dashboard. Settings with a value: in the file are changed by editing the file and pushing. Settings with sync: false are changed in the dashboard. Knowing which is which saves a lot of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honestly: "I hit every one of these while building the version you just ran. Not while reading about it, while building it."
That matters. It tells them these are normal, not evidence of their own incompetence. Beginners assume every error is a personal failing.
Number 1 catches people at demonstrations and exhibitions. Free hosting sleeps and the first visitor waits up to a minute. Opening the link yourself ten minutes earlier costs nothing and saves the moment.
Numbers 3 and 4 you already warned them about during the stages. Repeating them here gives everyone a written record to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briefly unless someone asks. It is genuinely useful for students with no budget, and it is a real option for a demonstration at a booth where the wifi is unreliable.
The localhost warning is the part that matters and it is worth saying carefully, because it is a mistake that wastes a whole day. The word localhost does not mean "my laptop". It means "whichever computer is running this code right now". That distinction is invisible until you deploy.
The memory numbers make it concrete: it is not a configuration problem they can solve, it simply does not fit.
So the decision comes first, not last: if the project must be reachable at a public address, use a hosted API. If it runs on a laptop at a table, a local model is free and works without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only if time allows, or point at it and say it is written up in the guide.
The idea is worth naming even if you do not build it: the slow part is still slow, it just stops being the visitor's problem.
The messaging app comparison is the one that lands. When you send a message it appears instantly with one tick. The app did not wait for the network before showing you your own message; the status filled in afterwards.
This pattern generalises well beyond AI. Any slow third party — payments, email, image processing — belongs behind this same structure. That is a genuinely valuable thing for them to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out. It is longer than they realise and seeing it written down is the point.
Then the closing line, and mean it: the next application they build has this same shape. A server, validated input, storage, an external service, a page, a deployment. They have now done each of those once, and that is what makes the second time straightforward.
If you have time, go back to the six-stage slide and tick them off out loud. It gives the session a clean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to twenty minutes.
If questions are slow to start, ask one yourself:
- "Who got a live address? Paste it in the chat."
- "Who is measuring something with a sensor? Tell me what, and I will show you where it fits."
- "Which stage was the least clear?"
Questions to expect, with short answers:
Can I use a different AI provider? Yes. Only ai.py changes, which is exactly why it is a separate file.
How do I connect my ESP32? It posts JSON to /readings, the same as the browser does. Same endpoint, no changes to your code.
Is free hosting enough for the exhibition? Yes, with the sleep warning from the troubleshooting slide.
How do I add a login? Out of scope today. FastAPI's security documentation is the place to start.
How do I keep the data permanently? Add a managed database. Render offers a free PostgreSQL instance.
Beginners often will not ask in front of a large group. Invite private questions through the moderator and offer to answer them in the event channel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1874520"/>
            <a:ext cx="10607040"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Full-Stack App Deployment</a:t>
            </a:r>
            <a:endParaRPr lang="en-US" sz="4200" dirty="0"/>
          </a:p>
        </p:txBody>
      </p:sp>
      <p:sp>
        <p:nvSpPr>
          <p:cNvPr id="3" name="Text 1"/>
          <p:cNvSpPr/>
          <p:nvPr/>
        </p:nvSpPr>
        <p:spPr>
          <a:xfrm>
            <a:off x="777240" y="2697480"/>
            <a:ext cx="10607040" cy="868680"/>
          </a:xfrm>
          <a:prstGeom prst="rect">
            <a:avLst/>
          </a:prstGeom>
          <a:noFill/>
          <a:ln/>
        </p:spPr>
        <p:txBody>
          <a:bodyPr wrap="square" lIns="0" tIns="0" rIns="0" bIns="0" rtlCol="0" anchor="ctr"/>
          <a:lstStyle/>
          <a:p>
            <a:pPr indent="0" marL="0">
              <a:buNone/>
            </a:pPr>
            <a:r>
              <a:rPr lang="en-US" sz="4200" b="1" dirty="0">
                <a:solidFill>
                  <a:srgbClr val="3ACFB6"/>
                </a:solidFill>
                <a:latin typeface="Cambria" pitchFamily="34" charset="0"/>
                <a:ea typeface="Cambria" pitchFamily="34" charset="-122"/>
                <a:cs typeface="Cambria" pitchFamily="34" charset="-120"/>
              </a:rPr>
              <a:t>with AI APIs &amp; Cloud</a:t>
            </a:r>
            <a:endParaRPr lang="en-US" sz="4200" dirty="0"/>
          </a:p>
        </p:txBody>
      </p:sp>
      <p:sp>
        <p:nvSpPr>
          <p:cNvPr id="4" name="Text 2"/>
          <p:cNvSpPr/>
          <p:nvPr/>
        </p:nvSpPr>
        <p:spPr>
          <a:xfrm>
            <a:off x="777240" y="3794760"/>
            <a:ext cx="10058400" cy="45720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Build a web application from an empty folder, connect an AI API, and put it on the internet.</a:t>
            </a:r>
            <a:endParaRPr lang="en-US" sz="1600" dirty="0"/>
          </a:p>
        </p:txBody>
      </p:sp>
      <p:sp>
        <p:nvSpPr>
          <p:cNvPr id="5" name="Text 3"/>
          <p:cNvSpPr/>
          <p:nvPr/>
        </p:nvSpPr>
        <p:spPr>
          <a:xfrm>
            <a:off x="777240" y="5989320"/>
            <a:ext cx="10058400" cy="320040"/>
          </a:xfrm>
          <a:prstGeom prst="rect">
            <a:avLst/>
          </a:prstGeom>
          <a:noFill/>
          <a:ln/>
        </p:spPr>
        <p:txBody>
          <a:bodyPr wrap="square" lIns="0" tIns="0" rIns="0" bIns="0" rtlCol="0" anchor="ctr"/>
          <a:lstStyle/>
          <a:p>
            <a:pPr indent="0" marL="0">
              <a:buNone/>
            </a:pPr>
            <a:r>
              <a:rPr lang="en-US" sz="1200" dirty="0">
                <a:solidFill>
                  <a:srgbClr val="5C6470"/>
                </a:solidFill>
                <a:latin typeface="Calibri" pitchFamily="34" charset="0"/>
                <a:ea typeface="Calibri" pitchFamily="34" charset="-122"/>
                <a:cs typeface="Calibri" pitchFamily="34" charset="-120"/>
              </a:rPr>
              <a:t>Project Nexus 2026  |  IEEE MMU Student Branch  |  31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BY THE END OF THIS SESSION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things you will have built</a:t>
            </a:r>
            <a:endParaRPr lang="en-US" sz="3100" dirty="0"/>
          </a:p>
        </p:txBody>
      </p:sp>
      <p:sp>
        <p:nvSpPr>
          <p:cNvPr id="4" name="Shape 2"/>
          <p:cNvSpPr/>
          <p:nvPr/>
        </p:nvSpPr>
        <p:spPr>
          <a:xfrm>
            <a:off x="777240" y="1783080"/>
            <a:ext cx="10634472" cy="1188720"/>
          </a:xfrm>
          <a:prstGeom prst="roundRect">
            <a:avLst>
              <a:gd name="adj" fmla="val 6923"/>
            </a:avLst>
          </a:prstGeom>
          <a:solidFill>
            <a:srgbClr val="F5F6F8"/>
          </a:solidFill>
          <a:ln w="12700">
            <a:solidFill>
              <a:srgbClr val="E1E4E9"/>
            </a:solidFill>
            <a:prstDash val="solid"/>
          </a:ln>
        </p:spPr>
      </p:sp>
      <p:sp>
        <p:nvSpPr>
          <p:cNvPr id="5" name="Shape 3"/>
          <p:cNvSpPr/>
          <p:nvPr/>
        </p:nvSpPr>
        <p:spPr>
          <a:xfrm>
            <a:off x="1124712" y="2148840"/>
            <a:ext cx="457200" cy="457200"/>
          </a:xfrm>
          <a:prstGeom prst="ellipse">
            <a:avLst/>
          </a:prstGeom>
          <a:solidFill>
            <a:srgbClr val="00776A"/>
          </a:solidFill>
          <a:ln/>
        </p:spPr>
      </p:sp>
      <p:sp>
        <p:nvSpPr>
          <p:cNvPr id="6" name="Text 4"/>
          <p:cNvSpPr/>
          <p:nvPr/>
        </p:nvSpPr>
        <p:spPr>
          <a:xfrm>
            <a:off x="1124712"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828800" y="20116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working web application</a:t>
            </a:r>
            <a:endParaRPr lang="en-US" sz="2000" dirty="0"/>
          </a:p>
        </p:txBody>
      </p:sp>
      <p:sp>
        <p:nvSpPr>
          <p:cNvPr id="8" name="Text 6"/>
          <p:cNvSpPr/>
          <p:nvPr/>
        </p:nvSpPr>
        <p:spPr>
          <a:xfrm>
            <a:off x="1828800" y="24414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running on your own machine, in a browser</a:t>
            </a:r>
            <a:endParaRPr lang="en-US" sz="1450" dirty="0"/>
          </a:p>
        </p:txBody>
      </p:sp>
      <p:sp>
        <p:nvSpPr>
          <p:cNvPr id="9" name="Shape 7"/>
          <p:cNvSpPr/>
          <p:nvPr/>
        </p:nvSpPr>
        <p:spPr>
          <a:xfrm>
            <a:off x="777240" y="3154680"/>
            <a:ext cx="10634472" cy="1188720"/>
          </a:xfrm>
          <a:prstGeom prst="roundRect">
            <a:avLst>
              <a:gd name="adj" fmla="val 6923"/>
            </a:avLst>
          </a:prstGeom>
          <a:solidFill>
            <a:srgbClr val="F5F6F8"/>
          </a:solidFill>
          <a:ln w="12700">
            <a:solidFill>
              <a:srgbClr val="E1E4E9"/>
            </a:solidFill>
            <a:prstDash val="solid"/>
          </a:ln>
        </p:spPr>
      </p:sp>
      <p:sp>
        <p:nvSpPr>
          <p:cNvPr id="10" name="Shape 8"/>
          <p:cNvSpPr/>
          <p:nvPr/>
        </p:nvSpPr>
        <p:spPr>
          <a:xfrm>
            <a:off x="1124712" y="3520440"/>
            <a:ext cx="457200" cy="457200"/>
          </a:xfrm>
          <a:prstGeom prst="ellipse">
            <a:avLst/>
          </a:prstGeom>
          <a:solidFill>
            <a:srgbClr val="5158BE"/>
          </a:solidFill>
          <a:ln/>
        </p:spPr>
      </p:sp>
      <p:sp>
        <p:nvSpPr>
          <p:cNvPr id="11" name="Text 9"/>
          <p:cNvSpPr/>
          <p:nvPr/>
        </p:nvSpPr>
        <p:spPr>
          <a:xfrm>
            <a:off x="1124712" y="3520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828800" y="33832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live public address</a:t>
            </a:r>
            <a:endParaRPr lang="en-US" sz="2000" dirty="0"/>
          </a:p>
        </p:txBody>
      </p:sp>
      <p:sp>
        <p:nvSpPr>
          <p:cNvPr id="13" name="Text 11"/>
          <p:cNvSpPr/>
          <p:nvPr/>
        </p:nvSpPr>
        <p:spPr>
          <a:xfrm>
            <a:off x="1828800" y="38130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anyone can open it, from anywhere, on any device</a:t>
            </a:r>
            <a:endParaRPr lang="en-US" sz="1450" dirty="0"/>
          </a:p>
        </p:txBody>
      </p:sp>
      <p:sp>
        <p:nvSpPr>
          <p:cNvPr id="14" name="Shape 12"/>
          <p:cNvSpPr/>
          <p:nvPr/>
        </p:nvSpPr>
        <p:spPr>
          <a:xfrm>
            <a:off x="777240" y="4526280"/>
            <a:ext cx="10634472" cy="1188720"/>
          </a:xfrm>
          <a:prstGeom prst="roundRect">
            <a:avLst>
              <a:gd name="adj" fmla="val 6923"/>
            </a:avLst>
          </a:prstGeom>
          <a:solidFill>
            <a:srgbClr val="F5F6F8"/>
          </a:solidFill>
          <a:ln w="12700">
            <a:solidFill>
              <a:srgbClr val="E1E4E9"/>
            </a:solidFill>
            <a:prstDash val="solid"/>
          </a:ln>
        </p:spPr>
      </p:sp>
      <p:sp>
        <p:nvSpPr>
          <p:cNvPr id="15" name="Shape 13"/>
          <p:cNvSpPr/>
          <p:nvPr/>
        </p:nvSpPr>
        <p:spPr>
          <a:xfrm>
            <a:off x="1124712" y="4892040"/>
            <a:ext cx="457200" cy="457200"/>
          </a:xfrm>
          <a:prstGeom prst="ellipse">
            <a:avLst/>
          </a:prstGeom>
          <a:solidFill>
            <a:srgbClr val="0A7D28"/>
          </a:solidFill>
          <a:ln/>
        </p:spPr>
      </p:sp>
      <p:sp>
        <p:nvSpPr>
          <p:cNvPr id="16" name="Text 14"/>
          <p:cNvSpPr/>
          <p:nvPr/>
        </p:nvSpPr>
        <p:spPr>
          <a:xfrm>
            <a:off x="1124712" y="4892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828800" y="47548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Code you understand</a:t>
            </a:r>
            <a:endParaRPr lang="en-US" sz="2000" dirty="0"/>
          </a:p>
        </p:txBody>
      </p:sp>
      <p:sp>
        <p:nvSpPr>
          <p:cNvPr id="18" name="Text 16"/>
          <p:cNvSpPr/>
          <p:nvPr/>
        </p:nvSpPr>
        <p:spPr>
          <a:xfrm>
            <a:off x="1828800" y="51846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 wrote every line, so you can change any of it</a:t>
            </a:r>
            <a:endParaRPr lang="en-US" sz="1450" dirty="0"/>
          </a:p>
        </p:txBody>
      </p:sp>
      <p:sp>
        <p:nvSpPr>
          <p:cNvPr id="19" name="Text 17"/>
          <p:cNvSpPr/>
          <p:nvPr/>
        </p:nvSpPr>
        <p:spPr>
          <a:xfrm>
            <a:off x="777240" y="5943600"/>
            <a:ext cx="10634472"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No API key needed. No credit card. No paid account.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BEFORE WE START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you need</a:t>
            </a:r>
            <a:endParaRPr lang="en-US" sz="3100" dirty="0"/>
          </a:p>
        </p:txBody>
      </p:sp>
      <p:sp>
        <p:nvSpPr>
          <p:cNvPr id="4" name="Shape 2"/>
          <p:cNvSpPr/>
          <p:nvPr/>
        </p:nvSpPr>
        <p:spPr>
          <a:xfrm>
            <a:off x="777240" y="1783080"/>
            <a:ext cx="10634472" cy="777240"/>
          </a:xfrm>
          <a:prstGeom prst="roundRect">
            <a:avLst>
              <a:gd name="adj" fmla="val 10588"/>
            </a:avLst>
          </a:prstGeom>
          <a:solidFill>
            <a:srgbClr val="F5F6F8"/>
          </a:solidFill>
          <a:ln w="12700">
            <a:solidFill>
              <a:srgbClr val="E1E4E9"/>
            </a:solidFill>
            <a:prstDash val="solid"/>
          </a:ln>
        </p:spPr>
      </p:sp>
      <p:sp>
        <p:nvSpPr>
          <p:cNvPr id="5" name="Shape 3"/>
          <p:cNvSpPr/>
          <p:nvPr/>
        </p:nvSpPr>
        <p:spPr>
          <a:xfrm>
            <a:off x="1069848" y="2020824"/>
            <a:ext cx="292608" cy="292608"/>
          </a:xfrm>
          <a:prstGeom prst="ellipse">
            <a:avLst/>
          </a:prstGeom>
          <a:solidFill>
            <a:srgbClr val="00776A"/>
          </a:solidFill>
          <a:ln/>
        </p:spPr>
      </p:sp>
      <p:sp>
        <p:nvSpPr>
          <p:cNvPr id="6" name="Text 4"/>
          <p:cNvSpPr/>
          <p:nvPr/>
        </p:nvSpPr>
        <p:spPr>
          <a:xfrm>
            <a:off x="1600200" y="1801368"/>
            <a:ext cx="4572000" cy="740664"/>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Python 3.10 or newer</a:t>
            </a:r>
            <a:endParaRPr lang="en-US" sz="1600" dirty="0"/>
          </a:p>
        </p:txBody>
      </p:sp>
      <p:sp>
        <p:nvSpPr>
          <p:cNvPr id="7" name="Text 5"/>
          <p:cNvSpPr/>
          <p:nvPr/>
        </p:nvSpPr>
        <p:spPr>
          <a:xfrm>
            <a:off x="6355080" y="1801368"/>
            <a:ext cx="4937760" cy="740664"/>
          </a:xfrm>
          <a:prstGeom prst="rect">
            <a:avLst/>
          </a:prstGeom>
          <a:noFill/>
          <a:ln/>
        </p:spPr>
        <p:txBody>
          <a:bodyPr wrap="square" lIns="0" tIns="0" rIns="0" bIns="0" rtlCol="0" anchor="ctr"/>
          <a:lstStyle/>
          <a:p>
            <a:pPr indent="0" marL="0">
              <a:buNone/>
            </a:pPr>
            <a:r>
              <a:rPr lang="en-US" sz="1350" dirty="0">
                <a:solidFill>
                  <a:srgbClr val="5C6470"/>
                </a:solidFill>
                <a:latin typeface="Courier New" pitchFamily="34" charset="0"/>
                <a:ea typeface="Courier New" pitchFamily="34" charset="-122"/>
                <a:cs typeface="Courier New" pitchFamily="34" charset="-120"/>
              </a:rPr>
              <a:t>check with  python --version</a:t>
            </a:r>
            <a:endParaRPr lang="en-US" sz="1350" dirty="0"/>
          </a:p>
        </p:txBody>
      </p:sp>
      <p:sp>
        <p:nvSpPr>
          <p:cNvPr id="8" name="Shape 6"/>
          <p:cNvSpPr/>
          <p:nvPr/>
        </p:nvSpPr>
        <p:spPr>
          <a:xfrm>
            <a:off x="777240" y="2697480"/>
            <a:ext cx="10634472" cy="777240"/>
          </a:xfrm>
          <a:prstGeom prst="roundRect">
            <a:avLst>
              <a:gd name="adj" fmla="val 10588"/>
            </a:avLst>
          </a:prstGeom>
          <a:solidFill>
            <a:srgbClr val="F5F6F8"/>
          </a:solidFill>
          <a:ln w="12700">
            <a:solidFill>
              <a:srgbClr val="E1E4E9"/>
            </a:solidFill>
            <a:prstDash val="solid"/>
          </a:ln>
        </p:spPr>
      </p:sp>
      <p:sp>
        <p:nvSpPr>
          <p:cNvPr id="9" name="Shape 7"/>
          <p:cNvSpPr/>
          <p:nvPr/>
        </p:nvSpPr>
        <p:spPr>
          <a:xfrm>
            <a:off x="1069848" y="2935224"/>
            <a:ext cx="292608" cy="292608"/>
          </a:xfrm>
          <a:prstGeom prst="ellipse">
            <a:avLst/>
          </a:prstGeom>
          <a:solidFill>
            <a:srgbClr val="00776A"/>
          </a:solidFill>
          <a:ln/>
        </p:spPr>
      </p:sp>
      <p:sp>
        <p:nvSpPr>
          <p:cNvPr id="10" name="Text 8"/>
          <p:cNvSpPr/>
          <p:nvPr/>
        </p:nvSpPr>
        <p:spPr>
          <a:xfrm>
            <a:off x="1600200" y="2715768"/>
            <a:ext cx="4572000" cy="740664"/>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code editor</a:t>
            </a:r>
            <a:endParaRPr lang="en-US" sz="1600" dirty="0"/>
          </a:p>
        </p:txBody>
      </p:sp>
      <p:sp>
        <p:nvSpPr>
          <p:cNvPr id="11" name="Text 9"/>
          <p:cNvSpPr/>
          <p:nvPr/>
        </p:nvSpPr>
        <p:spPr>
          <a:xfrm>
            <a:off x="6355080" y="2715768"/>
            <a:ext cx="4937760" cy="740664"/>
          </a:xfrm>
          <a:prstGeom prst="rect">
            <a:avLst/>
          </a:prstGeom>
          <a:noFill/>
          <a:ln/>
        </p:spPr>
        <p:txBody>
          <a:bodyPr wrap="square" lIns="0" tIns="0" rIns="0" bIns="0" rtlCol="0" anchor="ctr"/>
          <a:lstStyle/>
          <a:p>
            <a:pPr indent="0" marL="0">
              <a:buNone/>
            </a:pPr>
            <a:r>
              <a:rPr lang="en-US" sz="1350" dirty="0">
                <a:solidFill>
                  <a:srgbClr val="5C6470"/>
                </a:solidFill>
                <a:latin typeface="Courier New" pitchFamily="34" charset="0"/>
                <a:ea typeface="Courier New" pitchFamily="34" charset="-122"/>
                <a:cs typeface="Courier New" pitchFamily="34" charset="-120"/>
              </a:rPr>
              <a:t>VS Code is fine</a:t>
            </a:r>
            <a:endParaRPr lang="en-US" sz="1350" dirty="0"/>
          </a:p>
        </p:txBody>
      </p:sp>
      <p:sp>
        <p:nvSpPr>
          <p:cNvPr id="12" name="Shape 10"/>
          <p:cNvSpPr/>
          <p:nvPr/>
        </p:nvSpPr>
        <p:spPr>
          <a:xfrm>
            <a:off x="777240" y="3611880"/>
            <a:ext cx="10634472" cy="777240"/>
          </a:xfrm>
          <a:prstGeom prst="roundRect">
            <a:avLst>
              <a:gd name="adj" fmla="val 10588"/>
            </a:avLst>
          </a:prstGeom>
          <a:solidFill>
            <a:srgbClr val="F5F6F8"/>
          </a:solidFill>
          <a:ln w="12700">
            <a:solidFill>
              <a:srgbClr val="E1E4E9"/>
            </a:solidFill>
            <a:prstDash val="solid"/>
          </a:ln>
        </p:spPr>
      </p:sp>
      <p:sp>
        <p:nvSpPr>
          <p:cNvPr id="13" name="Shape 11"/>
          <p:cNvSpPr/>
          <p:nvPr/>
        </p:nvSpPr>
        <p:spPr>
          <a:xfrm>
            <a:off x="1069848" y="3849624"/>
            <a:ext cx="292608" cy="292608"/>
          </a:xfrm>
          <a:prstGeom prst="ellipse">
            <a:avLst/>
          </a:prstGeom>
          <a:solidFill>
            <a:srgbClr val="00776A"/>
          </a:solidFill>
          <a:ln/>
        </p:spPr>
      </p:sp>
      <p:sp>
        <p:nvSpPr>
          <p:cNvPr id="14" name="Text 12"/>
          <p:cNvSpPr/>
          <p:nvPr/>
        </p:nvSpPr>
        <p:spPr>
          <a:xfrm>
            <a:off x="1600200" y="3630168"/>
            <a:ext cx="4572000" cy="740664"/>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terminal</a:t>
            </a:r>
            <a:endParaRPr lang="en-US" sz="1600" dirty="0"/>
          </a:p>
        </p:txBody>
      </p:sp>
      <p:sp>
        <p:nvSpPr>
          <p:cNvPr id="15" name="Text 13"/>
          <p:cNvSpPr/>
          <p:nvPr/>
        </p:nvSpPr>
        <p:spPr>
          <a:xfrm>
            <a:off x="6355080" y="3630168"/>
            <a:ext cx="4937760" cy="740664"/>
          </a:xfrm>
          <a:prstGeom prst="rect">
            <a:avLst/>
          </a:prstGeom>
          <a:noFill/>
          <a:ln/>
        </p:spPr>
        <p:txBody>
          <a:bodyPr wrap="square" lIns="0" tIns="0" rIns="0" bIns="0" rtlCol="0" anchor="ctr"/>
          <a:lstStyle/>
          <a:p>
            <a:pPr indent="0" marL="0">
              <a:buNone/>
            </a:pPr>
            <a:r>
              <a:rPr lang="en-US" sz="1350" dirty="0">
                <a:solidFill>
                  <a:srgbClr val="5C6470"/>
                </a:solidFill>
                <a:latin typeface="Courier New" pitchFamily="34" charset="0"/>
                <a:ea typeface="Courier New" pitchFamily="34" charset="-122"/>
                <a:cs typeface="Courier New" pitchFamily="34" charset="-120"/>
              </a:rPr>
              <a:t>Command Prompt, PowerShell, or Terminal</a:t>
            </a:r>
            <a:endParaRPr lang="en-US" sz="1350" dirty="0"/>
          </a:p>
        </p:txBody>
      </p:sp>
      <p:sp>
        <p:nvSpPr>
          <p:cNvPr id="16" name="Shape 14"/>
          <p:cNvSpPr/>
          <p:nvPr/>
        </p:nvSpPr>
        <p:spPr>
          <a:xfrm>
            <a:off x="777240" y="4526280"/>
            <a:ext cx="10634472" cy="777240"/>
          </a:xfrm>
          <a:prstGeom prst="roundRect">
            <a:avLst>
              <a:gd name="adj" fmla="val 10588"/>
            </a:avLst>
          </a:prstGeom>
          <a:solidFill>
            <a:srgbClr val="F5F6F8"/>
          </a:solidFill>
          <a:ln w="12700">
            <a:solidFill>
              <a:srgbClr val="E1E4E9"/>
            </a:solidFill>
            <a:prstDash val="solid"/>
          </a:ln>
        </p:spPr>
      </p:sp>
      <p:sp>
        <p:nvSpPr>
          <p:cNvPr id="17" name="Shape 15"/>
          <p:cNvSpPr/>
          <p:nvPr/>
        </p:nvSpPr>
        <p:spPr>
          <a:xfrm>
            <a:off x="1069848" y="4764024"/>
            <a:ext cx="292608" cy="292608"/>
          </a:xfrm>
          <a:prstGeom prst="ellipse">
            <a:avLst/>
          </a:prstGeom>
          <a:solidFill>
            <a:srgbClr val="00776A"/>
          </a:solidFill>
          <a:ln/>
        </p:spPr>
      </p:sp>
      <p:sp>
        <p:nvSpPr>
          <p:cNvPr id="18" name="Text 16"/>
          <p:cNvSpPr/>
          <p:nvPr/>
        </p:nvSpPr>
        <p:spPr>
          <a:xfrm>
            <a:off x="1600200" y="4544568"/>
            <a:ext cx="4572000" cy="740664"/>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GitHub account</a:t>
            </a:r>
            <a:endParaRPr lang="en-US" sz="1600" dirty="0"/>
          </a:p>
        </p:txBody>
      </p:sp>
      <p:sp>
        <p:nvSpPr>
          <p:cNvPr id="19" name="Text 17"/>
          <p:cNvSpPr/>
          <p:nvPr/>
        </p:nvSpPr>
        <p:spPr>
          <a:xfrm>
            <a:off x="6355080" y="4544568"/>
            <a:ext cx="4937760" cy="740664"/>
          </a:xfrm>
          <a:prstGeom prst="rect">
            <a:avLst/>
          </a:prstGeom>
          <a:noFill/>
          <a:ln/>
        </p:spPr>
        <p:txBody>
          <a:bodyPr wrap="square" lIns="0" tIns="0" rIns="0" bIns="0" rtlCol="0" anchor="ctr"/>
          <a:lstStyle/>
          <a:p>
            <a:pPr indent="0" marL="0">
              <a:buNone/>
            </a:pPr>
            <a:r>
              <a:rPr lang="en-US" sz="1350" dirty="0">
                <a:solidFill>
                  <a:srgbClr val="5C6470"/>
                </a:solidFill>
                <a:latin typeface="Courier New" pitchFamily="34" charset="0"/>
                <a:ea typeface="Courier New" pitchFamily="34" charset="-122"/>
                <a:cs typeface="Courier New" pitchFamily="34" charset="-120"/>
              </a:rPr>
              <a:t>free, and only needed at Stage 6</a:t>
            </a:r>
            <a:endParaRPr lang="en-US" sz="1350" dirty="0"/>
          </a:p>
        </p:txBody>
      </p:sp>
      <p:sp>
        <p:nvSpPr>
          <p:cNvPr id="20" name="Shape 18"/>
          <p:cNvSpPr/>
          <p:nvPr/>
        </p:nvSpPr>
        <p:spPr>
          <a:xfrm>
            <a:off x="777240" y="5532120"/>
            <a:ext cx="10634472" cy="777240"/>
          </a:xfrm>
          <a:prstGeom prst="roundRect">
            <a:avLst>
              <a:gd name="adj" fmla="val 10588"/>
            </a:avLst>
          </a:prstGeom>
          <a:solidFill>
            <a:srgbClr val="EAF6F3"/>
          </a:solidFill>
          <a:ln w="12700">
            <a:solidFill>
              <a:srgbClr val="9CCFC6"/>
            </a:solidFill>
            <a:prstDash val="solid"/>
          </a:ln>
        </p:spPr>
      </p:sp>
      <p:sp>
        <p:nvSpPr>
          <p:cNvPr id="21" name="Text 19"/>
          <p:cNvSpPr/>
          <p:nvPr/>
        </p:nvSpPr>
        <p:spPr>
          <a:xfrm>
            <a:off x="1143000" y="5623560"/>
            <a:ext cx="10241280" cy="594360"/>
          </a:xfrm>
          <a:prstGeom prst="rect">
            <a:avLst/>
          </a:prstGeom>
          <a:noFill/>
          <a:ln/>
        </p:spPr>
        <p:txBody>
          <a:bodyPr wrap="square" lIns="0" tIns="0" rIns="0" bIns="0" rtlCol="0" anchor="ctr"/>
          <a:lstStyle/>
          <a:p>
            <a:pPr indent="0" marL="0">
              <a:buNone/>
            </a:pPr>
            <a:r>
              <a:rPr lang="en-US" sz="1600" b="1" dirty="0">
                <a:solidFill>
                  <a:srgbClr val="00776A"/>
                </a:solidFill>
                <a:latin typeface="Calibri" pitchFamily="34" charset="0"/>
                <a:ea typeface="Calibri" pitchFamily="34" charset="-122"/>
                <a:cs typeface="Calibri" pitchFamily="34" charset="-120"/>
              </a:rPr>
              <a:t>You do NOT need an AI account, an API key, a credit card, or any paid service.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1</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concepts you need first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No code in this part. Four ideas, and everything else is built on them.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full-stack means</a:t>
            </a:r>
            <a:endParaRPr lang="en-US" sz="3100" dirty="0"/>
          </a:p>
        </p:txBody>
      </p:sp>
      <p:sp>
        <p:nvSpPr>
          <p:cNvPr id="4" name="Shape 2"/>
          <p:cNvSpPr/>
          <p:nvPr/>
        </p:nvSpPr>
        <p:spPr>
          <a:xfrm>
            <a:off x="777240" y="1691640"/>
            <a:ext cx="3337560" cy="2697480"/>
          </a:xfrm>
          <a:prstGeom prst="roundRect">
            <a:avLst>
              <a:gd name="adj" fmla="val 3051"/>
            </a:avLst>
          </a:prstGeom>
          <a:solidFill>
            <a:srgbClr val="F5F6F8"/>
          </a:solidFill>
          <a:ln w="12700">
            <a:solidFill>
              <a:srgbClr val="E1E4E9"/>
            </a:solidFill>
            <a:prstDash val="solid"/>
          </a:ln>
        </p:spPr>
      </p:sp>
      <p:sp>
        <p:nvSpPr>
          <p:cNvPr id="5" name="Text 3"/>
          <p:cNvSpPr/>
          <p:nvPr/>
        </p:nvSpPr>
        <p:spPr>
          <a:xfrm>
            <a:off x="10058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Frontend</a:t>
            </a:r>
            <a:endParaRPr lang="en-US" sz="2200" dirty="0"/>
          </a:p>
        </p:txBody>
      </p:sp>
      <p:sp>
        <p:nvSpPr>
          <p:cNvPr id="6" name="Text 4"/>
          <p:cNvSpPr/>
          <p:nvPr/>
        </p:nvSpPr>
        <p:spPr>
          <a:xfrm>
            <a:off x="10058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the page in the</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visitor's browser</a:t>
            </a:r>
            <a:endParaRPr lang="en-US" sz="1450" dirty="0"/>
          </a:p>
        </p:txBody>
      </p:sp>
      <p:sp>
        <p:nvSpPr>
          <p:cNvPr id="7" name="Text 5"/>
          <p:cNvSpPr/>
          <p:nvPr/>
        </p:nvSpPr>
        <p:spPr>
          <a:xfrm>
            <a:off x="10058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BE3A2B"/>
                </a:solidFill>
                <a:latin typeface="Calibri" pitchFamily="34" charset="0"/>
                <a:ea typeface="Calibri" pitchFamily="34" charset="-122"/>
                <a:cs typeface="Calibri" pitchFamily="34" charset="-120"/>
              </a:rPr>
              <a:t>PUBLIC</a:t>
            </a:r>
            <a:endParaRPr lang="en-US" sz="1400" dirty="0"/>
          </a:p>
        </p:txBody>
      </p:sp>
      <p:sp>
        <p:nvSpPr>
          <p:cNvPr id="8" name="Shape 6"/>
          <p:cNvSpPr/>
          <p:nvPr/>
        </p:nvSpPr>
        <p:spPr>
          <a:xfrm>
            <a:off x="4434840" y="1691640"/>
            <a:ext cx="3337560" cy="2697480"/>
          </a:xfrm>
          <a:prstGeom prst="roundRect">
            <a:avLst>
              <a:gd name="adj" fmla="val 3051"/>
            </a:avLst>
          </a:prstGeom>
          <a:solidFill>
            <a:srgbClr val="F5F6F8"/>
          </a:solidFill>
          <a:ln w="12700">
            <a:solidFill>
              <a:srgbClr val="E1E4E9"/>
            </a:solidFill>
            <a:prstDash val="solid"/>
          </a:ln>
        </p:spPr>
      </p:sp>
      <p:sp>
        <p:nvSpPr>
          <p:cNvPr id="9" name="Text 7"/>
          <p:cNvSpPr/>
          <p:nvPr/>
        </p:nvSpPr>
        <p:spPr>
          <a:xfrm>
            <a:off x="46634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Backend</a:t>
            </a:r>
            <a:endParaRPr lang="en-US" sz="2200" dirty="0"/>
          </a:p>
        </p:txBody>
      </p:sp>
      <p:sp>
        <p:nvSpPr>
          <p:cNvPr id="10" name="Text 8"/>
          <p:cNvSpPr/>
          <p:nvPr/>
        </p:nvSpPr>
        <p:spPr>
          <a:xfrm>
            <a:off x="46634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your program,</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running on a server</a:t>
            </a:r>
            <a:endParaRPr lang="en-US" sz="1450" dirty="0"/>
          </a:p>
        </p:txBody>
      </p:sp>
      <p:sp>
        <p:nvSpPr>
          <p:cNvPr id="11" name="Text 9"/>
          <p:cNvSpPr/>
          <p:nvPr/>
        </p:nvSpPr>
        <p:spPr>
          <a:xfrm>
            <a:off x="46634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2" name="Shape 10"/>
          <p:cNvSpPr/>
          <p:nvPr/>
        </p:nvSpPr>
        <p:spPr>
          <a:xfrm>
            <a:off x="8092440" y="1691640"/>
            <a:ext cx="3337560" cy="2697480"/>
          </a:xfrm>
          <a:prstGeom prst="roundRect">
            <a:avLst>
              <a:gd name="adj" fmla="val 3051"/>
            </a:avLst>
          </a:prstGeom>
          <a:solidFill>
            <a:srgbClr val="F5F6F8"/>
          </a:solidFill>
          <a:ln w="12700">
            <a:solidFill>
              <a:srgbClr val="E1E4E9"/>
            </a:solidFill>
            <a:prstDash val="solid"/>
          </a:ln>
        </p:spPr>
      </p:sp>
      <p:sp>
        <p:nvSpPr>
          <p:cNvPr id="13" name="Text 11"/>
          <p:cNvSpPr/>
          <p:nvPr/>
        </p:nvSpPr>
        <p:spPr>
          <a:xfrm>
            <a:off x="8321040" y="192024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Data</a:t>
            </a:r>
            <a:endParaRPr lang="en-US" sz="2200" dirty="0"/>
          </a:p>
        </p:txBody>
      </p:sp>
      <p:sp>
        <p:nvSpPr>
          <p:cNvPr id="14" name="Text 12"/>
          <p:cNvSpPr/>
          <p:nvPr/>
        </p:nvSpPr>
        <p:spPr>
          <a:xfrm>
            <a:off x="8321040" y="2450592"/>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what is kept</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between visits</a:t>
            </a:r>
            <a:endParaRPr lang="en-US" sz="1450" dirty="0"/>
          </a:p>
        </p:txBody>
      </p:sp>
      <p:sp>
        <p:nvSpPr>
          <p:cNvPr id="15" name="Text 13"/>
          <p:cNvSpPr/>
          <p:nvPr/>
        </p:nvSpPr>
        <p:spPr>
          <a:xfrm>
            <a:off x="8321040" y="384048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6" name="Shape 14"/>
          <p:cNvSpPr/>
          <p:nvPr/>
        </p:nvSpPr>
        <p:spPr>
          <a:xfrm>
            <a:off x="777240" y="4709160"/>
            <a:ext cx="10634472" cy="1234440"/>
          </a:xfrm>
          <a:prstGeom prst="roundRect">
            <a:avLst>
              <a:gd name="adj" fmla="val 6667"/>
            </a:avLst>
          </a:prstGeom>
          <a:solidFill>
            <a:srgbClr val="FBF0EE"/>
          </a:solidFill>
          <a:ln w="12700">
            <a:solidFill>
              <a:srgbClr val="BE3A2B"/>
            </a:solidFill>
            <a:prstDash val="solid"/>
          </a:ln>
        </p:spPr>
      </p:sp>
      <p:sp>
        <p:nvSpPr>
          <p:cNvPr id="17" name="Text 15"/>
          <p:cNvSpPr/>
          <p:nvPr/>
        </p:nvSpPr>
        <p:spPr>
          <a:xfrm>
            <a:off x="1143000" y="4892040"/>
            <a:ext cx="10241280" cy="411480"/>
          </a:xfrm>
          <a:prstGeom prst="rect">
            <a:avLst/>
          </a:prstGeom>
          <a:noFill/>
          <a:ln/>
        </p:spPr>
        <p:txBody>
          <a:bodyPr wrap="square" lIns="0" tIns="0" rIns="0" bIns="0" rtlCol="0" anchor="ctr"/>
          <a:lstStyle/>
          <a:p>
            <a:pPr indent="0" marL="0">
              <a:buNone/>
            </a:pPr>
            <a:r>
              <a:rPr lang="en-US" sz="1700" b="1" dirty="0">
                <a:solidFill>
                  <a:srgbClr val="BE3A2B"/>
                </a:solidFill>
                <a:latin typeface="Cambria" pitchFamily="34" charset="0"/>
                <a:ea typeface="Cambria" pitchFamily="34" charset="-122"/>
                <a:cs typeface="Cambria" pitchFamily="34" charset="-120"/>
              </a:rPr>
              <a:t>Everything the frontend receives has been handed to the visitor to keep.</a:t>
            </a:r>
            <a:endParaRPr lang="en-US" sz="1700" dirty="0"/>
          </a:p>
        </p:txBody>
      </p:sp>
      <p:sp>
        <p:nvSpPr>
          <p:cNvPr id="18" name="Text 16"/>
          <p:cNvSpPr/>
          <p:nvPr/>
        </p:nvSpPr>
        <p:spPr>
          <a:xfrm>
            <a:off x="1143000" y="5321808"/>
            <a:ext cx="10241280" cy="457200"/>
          </a:xfrm>
          <a:prstGeom prst="rect">
            <a:avLst/>
          </a:prstGeom>
          <a:noFill/>
          <a:ln/>
        </p:spPr>
        <p:txBody>
          <a:bodyPr wrap="square" lIns="0" tIns="0" rIns="0" bIns="0" rtlCol="0" anchor="ctr"/>
          <a:lstStyle/>
          <a:p>
            <a:pPr indent="0" marL="0">
              <a:buNone/>
            </a:pPr>
            <a:r>
              <a:rPr lang="en-US" sz="1450" dirty="0">
                <a:solidFill>
                  <a:srgbClr val="BE3A2B"/>
                </a:solidFill>
                <a:latin typeface="Calibri" pitchFamily="34" charset="0"/>
                <a:ea typeface="Calibri" pitchFamily="34" charset="-122"/>
                <a:cs typeface="Calibri" pitchFamily="34" charset="-120"/>
              </a:rPr>
              <a:t>Press F12 in any browser and you can read all of it. There is no way to send something to a browser and hide it.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Every action on the web is two steps</a:t>
            </a:r>
            <a:endParaRPr lang="en-US" sz="3100" dirty="0"/>
          </a:p>
        </p:txBody>
      </p:sp>
      <p:sp>
        <p:nvSpPr>
          <p:cNvPr id="4" name="Shape 2"/>
          <p:cNvSpPr/>
          <p:nvPr/>
        </p:nvSpPr>
        <p:spPr>
          <a:xfrm>
            <a:off x="1325880" y="2103120"/>
            <a:ext cx="3566160" cy="1417320"/>
          </a:xfrm>
          <a:prstGeom prst="roundRect">
            <a:avLst>
              <a:gd name="adj" fmla="val 5806"/>
            </a:avLst>
          </a:prstGeom>
          <a:solidFill>
            <a:srgbClr val="F5F6F8"/>
          </a:solidFill>
          <a:ln w="12700">
            <a:solidFill>
              <a:srgbClr val="F5F6F8"/>
            </a:solidFill>
            <a:prstDash val="solid"/>
          </a:ln>
        </p:spPr>
      </p:sp>
      <p:sp>
        <p:nvSpPr>
          <p:cNvPr id="5" name="Text 3"/>
          <p:cNvSpPr/>
          <p:nvPr/>
        </p:nvSpPr>
        <p:spPr>
          <a:xfrm>
            <a:off x="1417320" y="2304288"/>
            <a:ext cx="338328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6" name="Shape 4"/>
          <p:cNvSpPr/>
          <p:nvPr/>
        </p:nvSpPr>
        <p:spPr>
          <a:xfrm>
            <a:off x="7543800" y="2103120"/>
            <a:ext cx="3566160" cy="1417320"/>
          </a:xfrm>
          <a:prstGeom prst="roundRect">
            <a:avLst>
              <a:gd name="adj" fmla="val 5806"/>
            </a:avLst>
          </a:prstGeom>
          <a:solidFill>
            <a:srgbClr val="00776A"/>
          </a:solidFill>
          <a:ln w="12700">
            <a:solidFill>
              <a:srgbClr val="00776A"/>
            </a:solidFill>
            <a:prstDash val="solid"/>
          </a:ln>
        </p:spPr>
      </p:sp>
      <p:sp>
        <p:nvSpPr>
          <p:cNvPr id="7" name="Text 5"/>
          <p:cNvSpPr/>
          <p:nvPr/>
        </p:nvSpPr>
        <p:spPr>
          <a:xfrm>
            <a:off x="7635240" y="2304288"/>
            <a:ext cx="33832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Server</a:t>
            </a:r>
            <a:endParaRPr lang="en-US" sz="1600" dirty="0"/>
          </a:p>
        </p:txBody>
      </p:sp>
      <p:sp>
        <p:nvSpPr>
          <p:cNvPr id="8" name="Shape 6"/>
          <p:cNvSpPr/>
          <p:nvPr/>
        </p:nvSpPr>
        <p:spPr>
          <a:xfrm>
            <a:off x="5074920" y="2423160"/>
            <a:ext cx="2286000" cy="219456"/>
          </a:xfrm>
          <a:prstGeom prst="rightArrow">
            <a:avLst/>
          </a:prstGeom>
          <a:solidFill>
            <a:srgbClr val="A9B0BB"/>
          </a:solidFill>
          <a:ln/>
        </p:spPr>
      </p:sp>
      <p:sp>
        <p:nvSpPr>
          <p:cNvPr id="9" name="Text 7"/>
          <p:cNvSpPr/>
          <p:nvPr/>
        </p:nvSpPr>
        <p:spPr>
          <a:xfrm>
            <a:off x="4663440" y="2039112"/>
            <a:ext cx="310896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1.  request</a:t>
            </a:r>
            <a:endParaRPr lang="en-US" sz="1050" dirty="0"/>
          </a:p>
        </p:txBody>
      </p:sp>
      <p:sp>
        <p:nvSpPr>
          <p:cNvPr id="10" name="Shape 8"/>
          <p:cNvSpPr/>
          <p:nvPr/>
        </p:nvSpPr>
        <p:spPr>
          <a:xfrm>
            <a:off x="5074920" y="3017520"/>
            <a:ext cx="2286000" cy="219456"/>
          </a:xfrm>
          <a:prstGeom prst="leftArrow">
            <a:avLst/>
          </a:prstGeom>
          <a:solidFill>
            <a:srgbClr val="A9B0BB"/>
          </a:solidFill>
          <a:ln/>
        </p:spPr>
      </p:sp>
      <p:sp>
        <p:nvSpPr>
          <p:cNvPr id="11" name="Text 9"/>
          <p:cNvSpPr/>
          <p:nvPr/>
        </p:nvSpPr>
        <p:spPr>
          <a:xfrm>
            <a:off x="4709160" y="3310128"/>
            <a:ext cx="301752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2.  response</a:t>
            </a:r>
            <a:endParaRPr lang="en-US" sz="1050" dirty="0"/>
          </a:p>
        </p:txBody>
      </p:sp>
      <p:sp>
        <p:nvSpPr>
          <p:cNvPr id="12" name="Shape 10"/>
          <p:cNvSpPr/>
          <p:nvPr/>
        </p:nvSpPr>
        <p:spPr>
          <a:xfrm>
            <a:off x="777240" y="4069080"/>
            <a:ext cx="10634472" cy="1005840"/>
          </a:xfrm>
          <a:prstGeom prst="roundRect">
            <a:avLst>
              <a:gd name="adj" fmla="val 8182"/>
            </a:avLst>
          </a:prstGeom>
          <a:solidFill>
            <a:srgbClr val="F5F6F8"/>
          </a:solidFill>
          <a:ln w="12700">
            <a:solidFill>
              <a:srgbClr val="E1E4E9"/>
            </a:solidFill>
            <a:prstDash val="solid"/>
          </a:ln>
        </p:spPr>
      </p:sp>
      <p:sp>
        <p:nvSpPr>
          <p:cNvPr id="13" name="Text 11"/>
          <p:cNvSpPr/>
          <p:nvPr/>
        </p:nvSpPr>
        <p:spPr>
          <a:xfrm>
            <a:off x="1143000" y="4251960"/>
            <a:ext cx="10241280" cy="548640"/>
          </a:xfrm>
          <a:prstGeom prst="rect">
            <a:avLst/>
          </a:prstGeom>
          <a:noFill/>
          <a:ln/>
        </p:spPr>
        <p:txBody>
          <a:bodyPr wrap="square" lIns="0" tIns="0" rIns="0" bIns="0" rtlCol="0" anchor="ctr"/>
          <a:lstStyle/>
          <a:p>
            <a:pPr indent="0" marL="0">
              <a:buNone/>
            </a:pPr>
            <a:r>
              <a:rPr lang="en-US" sz="1600" dirty="0">
                <a:solidFill>
                  <a:srgbClr val="15181F"/>
                </a:solidFill>
                <a:latin typeface="Calibri" pitchFamily="34" charset="0"/>
                <a:ea typeface="Calibri" pitchFamily="34" charset="-122"/>
                <a:cs typeface="Calibri" pitchFamily="34" charset="-120"/>
              </a:rPr>
              <a:t>Loading a page. Pressing a button. Sending a message. All the same shape.</a:t>
            </a:r>
            <a:endParaRPr lang="en-US" sz="1600" dirty="0"/>
          </a:p>
        </p:txBody>
      </p:sp>
      <p:sp>
        <p:nvSpPr>
          <p:cNvPr id="14" name="Text 12"/>
          <p:cNvSpPr/>
          <p:nvPr/>
        </p:nvSpPr>
        <p:spPr>
          <a:xfrm>
            <a:off x="777240" y="534924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Your job is to write the code that decides what goes in the response.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a server is</a:t>
            </a:r>
            <a:endParaRPr lang="en-US" sz="3100" dirty="0"/>
          </a:p>
        </p:txBody>
      </p:sp>
      <p:sp>
        <p:nvSpPr>
          <p:cNvPr id="4" name="Shape 2"/>
          <p:cNvSpPr/>
          <p:nvPr/>
        </p:nvSpPr>
        <p:spPr>
          <a:xfrm>
            <a:off x="777240" y="1828800"/>
            <a:ext cx="5120640" cy="1828800"/>
          </a:xfrm>
          <a:prstGeom prst="roundRect">
            <a:avLst>
              <a:gd name="adj" fmla="val 4500"/>
            </a:avLst>
          </a:prstGeom>
          <a:solidFill>
            <a:srgbClr val="F5F6F8"/>
          </a:solidFill>
          <a:ln w="12700">
            <a:solidFill>
              <a:srgbClr val="F5F6F8"/>
            </a:solidFill>
            <a:prstDash val="solid"/>
          </a:ln>
        </p:spPr>
      </p:sp>
      <p:sp>
        <p:nvSpPr>
          <p:cNvPr id="5" name="Text 3"/>
          <p:cNvSpPr/>
          <p:nvPr/>
        </p:nvSpPr>
        <p:spPr>
          <a:xfrm>
            <a:off x="868680" y="2029968"/>
            <a:ext cx="493776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Your laptop</a:t>
            </a:r>
            <a:endParaRPr lang="en-US" sz="1600" dirty="0"/>
          </a:p>
        </p:txBody>
      </p:sp>
      <p:sp>
        <p:nvSpPr>
          <p:cNvPr id="6" name="Text 4"/>
          <p:cNvSpPr/>
          <p:nvPr/>
        </p:nvSpPr>
        <p:spPr>
          <a:xfrm>
            <a:off x="886968" y="2468880"/>
            <a:ext cx="4901184" cy="1051560"/>
          </a:xfrm>
          <a:prstGeom prst="rect">
            <a:avLst/>
          </a:prstGeom>
          <a:noFill/>
          <a:ln/>
        </p:spPr>
        <p:txBody>
          <a:bodyPr wrap="square" lIns="0" tIns="0" rIns="0" bIns="0" rtlCol="0" anchor="ctr"/>
          <a:lstStyle/>
          <a:p>
            <a:pPr algn="ctr" indent="0" marL="0">
              <a:buNone/>
            </a:pPr>
            <a:r>
              <a:rPr lang="en-US" sz="1200" dirty="0">
                <a:solidFill>
                  <a:srgbClr val="5C6470"/>
                </a:solidFill>
                <a:latin typeface="Calibri" pitchFamily="34" charset="0"/>
                <a:ea typeface="Calibri" pitchFamily="34" charset="-122"/>
                <a:cs typeface="Calibri" pitchFamily="34" charset="-120"/>
              </a:rPr>
              <a:t>on when you open it</a:t>
            </a:r>
            <a:endParaRPr lang="en-US" sz="1200" dirty="0"/>
          </a:p>
          <a:p>
            <a:pPr algn="ctr" indent="0" marL="0">
              <a:buNone/>
            </a:pPr>
            <a:r>
              <a:rPr lang="en-US" sz="1200" dirty="0">
                <a:solidFill>
                  <a:srgbClr val="5C6470"/>
                </a:solidFill>
                <a:latin typeface="Calibri" pitchFamily="34" charset="0"/>
                <a:ea typeface="Calibri" pitchFamily="34" charset="-122"/>
                <a:cs typeface="Calibri" pitchFamily="34" charset="-120"/>
              </a:rPr>
              <a:t>off when you close it</a:t>
            </a:r>
            <a:endParaRPr lang="en-US" sz="1200" dirty="0"/>
          </a:p>
        </p:txBody>
      </p:sp>
      <p:sp>
        <p:nvSpPr>
          <p:cNvPr id="7" name="Shape 5"/>
          <p:cNvSpPr/>
          <p:nvPr/>
        </p:nvSpPr>
        <p:spPr>
          <a:xfrm>
            <a:off x="6446520" y="1828800"/>
            <a:ext cx="5120640" cy="1828800"/>
          </a:xfrm>
          <a:prstGeom prst="roundRect">
            <a:avLst>
              <a:gd name="adj" fmla="val 4500"/>
            </a:avLst>
          </a:prstGeom>
          <a:solidFill>
            <a:srgbClr val="00776A"/>
          </a:solidFill>
          <a:ln w="12700">
            <a:solidFill>
              <a:srgbClr val="00776A"/>
            </a:solidFill>
            <a:prstDash val="solid"/>
          </a:ln>
        </p:spPr>
      </p:sp>
      <p:sp>
        <p:nvSpPr>
          <p:cNvPr id="8" name="Text 6"/>
          <p:cNvSpPr/>
          <p:nvPr/>
        </p:nvSpPr>
        <p:spPr>
          <a:xfrm>
            <a:off x="6537960" y="2029968"/>
            <a:ext cx="493776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 server</a:t>
            </a:r>
            <a:endParaRPr lang="en-US" sz="1600" dirty="0"/>
          </a:p>
        </p:txBody>
      </p:sp>
      <p:sp>
        <p:nvSpPr>
          <p:cNvPr id="9" name="Text 7"/>
          <p:cNvSpPr/>
          <p:nvPr/>
        </p:nvSpPr>
        <p:spPr>
          <a:xfrm>
            <a:off x="6556248" y="2468880"/>
            <a:ext cx="4901184" cy="1051560"/>
          </a:xfrm>
          <a:prstGeom prst="rect">
            <a:avLst/>
          </a:prstGeom>
          <a:noFill/>
          <a:ln/>
        </p:spPr>
        <p:txBody>
          <a:bodyPr wrap="square" lIns="0" tIns="0" rIns="0" bIns="0" rtlCol="0" anchor="ctr"/>
          <a:lstStyle/>
          <a:p>
            <a:pPr algn="ctr" indent="0" marL="0">
              <a:buNone/>
            </a:pPr>
            <a:r>
              <a:rPr lang="en-US" sz="1200" dirty="0">
                <a:solidFill>
                  <a:srgbClr val="C9D0DC"/>
                </a:solidFill>
                <a:latin typeface="Calibri" pitchFamily="34" charset="0"/>
                <a:ea typeface="Calibri" pitchFamily="34" charset="-122"/>
                <a:cs typeface="Calibri" pitchFamily="34" charset="-120"/>
              </a:rPr>
              <a:t>on all the time</a:t>
            </a:r>
            <a:endParaRPr lang="en-US" sz="1200" dirty="0"/>
          </a:p>
          <a:p>
            <a:pPr algn="ctr" indent="0" marL="0">
              <a:buNone/>
            </a:pPr>
            <a:r>
              <a:rPr lang="en-US" sz="1200" dirty="0">
                <a:solidFill>
                  <a:srgbClr val="C9D0DC"/>
                </a:solidFill>
                <a:latin typeface="Calibri" pitchFamily="34" charset="0"/>
                <a:ea typeface="Calibri" pitchFamily="34" charset="-122"/>
                <a:cs typeface="Calibri" pitchFamily="34" charset="-120"/>
              </a:rPr>
              <a:t>waiting for requests</a:t>
            </a:r>
            <a:endParaRPr lang="en-US" sz="1200" dirty="0"/>
          </a:p>
        </p:txBody>
      </p:sp>
      <p:sp>
        <p:nvSpPr>
          <p:cNvPr id="10" name="Shape 8"/>
          <p:cNvSpPr/>
          <p:nvPr/>
        </p:nvSpPr>
        <p:spPr>
          <a:xfrm>
            <a:off x="777240" y="4023360"/>
            <a:ext cx="10634472" cy="1051560"/>
          </a:xfrm>
          <a:prstGeom prst="roundRect">
            <a:avLst>
              <a:gd name="adj" fmla="val 7826"/>
            </a:avLst>
          </a:prstGeom>
          <a:solidFill>
            <a:srgbClr val="F5F6F8"/>
          </a:solidFill>
          <a:ln w="12700">
            <a:solidFill>
              <a:srgbClr val="E1E4E9"/>
            </a:solidFill>
            <a:prstDash val="solid"/>
          </a:ln>
        </p:spPr>
      </p:sp>
      <p:sp>
        <p:nvSpPr>
          <p:cNvPr id="11" name="Text 9"/>
          <p:cNvSpPr/>
          <p:nvPr/>
        </p:nvSpPr>
        <p:spPr>
          <a:xfrm>
            <a:off x="1143000" y="4206240"/>
            <a:ext cx="10241280" cy="54864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A server is a computer that stays switched on. That is the whole idea.</a:t>
            </a:r>
            <a:endParaRPr lang="en-US" sz="1700" dirty="0"/>
          </a:p>
        </p:txBody>
      </p:sp>
      <p:sp>
        <p:nvSpPr>
          <p:cNvPr id="12" name="Text 10"/>
          <p:cNvSpPr/>
          <p:nvPr/>
        </p:nvSpPr>
        <p:spPr>
          <a:xfrm>
            <a:off x="777240" y="5212080"/>
            <a:ext cx="10634472" cy="8229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For Stages 1 to 5 the server is your own laptop. At Stage 6 we move it to a computer in a data centre so it never turns off. That move is what 'deploying' means.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we are building</a:t>
            </a:r>
            <a:endParaRPr lang="en-US" sz="3100" dirty="0"/>
          </a:p>
        </p:txBody>
      </p:sp>
      <p:sp>
        <p:nvSpPr>
          <p:cNvPr id="4" name="Text 2"/>
          <p:cNvSpPr/>
          <p:nvPr/>
        </p:nvSpPr>
        <p:spPr>
          <a:xfrm>
            <a:off x="777240" y="1371600"/>
            <a:ext cx="10634472" cy="457200"/>
          </a:xfrm>
          <a:prstGeom prst="rect">
            <a:avLst/>
          </a:prstGeom>
          <a:noFill/>
          <a:ln/>
        </p:spPr>
        <p:txBody>
          <a:bodyPr wrap="square" lIns="0" tIns="0" rIns="0" bIns="0" rtlCol="0" anchor="ctr"/>
          <a:lstStyle/>
          <a:p>
            <a:pPr indent="0" marL="0">
              <a:buNone/>
            </a:pPr>
            <a:r>
              <a:rPr lang="en-US" sz="1600" dirty="0">
                <a:solidFill>
                  <a:srgbClr val="5C6470"/>
                </a:solidFill>
                <a:latin typeface="Calibri" pitchFamily="34" charset="0"/>
                <a:ea typeface="Calibri" pitchFamily="34" charset="-122"/>
                <a:cs typeface="Calibri" pitchFamily="34" charset="-120"/>
              </a:rPr>
              <a:t>A sensor triage service. Something sends a reading, your code decides if it is safe, an AI explains what it means.</a:t>
            </a:r>
            <a:endParaRPr lang="en-US" sz="1600" dirty="0"/>
          </a:p>
        </p:txBody>
      </p:sp>
      <p:sp>
        <p:nvSpPr>
          <p:cNvPr id="5" name="Shape 3"/>
          <p:cNvSpPr/>
          <p:nvPr/>
        </p:nvSpPr>
        <p:spPr>
          <a:xfrm>
            <a:off x="777240" y="2057400"/>
            <a:ext cx="3337560" cy="2103120"/>
          </a:xfrm>
          <a:prstGeom prst="roundRect">
            <a:avLst>
              <a:gd name="adj" fmla="val 3913"/>
            </a:avLst>
          </a:prstGeom>
          <a:solidFill>
            <a:srgbClr val="F5F6F8"/>
          </a:solidFill>
          <a:ln w="12700">
            <a:solidFill>
              <a:srgbClr val="E1E4E9"/>
            </a:solidFill>
            <a:prstDash val="solid"/>
          </a:ln>
        </p:spPr>
      </p:sp>
      <p:sp>
        <p:nvSpPr>
          <p:cNvPr id="6" name="Text 4"/>
          <p:cNvSpPr/>
          <p:nvPr/>
        </p:nvSpPr>
        <p:spPr>
          <a:xfrm>
            <a:off x="1033272" y="2240280"/>
            <a:ext cx="2834640" cy="548640"/>
          </a:xfrm>
          <a:prstGeom prst="rect">
            <a:avLst/>
          </a:prstGeom>
          <a:noFill/>
          <a:ln/>
        </p:spPr>
        <p:txBody>
          <a:bodyPr wrap="square" lIns="0" tIns="0" rIns="0" bIns="0" rtlCol="0" anchor="ctr"/>
          <a:lstStyle/>
          <a:p>
            <a:pPr indent="0" marL="0">
              <a:buNone/>
            </a:pPr>
            <a:r>
              <a:rPr lang="en-US" sz="1450" b="1" dirty="0">
                <a:solidFill>
                  <a:srgbClr val="5158BE"/>
                </a:solidFill>
                <a:latin typeface="Cambria" pitchFamily="34" charset="0"/>
                <a:ea typeface="Cambria" pitchFamily="34" charset="-122"/>
                <a:cs typeface="Cambria" pitchFamily="34" charset="-120"/>
              </a:rPr>
              <a:t>Healthcare</a:t>
            </a:r>
            <a:endParaRPr lang="en-US" sz="1450" dirty="0"/>
          </a:p>
        </p:txBody>
      </p:sp>
      <p:sp>
        <p:nvSpPr>
          <p:cNvPr id="7" name="Text 5"/>
          <p:cNvSpPr/>
          <p:nvPr/>
        </p:nvSpPr>
        <p:spPr>
          <a:xfrm>
            <a:off x="10332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body temperature   36.1-37.2 C</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blood oxygen       95-100 %</a:t>
            </a:r>
            <a:endParaRPr lang="en-US" sz="1050" dirty="0"/>
          </a:p>
        </p:txBody>
      </p:sp>
      <p:sp>
        <p:nvSpPr>
          <p:cNvPr id="8" name="Shape 6"/>
          <p:cNvSpPr/>
          <p:nvPr/>
        </p:nvSpPr>
        <p:spPr>
          <a:xfrm>
            <a:off x="4434840" y="2057400"/>
            <a:ext cx="3337560" cy="2103120"/>
          </a:xfrm>
          <a:prstGeom prst="roundRect">
            <a:avLst>
              <a:gd name="adj" fmla="val 3913"/>
            </a:avLst>
          </a:prstGeom>
          <a:solidFill>
            <a:srgbClr val="F5F6F8"/>
          </a:solidFill>
          <a:ln w="12700">
            <a:solidFill>
              <a:srgbClr val="E1E4E9"/>
            </a:solidFill>
            <a:prstDash val="solid"/>
          </a:ln>
        </p:spPr>
      </p:sp>
      <p:sp>
        <p:nvSpPr>
          <p:cNvPr id="9" name="Text 7"/>
          <p:cNvSpPr/>
          <p:nvPr/>
        </p:nvSpPr>
        <p:spPr>
          <a:xfrm>
            <a:off x="4690872" y="2240280"/>
            <a:ext cx="2834640" cy="548640"/>
          </a:xfrm>
          <a:prstGeom prst="rect">
            <a:avLst/>
          </a:prstGeom>
          <a:noFill/>
          <a:ln/>
        </p:spPr>
        <p:txBody>
          <a:bodyPr wrap="square" lIns="0" tIns="0" rIns="0" bIns="0" rtlCol="0" anchor="ctr"/>
          <a:lstStyle/>
          <a:p>
            <a:pPr indent="0" marL="0">
              <a:buNone/>
            </a:pPr>
            <a:r>
              <a:rPr lang="en-US" sz="1450" b="1" dirty="0">
                <a:solidFill>
                  <a:srgbClr val="0A7D28"/>
                </a:solidFill>
                <a:latin typeface="Cambria" pitchFamily="34" charset="0"/>
                <a:ea typeface="Cambria" pitchFamily="34" charset="-122"/>
                <a:cs typeface="Cambria" pitchFamily="34" charset="-120"/>
              </a:rPr>
              <a:t>Sustainable Solutions</a:t>
            </a:r>
            <a:endParaRPr lang="en-US" sz="1450" dirty="0"/>
          </a:p>
        </p:txBody>
      </p:sp>
      <p:sp>
        <p:nvSpPr>
          <p:cNvPr id="10" name="Text 8"/>
          <p:cNvSpPr/>
          <p:nvPr/>
        </p:nvSpPr>
        <p:spPr>
          <a:xfrm>
            <a:off x="46908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indoor CO2         400-1000 ppm</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power draw         0-3500 W</a:t>
            </a:r>
            <a:endParaRPr lang="en-US" sz="1050" dirty="0"/>
          </a:p>
        </p:txBody>
      </p:sp>
      <p:sp>
        <p:nvSpPr>
          <p:cNvPr id="11" name="Shape 9"/>
          <p:cNvSpPr/>
          <p:nvPr/>
        </p:nvSpPr>
        <p:spPr>
          <a:xfrm>
            <a:off x="8092440" y="2057400"/>
            <a:ext cx="3337560" cy="2103120"/>
          </a:xfrm>
          <a:prstGeom prst="roundRect">
            <a:avLst>
              <a:gd name="adj" fmla="val 3913"/>
            </a:avLst>
          </a:prstGeom>
          <a:solidFill>
            <a:srgbClr val="F5F6F8"/>
          </a:solidFill>
          <a:ln w="12700">
            <a:solidFill>
              <a:srgbClr val="E1E4E9"/>
            </a:solidFill>
            <a:prstDash val="solid"/>
          </a:ln>
        </p:spPr>
      </p:sp>
      <p:sp>
        <p:nvSpPr>
          <p:cNvPr id="12" name="Text 10"/>
          <p:cNvSpPr/>
          <p:nvPr/>
        </p:nvSpPr>
        <p:spPr>
          <a:xfrm>
            <a:off x="8348472" y="2240280"/>
            <a:ext cx="2834640" cy="548640"/>
          </a:xfrm>
          <a:prstGeom prst="rect">
            <a:avLst/>
          </a:prstGeom>
          <a:noFill/>
          <a:ln/>
        </p:spPr>
        <p:txBody>
          <a:bodyPr wrap="square" lIns="0" tIns="0" rIns="0" bIns="0" rtlCol="0" anchor="ctr"/>
          <a:lstStyle/>
          <a:p>
            <a:pPr indent="0" marL="0">
              <a:buNone/>
            </a:pPr>
            <a:r>
              <a:rPr lang="en-US" sz="1450" b="1" dirty="0">
                <a:solidFill>
                  <a:srgbClr val="A85F00"/>
                </a:solidFill>
                <a:latin typeface="Cambria" pitchFamily="34" charset="0"/>
                <a:ea typeface="Cambria" pitchFamily="34" charset="-122"/>
                <a:cs typeface="Cambria" pitchFamily="34" charset="-120"/>
              </a:rPr>
              <a:t>Global Impact</a:t>
            </a:r>
            <a:endParaRPr lang="en-US" sz="1450" dirty="0"/>
          </a:p>
        </p:txBody>
      </p:sp>
      <p:sp>
        <p:nvSpPr>
          <p:cNvPr id="13" name="Text 11"/>
          <p:cNvSpPr/>
          <p:nvPr/>
        </p:nvSpPr>
        <p:spPr>
          <a:xfrm>
            <a:off x="8348472" y="283464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soil moisture      30-70 %</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motor temperature  20-60 C</a:t>
            </a:r>
            <a:endParaRPr lang="en-US" sz="1050" dirty="0"/>
          </a:p>
        </p:txBody>
      </p:sp>
      <p:sp>
        <p:nvSpPr>
          <p:cNvPr id="14" name="Text 12"/>
          <p:cNvSpPr/>
          <p:nvPr/>
        </p:nvSpPr>
        <p:spPr>
          <a:xfrm>
            <a:off x="777240" y="452628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Every track measures a number that has a safe range.</a:t>
            </a:r>
            <a:endParaRPr lang="en-US" sz="2100" dirty="0"/>
          </a:p>
        </p:txBody>
      </p:sp>
      <p:sp>
        <p:nvSpPr>
          <p:cNvPr id="15" name="Text 13"/>
          <p:cNvSpPr/>
          <p:nvPr/>
        </p:nvSpPr>
        <p:spPr>
          <a:xfrm>
            <a:off x="777240" y="5120640"/>
            <a:ext cx="10634472" cy="73152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 code is identical for all of them. Only the numbers change. Whatever your project measures, it fits.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indent="0" marL="0">
              <a:buNone/>
            </a:pPr>
            <a:r>
              <a:rPr lang="en-US" sz="1300" b="1" spc="300" kern="0" dirty="0">
                <a:solidFill>
                  <a:srgbClr val="3ACFB6"/>
                </a:solidFill>
                <a:latin typeface="Calibri" pitchFamily="34" charset="0"/>
                <a:ea typeface="Calibri" pitchFamily="34" charset="-122"/>
                <a:cs typeface="Calibri" pitchFamily="34" charset="-120"/>
              </a:rPr>
              <a:t>PART 2</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Build it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Six stages. Each one runs before we move to the next.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SET UP</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the folder</a:t>
            </a:r>
            <a:endParaRPr lang="en-US" sz="3100" dirty="0"/>
          </a:p>
        </p:txBody>
      </p:sp>
      <p:sp>
        <p:nvSpPr>
          <p:cNvPr id="4" name="Shape 2"/>
          <p:cNvSpPr/>
          <p:nvPr/>
        </p:nvSpPr>
        <p:spPr>
          <a:xfrm>
            <a:off x="777240" y="1691640"/>
            <a:ext cx="10634472" cy="1335024"/>
          </a:xfrm>
          <a:prstGeom prst="roundRect">
            <a:avLst>
              <a:gd name="adj" fmla="val 5479"/>
            </a:avLst>
          </a:prstGeom>
          <a:solidFill>
            <a:srgbClr val="1B1F2A"/>
          </a:solidFill>
          <a:ln w="12700">
            <a:solidFill>
              <a:srgbClr val="1B1F2A"/>
            </a:solidFill>
            <a:prstDash val="solid"/>
          </a:ln>
        </p:spPr>
      </p:sp>
      <p:sp>
        <p:nvSpPr>
          <p:cNvPr id="5" name="Text 3"/>
          <p:cNvSpPr/>
          <p:nvPr/>
        </p:nvSpPr>
        <p:spPr>
          <a:xfrm>
            <a:off x="1097280" y="192024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mkdir sensor-triage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cd sensor-triage</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python -m venv .venv</a:t>
            </a:r>
            <a:endParaRPr lang="en-US" sz="1600" dirty="0"/>
          </a:p>
        </p:txBody>
      </p:sp>
      <p:sp>
        <p:nvSpPr>
          <p:cNvPr id="6" name="Text 4"/>
          <p:cNvSpPr/>
          <p:nvPr/>
        </p:nvSpPr>
        <p:spPr>
          <a:xfrm>
            <a:off x="777240" y="3017520"/>
            <a:ext cx="10634472" cy="3200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Then activate it:</a:t>
            </a:r>
            <a:endParaRPr lang="en-US" sz="1500" dirty="0"/>
          </a:p>
        </p:txBody>
      </p:sp>
      <p:sp>
        <p:nvSpPr>
          <p:cNvPr id="7" name="Shape 5"/>
          <p:cNvSpPr/>
          <p:nvPr/>
        </p:nvSpPr>
        <p:spPr>
          <a:xfrm>
            <a:off x="777240" y="3429000"/>
            <a:ext cx="10634472" cy="1920240"/>
          </a:xfrm>
          <a:prstGeom prst="roundRect">
            <a:avLst>
              <a:gd name="adj" fmla="val 3810"/>
            </a:avLst>
          </a:prstGeom>
          <a:solidFill>
            <a:srgbClr val="1B1F2A"/>
          </a:solidFill>
          <a:ln w="12700">
            <a:solidFill>
              <a:srgbClr val="1B1F2A"/>
            </a:solidFill>
            <a:prstDash val="solid"/>
          </a:ln>
        </p:spPr>
      </p:sp>
      <p:sp>
        <p:nvSpPr>
          <p:cNvPr id="8" name="Text 6"/>
          <p:cNvSpPr/>
          <p:nvPr/>
        </p:nvSpPr>
        <p:spPr>
          <a:xfrm>
            <a:off x="1097280" y="3657600"/>
            <a:ext cx="9994392" cy="1463040"/>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 Windows</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  .venv\Scripts\activate</a:t>
            </a:r>
            <a:endParaRPr lang="en-US" sz="1600" dirty="0"/>
          </a:p>
          <a:p>
            <a:pPr indent="0" marL="0">
              <a:lnSpc>
                <a:spcPts val="2300"/>
              </a:lnSpc>
              <a:buNone/>
            </a:pP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 macOS / Linux</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  source .venv/bin/activate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SET UP</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Install what we need</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sp>
      <p:sp>
        <p:nvSpPr>
          <p:cNvPr id="5" name="Text 3"/>
          <p:cNvSpPr/>
          <p:nvPr/>
        </p:nvSpPr>
        <p:spPr>
          <a:xfrm>
            <a:off x="1097280" y="19659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pip install "fastapi[standard]" uvicorn python-dotenv anthropic</a:t>
            </a:r>
            <a:endParaRPr lang="en-US" sz="1600" dirty="0"/>
          </a:p>
        </p:txBody>
      </p:sp>
      <p:sp>
        <p:nvSpPr>
          <p:cNvPr id="6" name="Shape 4"/>
          <p:cNvSpPr/>
          <p:nvPr/>
        </p:nvSpPr>
        <p:spPr>
          <a:xfrm>
            <a:off x="777240" y="2834640"/>
            <a:ext cx="10634472" cy="658368"/>
          </a:xfrm>
          <a:prstGeom prst="roundRect">
            <a:avLst>
              <a:gd name="adj" fmla="val 12500"/>
            </a:avLst>
          </a:prstGeom>
          <a:solidFill>
            <a:srgbClr val="F5F6F8"/>
          </a:solidFill>
          <a:ln w="12700">
            <a:solidFill>
              <a:srgbClr val="E1E4E9"/>
            </a:solidFill>
            <a:prstDash val="solid"/>
          </a:ln>
        </p:spPr>
      </p:sp>
      <p:sp>
        <p:nvSpPr>
          <p:cNvPr id="7" name="Text 5"/>
          <p:cNvSpPr/>
          <p:nvPr/>
        </p:nvSpPr>
        <p:spPr>
          <a:xfrm>
            <a:off x="1069848" y="2852928"/>
            <a:ext cx="237744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fastapi</a:t>
            </a:r>
            <a:endParaRPr lang="en-US" sz="1400" dirty="0"/>
          </a:p>
        </p:txBody>
      </p:sp>
      <p:sp>
        <p:nvSpPr>
          <p:cNvPr id="8" name="Text 6"/>
          <p:cNvSpPr/>
          <p:nvPr/>
        </p:nvSpPr>
        <p:spPr>
          <a:xfrm>
            <a:off x="3611880" y="2852928"/>
            <a:ext cx="7680960" cy="62179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the web framework: turns Python functions into web addresses</a:t>
            </a:r>
            <a:endParaRPr lang="en-US" sz="1350" dirty="0"/>
          </a:p>
        </p:txBody>
      </p:sp>
      <p:sp>
        <p:nvSpPr>
          <p:cNvPr id="9" name="Shape 7"/>
          <p:cNvSpPr/>
          <p:nvPr/>
        </p:nvSpPr>
        <p:spPr>
          <a:xfrm>
            <a:off x="777240" y="3611880"/>
            <a:ext cx="10634472" cy="658368"/>
          </a:xfrm>
          <a:prstGeom prst="roundRect">
            <a:avLst>
              <a:gd name="adj" fmla="val 12500"/>
            </a:avLst>
          </a:prstGeom>
          <a:solidFill>
            <a:srgbClr val="F5F6F8"/>
          </a:solidFill>
          <a:ln w="12700">
            <a:solidFill>
              <a:srgbClr val="E1E4E9"/>
            </a:solidFill>
            <a:prstDash val="solid"/>
          </a:ln>
        </p:spPr>
      </p:sp>
      <p:sp>
        <p:nvSpPr>
          <p:cNvPr id="10" name="Text 8"/>
          <p:cNvSpPr/>
          <p:nvPr/>
        </p:nvSpPr>
        <p:spPr>
          <a:xfrm>
            <a:off x="1069848" y="3630168"/>
            <a:ext cx="237744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uvicorn</a:t>
            </a:r>
            <a:endParaRPr lang="en-US" sz="1400" dirty="0"/>
          </a:p>
        </p:txBody>
      </p:sp>
      <p:sp>
        <p:nvSpPr>
          <p:cNvPr id="11" name="Text 9"/>
          <p:cNvSpPr/>
          <p:nvPr/>
        </p:nvSpPr>
        <p:spPr>
          <a:xfrm>
            <a:off x="3611880" y="3630168"/>
            <a:ext cx="7680960" cy="62179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the program that actually runs your server</a:t>
            </a:r>
            <a:endParaRPr lang="en-US" sz="1350" dirty="0"/>
          </a:p>
        </p:txBody>
      </p:sp>
      <p:sp>
        <p:nvSpPr>
          <p:cNvPr id="12" name="Shape 10"/>
          <p:cNvSpPr/>
          <p:nvPr/>
        </p:nvSpPr>
        <p:spPr>
          <a:xfrm>
            <a:off x="777240" y="4389120"/>
            <a:ext cx="10634472" cy="658368"/>
          </a:xfrm>
          <a:prstGeom prst="roundRect">
            <a:avLst>
              <a:gd name="adj" fmla="val 12500"/>
            </a:avLst>
          </a:prstGeom>
          <a:solidFill>
            <a:srgbClr val="F5F6F8"/>
          </a:solidFill>
          <a:ln w="12700">
            <a:solidFill>
              <a:srgbClr val="E1E4E9"/>
            </a:solidFill>
            <a:prstDash val="solid"/>
          </a:ln>
        </p:spPr>
      </p:sp>
      <p:sp>
        <p:nvSpPr>
          <p:cNvPr id="13" name="Text 11"/>
          <p:cNvSpPr/>
          <p:nvPr/>
        </p:nvSpPr>
        <p:spPr>
          <a:xfrm>
            <a:off x="1069848" y="4407408"/>
            <a:ext cx="237744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python-dotenv</a:t>
            </a:r>
            <a:endParaRPr lang="en-US" sz="1400" dirty="0"/>
          </a:p>
        </p:txBody>
      </p:sp>
      <p:sp>
        <p:nvSpPr>
          <p:cNvPr id="14" name="Text 12"/>
          <p:cNvSpPr/>
          <p:nvPr/>
        </p:nvSpPr>
        <p:spPr>
          <a:xfrm>
            <a:off x="3611880" y="4407408"/>
            <a:ext cx="7680960" cy="62179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reads your settings file at Stage 4</a:t>
            </a:r>
            <a:endParaRPr lang="en-US" sz="1350" dirty="0"/>
          </a:p>
        </p:txBody>
      </p:sp>
      <p:sp>
        <p:nvSpPr>
          <p:cNvPr id="15" name="Shape 13"/>
          <p:cNvSpPr/>
          <p:nvPr/>
        </p:nvSpPr>
        <p:spPr>
          <a:xfrm>
            <a:off x="777240" y="5166360"/>
            <a:ext cx="10634472" cy="658368"/>
          </a:xfrm>
          <a:prstGeom prst="roundRect">
            <a:avLst>
              <a:gd name="adj" fmla="val 12500"/>
            </a:avLst>
          </a:prstGeom>
          <a:solidFill>
            <a:srgbClr val="F5F6F8"/>
          </a:solidFill>
          <a:ln w="12700">
            <a:solidFill>
              <a:srgbClr val="E1E4E9"/>
            </a:solidFill>
            <a:prstDash val="solid"/>
          </a:ln>
        </p:spPr>
      </p:sp>
      <p:sp>
        <p:nvSpPr>
          <p:cNvPr id="16" name="Text 14"/>
          <p:cNvSpPr/>
          <p:nvPr/>
        </p:nvSpPr>
        <p:spPr>
          <a:xfrm>
            <a:off x="1069848" y="5184648"/>
            <a:ext cx="2377440" cy="62179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anthropic</a:t>
            </a:r>
            <a:endParaRPr lang="en-US" sz="1400" dirty="0"/>
          </a:p>
        </p:txBody>
      </p:sp>
      <p:sp>
        <p:nvSpPr>
          <p:cNvPr id="17" name="Text 15"/>
          <p:cNvSpPr/>
          <p:nvPr/>
        </p:nvSpPr>
        <p:spPr>
          <a:xfrm>
            <a:off x="3611880" y="5184648"/>
            <a:ext cx="7680960" cy="62179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talks to the AI API at Stage 4</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 OF 6      7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 server that answers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main.py</a:t>
            </a:r>
            <a:endParaRPr lang="en-US" sz="1450" dirty="0"/>
          </a:p>
          <a:p>
            <a:pPr indent="0" marL="0">
              <a:buNone/>
            </a:pP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Six lines: import FastAPI, create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 app, and one function that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returns a status.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uvicorn main:app --reload</a:t>
            </a:r>
            <a:endParaRPr lang="en-US" sz="1450" dirty="0"/>
          </a:p>
          <a:p>
            <a:pPr indent="0" marL="0">
              <a:buNone/>
            </a:pP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127.0.0.1:8000/health shows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{"status":"ok"} in your browser.</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main.py</a:t>
            </a:r>
            <a:endParaRPr lang="en-US" sz="3100" dirty="0"/>
          </a:p>
        </p:txBody>
      </p:sp>
      <p:sp>
        <p:nvSpPr>
          <p:cNvPr id="4" name="Shape 2"/>
          <p:cNvSpPr/>
          <p:nvPr/>
        </p:nvSpPr>
        <p:spPr>
          <a:xfrm>
            <a:off x="777240" y="1737360"/>
            <a:ext cx="10634472" cy="2382520"/>
          </a:xfrm>
          <a:prstGeom prst="roundRect">
            <a:avLst>
              <a:gd name="adj" fmla="val 3070"/>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18338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fastapi import FastAPI</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 = FastAPI()</a:t>
            </a:r>
            <a:endParaRPr lang="en-US" sz="1500" dirty="0"/>
          </a:p>
          <a:p>
            <a:pPr indent="0" marL="0">
              <a:lnSpc>
                <a:spcPts val="1850"/>
              </a:lnSpc>
              <a:buNone/>
            </a:pP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@app.get("/health")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health():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{"status": "ok"}</a:t>
            </a:r>
            <a:endParaRPr lang="en-US" sz="1500" dirty="0"/>
          </a:p>
        </p:txBody>
      </p:sp>
      <p:sp>
        <p:nvSpPr>
          <p:cNvPr id="7" name="Text 5"/>
          <p:cNvSpPr/>
          <p:nvPr/>
        </p:nvSpPr>
        <p:spPr>
          <a:xfrm>
            <a:off x="777240" y="4572000"/>
            <a:ext cx="10634472" cy="822960"/>
          </a:xfrm>
          <a:prstGeom prst="rect">
            <a:avLst/>
          </a:prstGeom>
          <a:noFill/>
          <a:ln/>
        </p:spPr>
        <p:txBody>
          <a:bodyPr wrap="square" lIns="0" tIns="0" rIns="0" bIns="0" rtlCol="0" anchor="ctr"/>
          <a:lstStyle/>
          <a:p>
            <a:pPr indent="0" marL="0">
              <a:buNone/>
            </a:pPr>
            <a:r>
              <a:rPr lang="en-US" sz="2100" b="1" dirty="0">
                <a:solidFill>
                  <a:srgbClr val="00776A"/>
                </a:solidFill>
                <a:latin typeface="Cambria" pitchFamily="34" charset="0"/>
                <a:ea typeface="Cambria" pitchFamily="34" charset="-122"/>
                <a:cs typeface="Cambria" pitchFamily="34" charset="-120"/>
              </a:rPr>
              <a:t>That is a web server. Six lines.</a:t>
            </a:r>
            <a:endParaRPr lang="en-US" sz="2100" dirty="0"/>
          </a:p>
        </p:txBody>
      </p:sp>
      <p:sp>
        <p:nvSpPr>
          <p:cNvPr id="8" name="Text 6"/>
          <p:cNvSpPr/>
          <p:nvPr/>
        </p:nvSpPr>
        <p:spPr>
          <a:xfrm>
            <a:off x="777240" y="5120640"/>
            <a:ext cx="10634472" cy="54864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FastAPI turns an ordinary Python function into something the internet can call.</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Run it</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sp>
      <p:sp>
        <p:nvSpPr>
          <p:cNvPr id="5" name="Text 3"/>
          <p:cNvSpPr/>
          <p:nvPr/>
        </p:nvSpPr>
        <p:spPr>
          <a:xfrm>
            <a:off x="1097280" y="19659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uvicorn main:app --reload</a:t>
            </a:r>
            <a:endParaRPr lang="en-US" sz="1600" dirty="0"/>
          </a:p>
        </p:txBody>
      </p:sp>
      <p:sp>
        <p:nvSpPr>
          <p:cNvPr id="6" name="Text 4"/>
          <p:cNvSpPr/>
          <p:nvPr/>
        </p:nvSpPr>
        <p:spPr>
          <a:xfrm>
            <a:off x="777240" y="2788920"/>
            <a:ext cx="10634472" cy="3657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Then open  http://127.0.0.1:8000/health  in your browser:</a:t>
            </a:r>
            <a:endParaRPr lang="en-US" sz="1550" dirty="0"/>
          </a:p>
        </p:txBody>
      </p:sp>
      <p:sp>
        <p:nvSpPr>
          <p:cNvPr id="7" name="Shape 5"/>
          <p:cNvSpPr/>
          <p:nvPr/>
        </p:nvSpPr>
        <p:spPr>
          <a:xfrm>
            <a:off x="777240" y="3246120"/>
            <a:ext cx="10634472" cy="685800"/>
          </a:xfrm>
          <a:prstGeom prst="roundRect">
            <a:avLst>
              <a:gd name="adj" fmla="val 10667"/>
            </a:avLst>
          </a:prstGeom>
          <a:solidFill>
            <a:srgbClr val="1B1F2A"/>
          </a:solidFill>
          <a:ln w="12700">
            <a:solidFill>
              <a:srgbClr val="1B1F2A"/>
            </a:solidFill>
            <a:prstDash val="solid"/>
          </a:ln>
        </p:spPr>
      </p:sp>
      <p:sp>
        <p:nvSpPr>
          <p:cNvPr id="8" name="Text 6"/>
          <p:cNvSpPr/>
          <p:nvPr/>
        </p:nvSpPr>
        <p:spPr>
          <a:xfrm>
            <a:off x="1069848" y="3474720"/>
            <a:ext cx="10085832" cy="3200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{"status":"ok"}</a:t>
            </a:r>
            <a:endParaRPr lang="en-US" sz="1500" dirty="0"/>
          </a:p>
        </p:txBody>
      </p:sp>
      <p:sp>
        <p:nvSpPr>
          <p:cNvPr id="9" name="Shape 7"/>
          <p:cNvSpPr/>
          <p:nvPr/>
        </p:nvSpPr>
        <p:spPr>
          <a:xfrm>
            <a:off x="777240" y="4251960"/>
            <a:ext cx="10634472" cy="914400"/>
          </a:xfrm>
          <a:prstGeom prst="roundRect">
            <a:avLst>
              <a:gd name="adj" fmla="val 9000"/>
            </a:avLst>
          </a:prstGeom>
          <a:solidFill>
            <a:srgbClr val="EAF6F3"/>
          </a:solidFill>
          <a:ln w="12700">
            <a:solidFill>
              <a:srgbClr val="9CCFC6"/>
            </a:solidFill>
            <a:prstDash val="solid"/>
          </a:ln>
        </p:spPr>
      </p:sp>
      <p:sp>
        <p:nvSpPr>
          <p:cNvPr id="10" name="Text 8"/>
          <p:cNvSpPr/>
          <p:nvPr/>
        </p:nvSpPr>
        <p:spPr>
          <a:xfrm>
            <a:off x="1143000" y="4370832"/>
            <a:ext cx="10241280" cy="685800"/>
          </a:xfrm>
          <a:prstGeom prst="rect">
            <a:avLst/>
          </a:prstGeom>
          <a:noFill/>
          <a:ln/>
        </p:spPr>
        <p:txBody>
          <a:bodyPr wrap="square" lIns="0" tIns="0" rIns="0" bIns="0" rtlCol="0" anchor="ctr"/>
          <a:lstStyle/>
          <a:p>
            <a:pPr indent="0" marL="0">
              <a:buNone/>
            </a:pPr>
            <a:r>
              <a:rPr lang="en-US" sz="1500" dirty="0">
                <a:solidFill>
                  <a:srgbClr val="00776A"/>
                </a:solidFill>
                <a:latin typeface="Calibri" pitchFamily="34" charset="0"/>
                <a:ea typeface="Calibri" pitchFamily="34" charset="-122"/>
                <a:cs typeface="Calibri" pitchFamily="34" charset="-120"/>
              </a:rPr>
              <a:t>--reload means the server restarts whenever you save a file. Leave it running all session.</a:t>
            </a:r>
            <a:endParaRPr lang="en-US" sz="1500" dirty="0"/>
          </a:p>
        </p:txBody>
      </p:sp>
      <p:sp>
        <p:nvSpPr>
          <p:cNvPr id="11" name="Text 9"/>
          <p:cNvSpPr/>
          <p:nvPr/>
        </p:nvSpPr>
        <p:spPr>
          <a:xfrm>
            <a:off x="777240" y="544068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You are now running a web server.</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Now open the free test page</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sp>
      <p:sp>
        <p:nvSpPr>
          <p:cNvPr id="5" name="Text 3"/>
          <p:cNvSpPr/>
          <p:nvPr/>
        </p:nvSpPr>
        <p:spPr>
          <a:xfrm>
            <a:off x="1097280" y="196596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http://127.0.0.1:8000/docs</a:t>
            </a:r>
            <a:endParaRPr lang="en-US" sz="1600" dirty="0"/>
          </a:p>
        </p:txBody>
      </p:sp>
      <p:sp>
        <p:nvSpPr>
          <p:cNvPr id="6" name="Shape 4"/>
          <p:cNvSpPr/>
          <p:nvPr/>
        </p:nvSpPr>
        <p:spPr>
          <a:xfrm>
            <a:off x="777240" y="2788920"/>
            <a:ext cx="10634472" cy="1463040"/>
          </a:xfrm>
          <a:prstGeom prst="roundRect">
            <a:avLst>
              <a:gd name="adj" fmla="val 5625"/>
            </a:avLst>
          </a:prstGeom>
          <a:solidFill>
            <a:srgbClr val="F5F6F8"/>
          </a:solidFill>
          <a:ln w="12700">
            <a:solidFill>
              <a:srgbClr val="E1E4E9"/>
            </a:solidFill>
            <a:prstDash val="solid"/>
          </a:ln>
        </p:spPr>
      </p:sp>
      <p:sp>
        <p:nvSpPr>
          <p:cNvPr id="7" name="Text 5"/>
          <p:cNvSpPr/>
          <p:nvPr/>
        </p:nvSpPr>
        <p:spPr>
          <a:xfrm>
            <a:off x="1143000" y="2971800"/>
            <a:ext cx="10241280" cy="41148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FastAPI generated an interactive page for your API automatically.</a:t>
            </a:r>
            <a:endParaRPr lang="en-US" sz="1700" dirty="0"/>
          </a:p>
        </p:txBody>
      </p:sp>
      <p:sp>
        <p:nvSpPr>
          <p:cNvPr id="8" name="Text 6"/>
          <p:cNvSpPr/>
          <p:nvPr/>
        </p:nvSpPr>
        <p:spPr>
          <a:xfrm>
            <a:off x="1143000" y="3401568"/>
            <a:ext cx="10241280" cy="68580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You can call your own endpoint from it. You will use this for the next three stages, which means you can test the backend before writing any frontend at all.</a:t>
            </a:r>
            <a:endParaRPr lang="en-US" sz="1500" dirty="0"/>
          </a:p>
        </p:txBody>
      </p:sp>
      <p:sp>
        <p:nvSpPr>
          <p:cNvPr id="9" name="Shape 7"/>
          <p:cNvSpPr/>
          <p:nvPr/>
        </p:nvSpPr>
        <p:spPr>
          <a:xfrm>
            <a:off x="777240" y="4526280"/>
            <a:ext cx="10634472" cy="594360"/>
          </a:xfrm>
          <a:prstGeom prst="roundRect">
            <a:avLst>
              <a:gd name="adj" fmla="val 13846"/>
            </a:avLst>
          </a:prstGeom>
          <a:solidFill>
            <a:srgbClr val="FFF8E8"/>
          </a:solidFill>
          <a:ln w="12700">
            <a:solidFill>
              <a:srgbClr val="E5BC64"/>
            </a:solidFill>
            <a:prstDash val="solid"/>
          </a:ln>
        </p:spPr>
      </p:sp>
      <p:sp>
        <p:nvSpPr>
          <p:cNvPr id="10" name="Text 8"/>
          <p:cNvSpPr/>
          <p:nvPr/>
        </p:nvSpPr>
        <p:spPr>
          <a:xfrm>
            <a:off x="1051560" y="454456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endpoint</a:t>
            </a:r>
            <a:endParaRPr lang="en-US" sz="1400" dirty="0"/>
          </a:p>
        </p:txBody>
      </p:sp>
      <p:sp>
        <p:nvSpPr>
          <p:cNvPr id="11" name="Text 9"/>
          <p:cNvSpPr/>
          <p:nvPr/>
        </p:nvSpPr>
        <p:spPr>
          <a:xfrm>
            <a:off x="4251960" y="454456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one address your server answers, and the code behind it</a:t>
            </a:r>
            <a:endParaRPr lang="en-US" sz="1350" dirty="0"/>
          </a:p>
        </p:txBody>
      </p:sp>
      <p:sp>
        <p:nvSpPr>
          <p:cNvPr id="12" name="Shape 10"/>
          <p:cNvSpPr/>
          <p:nvPr/>
        </p:nvSpPr>
        <p:spPr>
          <a:xfrm>
            <a:off x="777240" y="5212080"/>
            <a:ext cx="10634472" cy="594360"/>
          </a:xfrm>
          <a:prstGeom prst="roundRect">
            <a:avLst>
              <a:gd name="adj" fmla="val 13846"/>
            </a:avLst>
          </a:prstGeom>
          <a:solidFill>
            <a:srgbClr val="FFF8E8"/>
          </a:solidFill>
          <a:ln w="12700">
            <a:solidFill>
              <a:srgbClr val="E5BC64"/>
            </a:solidFill>
            <a:prstDash val="solid"/>
          </a:ln>
        </p:spPr>
      </p:sp>
      <p:sp>
        <p:nvSpPr>
          <p:cNvPr id="13" name="Text 11"/>
          <p:cNvSpPr/>
          <p:nvPr/>
        </p:nvSpPr>
        <p:spPr>
          <a:xfrm>
            <a:off x="1051560" y="523036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@app.get(...)</a:t>
            </a:r>
            <a:endParaRPr lang="en-US" sz="1400" dirty="0"/>
          </a:p>
        </p:txBody>
      </p:sp>
      <p:sp>
        <p:nvSpPr>
          <p:cNvPr id="14" name="Text 12"/>
          <p:cNvSpPr/>
          <p:nvPr/>
        </p:nvSpPr>
        <p:spPr>
          <a:xfrm>
            <a:off x="4251960" y="523036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tells FastAPI which address this function handles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OF 6      8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An endpoint that accepts data</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Reading class describing valid</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input, a classify() function doing</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 arithmetic, and POST /readings.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In /docs, POST a reading of 87 with</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 safe range of 20-60 and get back</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severity: critical.</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  1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Describe what valid input looks like</a:t>
            </a:r>
            <a:endParaRPr lang="en-US" sz="3100" dirty="0"/>
          </a:p>
        </p:txBody>
      </p:sp>
      <p:sp>
        <p:nvSpPr>
          <p:cNvPr id="4" name="Shape 2"/>
          <p:cNvSpPr/>
          <p:nvPr/>
        </p:nvSpPr>
        <p:spPr>
          <a:xfrm>
            <a:off x="777240" y="1691640"/>
            <a:ext cx="10634472" cy="4274820"/>
          </a:xfrm>
          <a:prstGeom prst="roundRect">
            <a:avLst>
              <a:gd name="adj" fmla="val 1711"/>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03120"/>
            <a:ext cx="10085832" cy="3726180"/>
          </a:xfrm>
          <a:prstGeom prst="rect">
            <a:avLst/>
          </a:prstGeom>
          <a:noFill/>
          <a:ln/>
        </p:spPr>
        <p:txBody>
          <a:bodyPr wrap="square" lIns="0" tIns="0" rIns="0" bIns="0" rtlCol="0" anchor="t"/>
          <a:lstStyle/>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from fastapi import FastAPI</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from pydantic import BaseModel</a:t>
            </a: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app = FastAPI()</a:t>
            </a:r>
            <a:endParaRPr lang="en-US" sz="1350" dirty="0"/>
          </a:p>
          <a:p>
            <a:pPr indent="0" marL="0">
              <a:lnSpc>
                <a:spcPts val="1650"/>
              </a:lnSpc>
              <a:buNone/>
            </a:pP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class Reading(BaseModel):</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"""Describes what a valid reading looks like.</a:t>
            </a: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FastAPI checks every incoming request against this.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If a field is missing or the wrong type, the request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is rejected before your code runs.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sensor: str</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value: float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unit: str</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low: float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high: float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  2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rule that decides severity</a:t>
            </a:r>
            <a:endParaRPr lang="en-US" sz="3100" dirty="0"/>
          </a:p>
        </p:txBody>
      </p:sp>
      <p:sp>
        <p:nvSpPr>
          <p:cNvPr id="4" name="Shape 2"/>
          <p:cNvSpPr/>
          <p:nvPr/>
        </p:nvSpPr>
        <p:spPr>
          <a:xfrm>
            <a:off x="777240" y="1737360"/>
            <a:ext cx="10634472" cy="2852420"/>
          </a:xfrm>
          <a:prstGeom prst="roundRect">
            <a:avLst>
              <a:gd name="adj" fmla="val 2565"/>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3037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def classify(value: float, low: float, high: float) -&gt; str:</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"""Decide how serious a reading is. Plain arithmetic, no AI."""</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if low &lt;= value &lt;= high:</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"normal"</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margin = (high - low) / 2 or 1      # how far outside is "a lot"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if value &lt; low - margin or value &gt; high + margin:</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"critical"</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"warning"</a:t>
            </a:r>
            <a:endParaRPr lang="en-US" sz="1500" dirty="0"/>
          </a:p>
        </p:txBody>
      </p:sp>
      <p:sp>
        <p:nvSpPr>
          <p:cNvPr id="7" name="Shape 5"/>
          <p:cNvSpPr/>
          <p:nvPr/>
        </p:nvSpPr>
        <p:spPr>
          <a:xfrm>
            <a:off x="777240" y="4206240"/>
            <a:ext cx="10634472" cy="1005840"/>
          </a:xfrm>
          <a:prstGeom prst="roundRect">
            <a:avLst>
              <a:gd name="adj" fmla="val 8182"/>
            </a:avLst>
          </a:prstGeom>
          <a:solidFill>
            <a:srgbClr val="EAF6F3"/>
          </a:solidFill>
          <a:ln w="12700">
            <a:solidFill>
              <a:srgbClr val="9CCFC6"/>
            </a:solidFill>
            <a:prstDash val="solid"/>
          </a:ln>
        </p:spPr>
      </p:sp>
      <p:sp>
        <p:nvSpPr>
          <p:cNvPr id="8" name="Text 6"/>
          <p:cNvSpPr/>
          <p:nvPr/>
        </p:nvSpPr>
        <p:spPr>
          <a:xfrm>
            <a:off x="1143000" y="4343400"/>
            <a:ext cx="10241280" cy="731520"/>
          </a:xfrm>
          <a:prstGeom prst="rect">
            <a:avLst/>
          </a:prstGeom>
          <a:noFill/>
          <a:ln/>
        </p:spPr>
        <p:txBody>
          <a:bodyPr wrap="square" lIns="0" tIns="0" rIns="0" bIns="0" rtlCol="0" anchor="ctr"/>
          <a:lstStyle/>
          <a:p>
            <a:pPr indent="0" marL="0">
              <a:buNone/>
            </a:pPr>
            <a:r>
              <a:rPr lang="en-US" sz="1550" dirty="0">
                <a:solidFill>
                  <a:srgbClr val="00776A"/>
                </a:solidFill>
                <a:latin typeface="Calibri" pitchFamily="34" charset="0"/>
                <a:ea typeface="Calibri" pitchFamily="34" charset="-122"/>
                <a:cs typeface="Calibri" pitchFamily="34" charset="-120"/>
              </a:rPr>
              <a:t>Ordinary arithmetic. No AI. Remember this function — at Stage 4 we explain why it stays that way.</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  3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endpoint that receives it</a:t>
            </a:r>
            <a:endParaRPr lang="en-US" sz="3100" dirty="0"/>
          </a:p>
        </p:txBody>
      </p:sp>
      <p:sp>
        <p:nvSpPr>
          <p:cNvPr id="4" name="Shape 2"/>
          <p:cNvSpPr/>
          <p:nvPr/>
        </p:nvSpPr>
        <p:spPr>
          <a:xfrm>
            <a:off x="777240" y="1737360"/>
            <a:ext cx="10634472" cy="3436620"/>
          </a:xfrm>
          <a:prstGeom prst="roundRect">
            <a:avLst>
              <a:gd name="adj" fmla="val 2129"/>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887980"/>
          </a:xfrm>
          <a:prstGeom prst="rect">
            <a:avLst/>
          </a:prstGeom>
          <a:noFill/>
          <a:ln/>
        </p:spPr>
        <p:txBody>
          <a:bodyPr wrap="square" lIns="0" tIns="0" rIns="0" bIns="0" rtlCol="0" anchor="t"/>
          <a:lstStyle/>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@app.get("/health")</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def health():</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return {"status": "ok"}</a:t>
            </a:r>
            <a:endParaRPr lang="en-US" sz="1350" dirty="0"/>
          </a:p>
          <a:p>
            <a:pPr indent="0" marL="0">
              <a:lnSpc>
                <a:spcPts val="1650"/>
              </a:lnSpc>
              <a:buNone/>
            </a:pP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@app.post("/readings")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def create_reading(reading: Reading):</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return {</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"sensor": reading.sensor,</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"value": reading.value,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"unit": reading.unit,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"severity": severity,</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a:t>
            </a:r>
            <a:endParaRPr lang="en-US" sz="1350" dirty="0"/>
          </a:p>
        </p:txBody>
      </p:sp>
      <p:sp>
        <p:nvSpPr>
          <p:cNvPr id="7" name="Shape 5"/>
          <p:cNvSpPr/>
          <p:nvPr/>
        </p:nvSpPr>
        <p:spPr>
          <a:xfrm>
            <a:off x="777240" y="4892040"/>
            <a:ext cx="10634472" cy="594360"/>
          </a:xfrm>
          <a:prstGeom prst="roundRect">
            <a:avLst>
              <a:gd name="adj" fmla="val 13846"/>
            </a:avLst>
          </a:prstGeom>
          <a:solidFill>
            <a:srgbClr val="FFF8E8"/>
          </a:solidFill>
          <a:ln w="12700">
            <a:solidFill>
              <a:srgbClr val="E5BC64"/>
            </a:solidFill>
            <a:prstDash val="solid"/>
          </a:ln>
        </p:spPr>
      </p:sp>
      <p:sp>
        <p:nvSpPr>
          <p:cNvPr id="8" name="Text 6"/>
          <p:cNvSpPr/>
          <p:nvPr/>
        </p:nvSpPr>
        <p:spPr>
          <a:xfrm>
            <a:off x="1051560" y="49103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GET and POST</a:t>
            </a:r>
            <a:endParaRPr lang="en-US" sz="1400" dirty="0"/>
          </a:p>
        </p:txBody>
      </p:sp>
      <p:sp>
        <p:nvSpPr>
          <p:cNvPr id="9" name="Text 7"/>
          <p:cNvSpPr/>
          <p:nvPr/>
        </p:nvSpPr>
        <p:spPr>
          <a:xfrm>
            <a:off x="4251960" y="49103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GET asks for something. POST sends something.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Test it in /docs</a:t>
            </a:r>
            <a:endParaRPr lang="en-US" sz="3100" dirty="0"/>
          </a:p>
        </p:txBody>
      </p:sp>
      <p:sp>
        <p:nvSpPr>
          <p:cNvPr id="4" name="Shape 2"/>
          <p:cNvSpPr/>
          <p:nvPr/>
        </p:nvSpPr>
        <p:spPr>
          <a:xfrm>
            <a:off x="777240" y="1691640"/>
            <a:ext cx="10634472" cy="777240"/>
          </a:xfrm>
          <a:prstGeom prst="roundRect">
            <a:avLst>
              <a:gd name="adj" fmla="val 9412"/>
            </a:avLst>
          </a:prstGeom>
          <a:solidFill>
            <a:srgbClr val="1B1F2A"/>
          </a:solidFill>
          <a:ln w="12700">
            <a:solidFill>
              <a:srgbClr val="1B1F2A"/>
            </a:solidFill>
            <a:prstDash val="solid"/>
          </a:ln>
        </p:spPr>
      </p:sp>
      <p:sp>
        <p:nvSpPr>
          <p:cNvPr id="5" name="Text 3"/>
          <p:cNvSpPr/>
          <p:nvPr/>
        </p:nvSpPr>
        <p:spPr>
          <a:xfrm>
            <a:off x="1069848" y="1920240"/>
            <a:ext cx="10085832" cy="4114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"motor_temp", "value": 87, "unit": "C", "low": 20, "high": 60 }</a:t>
            </a:r>
            <a:endParaRPr lang="en-US" sz="1500" dirty="0"/>
          </a:p>
        </p:txBody>
      </p:sp>
      <p:sp>
        <p:nvSpPr>
          <p:cNvPr id="6" name="Text 4"/>
          <p:cNvSpPr/>
          <p:nvPr/>
        </p:nvSpPr>
        <p:spPr>
          <a:xfrm>
            <a:off x="777240" y="2697480"/>
            <a:ext cx="10634472" cy="36576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Find POST /readings, click Try it out, and send that. Then try these:</a:t>
            </a:r>
            <a:endParaRPr lang="en-US" sz="1500" dirty="0"/>
          </a:p>
        </p:txBody>
      </p:sp>
      <p:sp>
        <p:nvSpPr>
          <p:cNvPr id="7" name="Text 5"/>
          <p:cNvSpPr/>
          <p:nvPr/>
        </p:nvSpPr>
        <p:spPr>
          <a:xfrm>
            <a:off x="1097280" y="3200400"/>
            <a:ext cx="2743200" cy="27432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Reading</a:t>
            </a:r>
            <a:endParaRPr lang="en-US" sz="1150" dirty="0"/>
          </a:p>
        </p:txBody>
      </p:sp>
      <p:sp>
        <p:nvSpPr>
          <p:cNvPr id="8" name="Text 6"/>
          <p:cNvSpPr/>
          <p:nvPr/>
        </p:nvSpPr>
        <p:spPr>
          <a:xfrm>
            <a:off x="4434840" y="3200400"/>
            <a:ext cx="2743200" cy="27432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Safe range</a:t>
            </a:r>
            <a:endParaRPr lang="en-US" sz="1150" dirty="0"/>
          </a:p>
        </p:txBody>
      </p:sp>
      <p:sp>
        <p:nvSpPr>
          <p:cNvPr id="9" name="Text 7"/>
          <p:cNvSpPr/>
          <p:nvPr/>
        </p:nvSpPr>
        <p:spPr>
          <a:xfrm>
            <a:off x="8001000" y="3200400"/>
            <a:ext cx="2743200" cy="27432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Result</a:t>
            </a:r>
            <a:endParaRPr lang="en-US" sz="1150" dirty="0"/>
          </a:p>
        </p:txBody>
      </p:sp>
      <p:sp>
        <p:nvSpPr>
          <p:cNvPr id="10" name="Shape 8"/>
          <p:cNvSpPr/>
          <p:nvPr/>
        </p:nvSpPr>
        <p:spPr>
          <a:xfrm>
            <a:off x="777240" y="3566160"/>
            <a:ext cx="10634472" cy="566928"/>
          </a:xfrm>
          <a:prstGeom prst="roundRect">
            <a:avLst>
              <a:gd name="adj" fmla="val 14516"/>
            </a:avLst>
          </a:prstGeom>
          <a:solidFill>
            <a:srgbClr val="F5F6F8"/>
          </a:solidFill>
          <a:ln w="12700">
            <a:solidFill>
              <a:srgbClr val="E1E4E9"/>
            </a:solidFill>
            <a:prstDash val="solid"/>
          </a:ln>
        </p:spPr>
      </p:sp>
      <p:sp>
        <p:nvSpPr>
          <p:cNvPr id="11" name="Text 9"/>
          <p:cNvSpPr/>
          <p:nvPr/>
        </p:nvSpPr>
        <p:spPr>
          <a:xfrm>
            <a:off x="1097280" y="3584448"/>
            <a:ext cx="310896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36.8 C</a:t>
            </a:r>
            <a:endParaRPr lang="en-US" sz="1400" dirty="0"/>
          </a:p>
        </p:txBody>
      </p:sp>
      <p:sp>
        <p:nvSpPr>
          <p:cNvPr id="12" name="Text 10"/>
          <p:cNvSpPr/>
          <p:nvPr/>
        </p:nvSpPr>
        <p:spPr>
          <a:xfrm>
            <a:off x="4434840" y="3584448"/>
            <a:ext cx="329184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36.1 - 37.2</a:t>
            </a:r>
            <a:endParaRPr lang="en-US" sz="1400" dirty="0"/>
          </a:p>
        </p:txBody>
      </p:sp>
      <p:sp>
        <p:nvSpPr>
          <p:cNvPr id="13" name="Text 11"/>
          <p:cNvSpPr/>
          <p:nvPr/>
        </p:nvSpPr>
        <p:spPr>
          <a:xfrm>
            <a:off x="8001000" y="3584448"/>
            <a:ext cx="3200400" cy="530352"/>
          </a:xfrm>
          <a:prstGeom prst="rect">
            <a:avLst/>
          </a:prstGeom>
          <a:noFill/>
          <a:ln/>
        </p:spPr>
        <p:txBody>
          <a:bodyPr wrap="square" lIns="0" tIns="0" rIns="0" bIns="0" rtlCol="0" anchor="ctr"/>
          <a:lstStyle/>
          <a:p>
            <a:pPr indent="0" marL="0">
              <a:buNone/>
            </a:pPr>
            <a:r>
              <a:rPr lang="en-US" sz="1400" b="1" dirty="0">
                <a:solidFill>
                  <a:srgbClr val="0A7D28"/>
                </a:solidFill>
                <a:latin typeface="Calibri" pitchFamily="34" charset="0"/>
                <a:ea typeface="Calibri" pitchFamily="34" charset="-122"/>
                <a:cs typeface="Calibri" pitchFamily="34" charset="-120"/>
              </a:rPr>
              <a:t>normal</a:t>
            </a:r>
            <a:endParaRPr lang="en-US" sz="1400" dirty="0"/>
          </a:p>
        </p:txBody>
      </p:sp>
      <p:sp>
        <p:nvSpPr>
          <p:cNvPr id="14" name="Shape 12"/>
          <p:cNvSpPr/>
          <p:nvPr/>
        </p:nvSpPr>
        <p:spPr>
          <a:xfrm>
            <a:off x="777240" y="4224528"/>
            <a:ext cx="10634472" cy="566928"/>
          </a:xfrm>
          <a:prstGeom prst="roundRect">
            <a:avLst>
              <a:gd name="adj" fmla="val 14516"/>
            </a:avLst>
          </a:prstGeom>
          <a:solidFill>
            <a:srgbClr val="F5F6F8"/>
          </a:solidFill>
          <a:ln w="12700">
            <a:solidFill>
              <a:srgbClr val="E1E4E9"/>
            </a:solidFill>
            <a:prstDash val="solid"/>
          </a:ln>
        </p:spPr>
      </p:sp>
      <p:sp>
        <p:nvSpPr>
          <p:cNvPr id="15" name="Text 13"/>
          <p:cNvSpPr/>
          <p:nvPr/>
        </p:nvSpPr>
        <p:spPr>
          <a:xfrm>
            <a:off x="1097280" y="4242816"/>
            <a:ext cx="310896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37.4 C</a:t>
            </a:r>
            <a:endParaRPr lang="en-US" sz="1400" dirty="0"/>
          </a:p>
        </p:txBody>
      </p:sp>
      <p:sp>
        <p:nvSpPr>
          <p:cNvPr id="16" name="Text 14"/>
          <p:cNvSpPr/>
          <p:nvPr/>
        </p:nvSpPr>
        <p:spPr>
          <a:xfrm>
            <a:off x="4434840" y="4242816"/>
            <a:ext cx="329184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36.1 - 37.2</a:t>
            </a:r>
            <a:endParaRPr lang="en-US" sz="1400" dirty="0"/>
          </a:p>
        </p:txBody>
      </p:sp>
      <p:sp>
        <p:nvSpPr>
          <p:cNvPr id="17" name="Text 15"/>
          <p:cNvSpPr/>
          <p:nvPr/>
        </p:nvSpPr>
        <p:spPr>
          <a:xfrm>
            <a:off x="8001000" y="4242816"/>
            <a:ext cx="3200400" cy="530352"/>
          </a:xfrm>
          <a:prstGeom prst="rect">
            <a:avLst/>
          </a:prstGeom>
          <a:noFill/>
          <a:ln/>
        </p:spPr>
        <p:txBody>
          <a:bodyPr wrap="square" lIns="0" tIns="0" rIns="0" bIns="0" rtlCol="0" anchor="ctr"/>
          <a:lstStyle/>
          <a:p>
            <a:pPr indent="0" marL="0">
              <a:buNone/>
            </a:pPr>
            <a:r>
              <a:rPr lang="en-US" sz="1400" b="1" dirty="0">
                <a:solidFill>
                  <a:srgbClr val="A85F00"/>
                </a:solidFill>
                <a:latin typeface="Calibri" pitchFamily="34" charset="0"/>
                <a:ea typeface="Calibri" pitchFamily="34" charset="-122"/>
                <a:cs typeface="Calibri" pitchFamily="34" charset="-120"/>
              </a:rPr>
              <a:t>warning</a:t>
            </a:r>
            <a:endParaRPr lang="en-US" sz="1400" dirty="0"/>
          </a:p>
        </p:txBody>
      </p:sp>
      <p:sp>
        <p:nvSpPr>
          <p:cNvPr id="18" name="Shape 16"/>
          <p:cNvSpPr/>
          <p:nvPr/>
        </p:nvSpPr>
        <p:spPr>
          <a:xfrm>
            <a:off x="777240" y="4882896"/>
            <a:ext cx="10634472" cy="566928"/>
          </a:xfrm>
          <a:prstGeom prst="roundRect">
            <a:avLst>
              <a:gd name="adj" fmla="val 14516"/>
            </a:avLst>
          </a:prstGeom>
          <a:solidFill>
            <a:srgbClr val="F5F6F8"/>
          </a:solidFill>
          <a:ln w="12700">
            <a:solidFill>
              <a:srgbClr val="E1E4E9"/>
            </a:solidFill>
            <a:prstDash val="solid"/>
          </a:ln>
        </p:spPr>
      </p:sp>
      <p:sp>
        <p:nvSpPr>
          <p:cNvPr id="19" name="Text 17"/>
          <p:cNvSpPr/>
          <p:nvPr/>
        </p:nvSpPr>
        <p:spPr>
          <a:xfrm>
            <a:off x="1097280" y="4901184"/>
            <a:ext cx="310896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39.4 C</a:t>
            </a:r>
            <a:endParaRPr lang="en-US" sz="1400" dirty="0"/>
          </a:p>
        </p:txBody>
      </p:sp>
      <p:sp>
        <p:nvSpPr>
          <p:cNvPr id="20" name="Text 18"/>
          <p:cNvSpPr/>
          <p:nvPr/>
        </p:nvSpPr>
        <p:spPr>
          <a:xfrm>
            <a:off x="4434840" y="4901184"/>
            <a:ext cx="329184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36.1 - 37.2</a:t>
            </a:r>
            <a:endParaRPr lang="en-US" sz="1400" dirty="0"/>
          </a:p>
        </p:txBody>
      </p:sp>
      <p:sp>
        <p:nvSpPr>
          <p:cNvPr id="21" name="Text 19"/>
          <p:cNvSpPr/>
          <p:nvPr/>
        </p:nvSpPr>
        <p:spPr>
          <a:xfrm>
            <a:off x="8001000" y="4901184"/>
            <a:ext cx="3200400" cy="530352"/>
          </a:xfrm>
          <a:prstGeom prst="rect">
            <a:avLst/>
          </a:prstGeom>
          <a:noFill/>
          <a:ln/>
        </p:spPr>
        <p:txBody>
          <a:bodyPr wrap="square" lIns="0" tIns="0" rIns="0" bIns="0" rtlCol="0" anchor="ctr"/>
          <a:lstStyle/>
          <a:p>
            <a:pPr indent="0" marL="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
        <p:nvSpPr>
          <p:cNvPr id="22" name="Shape 20"/>
          <p:cNvSpPr/>
          <p:nvPr/>
        </p:nvSpPr>
        <p:spPr>
          <a:xfrm>
            <a:off x="777240" y="5541264"/>
            <a:ext cx="10634472" cy="566928"/>
          </a:xfrm>
          <a:prstGeom prst="roundRect">
            <a:avLst>
              <a:gd name="adj" fmla="val 14516"/>
            </a:avLst>
          </a:prstGeom>
          <a:solidFill>
            <a:srgbClr val="F5F6F8"/>
          </a:solidFill>
          <a:ln w="12700">
            <a:solidFill>
              <a:srgbClr val="E1E4E9"/>
            </a:solidFill>
            <a:prstDash val="solid"/>
          </a:ln>
        </p:spPr>
      </p:sp>
      <p:sp>
        <p:nvSpPr>
          <p:cNvPr id="23" name="Text 21"/>
          <p:cNvSpPr/>
          <p:nvPr/>
        </p:nvSpPr>
        <p:spPr>
          <a:xfrm>
            <a:off x="1097280" y="5559552"/>
            <a:ext cx="3108960" cy="530352"/>
          </a:xfrm>
          <a:prstGeom prst="rect">
            <a:avLst/>
          </a:prstGeom>
          <a:noFill/>
          <a:ln/>
        </p:spPr>
        <p:txBody>
          <a:bodyPr wrap="square" lIns="0" tIns="0" rIns="0" bIns="0" rtlCol="0" anchor="ctr"/>
          <a:lstStyle/>
          <a:p>
            <a:pPr indent="0" marL="0">
              <a:buNone/>
            </a:pPr>
            <a:r>
              <a:rPr lang="en-US" sz="1400" dirty="0">
                <a:solidFill>
                  <a:srgbClr val="15181F"/>
                </a:solidFill>
                <a:latin typeface="Courier New" pitchFamily="34" charset="0"/>
                <a:ea typeface="Courier New" pitchFamily="34" charset="-122"/>
                <a:cs typeface="Courier New" pitchFamily="34" charset="-120"/>
              </a:rPr>
              <a:t>8 %</a:t>
            </a:r>
            <a:endParaRPr lang="en-US" sz="1400" dirty="0"/>
          </a:p>
        </p:txBody>
      </p:sp>
      <p:sp>
        <p:nvSpPr>
          <p:cNvPr id="24" name="Text 22"/>
          <p:cNvSpPr/>
          <p:nvPr/>
        </p:nvSpPr>
        <p:spPr>
          <a:xfrm>
            <a:off x="4434840" y="5559552"/>
            <a:ext cx="3291840" cy="530352"/>
          </a:xfrm>
          <a:prstGeom prst="rect">
            <a:avLst/>
          </a:prstGeom>
          <a:noFill/>
          <a:ln/>
        </p:spPr>
        <p:txBody>
          <a:bodyPr wrap="square" lIns="0" tIns="0" rIns="0" bIns="0" rtlCol="0" anchor="ctr"/>
          <a:lstStyle/>
          <a:p>
            <a:pPr indent="0" marL="0">
              <a:buNone/>
            </a:pPr>
            <a:r>
              <a:rPr lang="en-US" sz="1400" dirty="0">
                <a:solidFill>
                  <a:srgbClr val="5C6470"/>
                </a:solidFill>
                <a:latin typeface="Courier New" pitchFamily="34" charset="0"/>
                <a:ea typeface="Courier New" pitchFamily="34" charset="-122"/>
                <a:cs typeface="Courier New" pitchFamily="34" charset="-120"/>
              </a:rPr>
              <a:t>30 - 70</a:t>
            </a:r>
            <a:endParaRPr lang="en-US" sz="1400" dirty="0"/>
          </a:p>
        </p:txBody>
      </p:sp>
      <p:sp>
        <p:nvSpPr>
          <p:cNvPr id="25" name="Text 23"/>
          <p:cNvSpPr/>
          <p:nvPr/>
        </p:nvSpPr>
        <p:spPr>
          <a:xfrm>
            <a:off x="8001000" y="5559552"/>
            <a:ext cx="3200400" cy="530352"/>
          </a:xfrm>
          <a:prstGeom prst="rect">
            <a:avLst/>
          </a:prstGeom>
          <a:noFill/>
          <a:ln/>
        </p:spPr>
        <p:txBody>
          <a:bodyPr wrap="square" lIns="0" tIns="0" rIns="0" bIns="0" rtlCol="0" anchor="ctr"/>
          <a:lstStyle/>
          <a:p>
            <a:pPr indent="0" marL="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STAGE 2  ·  THE PART THAT MATTERS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Now send something invalid</a:t>
            </a:r>
            <a:endParaRPr lang="en-US" sz="3100" dirty="0"/>
          </a:p>
        </p:txBody>
      </p:sp>
      <p:sp>
        <p:nvSpPr>
          <p:cNvPr id="4" name="Shape 2"/>
          <p:cNvSpPr/>
          <p:nvPr/>
        </p:nvSpPr>
        <p:spPr>
          <a:xfrm>
            <a:off x="777240" y="1691640"/>
            <a:ext cx="10634472" cy="777240"/>
          </a:xfrm>
          <a:prstGeom prst="roundRect">
            <a:avLst>
              <a:gd name="adj" fmla="val 9412"/>
            </a:avLst>
          </a:prstGeom>
          <a:solidFill>
            <a:srgbClr val="1B1F2A"/>
          </a:solidFill>
          <a:ln w="12700">
            <a:solidFill>
              <a:srgbClr val="1B1F2A"/>
            </a:solidFill>
            <a:prstDash val="solid"/>
          </a:ln>
        </p:spPr>
      </p:sp>
      <p:sp>
        <p:nvSpPr>
          <p:cNvPr id="5" name="Text 3"/>
          <p:cNvSpPr/>
          <p:nvPr/>
        </p:nvSpPr>
        <p:spPr>
          <a:xfrm>
            <a:off x="1069848" y="1920240"/>
            <a:ext cx="10085832" cy="4114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"motor_temp", "value": "hot", "unit": "C", "low": 20, "high": 60 }</a:t>
            </a:r>
            <a:endParaRPr lang="en-US" sz="1500" dirty="0"/>
          </a:p>
        </p:txBody>
      </p:sp>
      <p:sp>
        <p:nvSpPr>
          <p:cNvPr id="6" name="Shape 4"/>
          <p:cNvSpPr/>
          <p:nvPr/>
        </p:nvSpPr>
        <p:spPr>
          <a:xfrm>
            <a:off x="777240" y="2697480"/>
            <a:ext cx="10634472" cy="1005840"/>
          </a:xfrm>
          <a:prstGeom prst="roundRect">
            <a:avLst>
              <a:gd name="adj" fmla="val 8182"/>
            </a:avLst>
          </a:prstGeom>
          <a:solidFill>
            <a:srgbClr val="FBF0EE"/>
          </a:solidFill>
          <a:ln w="12700">
            <a:solidFill>
              <a:srgbClr val="BE3A2B"/>
            </a:solidFill>
            <a:prstDash val="solid"/>
          </a:ln>
        </p:spPr>
      </p:sp>
      <p:sp>
        <p:nvSpPr>
          <p:cNvPr id="7" name="Text 5"/>
          <p:cNvSpPr/>
          <p:nvPr/>
        </p:nvSpPr>
        <p:spPr>
          <a:xfrm>
            <a:off x="1143000" y="2880360"/>
            <a:ext cx="10241280" cy="594360"/>
          </a:xfrm>
          <a:prstGeom prst="rect">
            <a:avLst/>
          </a:prstGeom>
          <a:noFill/>
          <a:ln/>
        </p:spPr>
        <p:txBody>
          <a:bodyPr wrap="square" lIns="0" tIns="0" rIns="0" bIns="0" rtlCol="0" anchor="ctr"/>
          <a:lstStyle/>
          <a:p>
            <a:pPr indent="0" marL="0">
              <a:buNone/>
            </a:pPr>
            <a:r>
              <a:rPr lang="en-US" sz="1900" b="1" dirty="0">
                <a:solidFill>
                  <a:srgbClr val="BE3A2B"/>
                </a:solidFill>
                <a:latin typeface="Cambria" pitchFamily="34" charset="0"/>
                <a:ea typeface="Cambria" pitchFamily="34" charset="-122"/>
                <a:cs typeface="Cambria" pitchFamily="34" charset="-120"/>
              </a:rPr>
              <a:t>HTTP 422  —  and your classify() function never ran.</a:t>
            </a:r>
            <a:endParaRPr lang="en-US" sz="1900" dirty="0"/>
          </a:p>
        </p:txBody>
      </p:sp>
      <p:sp>
        <p:nvSpPr>
          <p:cNvPr id="8" name="Text 6"/>
          <p:cNvSpPr/>
          <p:nvPr/>
        </p:nvSpPr>
        <p:spPr>
          <a:xfrm>
            <a:off x="777240" y="397764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Never trust incoming data.</a:t>
            </a:r>
            <a:endParaRPr lang="en-US" sz="2100" dirty="0"/>
          </a:p>
        </p:txBody>
      </p:sp>
      <p:sp>
        <p:nvSpPr>
          <p:cNvPr id="9" name="Text 7"/>
          <p:cNvSpPr/>
          <p:nvPr/>
        </p:nvSpPr>
        <p:spPr>
          <a:xfrm>
            <a:off x="777240" y="4526280"/>
            <a:ext cx="10634472" cy="109728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Anyone can send anything to your address: a broken sensor, a typo, or someone deliberately probing your service. Declaring the shape you expect defends against all three at once, and you got it from one class definition.</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OF 6      7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Store the readings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small database helper, a table,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and GET /readings so you can list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what you have saved.</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Send three readings, stop the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server, start it again. The readings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are still there.</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1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Open, use, and always close the database</a:t>
            </a:r>
            <a:endParaRPr lang="en-US" sz="3100" dirty="0"/>
          </a:p>
        </p:txBody>
      </p:sp>
      <p:sp>
        <p:nvSpPr>
          <p:cNvPr id="4" name="Shape 2"/>
          <p:cNvSpPr/>
          <p:nvPr/>
        </p:nvSpPr>
        <p:spPr>
          <a:xfrm>
            <a:off x="777240" y="1691640"/>
            <a:ext cx="10634472" cy="3855720"/>
          </a:xfrm>
          <a:prstGeom prst="roundRect">
            <a:avLst>
              <a:gd name="adj" fmla="val 1897"/>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03120"/>
            <a:ext cx="10085832" cy="3307080"/>
          </a:xfrm>
          <a:prstGeom prst="rect">
            <a:avLst/>
          </a:prstGeom>
          <a:noFill/>
          <a:ln/>
        </p:spPr>
        <p:txBody>
          <a:bodyPr wrap="square" lIns="0" tIns="0" rIns="0" bIns="0" rtlCol="0" anchor="t"/>
          <a:lstStyle/>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import sqlite3</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from contextlib import contextmanager</a:t>
            </a: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DB = "readings.db"</a:t>
            </a:r>
            <a:endParaRPr lang="en-US" sz="1350" dirty="0"/>
          </a:p>
          <a:p>
            <a:pPr indent="0" marL="0">
              <a:lnSpc>
                <a:spcPts val="1650"/>
              </a:lnSpc>
              <a:buNone/>
            </a:pP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@contextmanager</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def db():</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"""Open the database, hand it over, then always close it."""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conn = sqlite3.connect(DB)</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conn.row_factory = sqlite3.Row     # read columns by name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try:</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yield conn</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conn.commit()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finally:</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conn.close()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  2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the table, and list what is stored</a:t>
            </a:r>
            <a:endParaRPr lang="en-US" sz="3100" dirty="0"/>
          </a:p>
        </p:txBody>
      </p:sp>
      <p:sp>
        <p:nvSpPr>
          <p:cNvPr id="4" name="Shape 2"/>
          <p:cNvSpPr/>
          <p:nvPr/>
        </p:nvSpPr>
        <p:spPr>
          <a:xfrm>
            <a:off x="777240" y="1691640"/>
            <a:ext cx="10634472" cy="4370070"/>
          </a:xfrm>
          <a:prstGeom prst="roundRect">
            <a:avLst>
              <a:gd name="adj" fmla="val 1674"/>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03120"/>
            <a:ext cx="10085832" cy="3821430"/>
          </a:xfrm>
          <a:prstGeom prst="rect">
            <a:avLst/>
          </a:prstGeom>
          <a:noFill/>
          <a:ln/>
        </p:spPr>
        <p:txBody>
          <a:bodyPr wrap="square" lIns="0" tIns="0" rIns="0" bIns="0" rtlCol="0" anchor="t"/>
          <a:lstStyle/>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def init_db():</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with db() as conn:</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conn.execute("""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CREATE TABLE IF NOT EXISTS readings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id       INTEGER PRIMARY KEY AUTOINCREMENT,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created  TEXT DEFAULT CURRENT_TIMESTAMP,</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sensor   TEXT,   value REAL,   unit TEXT,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low      REAL,   high  REAL,   severity TEXT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init_db()</a:t>
            </a:r>
            <a:endParaRPr lang="en-US" sz="1200" dirty="0"/>
          </a:p>
          <a:p>
            <a:pPr indent="0" marL="0">
              <a:lnSpc>
                <a:spcPts val="1450"/>
              </a:lnSpc>
              <a:buNone/>
            </a:pP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@app.get("/readings")</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def list_readings(limit: int = 20):</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with db() as conn:</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rows = conn.execute(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"SELECT * FROM readings ORDER BY id DESC LIMIT ?", (limit,)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).fetchall()</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[dict(row) for row in rows]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Prove it survives a restart</a:t>
            </a:r>
            <a:endParaRPr lang="en-US" sz="3100" dirty="0"/>
          </a:p>
        </p:txBody>
      </p:sp>
      <p:sp>
        <p:nvSpPr>
          <p:cNvPr id="4" name="Shape 2"/>
          <p:cNvSpPr/>
          <p:nvPr/>
        </p:nvSpPr>
        <p:spPr>
          <a:xfrm>
            <a:off x="777240" y="1737360"/>
            <a:ext cx="10634472" cy="685800"/>
          </a:xfrm>
          <a:prstGeom prst="roundRect">
            <a:avLst>
              <a:gd name="adj" fmla="val 12000"/>
            </a:avLst>
          </a:prstGeom>
          <a:solidFill>
            <a:srgbClr val="F5F6F8"/>
          </a:solidFill>
          <a:ln w="12700">
            <a:solidFill>
              <a:srgbClr val="E1E4E9"/>
            </a:solidFill>
            <a:prstDash val="solid"/>
          </a:ln>
        </p:spPr>
      </p:sp>
      <p:sp>
        <p:nvSpPr>
          <p:cNvPr id="5" name="Shape 3"/>
          <p:cNvSpPr/>
          <p:nvPr/>
        </p:nvSpPr>
        <p:spPr>
          <a:xfrm>
            <a:off x="1069848" y="1929384"/>
            <a:ext cx="310896" cy="310896"/>
          </a:xfrm>
          <a:prstGeom prst="ellipse">
            <a:avLst/>
          </a:prstGeom>
          <a:solidFill>
            <a:srgbClr val="00776A"/>
          </a:solidFill>
          <a:ln/>
        </p:spPr>
      </p:sp>
      <p:sp>
        <p:nvSpPr>
          <p:cNvPr id="6" name="Text 4"/>
          <p:cNvSpPr/>
          <p:nvPr/>
        </p:nvSpPr>
        <p:spPr>
          <a:xfrm>
            <a:off x="1069848" y="19293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55648"/>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Send three readings through /docs</a:t>
            </a:r>
            <a:endParaRPr lang="en-US" sz="1500" dirty="0"/>
          </a:p>
        </p:txBody>
      </p:sp>
      <p:sp>
        <p:nvSpPr>
          <p:cNvPr id="8" name="Shape 6"/>
          <p:cNvSpPr/>
          <p:nvPr/>
        </p:nvSpPr>
        <p:spPr>
          <a:xfrm>
            <a:off x="777240" y="2542032"/>
            <a:ext cx="10634472" cy="685800"/>
          </a:xfrm>
          <a:prstGeom prst="roundRect">
            <a:avLst>
              <a:gd name="adj" fmla="val 12000"/>
            </a:avLst>
          </a:prstGeom>
          <a:solidFill>
            <a:srgbClr val="F5F6F8"/>
          </a:solidFill>
          <a:ln w="12700">
            <a:solidFill>
              <a:srgbClr val="E1E4E9"/>
            </a:solidFill>
            <a:prstDash val="solid"/>
          </a:ln>
        </p:spPr>
      </p:sp>
      <p:sp>
        <p:nvSpPr>
          <p:cNvPr id="9" name="Shape 7"/>
          <p:cNvSpPr/>
          <p:nvPr/>
        </p:nvSpPr>
        <p:spPr>
          <a:xfrm>
            <a:off x="1069848" y="2734056"/>
            <a:ext cx="310896" cy="310896"/>
          </a:xfrm>
          <a:prstGeom prst="ellipse">
            <a:avLst/>
          </a:prstGeom>
          <a:solidFill>
            <a:srgbClr val="00776A"/>
          </a:solidFill>
          <a:ln/>
        </p:spPr>
      </p:sp>
      <p:sp>
        <p:nvSpPr>
          <p:cNvPr id="10" name="Text 8"/>
          <p:cNvSpPr/>
          <p:nvPr/>
        </p:nvSpPr>
        <p:spPr>
          <a:xfrm>
            <a:off x="1069848" y="27340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560320"/>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Call GET /readings — they are all there, newest first</a:t>
            </a:r>
            <a:endParaRPr lang="en-US" sz="1500" dirty="0"/>
          </a:p>
        </p:txBody>
      </p:sp>
      <p:sp>
        <p:nvSpPr>
          <p:cNvPr id="12" name="Shape 10"/>
          <p:cNvSpPr/>
          <p:nvPr/>
        </p:nvSpPr>
        <p:spPr>
          <a:xfrm>
            <a:off x="777240" y="3346704"/>
            <a:ext cx="10634472" cy="685800"/>
          </a:xfrm>
          <a:prstGeom prst="roundRect">
            <a:avLst>
              <a:gd name="adj" fmla="val 12000"/>
            </a:avLst>
          </a:prstGeom>
          <a:solidFill>
            <a:srgbClr val="F5F6F8"/>
          </a:solidFill>
          <a:ln w="12700">
            <a:solidFill>
              <a:srgbClr val="E1E4E9"/>
            </a:solidFill>
            <a:prstDash val="solid"/>
          </a:ln>
        </p:spPr>
      </p:sp>
      <p:sp>
        <p:nvSpPr>
          <p:cNvPr id="13" name="Shape 11"/>
          <p:cNvSpPr/>
          <p:nvPr/>
        </p:nvSpPr>
        <p:spPr>
          <a:xfrm>
            <a:off x="1069848" y="3538728"/>
            <a:ext cx="310896" cy="310896"/>
          </a:xfrm>
          <a:prstGeom prst="ellipse">
            <a:avLst/>
          </a:prstGeom>
          <a:solidFill>
            <a:srgbClr val="00776A"/>
          </a:solidFill>
          <a:ln/>
        </p:spPr>
      </p:sp>
      <p:sp>
        <p:nvSpPr>
          <p:cNvPr id="14" name="Text 12"/>
          <p:cNvSpPr/>
          <p:nvPr/>
        </p:nvSpPr>
        <p:spPr>
          <a:xfrm>
            <a:off x="1069848" y="35387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364992"/>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Stop the server with Ctrl+C</a:t>
            </a:r>
            <a:endParaRPr lang="en-US" sz="1500" dirty="0"/>
          </a:p>
        </p:txBody>
      </p:sp>
      <p:sp>
        <p:nvSpPr>
          <p:cNvPr id="16" name="Shape 14"/>
          <p:cNvSpPr/>
          <p:nvPr/>
        </p:nvSpPr>
        <p:spPr>
          <a:xfrm>
            <a:off x="777240" y="4151376"/>
            <a:ext cx="10634472" cy="685800"/>
          </a:xfrm>
          <a:prstGeom prst="roundRect">
            <a:avLst>
              <a:gd name="adj" fmla="val 12000"/>
            </a:avLst>
          </a:prstGeom>
          <a:solidFill>
            <a:srgbClr val="F5F6F8"/>
          </a:solidFill>
          <a:ln w="12700">
            <a:solidFill>
              <a:srgbClr val="E1E4E9"/>
            </a:solidFill>
            <a:prstDash val="solid"/>
          </a:ln>
        </p:spPr>
      </p:sp>
      <p:sp>
        <p:nvSpPr>
          <p:cNvPr id="17" name="Shape 15"/>
          <p:cNvSpPr/>
          <p:nvPr/>
        </p:nvSpPr>
        <p:spPr>
          <a:xfrm>
            <a:off x="1069848" y="4343400"/>
            <a:ext cx="310896" cy="310896"/>
          </a:xfrm>
          <a:prstGeom prst="ellipse">
            <a:avLst/>
          </a:prstGeom>
          <a:solidFill>
            <a:srgbClr val="00776A"/>
          </a:solidFill>
          <a:ln/>
        </p:spPr>
      </p:sp>
      <p:sp>
        <p:nvSpPr>
          <p:cNvPr id="18" name="Text 16"/>
          <p:cNvSpPr/>
          <p:nvPr/>
        </p:nvSpPr>
        <p:spPr>
          <a:xfrm>
            <a:off x="1069848" y="43434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645920" y="4169664"/>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Start it again, and call GET /readings once more</a:t>
            </a:r>
            <a:endParaRPr lang="en-US" sz="1500" dirty="0"/>
          </a:p>
        </p:txBody>
      </p:sp>
      <p:sp>
        <p:nvSpPr>
          <p:cNvPr id="20" name="Text 18"/>
          <p:cNvSpPr/>
          <p:nvPr/>
        </p:nvSpPr>
        <p:spPr>
          <a:xfrm>
            <a:off x="777240" y="5120640"/>
            <a:ext cx="10634472" cy="82296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The data is still there. A file called readings.db appeared in your folder.</a:t>
            </a:r>
            <a:endParaRPr lang="en-US" sz="2000" dirty="0"/>
          </a:p>
        </p:txBody>
      </p:sp>
      <p:sp>
        <p:nvSpPr>
          <p:cNvPr id="21" name="Shape 19"/>
          <p:cNvSpPr/>
          <p:nvPr/>
        </p:nvSpPr>
        <p:spPr>
          <a:xfrm>
            <a:off x="777240" y="5715000"/>
            <a:ext cx="10634472" cy="594360"/>
          </a:xfrm>
          <a:prstGeom prst="roundRect">
            <a:avLst>
              <a:gd name="adj" fmla="val 13846"/>
            </a:avLst>
          </a:prstGeom>
          <a:solidFill>
            <a:srgbClr val="FFF8E8"/>
          </a:solidFill>
          <a:ln w="12700">
            <a:solidFill>
              <a:srgbClr val="E5BC64"/>
            </a:solidFill>
            <a:prstDash val="solid"/>
          </a:ln>
        </p:spPr>
      </p:sp>
      <p:sp>
        <p:nvSpPr>
          <p:cNvPr id="22" name="Text 20"/>
          <p:cNvSpPr/>
          <p:nvPr/>
        </p:nvSpPr>
        <p:spPr>
          <a:xfrm>
            <a:off x="1051560" y="573328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SQLite</a:t>
            </a:r>
            <a:endParaRPr lang="en-US" sz="1400" dirty="0"/>
          </a:p>
        </p:txBody>
      </p:sp>
      <p:sp>
        <p:nvSpPr>
          <p:cNvPr id="23" name="Text 21"/>
          <p:cNvSpPr/>
          <p:nvPr/>
        </p:nvSpPr>
        <p:spPr>
          <a:xfrm>
            <a:off x="4251960" y="573328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whole database inside a single file, nothing to install</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OF 6      13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Connect the AI API</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.env with your settings, ai.py with</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 API call, and two new columns</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on the readings table.</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reading comes back with a written</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reason and action — and it works with</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USE_MOCK=true and no key at all.</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STAGE 4  ·  FIRST, A DESIGN DECISION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Which half of the job should the AI do?</a:t>
            </a:r>
            <a:endParaRPr lang="en-US" sz="3100" dirty="0"/>
          </a:p>
        </p:txBody>
      </p:sp>
      <p:graphicFrame>
        <p:nvGraphicFramePr>
          <p:cNvPr id="4" name="Chart 0" descr=""/>
          <p:cNvGraphicFramePr/>
          <p:nvPr/>
        </p:nvGraphicFramePr>
        <p:xfrm>
          <a:off x="777240" y="169164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91640"/>
            <a:ext cx="4251960" cy="3200400"/>
          </a:xfrm>
          <a:prstGeom prst="roundRect">
            <a:avLst>
              <a:gd name="adj" fmla="val 2571"/>
            </a:avLst>
          </a:prstGeom>
          <a:solidFill>
            <a:srgbClr val="F5F6F8"/>
          </a:solidFill>
          <a:ln w="12700">
            <a:solidFill>
              <a:srgbClr val="E1E4E9"/>
            </a:solidFill>
            <a:prstDash val="solid"/>
          </a:ln>
        </p:spPr>
      </p:sp>
      <p:sp>
        <p:nvSpPr>
          <p:cNvPr id="6" name="Text 3"/>
          <p:cNvSpPr/>
          <p:nvPr/>
        </p:nvSpPr>
        <p:spPr>
          <a:xfrm>
            <a:off x="7452360" y="1874520"/>
            <a:ext cx="3703320" cy="36576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The question asked</a:t>
            </a:r>
            <a:endParaRPr lang="en-US" sz="1400" dirty="0"/>
          </a:p>
        </p:txBody>
      </p:sp>
      <p:sp>
        <p:nvSpPr>
          <p:cNvPr id="7" name="Text 4"/>
          <p:cNvSpPr/>
          <p:nvPr/>
        </p:nvSpPr>
        <p:spPr>
          <a:xfrm>
            <a:off x="7452360" y="2286000"/>
            <a:ext cx="3703320" cy="12801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"Is this reading inside the safe range?"</a:t>
            </a:r>
            <a:endParaRPr lang="en-US" sz="1350" dirty="0"/>
          </a:p>
          <a:p>
            <a:pPr indent="0" marL="0">
              <a:buNone/>
            </a:pPr>
            <a:endParaRPr lang="en-US" sz="1350" dirty="0"/>
          </a:p>
          <a:p>
            <a:pPr indent="0" marL="0">
              <a:buNone/>
            </a:pPr>
            <a:r>
              <a:rPr lang="en-US" sz="1350" dirty="0">
                <a:solidFill>
                  <a:srgbClr val="5C6470"/>
                </a:solidFill>
                <a:latin typeface="Calibri" pitchFamily="34" charset="0"/>
                <a:ea typeface="Calibri" pitchFamily="34" charset="-122"/>
                <a:cs typeface="Calibri" pitchFamily="34" charset="-120"/>
              </a:rPr>
              <a:t>8 readings, 3 runs each. There is a correct answer every time.</a:t>
            </a:r>
            <a:endParaRPr lang="en-US" sz="1350" dirty="0"/>
          </a:p>
        </p:txBody>
      </p:sp>
      <p:sp>
        <p:nvSpPr>
          <p:cNvPr id="8" name="Text 5"/>
          <p:cNvSpPr/>
          <p:nvPr/>
        </p:nvSpPr>
        <p:spPr>
          <a:xfrm>
            <a:off x="7452360" y="3657600"/>
            <a:ext cx="3703320" cy="1097280"/>
          </a:xfrm>
          <a:prstGeom prst="rect">
            <a:avLst/>
          </a:prstGeom>
          <a:noFill/>
          <a:ln/>
        </p:spPr>
        <p:txBody>
          <a:bodyPr wrap="square" lIns="0" tIns="0" rIns="0" bIns="0" rtlCol="0" anchor="ctr"/>
          <a:lstStyle/>
          <a:p>
            <a:pPr indent="0" marL="0">
              <a:buNone/>
            </a:pPr>
            <a:r>
              <a:rPr lang="en-US" sz="1350" b="1" dirty="0">
                <a:solidFill>
                  <a:srgbClr val="BE3A2B"/>
                </a:solidFill>
                <a:latin typeface="Calibri" pitchFamily="34" charset="0"/>
                <a:ea typeface="Calibri" pitchFamily="34" charset="-122"/>
                <a:cs typeface="Calibri" pitchFamily="34" charset="-120"/>
              </a:rPr>
              <a:t>The larger model called 87 C</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"normal" when the safe range</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was 20-60 C, twice in three runs.</a:t>
            </a:r>
            <a:endParaRPr lang="en-US" sz="1350" dirty="0"/>
          </a:p>
        </p:txBody>
      </p:sp>
      <p:sp>
        <p:nvSpPr>
          <p:cNvPr id="9" name="Text 6"/>
          <p:cNvSpPr/>
          <p:nvPr/>
        </p:nvSpPr>
        <p:spPr>
          <a:xfrm>
            <a:off x="777240" y="512064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Comparing two numbers is not a job for a language model.</a:t>
            </a:r>
            <a:endParaRPr lang="en-US" sz="2100" dirty="0"/>
          </a:p>
        </p:txBody>
      </p:sp>
      <p:sp>
        <p:nvSpPr>
          <p:cNvPr id="10" name="Text 7"/>
          <p:cNvSpPr/>
          <p:nvPr/>
        </p:nvSpPr>
        <p:spPr>
          <a:xfrm>
            <a:off x="777240" y="5669280"/>
            <a:ext cx="10634472" cy="54864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Your classify() function already does it: instantly, free, correctly every time, and you can test it.</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So we split the work</a:t>
            </a:r>
            <a:endParaRPr lang="en-US" sz="3100" dirty="0"/>
          </a:p>
        </p:txBody>
      </p:sp>
      <p:sp>
        <p:nvSpPr>
          <p:cNvPr id="4" name="Shape 2"/>
          <p:cNvSpPr/>
          <p:nvPr/>
        </p:nvSpPr>
        <p:spPr>
          <a:xfrm>
            <a:off x="777240" y="1691640"/>
            <a:ext cx="5257800" cy="3200400"/>
          </a:xfrm>
          <a:prstGeom prst="roundRect">
            <a:avLst>
              <a:gd name="adj" fmla="val 2571"/>
            </a:avLst>
          </a:prstGeom>
          <a:solidFill>
            <a:srgbClr val="F5F6F8"/>
          </a:solidFill>
          <a:ln w="12700">
            <a:solidFill>
              <a:srgbClr val="E1E4E9"/>
            </a:solidFill>
            <a:prstDash val="solid"/>
          </a:ln>
        </p:spPr>
      </p:sp>
      <p:sp>
        <p:nvSpPr>
          <p:cNvPr id="5" name="Shape 3"/>
          <p:cNvSpPr/>
          <p:nvPr/>
        </p:nvSpPr>
        <p:spPr>
          <a:xfrm>
            <a:off x="1097280" y="1901952"/>
            <a:ext cx="411480" cy="411480"/>
          </a:xfrm>
          <a:prstGeom prst="ellipse">
            <a:avLst/>
          </a:prstGeom>
          <a:solidFill>
            <a:srgbClr val="00776A"/>
          </a:solidFill>
          <a:ln/>
        </p:spPr>
      </p:sp>
      <p:sp>
        <p:nvSpPr>
          <p:cNvPr id="6" name="Text 4"/>
          <p:cNvSpPr/>
          <p:nvPr/>
        </p:nvSpPr>
        <p:spPr>
          <a:xfrm>
            <a:off x="1097280" y="1901952"/>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73352" y="1901952"/>
            <a:ext cx="4114800" cy="411480"/>
          </a:xfrm>
          <a:prstGeom prst="rect">
            <a:avLst/>
          </a:prstGeom>
          <a:noFill/>
          <a:ln/>
        </p:spPr>
        <p:txBody>
          <a:bodyPr wrap="square" lIns="0" tIns="0" rIns="0" bIns="0" rtlCol="0" anchor="ctr"/>
          <a:lstStyle/>
          <a:p>
            <a:pPr indent="0" marL="0">
              <a:buNone/>
            </a:pPr>
            <a:r>
              <a:rPr lang="en-US" sz="1900" b="1" dirty="0">
                <a:solidFill>
                  <a:srgbClr val="00776A"/>
                </a:solidFill>
                <a:latin typeface="Cambria" pitchFamily="34" charset="0"/>
                <a:ea typeface="Cambria" pitchFamily="34" charset="-122"/>
                <a:cs typeface="Cambria" pitchFamily="34" charset="-120"/>
              </a:rPr>
              <a:t>Your code decides</a:t>
            </a:r>
            <a:endParaRPr lang="en-US" sz="1900" dirty="0"/>
          </a:p>
        </p:txBody>
      </p:sp>
      <p:sp>
        <p:nvSpPr>
          <p:cNvPr id="8" name="Text 6"/>
          <p:cNvSpPr/>
          <p:nvPr/>
        </p:nvSpPr>
        <p:spPr>
          <a:xfrm>
            <a:off x="1097280" y="2514600"/>
            <a:ext cx="4617720" cy="32004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the severity</a:t>
            </a:r>
            <a:endParaRPr lang="en-US" sz="1400" dirty="0"/>
          </a:p>
        </p:txBody>
      </p:sp>
      <p:sp>
        <p:nvSpPr>
          <p:cNvPr id="9" name="Text 7"/>
          <p:cNvSpPr/>
          <p:nvPr/>
        </p:nvSpPr>
        <p:spPr>
          <a:xfrm>
            <a:off x="1097280" y="2926080"/>
            <a:ext cx="4617720" cy="137160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Instant. Free. Correct every time.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You can write a test for it.</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It cannot fail.</a:t>
            </a:r>
            <a:endParaRPr lang="en-US" sz="1500" dirty="0"/>
          </a:p>
        </p:txBody>
      </p:sp>
      <p:sp>
        <p:nvSpPr>
          <p:cNvPr id="10" name="Text 8"/>
          <p:cNvSpPr/>
          <p:nvPr/>
        </p:nvSpPr>
        <p:spPr>
          <a:xfrm>
            <a:off x="1097280" y="4343400"/>
            <a:ext cx="4617720" cy="365760"/>
          </a:xfrm>
          <a:prstGeom prst="rect">
            <a:avLst/>
          </a:prstGeom>
          <a:noFill/>
          <a:ln/>
        </p:spPr>
        <p:txBody>
          <a:bodyPr wrap="square" lIns="0" tIns="0" rIns="0" bIns="0" rtlCol="0" anchor="ctr"/>
          <a:lstStyle/>
          <a:p>
            <a:pPr indent="0" marL="0">
              <a:buNone/>
            </a:pPr>
            <a:r>
              <a:rPr lang="en-US" sz="1500" b="1" dirty="0">
                <a:solidFill>
                  <a:srgbClr val="00776A"/>
                </a:solidFill>
                <a:latin typeface="Calibri" pitchFamily="34" charset="0"/>
                <a:ea typeface="Calibri" pitchFamily="34" charset="-122"/>
                <a:cs typeface="Calibri" pitchFamily="34" charset="-120"/>
              </a:rPr>
              <a:t>It is a fact.</a:t>
            </a:r>
            <a:endParaRPr lang="en-US" sz="1500" dirty="0"/>
          </a:p>
        </p:txBody>
      </p:sp>
      <p:sp>
        <p:nvSpPr>
          <p:cNvPr id="11" name="Shape 9"/>
          <p:cNvSpPr/>
          <p:nvPr/>
        </p:nvSpPr>
        <p:spPr>
          <a:xfrm>
            <a:off x="6309360" y="1691640"/>
            <a:ext cx="5257800" cy="3200400"/>
          </a:xfrm>
          <a:prstGeom prst="roundRect">
            <a:avLst>
              <a:gd name="adj" fmla="val 2571"/>
            </a:avLst>
          </a:prstGeom>
          <a:solidFill>
            <a:srgbClr val="F5F6F8"/>
          </a:solidFill>
          <a:ln w="12700">
            <a:solidFill>
              <a:srgbClr val="E1E4E9"/>
            </a:solidFill>
            <a:prstDash val="solid"/>
          </a:ln>
        </p:spPr>
      </p:sp>
      <p:sp>
        <p:nvSpPr>
          <p:cNvPr id="12" name="Shape 10"/>
          <p:cNvSpPr/>
          <p:nvPr/>
        </p:nvSpPr>
        <p:spPr>
          <a:xfrm>
            <a:off x="6629400" y="1901952"/>
            <a:ext cx="411480" cy="411480"/>
          </a:xfrm>
          <a:prstGeom prst="ellipse">
            <a:avLst/>
          </a:prstGeom>
          <a:solidFill>
            <a:srgbClr val="5158BE"/>
          </a:solidFill>
          <a:ln/>
        </p:spPr>
      </p:sp>
      <p:sp>
        <p:nvSpPr>
          <p:cNvPr id="13" name="Text 11"/>
          <p:cNvSpPr/>
          <p:nvPr/>
        </p:nvSpPr>
        <p:spPr>
          <a:xfrm>
            <a:off x="6629400" y="1901952"/>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7205472" y="1901952"/>
            <a:ext cx="4114800" cy="411480"/>
          </a:xfrm>
          <a:prstGeom prst="rect">
            <a:avLst/>
          </a:prstGeom>
          <a:noFill/>
          <a:ln/>
        </p:spPr>
        <p:txBody>
          <a:bodyPr wrap="square" lIns="0" tIns="0" rIns="0" bIns="0" rtlCol="0" anchor="ctr"/>
          <a:lstStyle/>
          <a:p>
            <a:pPr indent="0" marL="0">
              <a:buNone/>
            </a:pPr>
            <a:r>
              <a:rPr lang="en-US" sz="1900" b="1" dirty="0">
                <a:solidFill>
                  <a:srgbClr val="5158BE"/>
                </a:solidFill>
                <a:latin typeface="Cambria" pitchFamily="34" charset="0"/>
                <a:ea typeface="Cambria" pitchFamily="34" charset="-122"/>
                <a:cs typeface="Cambria" pitchFamily="34" charset="-120"/>
              </a:rPr>
              <a:t>The AI explains</a:t>
            </a:r>
            <a:endParaRPr lang="en-US" sz="1900" dirty="0"/>
          </a:p>
        </p:txBody>
      </p:sp>
      <p:sp>
        <p:nvSpPr>
          <p:cNvPr id="15" name="Text 13"/>
          <p:cNvSpPr/>
          <p:nvPr/>
        </p:nvSpPr>
        <p:spPr>
          <a:xfrm>
            <a:off x="6629400" y="2514600"/>
            <a:ext cx="4617720" cy="32004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what it means</a:t>
            </a:r>
            <a:endParaRPr lang="en-US" sz="1400" dirty="0"/>
          </a:p>
        </p:txBody>
      </p:sp>
      <p:sp>
        <p:nvSpPr>
          <p:cNvPr id="16" name="Text 14"/>
          <p:cNvSpPr/>
          <p:nvPr/>
        </p:nvSpPr>
        <p:spPr>
          <a:xfrm>
            <a:off x="6629400" y="2926080"/>
            <a:ext cx="4617720" cy="137160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Slower. Sometimes wrong.</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But it writes a sentence a person</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actually wants to read.</a:t>
            </a:r>
            <a:endParaRPr lang="en-US" sz="1500" dirty="0"/>
          </a:p>
        </p:txBody>
      </p:sp>
      <p:sp>
        <p:nvSpPr>
          <p:cNvPr id="17" name="Text 15"/>
          <p:cNvSpPr/>
          <p:nvPr/>
        </p:nvSpPr>
        <p:spPr>
          <a:xfrm>
            <a:off x="6629400" y="4343400"/>
            <a:ext cx="4617720" cy="365760"/>
          </a:xfrm>
          <a:prstGeom prst="rect">
            <a:avLst/>
          </a:prstGeom>
          <a:noFill/>
          <a:ln/>
        </p:spPr>
        <p:txBody>
          <a:bodyPr wrap="square" lIns="0" tIns="0" rIns="0" bIns="0" rtlCol="0" anchor="ctr"/>
          <a:lstStyle/>
          <a:p>
            <a:pPr indent="0" marL="0">
              <a:buNone/>
            </a:pPr>
            <a:r>
              <a:rPr lang="en-US" sz="1500" b="1" dirty="0">
                <a:solidFill>
                  <a:srgbClr val="5158BE"/>
                </a:solidFill>
                <a:latin typeface="Calibri" pitchFamily="34" charset="0"/>
                <a:ea typeface="Calibri" pitchFamily="34" charset="-122"/>
                <a:cs typeface="Calibri" pitchFamily="34" charset="-120"/>
              </a:rPr>
              <a:t>Code cannot do that.</a:t>
            </a:r>
            <a:endParaRPr lang="en-US" sz="1500" dirty="0"/>
          </a:p>
        </p:txBody>
      </p:sp>
      <p:sp>
        <p:nvSpPr>
          <p:cNvPr id="18" name="Text 16"/>
          <p:cNvSpPr/>
          <p:nvPr/>
        </p:nvSpPr>
        <p:spPr>
          <a:xfrm>
            <a:off x="777240" y="5166360"/>
            <a:ext cx="10634472" cy="82296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Put each one where it wins.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Two small files</a:t>
            </a:r>
            <a:endParaRPr lang="en-US" sz="3100" dirty="0"/>
          </a:p>
        </p:txBody>
      </p:sp>
      <p:sp>
        <p:nvSpPr>
          <p:cNvPr id="4" name="Text 2"/>
          <p:cNvSpPr/>
          <p:nvPr/>
        </p:nvSpPr>
        <p:spPr>
          <a:xfrm>
            <a:off x="777240" y="1600200"/>
            <a:ext cx="4572000" cy="320040"/>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.env</a:t>
            </a:r>
            <a:endParaRPr lang="en-US" sz="1400" dirty="0"/>
          </a:p>
        </p:txBody>
      </p:sp>
      <p:sp>
        <p:nvSpPr>
          <p:cNvPr id="5" name="Shape 3"/>
          <p:cNvSpPr/>
          <p:nvPr/>
        </p:nvSpPr>
        <p:spPr>
          <a:xfrm>
            <a:off x="777240" y="1965960"/>
            <a:ext cx="10634472" cy="1371600"/>
          </a:xfrm>
          <a:prstGeom prst="roundRect">
            <a:avLst>
              <a:gd name="adj" fmla="val 5333"/>
            </a:avLst>
          </a:prstGeom>
          <a:solidFill>
            <a:srgbClr val="1B1F2A"/>
          </a:solidFill>
          <a:ln w="12700">
            <a:solidFill>
              <a:srgbClr val="1B1F2A"/>
            </a:solidFill>
            <a:prstDash val="solid"/>
          </a:ln>
        </p:spPr>
      </p:sp>
      <p:sp>
        <p:nvSpPr>
          <p:cNvPr id="6" name="Text 4"/>
          <p:cNvSpPr/>
          <p:nvPr/>
        </p:nvSpPr>
        <p:spPr>
          <a:xfrm>
            <a:off x="1069848" y="2194560"/>
            <a:ext cx="10085832" cy="10058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USE_MOCK=true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ANTHROPIC_API_KEY=</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CLAUDE_MODEL=claude-haiku-4-5</a:t>
            </a:r>
            <a:endParaRPr lang="en-US" sz="1500" dirty="0"/>
          </a:p>
        </p:txBody>
      </p:sp>
      <p:sp>
        <p:nvSpPr>
          <p:cNvPr id="7" name="Text 5"/>
          <p:cNvSpPr/>
          <p:nvPr/>
        </p:nvSpPr>
        <p:spPr>
          <a:xfrm>
            <a:off x="777240" y="3520440"/>
            <a:ext cx="4572000" cy="320040"/>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.gitignore</a:t>
            </a:r>
            <a:endParaRPr lang="en-US" sz="1400" dirty="0"/>
          </a:p>
        </p:txBody>
      </p:sp>
      <p:sp>
        <p:nvSpPr>
          <p:cNvPr id="8" name="Shape 6"/>
          <p:cNvSpPr/>
          <p:nvPr/>
        </p:nvSpPr>
        <p:spPr>
          <a:xfrm>
            <a:off x="777240" y="3886200"/>
            <a:ext cx="10634472" cy="1600200"/>
          </a:xfrm>
          <a:prstGeom prst="roundRect">
            <a:avLst>
              <a:gd name="adj" fmla="val 4571"/>
            </a:avLst>
          </a:prstGeom>
          <a:solidFill>
            <a:srgbClr val="1B1F2A"/>
          </a:solidFill>
          <a:ln w="12700">
            <a:solidFill>
              <a:srgbClr val="1B1F2A"/>
            </a:solidFill>
            <a:prstDash val="solid"/>
          </a:ln>
        </p:spPr>
      </p:sp>
      <p:sp>
        <p:nvSpPr>
          <p:cNvPr id="9" name="Text 7"/>
          <p:cNvSpPr/>
          <p:nvPr/>
        </p:nvSpPr>
        <p:spPr>
          <a:xfrm>
            <a:off x="1069848" y="4114800"/>
            <a:ext cx="10085832" cy="12344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.env</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*.db</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__pycache__/</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.venv/</a:t>
            </a:r>
            <a:endParaRPr lang="en-US" sz="1500" dirty="0"/>
          </a:p>
        </p:txBody>
      </p:sp>
      <p:sp>
        <p:nvSpPr>
          <p:cNvPr id="10" name="Shape 8"/>
          <p:cNvSpPr/>
          <p:nvPr/>
        </p:nvSpPr>
        <p:spPr>
          <a:xfrm>
            <a:off x="777240" y="5669280"/>
            <a:ext cx="10634472" cy="777240"/>
          </a:xfrm>
          <a:prstGeom prst="roundRect">
            <a:avLst>
              <a:gd name="adj" fmla="val 10588"/>
            </a:avLst>
          </a:prstGeom>
          <a:solidFill>
            <a:srgbClr val="FBF0EE"/>
          </a:solidFill>
          <a:ln w="12700">
            <a:solidFill>
              <a:srgbClr val="BE3A2B"/>
            </a:solidFill>
            <a:prstDash val="solid"/>
          </a:ln>
        </p:spPr>
      </p:sp>
      <p:sp>
        <p:nvSpPr>
          <p:cNvPr id="11" name="Text 9"/>
          <p:cNvSpPr/>
          <p:nvPr/>
        </p:nvSpPr>
        <p:spPr>
          <a:xfrm>
            <a:off x="1143000" y="5760720"/>
            <a:ext cx="10241280" cy="5943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.env holds your secrets and must never be uploaded. .gitignore is what stops that happening.</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Two words to be clear about</a:t>
            </a:r>
            <a:endParaRPr lang="en-US" sz="3100" dirty="0"/>
          </a:p>
        </p:txBody>
      </p:sp>
      <p:sp>
        <p:nvSpPr>
          <p:cNvPr id="4" name="Shape 2"/>
          <p:cNvSpPr/>
          <p:nvPr/>
        </p:nvSpPr>
        <p:spPr>
          <a:xfrm>
            <a:off x="777240" y="1691640"/>
            <a:ext cx="10634472" cy="594360"/>
          </a:xfrm>
          <a:prstGeom prst="roundRect">
            <a:avLst>
              <a:gd name="adj" fmla="val 13846"/>
            </a:avLst>
          </a:prstGeom>
          <a:solidFill>
            <a:srgbClr val="FFF8E8"/>
          </a:solidFill>
          <a:ln w="12700">
            <a:solidFill>
              <a:srgbClr val="E5BC64"/>
            </a:solidFill>
            <a:prstDash val="solid"/>
          </a:ln>
        </p:spPr>
      </p:sp>
      <p:sp>
        <p:nvSpPr>
          <p:cNvPr id="5" name="Text 3"/>
          <p:cNvSpPr/>
          <p:nvPr/>
        </p:nvSpPr>
        <p:spPr>
          <a:xfrm>
            <a:off x="1051560" y="17099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environment variable</a:t>
            </a:r>
            <a:endParaRPr lang="en-US" sz="1400" dirty="0"/>
          </a:p>
        </p:txBody>
      </p:sp>
      <p:sp>
        <p:nvSpPr>
          <p:cNvPr id="6" name="Text 4"/>
          <p:cNvSpPr/>
          <p:nvPr/>
        </p:nvSpPr>
        <p:spPr>
          <a:xfrm>
            <a:off x="4251960" y="17099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setting supplied when the program runs, not written inside it</a:t>
            </a:r>
            <a:endParaRPr lang="en-US" sz="1350" dirty="0"/>
          </a:p>
        </p:txBody>
      </p:sp>
      <p:sp>
        <p:nvSpPr>
          <p:cNvPr id="7" name="Shape 5"/>
          <p:cNvSpPr/>
          <p:nvPr/>
        </p:nvSpPr>
        <p:spPr>
          <a:xfrm>
            <a:off x="777240" y="2377440"/>
            <a:ext cx="10634472" cy="594360"/>
          </a:xfrm>
          <a:prstGeom prst="roundRect">
            <a:avLst>
              <a:gd name="adj" fmla="val 13846"/>
            </a:avLst>
          </a:prstGeom>
          <a:solidFill>
            <a:srgbClr val="FFF8E8"/>
          </a:solidFill>
          <a:ln w="12700">
            <a:solidFill>
              <a:srgbClr val="E5BC64"/>
            </a:solidFill>
            <a:prstDash val="solid"/>
          </a:ln>
        </p:spPr>
      </p:sp>
      <p:sp>
        <p:nvSpPr>
          <p:cNvPr id="8" name="Text 6"/>
          <p:cNvSpPr/>
          <p:nvPr/>
        </p:nvSpPr>
        <p:spPr>
          <a:xfrm>
            <a:off x="1051560" y="2395728"/>
            <a:ext cx="3017520" cy="557784"/>
          </a:xfrm>
          <a:prstGeom prst="rect">
            <a:avLst/>
          </a:prstGeom>
          <a:noFill/>
          <a:ln/>
        </p:spPr>
        <p:txBody>
          <a:bodyPr wrap="square" lIns="0" tIns="0" rIns="0" bIns="0" rtlCol="0" anchor="ctr"/>
          <a:lstStyle/>
          <a:p>
            <a:pPr indent="0" marL="0">
              <a:buNone/>
            </a:pPr>
            <a:r>
              <a:rPr lang="en-US" sz="1400" b="1" dirty="0">
                <a:solidFill>
                  <a:srgbClr val="7A5200"/>
                </a:solidFill>
                <a:latin typeface="Courier New" pitchFamily="34" charset="0"/>
                <a:ea typeface="Courier New" pitchFamily="34" charset="-122"/>
                <a:cs typeface="Courier New" pitchFamily="34" charset="-120"/>
              </a:rPr>
              <a:t>API key</a:t>
            </a:r>
            <a:endParaRPr lang="en-US" sz="1400" dirty="0"/>
          </a:p>
        </p:txBody>
      </p:sp>
      <p:sp>
        <p:nvSpPr>
          <p:cNvPr id="9" name="Text 7"/>
          <p:cNvSpPr/>
          <p:nvPr/>
        </p:nvSpPr>
        <p:spPr>
          <a:xfrm>
            <a:off x="4251960" y="2395728"/>
            <a:ext cx="7040880" cy="557784"/>
          </a:xfrm>
          <a:prstGeom prst="rect">
            <a:avLst/>
          </a:prstGeom>
          <a:noFill/>
          <a:ln/>
        </p:spPr>
        <p:txBody>
          <a:bodyPr wrap="square" lIns="0" tIns="0" rIns="0" bIns="0" rtlCol="0" anchor="ctr"/>
          <a:lstStyle/>
          <a:p>
            <a:pPr indent="0" marL="0">
              <a:buNone/>
            </a:pPr>
            <a:r>
              <a:rPr lang="en-US" sz="1350" dirty="0">
                <a:solidFill>
                  <a:srgbClr val="7A5200"/>
                </a:solidFill>
                <a:latin typeface="Calibri" pitchFamily="34" charset="0"/>
                <a:ea typeface="Calibri" pitchFamily="34" charset="-122"/>
                <a:cs typeface="Calibri" pitchFamily="34" charset="-120"/>
              </a:rPr>
              <a:t>a long secret string identifying your account with a service</a:t>
            </a:r>
            <a:endParaRPr lang="en-US" sz="1350" dirty="0"/>
          </a:p>
        </p:txBody>
      </p:sp>
      <p:sp>
        <p:nvSpPr>
          <p:cNvPr id="10" name="Shape 8"/>
          <p:cNvSpPr/>
          <p:nvPr/>
        </p:nvSpPr>
        <p:spPr>
          <a:xfrm>
            <a:off x="777240" y="3200400"/>
            <a:ext cx="10634472" cy="1371600"/>
          </a:xfrm>
          <a:prstGeom prst="roundRect">
            <a:avLst>
              <a:gd name="adj" fmla="val 6000"/>
            </a:avLst>
          </a:prstGeom>
          <a:solidFill>
            <a:srgbClr val="FBF0EE"/>
          </a:solidFill>
          <a:ln w="12700">
            <a:solidFill>
              <a:srgbClr val="BE3A2B"/>
            </a:solidFill>
            <a:prstDash val="solid"/>
          </a:ln>
        </p:spPr>
      </p:sp>
      <p:sp>
        <p:nvSpPr>
          <p:cNvPr id="11" name="Text 9"/>
          <p:cNvSpPr/>
          <p:nvPr/>
        </p:nvSpPr>
        <p:spPr>
          <a:xfrm>
            <a:off x="1143000" y="3383280"/>
            <a:ext cx="10241280" cy="411480"/>
          </a:xfrm>
          <a:prstGeom prst="rect">
            <a:avLst/>
          </a:prstGeom>
          <a:noFill/>
          <a:ln/>
        </p:spPr>
        <p:txBody>
          <a:bodyPr wrap="square" lIns="0" tIns="0" rIns="0" bIns="0" rtlCol="0" anchor="ctr"/>
          <a:lstStyle/>
          <a:p>
            <a:pPr indent="0" marL="0">
              <a:buNone/>
            </a:pPr>
            <a:r>
              <a:rPr lang="en-US" sz="1900" b="1" dirty="0">
                <a:solidFill>
                  <a:srgbClr val="BE3A2B"/>
                </a:solidFill>
                <a:latin typeface="Cambria" pitchFamily="34" charset="0"/>
                <a:ea typeface="Cambria" pitchFamily="34" charset="-122"/>
                <a:cs typeface="Cambria" pitchFamily="34" charset="-120"/>
              </a:rPr>
              <a:t>An API key behaves like a bank card with no PIN.</a:t>
            </a:r>
            <a:endParaRPr lang="en-US" sz="1900" dirty="0"/>
          </a:p>
        </p:txBody>
      </p:sp>
      <p:sp>
        <p:nvSpPr>
          <p:cNvPr id="12" name="Text 10"/>
          <p:cNvSpPr/>
          <p:nvPr/>
        </p:nvSpPr>
        <p:spPr>
          <a:xfrm>
            <a:off x="1143000" y="3822192"/>
            <a:ext cx="10241280" cy="640080"/>
          </a:xfrm>
          <a:prstGeom prst="rect">
            <a:avLst/>
          </a:prstGeom>
          <a:noFill/>
          <a:ln/>
        </p:spPr>
        <p:txBody>
          <a:bodyPr wrap="square" lIns="0" tIns="0" rIns="0" bIns="0" rtlCol="0" anchor="ctr"/>
          <a:lstStyle/>
          <a:p>
            <a:pPr indent="0" marL="0">
              <a:buNone/>
            </a:pPr>
            <a:r>
              <a:rPr lang="en-US" sz="1500" dirty="0">
                <a:solidFill>
                  <a:srgbClr val="BE3A2B"/>
                </a:solidFill>
                <a:latin typeface="Calibri" pitchFamily="34" charset="0"/>
                <a:ea typeface="Calibri" pitchFamily="34" charset="-122"/>
                <a:cs typeface="Calibri" pitchFamily="34" charset="-120"/>
              </a:rPr>
              <a:t>There is no second step, no confirmation, no 'are you sure'. Whoever holds it can use your account and spend your money. Possession is the whole security model.</a:t>
            </a:r>
            <a:endParaRPr lang="en-US" sz="1500" dirty="0"/>
          </a:p>
        </p:txBody>
      </p:sp>
      <p:sp>
        <p:nvSpPr>
          <p:cNvPr id="13" name="Text 11"/>
          <p:cNvSpPr/>
          <p:nvPr/>
        </p:nvSpPr>
        <p:spPr>
          <a:xfrm>
            <a:off x="777240" y="4800600"/>
            <a:ext cx="10634472" cy="82296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So the key goes in .env, and never in a .py file.</a:t>
            </a:r>
            <a:endParaRPr lang="en-US" sz="2000" dirty="0"/>
          </a:p>
        </p:txBody>
      </p:sp>
      <p:sp>
        <p:nvSpPr>
          <p:cNvPr id="14" name="Text 12"/>
          <p:cNvSpPr/>
          <p:nvPr/>
        </p:nvSpPr>
        <p:spPr>
          <a:xfrm>
            <a:off x="777240" y="5349240"/>
            <a:ext cx="10634472" cy="73152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 want to share your code. You never want to share your key. Keeping them in separate files is what makes that possible.</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1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Create ai.py — the settings and the answer shape</a:t>
            </a:r>
            <a:endParaRPr lang="en-US" sz="3100" dirty="0"/>
          </a:p>
        </p:txBody>
      </p:sp>
      <p:sp>
        <p:nvSpPr>
          <p:cNvPr id="4" name="Shape 2"/>
          <p:cNvSpPr/>
          <p:nvPr/>
        </p:nvSpPr>
        <p:spPr>
          <a:xfrm>
            <a:off x="777240" y="1691640"/>
            <a:ext cx="10634472" cy="4001770"/>
          </a:xfrm>
          <a:prstGeom prst="roundRect">
            <a:avLst>
              <a:gd name="adj" fmla="val 1828"/>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ai.py</a:t>
            </a:r>
            <a:endParaRPr lang="en-US" sz="1050" dirty="0"/>
          </a:p>
        </p:txBody>
      </p:sp>
      <p:sp>
        <p:nvSpPr>
          <p:cNvPr id="6" name="Text 4"/>
          <p:cNvSpPr/>
          <p:nvPr/>
        </p:nvSpPr>
        <p:spPr>
          <a:xfrm>
            <a:off x="1069848" y="2103120"/>
            <a:ext cx="10085832" cy="3453130"/>
          </a:xfrm>
          <a:prstGeom prst="rect">
            <a:avLst/>
          </a:prstGeom>
          <a:noFill/>
          <a:ln/>
        </p:spPr>
        <p:txBody>
          <a:bodyPr wrap="square" lIns="0" tIns="0" rIns="0" bIns="0" rtlCol="0" anchor="t"/>
          <a:lstStyle/>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import os</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import anthropic</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from pydantic import BaseModel, Field</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Read settings from the environment. Never write a key into your code.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USE_MOCK = os.getenv("USE_MOCK", "true").lower() == "true"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MODEL = os.getenv("CLAUDE_MODEL", "claude-opus-5")</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SYSTEM =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"You explain sensor readings to a maintenance engineer.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"Be specific and brief. Always mention the measured value."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a:t>
            </a:r>
            <a:endParaRPr lang="en-US" sz="1200" dirty="0"/>
          </a:p>
          <a:p>
            <a:pPr indent="0" marL="0">
              <a:lnSpc>
                <a:spcPts val="1450"/>
              </a:lnSpc>
              <a:buNone/>
            </a:pP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class Advice(BaseModel):</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"""The shape of the answer we require."""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reason: str = Field(description="why the reading is at this level, under 15 words")</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action: str = Field(description="one concrete next step, under 10 words")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2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function that calls the API</a:t>
            </a:r>
            <a:endParaRPr lang="en-US" sz="3100" dirty="0"/>
          </a:p>
        </p:txBody>
      </p:sp>
      <p:sp>
        <p:nvSpPr>
          <p:cNvPr id="4" name="Shape 2"/>
          <p:cNvSpPr/>
          <p:nvPr/>
        </p:nvSpPr>
        <p:spPr>
          <a:xfrm>
            <a:off x="777240" y="1691640"/>
            <a:ext cx="10634472" cy="4572000"/>
          </a:xfrm>
          <a:prstGeom prst="roundRect">
            <a:avLst>
              <a:gd name="adj" fmla="val 1600"/>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ai.py</a:t>
            </a:r>
            <a:endParaRPr lang="en-US" sz="1050" dirty="0"/>
          </a:p>
        </p:txBody>
      </p:sp>
      <p:sp>
        <p:nvSpPr>
          <p:cNvPr id="6" name="Text 4"/>
          <p:cNvSpPr/>
          <p:nvPr/>
        </p:nvSpPr>
        <p:spPr>
          <a:xfrm>
            <a:off x="1069848" y="2103120"/>
            <a:ext cx="10085832" cy="4023360"/>
          </a:xfrm>
          <a:prstGeom prst="rect">
            <a:avLst/>
          </a:prstGeom>
          <a:noFill/>
          <a:ln/>
        </p:spPr>
        <p:txBody>
          <a:bodyPr wrap="square" lIns="0" tIns="0" rIns="0" bIns="0" rtlCol="0" anchor="t"/>
          <a:lstStyle/>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def explain(sensor, value, unit, low, high, severity) -&gt; Advice: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"""Ask the AI to put the reading into words."""</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if USE_MOCK:</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Advice(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reason=f"{value}{unit} against a safe range of {low}-{high}{unit}.",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action="Set USE_MOCK=false to get a real AI answer.",</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prompt =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f"A {sensor} sensor reads {value}{unit}.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f"Its safe range is {low}{unit} to {high}{unit}.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f"An automatic check rated this {severity}."</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client = anthropic.Anthropic()   # reads ANTHROPIC_API_KEY from the environment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response = client.messages.parse(</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model=MODEL,</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max_tokens=256,</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system=SYSTEM,</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messages=[{"role": "user", "content": prompt}],</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output_format=Advice,        # this is what forces the two fields</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indent="0" marL="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response.parsed_output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  3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Three things worth noticing</a:t>
            </a:r>
            <a:endParaRPr lang="en-US" sz="3100" dirty="0"/>
          </a:p>
        </p:txBody>
      </p:sp>
      <p:sp>
        <p:nvSpPr>
          <p:cNvPr id="4" name="Shape 2"/>
          <p:cNvSpPr/>
          <p:nvPr/>
        </p:nvSpPr>
        <p:spPr>
          <a:xfrm>
            <a:off x="777240" y="1737360"/>
            <a:ext cx="10634472" cy="1234440"/>
          </a:xfrm>
          <a:prstGeom prst="roundRect">
            <a:avLst>
              <a:gd name="adj" fmla="val 6667"/>
            </a:avLst>
          </a:prstGeom>
          <a:solidFill>
            <a:srgbClr val="F5F6F8"/>
          </a:solidFill>
          <a:ln w="12700">
            <a:solidFill>
              <a:srgbClr val="E1E4E9"/>
            </a:solidFill>
            <a:prstDash val="solid"/>
          </a:ln>
        </p:spPr>
      </p:sp>
      <p:sp>
        <p:nvSpPr>
          <p:cNvPr id="5" name="Shape 3"/>
          <p:cNvSpPr/>
          <p:nvPr/>
        </p:nvSpPr>
        <p:spPr>
          <a:xfrm>
            <a:off x="1097280" y="2121408"/>
            <a:ext cx="438912" cy="438912"/>
          </a:xfrm>
          <a:prstGeom prst="ellipse">
            <a:avLst/>
          </a:prstGeom>
          <a:solidFill>
            <a:srgbClr val="00776A"/>
          </a:solidFill>
          <a:ln/>
        </p:spPr>
      </p:sp>
      <p:sp>
        <p:nvSpPr>
          <p:cNvPr id="6" name="Text 4"/>
          <p:cNvSpPr/>
          <p:nvPr/>
        </p:nvSpPr>
        <p:spPr>
          <a:xfrm>
            <a:off x="1097280" y="212140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783080" y="1901952"/>
            <a:ext cx="9418320" cy="41148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anthropic.Anthropic() takes no arguments</a:t>
            </a:r>
            <a:endParaRPr lang="en-US" sz="1700" dirty="0"/>
          </a:p>
        </p:txBody>
      </p:sp>
      <p:sp>
        <p:nvSpPr>
          <p:cNvPr id="8" name="Text 6"/>
          <p:cNvSpPr/>
          <p:nvPr/>
        </p:nvSpPr>
        <p:spPr>
          <a:xfrm>
            <a:off x="1783080" y="231343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It finds ANTHROPIC_API_KEY in the environment by itself. The key appears nowhere in your code.</a:t>
            </a:r>
            <a:endParaRPr lang="en-US" sz="1350" dirty="0"/>
          </a:p>
        </p:txBody>
      </p:sp>
      <p:sp>
        <p:nvSpPr>
          <p:cNvPr id="9" name="Shape 7"/>
          <p:cNvSpPr/>
          <p:nvPr/>
        </p:nvSpPr>
        <p:spPr>
          <a:xfrm>
            <a:off x="777240" y="3154680"/>
            <a:ext cx="10634472" cy="1234440"/>
          </a:xfrm>
          <a:prstGeom prst="roundRect">
            <a:avLst>
              <a:gd name="adj" fmla="val 6667"/>
            </a:avLst>
          </a:prstGeom>
          <a:solidFill>
            <a:srgbClr val="F5F6F8"/>
          </a:solidFill>
          <a:ln w="12700">
            <a:solidFill>
              <a:srgbClr val="E1E4E9"/>
            </a:solidFill>
            <a:prstDash val="solid"/>
          </a:ln>
        </p:spPr>
      </p:sp>
      <p:sp>
        <p:nvSpPr>
          <p:cNvPr id="10" name="Shape 8"/>
          <p:cNvSpPr/>
          <p:nvPr/>
        </p:nvSpPr>
        <p:spPr>
          <a:xfrm>
            <a:off x="1097280" y="3538728"/>
            <a:ext cx="438912" cy="438912"/>
          </a:xfrm>
          <a:prstGeom prst="ellipse">
            <a:avLst/>
          </a:prstGeom>
          <a:solidFill>
            <a:srgbClr val="5158BE"/>
          </a:solidFill>
          <a:ln/>
        </p:spPr>
      </p:sp>
      <p:sp>
        <p:nvSpPr>
          <p:cNvPr id="11" name="Text 9"/>
          <p:cNvSpPr/>
          <p:nvPr/>
        </p:nvSpPr>
        <p:spPr>
          <a:xfrm>
            <a:off x="1097280" y="353872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783080" y="3319272"/>
            <a:ext cx="9418320" cy="41148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output_format=Advice guarantees the reply</a:t>
            </a:r>
            <a:endParaRPr lang="en-US" sz="1700" dirty="0"/>
          </a:p>
        </p:txBody>
      </p:sp>
      <p:sp>
        <p:nvSpPr>
          <p:cNvPr id="13" name="Text 11"/>
          <p:cNvSpPr/>
          <p:nvPr/>
        </p:nvSpPr>
        <p:spPr>
          <a:xfrm>
            <a:off x="1783080" y="373075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The model cannot return a paragraph, a refusal, or a differently named field. You get a validated object, so you never write string-parsing code and hope.</a:t>
            </a:r>
            <a:endParaRPr lang="en-US" sz="1350" dirty="0"/>
          </a:p>
        </p:txBody>
      </p:sp>
      <p:sp>
        <p:nvSpPr>
          <p:cNvPr id="14" name="Shape 12"/>
          <p:cNvSpPr/>
          <p:nvPr/>
        </p:nvSpPr>
        <p:spPr>
          <a:xfrm>
            <a:off x="777240" y="4572000"/>
            <a:ext cx="10634472" cy="1234440"/>
          </a:xfrm>
          <a:prstGeom prst="roundRect">
            <a:avLst>
              <a:gd name="adj" fmla="val 6667"/>
            </a:avLst>
          </a:prstGeom>
          <a:solidFill>
            <a:srgbClr val="F5F6F8"/>
          </a:solidFill>
          <a:ln w="12700">
            <a:solidFill>
              <a:srgbClr val="E1E4E9"/>
            </a:solidFill>
            <a:prstDash val="solid"/>
          </a:ln>
        </p:spPr>
      </p:sp>
      <p:sp>
        <p:nvSpPr>
          <p:cNvPr id="15" name="Shape 13"/>
          <p:cNvSpPr/>
          <p:nvPr/>
        </p:nvSpPr>
        <p:spPr>
          <a:xfrm>
            <a:off x="1097280" y="4956048"/>
            <a:ext cx="438912" cy="438912"/>
          </a:xfrm>
          <a:prstGeom prst="ellipse">
            <a:avLst/>
          </a:prstGeom>
          <a:solidFill>
            <a:srgbClr val="0A7D28"/>
          </a:solidFill>
          <a:ln/>
        </p:spPr>
      </p:sp>
      <p:sp>
        <p:nvSpPr>
          <p:cNvPr id="16" name="Text 14"/>
          <p:cNvSpPr/>
          <p:nvPr/>
        </p:nvSpPr>
        <p:spPr>
          <a:xfrm>
            <a:off x="1097280" y="495604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783080" y="4736592"/>
            <a:ext cx="9418320" cy="411480"/>
          </a:xfrm>
          <a:prstGeom prst="rect">
            <a:avLst/>
          </a:prstGeom>
          <a:noFill/>
          <a:ln/>
        </p:spPr>
        <p:txBody>
          <a:bodyPr wrap="square" lIns="0" tIns="0" rIns="0" bIns="0" rtlCol="0" anchor="ctr"/>
          <a:lstStyle/>
          <a:p>
            <a:pPr indent="0" marL="0">
              <a:buNone/>
            </a:pPr>
            <a:r>
              <a:rPr lang="en-US" sz="1700" b="1" dirty="0">
                <a:solidFill>
                  <a:srgbClr val="15181F"/>
                </a:solidFill>
                <a:latin typeface="Cambria" pitchFamily="34" charset="0"/>
                <a:ea typeface="Cambria" pitchFamily="34" charset="-122"/>
                <a:cs typeface="Cambria" pitchFamily="34" charset="-120"/>
              </a:rPr>
              <a:t>USE_MOCK lets the whole app run with no key</a:t>
            </a:r>
            <a:endParaRPr lang="en-US" sz="1700" dirty="0"/>
          </a:p>
        </p:txBody>
      </p:sp>
      <p:sp>
        <p:nvSpPr>
          <p:cNvPr id="18" name="Text 16"/>
          <p:cNvSpPr/>
          <p:nvPr/>
        </p:nvSpPr>
        <p:spPr>
          <a:xfrm>
            <a:off x="1783080" y="5148072"/>
            <a:ext cx="9418320" cy="59436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You can build, test, and even deploy before you have an account. Everyone in this room finishes this stage.</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Wire it into main.py</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At the very top, above the other imports:</a:t>
            </a:r>
            <a:endParaRPr lang="en-US" sz="1450" dirty="0"/>
          </a:p>
        </p:txBody>
      </p:sp>
      <p:sp>
        <p:nvSpPr>
          <p:cNvPr id="5" name="Shape 3"/>
          <p:cNvSpPr/>
          <p:nvPr/>
        </p:nvSpPr>
        <p:spPr>
          <a:xfrm>
            <a:off x="777240" y="1737360"/>
            <a:ext cx="10634472" cy="1691640"/>
          </a:xfrm>
          <a:prstGeom prst="roundRect">
            <a:avLst>
              <a:gd name="adj" fmla="val 4324"/>
            </a:avLst>
          </a:prstGeom>
          <a:solidFill>
            <a:srgbClr val="1B1F2A"/>
          </a:solidFill>
          <a:ln w="12700">
            <a:solidFill>
              <a:srgbClr val="1B1F2A"/>
            </a:solidFill>
            <a:prstDash val="solid"/>
          </a:ln>
        </p:spPr>
      </p:sp>
      <p:sp>
        <p:nvSpPr>
          <p:cNvPr id="6" name="Text 4"/>
          <p:cNvSpPr/>
          <p:nvPr/>
        </p:nvSpPr>
        <p:spPr>
          <a:xfrm>
            <a:off x="1069848" y="1965960"/>
            <a:ext cx="10085832" cy="132588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dotenv import load_dotenv</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load_dotenv()   # read .env BEFORE anything else looks at the environment</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import ai</a:t>
            </a:r>
            <a:endParaRPr lang="en-US" sz="1500" dirty="0"/>
          </a:p>
        </p:txBody>
      </p:sp>
      <p:sp>
        <p:nvSpPr>
          <p:cNvPr id="7" name="Text 5"/>
          <p:cNvSpPr/>
          <p:nvPr/>
        </p:nvSpPr>
        <p:spPr>
          <a:xfrm>
            <a:off x="777240" y="3611880"/>
            <a:ext cx="10634472" cy="3200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Add two columns to the table, then replace create_reading:</a:t>
            </a:r>
            <a:endParaRPr lang="en-US" sz="1450" dirty="0"/>
          </a:p>
        </p:txBody>
      </p:sp>
      <p:sp>
        <p:nvSpPr>
          <p:cNvPr id="8" name="Shape 6"/>
          <p:cNvSpPr/>
          <p:nvPr/>
        </p:nvSpPr>
        <p:spPr>
          <a:xfrm>
            <a:off x="777240" y="4023360"/>
            <a:ext cx="10634472" cy="1828800"/>
          </a:xfrm>
          <a:prstGeom prst="roundRect">
            <a:avLst>
              <a:gd name="adj" fmla="val 4000"/>
            </a:avLst>
          </a:prstGeom>
          <a:solidFill>
            <a:srgbClr val="1B1F2A"/>
          </a:solidFill>
          <a:ln w="12700">
            <a:solidFill>
              <a:srgbClr val="1B1F2A"/>
            </a:solidFill>
            <a:prstDash val="solid"/>
          </a:ln>
        </p:spPr>
      </p:sp>
      <p:sp>
        <p:nvSpPr>
          <p:cNvPr id="9" name="Text 7"/>
          <p:cNvSpPr/>
          <p:nvPr/>
        </p:nvSpPr>
        <p:spPr>
          <a:xfrm>
            <a:off x="1069848" y="4251960"/>
            <a:ext cx="10085832" cy="14630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 1. Our own code decides how serious it is. Instant, always correct.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500" dirty="0"/>
          </a:p>
          <a:p>
            <a:pPr indent="0" marL="0">
              <a:lnSpc>
                <a:spcPts val="1850"/>
              </a:lnSpc>
              <a:buNone/>
            </a:pP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 2. The AI turns that into a sentence a person can read.</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advice = ai.explain(reading.sensor, reading.value, reading.unit,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reading.low, reading.high, severity)</a:t>
            </a:r>
            <a:endParaRPr lang="en-US" sz="1500" dirty="0"/>
          </a:p>
        </p:txBody>
      </p:sp>
      <p:sp>
        <p:nvSpPr>
          <p:cNvPr id="10" name="Shape 8"/>
          <p:cNvSpPr/>
          <p:nvPr/>
        </p:nvSpPr>
        <p:spPr>
          <a:xfrm>
            <a:off x="777240" y="5989320"/>
            <a:ext cx="10634472" cy="640080"/>
          </a:xfrm>
          <a:prstGeom prst="roundRect">
            <a:avLst>
              <a:gd name="adj" fmla="val 12857"/>
            </a:avLst>
          </a:prstGeom>
          <a:solidFill>
            <a:srgbClr val="FFF8E8"/>
          </a:solidFill>
          <a:ln w="12700">
            <a:solidFill>
              <a:srgbClr val="E5BC64"/>
            </a:solidFill>
            <a:prstDash val="solid"/>
          </a:ln>
        </p:spPr>
      </p:sp>
      <p:sp>
        <p:nvSpPr>
          <p:cNvPr id="11" name="Text 9"/>
          <p:cNvSpPr/>
          <p:nvPr/>
        </p:nvSpPr>
        <p:spPr>
          <a:xfrm>
            <a:off x="1143000" y="6053328"/>
            <a:ext cx="10241280" cy="502920"/>
          </a:xfrm>
          <a:prstGeom prst="rect">
            <a:avLst/>
          </a:prstGeom>
          <a:noFill/>
          <a:ln/>
        </p:spPr>
        <p:txBody>
          <a:bodyPr wrap="square" lIns="0" tIns="0" rIns="0" bIns="0" rtlCol="0" anchor="ctr"/>
          <a:lstStyle/>
          <a:p>
            <a:pPr indent="0" marL="0">
              <a:buNone/>
            </a:pPr>
            <a:r>
              <a:rPr lang="en-US" sz="1400" b="1" dirty="0">
                <a:solidFill>
                  <a:srgbClr val="7A5200"/>
                </a:solidFill>
                <a:latin typeface="Calibri" pitchFamily="34" charset="0"/>
                <a:ea typeface="Calibri" pitchFamily="34" charset="-122"/>
                <a:cs typeface="Calibri" pitchFamily="34" charset="-120"/>
              </a:rPr>
              <a:t>Delete readings.db before restarting. CREATE TABLE IF NOT EXISTS will not alter an existing table.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Test it, then add a real key if you have one</a:t>
            </a:r>
            <a:endParaRPr lang="en-US" sz="3100" dirty="0"/>
          </a:p>
        </p:txBody>
      </p:sp>
      <p:sp>
        <p:nvSpPr>
          <p:cNvPr id="4" name="Text 2"/>
          <p:cNvSpPr/>
          <p:nvPr/>
        </p:nvSpPr>
        <p:spPr>
          <a:xfrm>
            <a:off x="777240" y="1371600"/>
            <a:ext cx="10634472" cy="3657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Send a reading through /docs. You now get back a reason and an action.</a:t>
            </a:r>
            <a:endParaRPr lang="en-US" sz="1550" dirty="0"/>
          </a:p>
        </p:txBody>
      </p:sp>
      <p:sp>
        <p:nvSpPr>
          <p:cNvPr id="5" name="Shape 3"/>
          <p:cNvSpPr/>
          <p:nvPr/>
        </p:nvSpPr>
        <p:spPr>
          <a:xfrm>
            <a:off x="777240" y="1828800"/>
            <a:ext cx="10634472" cy="868680"/>
          </a:xfrm>
          <a:prstGeom prst="roundRect">
            <a:avLst>
              <a:gd name="adj" fmla="val 9474"/>
            </a:avLst>
          </a:prstGeom>
          <a:solidFill>
            <a:srgbClr val="EAF6F3"/>
          </a:solidFill>
          <a:ln w="12700">
            <a:solidFill>
              <a:srgbClr val="9CCFC6"/>
            </a:solidFill>
            <a:prstDash val="solid"/>
          </a:ln>
        </p:spPr>
      </p:sp>
      <p:sp>
        <p:nvSpPr>
          <p:cNvPr id="6" name="Text 4"/>
          <p:cNvSpPr/>
          <p:nvPr/>
        </p:nvSpPr>
        <p:spPr>
          <a:xfrm>
            <a:off x="1143000" y="1920240"/>
            <a:ext cx="10241280" cy="685800"/>
          </a:xfrm>
          <a:prstGeom prst="rect">
            <a:avLst/>
          </a:prstGeom>
          <a:noFill/>
          <a:ln/>
        </p:spPr>
        <p:txBody>
          <a:bodyPr wrap="square" lIns="0" tIns="0" rIns="0" bIns="0" rtlCol="0" anchor="ctr"/>
          <a:lstStyle/>
          <a:p>
            <a:pPr indent="0" marL="0">
              <a:buNone/>
            </a:pPr>
            <a:r>
              <a:rPr lang="en-US" sz="1600" b="1" dirty="0">
                <a:solidFill>
                  <a:srgbClr val="00776A"/>
                </a:solidFill>
                <a:latin typeface="Calibri" pitchFamily="34" charset="0"/>
                <a:ea typeface="Calibri" pitchFamily="34" charset="-122"/>
                <a:cs typeface="Calibri" pitchFamily="34" charset="-120"/>
              </a:rPr>
              <a:t>With USE_MOCK=true, the application is complete and working with no AI account at all.</a:t>
            </a:r>
            <a:endParaRPr lang="en-US" sz="1600" dirty="0"/>
          </a:p>
        </p:txBody>
      </p:sp>
      <p:sp>
        <p:nvSpPr>
          <p:cNvPr id="7" name="Text 5"/>
          <p:cNvSpPr/>
          <p:nvPr/>
        </p:nvSpPr>
        <p:spPr>
          <a:xfrm>
            <a:off x="777240" y="2880360"/>
            <a:ext cx="10634472" cy="3200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If you do have a key, put it in .env and restart:</a:t>
            </a:r>
            <a:endParaRPr lang="en-US" sz="1500" dirty="0"/>
          </a:p>
        </p:txBody>
      </p:sp>
      <p:sp>
        <p:nvSpPr>
          <p:cNvPr id="8" name="Shape 6"/>
          <p:cNvSpPr/>
          <p:nvPr/>
        </p:nvSpPr>
        <p:spPr>
          <a:xfrm>
            <a:off x="777240" y="3291840"/>
            <a:ext cx="10634472" cy="1188720"/>
          </a:xfrm>
          <a:prstGeom prst="roundRect">
            <a:avLst>
              <a:gd name="adj" fmla="val 6154"/>
            </a:avLst>
          </a:prstGeom>
          <a:solidFill>
            <a:srgbClr val="1B1F2A"/>
          </a:solidFill>
          <a:ln w="12700">
            <a:solidFill>
              <a:srgbClr val="1B1F2A"/>
            </a:solidFill>
            <a:prstDash val="solid"/>
          </a:ln>
        </p:spPr>
      </p:sp>
      <p:sp>
        <p:nvSpPr>
          <p:cNvPr id="9" name="Text 7"/>
          <p:cNvSpPr/>
          <p:nvPr/>
        </p:nvSpPr>
        <p:spPr>
          <a:xfrm>
            <a:off x="1069848" y="3520440"/>
            <a:ext cx="10085832" cy="8229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USE_MOCK=false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ANTHROPIC_API_KEY=sk-ant-api03-...</a:t>
            </a:r>
            <a:endParaRPr lang="en-US" sz="1500" dirty="0"/>
          </a:p>
        </p:txBody>
      </p:sp>
      <p:sp>
        <p:nvSpPr>
          <p:cNvPr id="10" name="Text 8"/>
          <p:cNvSpPr/>
          <p:nvPr/>
        </p:nvSpPr>
        <p:spPr>
          <a:xfrm>
            <a:off x="777240" y="4663440"/>
            <a:ext cx="4572000" cy="32004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What it costs</a:t>
            </a:r>
            <a:endParaRPr lang="en-US" sz="1400" dirty="0"/>
          </a:p>
        </p:txBody>
      </p:sp>
      <p:sp>
        <p:nvSpPr>
          <p:cNvPr id="11" name="Shape 9"/>
          <p:cNvSpPr/>
          <p:nvPr/>
        </p:nvSpPr>
        <p:spPr>
          <a:xfrm>
            <a:off x="777240" y="5029200"/>
            <a:ext cx="10634472" cy="530352"/>
          </a:xfrm>
          <a:prstGeom prst="roundRect">
            <a:avLst>
              <a:gd name="adj" fmla="val 15517"/>
            </a:avLst>
          </a:prstGeom>
          <a:solidFill>
            <a:srgbClr val="F5F6F8"/>
          </a:solidFill>
          <a:ln w="12700">
            <a:solidFill>
              <a:srgbClr val="E1E4E9"/>
            </a:solidFill>
            <a:prstDash val="solid"/>
          </a:ln>
        </p:spPr>
      </p:sp>
      <p:sp>
        <p:nvSpPr>
          <p:cNvPr id="12" name="Text 10"/>
          <p:cNvSpPr/>
          <p:nvPr/>
        </p:nvSpPr>
        <p:spPr>
          <a:xfrm>
            <a:off x="1069848" y="5047488"/>
            <a:ext cx="3291840" cy="493776"/>
          </a:xfrm>
          <a:prstGeom prst="rect">
            <a:avLst/>
          </a:prstGeom>
          <a:noFill/>
          <a:ln/>
        </p:spPr>
        <p:txBody>
          <a:bodyPr wrap="square" lIns="0" tIns="0" rIns="0" bIns="0" rtlCol="0" anchor="ctr"/>
          <a:lstStyle/>
          <a:p>
            <a:pPr indent="0" marL="0">
              <a:buNone/>
            </a:pPr>
            <a:r>
              <a:rPr lang="en-US" sz="1350" dirty="0">
                <a:solidFill>
                  <a:srgbClr val="00776A"/>
                </a:solidFill>
                <a:latin typeface="Courier New" pitchFamily="34" charset="0"/>
                <a:ea typeface="Courier New" pitchFamily="34" charset="-122"/>
                <a:cs typeface="Courier New" pitchFamily="34" charset="-120"/>
              </a:rPr>
              <a:t>claude-haiku-4-5</a:t>
            </a:r>
            <a:endParaRPr lang="en-US" sz="1350" dirty="0"/>
          </a:p>
        </p:txBody>
      </p:sp>
      <p:sp>
        <p:nvSpPr>
          <p:cNvPr id="13" name="Text 11"/>
          <p:cNvSpPr/>
          <p:nvPr/>
        </p:nvSpPr>
        <p:spPr>
          <a:xfrm>
            <a:off x="4526280" y="5047488"/>
            <a:ext cx="310896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$0.00125 per request</a:t>
            </a:r>
            <a:endParaRPr lang="en-US" sz="1350" dirty="0"/>
          </a:p>
        </p:txBody>
      </p:sp>
      <p:sp>
        <p:nvSpPr>
          <p:cNvPr id="14" name="Text 12"/>
          <p:cNvSpPr/>
          <p:nvPr/>
        </p:nvSpPr>
        <p:spPr>
          <a:xfrm>
            <a:off x="7818120" y="5047488"/>
            <a:ext cx="34747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about 4,000 requests for $5</a:t>
            </a:r>
            <a:endParaRPr lang="en-US" sz="1350" dirty="0"/>
          </a:p>
        </p:txBody>
      </p:sp>
      <p:sp>
        <p:nvSpPr>
          <p:cNvPr id="15" name="Shape 13"/>
          <p:cNvSpPr/>
          <p:nvPr/>
        </p:nvSpPr>
        <p:spPr>
          <a:xfrm>
            <a:off x="777240" y="5650992"/>
            <a:ext cx="10634472" cy="530352"/>
          </a:xfrm>
          <a:prstGeom prst="roundRect">
            <a:avLst>
              <a:gd name="adj" fmla="val 15517"/>
            </a:avLst>
          </a:prstGeom>
          <a:solidFill>
            <a:srgbClr val="F5F6F8"/>
          </a:solidFill>
          <a:ln w="12700">
            <a:solidFill>
              <a:srgbClr val="E1E4E9"/>
            </a:solidFill>
            <a:prstDash val="solid"/>
          </a:ln>
        </p:spPr>
      </p:sp>
      <p:sp>
        <p:nvSpPr>
          <p:cNvPr id="16" name="Text 14"/>
          <p:cNvSpPr/>
          <p:nvPr/>
        </p:nvSpPr>
        <p:spPr>
          <a:xfrm>
            <a:off x="1069848" y="5669280"/>
            <a:ext cx="3291840" cy="493776"/>
          </a:xfrm>
          <a:prstGeom prst="rect">
            <a:avLst/>
          </a:prstGeom>
          <a:noFill/>
          <a:ln/>
        </p:spPr>
        <p:txBody>
          <a:bodyPr wrap="square" lIns="0" tIns="0" rIns="0" bIns="0" rtlCol="0" anchor="ctr"/>
          <a:lstStyle/>
          <a:p>
            <a:pPr indent="0" marL="0">
              <a:buNone/>
            </a:pPr>
            <a:r>
              <a:rPr lang="en-US" sz="1350" dirty="0">
                <a:solidFill>
                  <a:srgbClr val="00776A"/>
                </a:solidFill>
                <a:latin typeface="Courier New" pitchFamily="34" charset="0"/>
                <a:ea typeface="Courier New" pitchFamily="34" charset="-122"/>
                <a:cs typeface="Courier New" pitchFamily="34" charset="-120"/>
              </a:rPr>
              <a:t>claude-opus-5</a:t>
            </a:r>
            <a:endParaRPr lang="en-US" sz="1350" dirty="0"/>
          </a:p>
        </p:txBody>
      </p:sp>
      <p:sp>
        <p:nvSpPr>
          <p:cNvPr id="17" name="Text 15"/>
          <p:cNvSpPr/>
          <p:nvPr/>
        </p:nvSpPr>
        <p:spPr>
          <a:xfrm>
            <a:off x="4526280" y="5669280"/>
            <a:ext cx="3108960" cy="493776"/>
          </a:xfrm>
          <a:prstGeom prst="rect">
            <a:avLst/>
          </a:prstGeom>
          <a:noFill/>
          <a:ln/>
        </p:spPr>
        <p:txBody>
          <a:bodyPr wrap="square" lIns="0" tIns="0" rIns="0" bIns="0" rtlCol="0" anchor="ctr"/>
          <a:lstStyle/>
          <a:p>
            <a:pPr indent="0" marL="0">
              <a:buNone/>
            </a:pPr>
            <a:r>
              <a:rPr lang="en-US" sz="1350" dirty="0">
                <a:solidFill>
                  <a:srgbClr val="15181F"/>
                </a:solidFill>
                <a:latin typeface="Calibri" pitchFamily="34" charset="0"/>
                <a:ea typeface="Calibri" pitchFamily="34" charset="-122"/>
                <a:cs typeface="Calibri" pitchFamily="34" charset="-120"/>
              </a:rPr>
              <a:t>$0.00625 per request</a:t>
            </a:r>
            <a:endParaRPr lang="en-US" sz="1350" dirty="0"/>
          </a:p>
        </p:txBody>
      </p:sp>
      <p:sp>
        <p:nvSpPr>
          <p:cNvPr id="18" name="Text 16"/>
          <p:cNvSpPr/>
          <p:nvPr/>
        </p:nvSpPr>
        <p:spPr>
          <a:xfrm>
            <a:off x="7818120" y="5669280"/>
            <a:ext cx="3474720" cy="493776"/>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about 800 requests for $5</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 OF 6      8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The web page</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static folder with index.html</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(copy it from the guide), and one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line in main.py to serve it.</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127.0.0.1:8000 shows a real page.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Pick a scenario, press Send, and</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see the verdict and explanation.</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Serve the page</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Add the import at the top:</a:t>
            </a:r>
            <a:endParaRPr lang="en-US" sz="1450" dirty="0"/>
          </a:p>
        </p:txBody>
      </p:sp>
      <p:sp>
        <p:nvSpPr>
          <p:cNvPr id="5" name="Shape 3"/>
          <p:cNvSpPr/>
          <p:nvPr/>
        </p:nvSpPr>
        <p:spPr>
          <a:xfrm>
            <a:off x="777240" y="1737360"/>
            <a:ext cx="10634472" cy="731520"/>
          </a:xfrm>
          <a:prstGeom prst="roundRect">
            <a:avLst>
              <a:gd name="adj" fmla="val 10000"/>
            </a:avLst>
          </a:prstGeom>
          <a:solidFill>
            <a:srgbClr val="1B1F2A"/>
          </a:solidFill>
          <a:ln w="12700">
            <a:solidFill>
              <a:srgbClr val="1B1F2A"/>
            </a:solidFill>
            <a:prstDash val="solid"/>
          </a:ln>
        </p:spPr>
      </p:sp>
      <p:sp>
        <p:nvSpPr>
          <p:cNvPr id="6" name="Text 4"/>
          <p:cNvSpPr/>
          <p:nvPr/>
        </p:nvSpPr>
        <p:spPr>
          <a:xfrm>
            <a:off x="1069848" y="1965960"/>
            <a:ext cx="10085832" cy="3657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from fastapi.staticfiles import StaticFiles</a:t>
            </a:r>
            <a:endParaRPr lang="en-US" sz="1500" dirty="0"/>
          </a:p>
        </p:txBody>
      </p:sp>
      <p:sp>
        <p:nvSpPr>
          <p:cNvPr id="7" name="Text 5"/>
          <p:cNvSpPr/>
          <p:nvPr/>
        </p:nvSpPr>
        <p:spPr>
          <a:xfrm>
            <a:off x="777240" y="2697480"/>
            <a:ext cx="10634472" cy="3200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And this at the very bottom of main.py, after every endpoint:</a:t>
            </a:r>
            <a:endParaRPr lang="en-US" sz="1450" dirty="0"/>
          </a:p>
        </p:txBody>
      </p:sp>
      <p:sp>
        <p:nvSpPr>
          <p:cNvPr id="8" name="Shape 6"/>
          <p:cNvSpPr/>
          <p:nvPr/>
        </p:nvSpPr>
        <p:spPr>
          <a:xfrm>
            <a:off x="777240" y="3108960"/>
            <a:ext cx="10634472" cy="1417320"/>
          </a:xfrm>
          <a:prstGeom prst="roundRect">
            <a:avLst>
              <a:gd name="adj" fmla="val 5161"/>
            </a:avLst>
          </a:prstGeom>
          <a:solidFill>
            <a:srgbClr val="1B1F2A"/>
          </a:solidFill>
          <a:ln w="12700">
            <a:solidFill>
              <a:srgbClr val="1B1F2A"/>
            </a:solidFill>
            <a:prstDash val="solid"/>
          </a:ln>
        </p:spPr>
      </p:sp>
      <p:sp>
        <p:nvSpPr>
          <p:cNvPr id="9" name="Text 7"/>
          <p:cNvSpPr/>
          <p:nvPr/>
        </p:nvSpPr>
        <p:spPr>
          <a:xfrm>
            <a:off x="1069848" y="3337560"/>
            <a:ext cx="10085832" cy="105156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Serve the web page. This line must come LAST, after every endpoint above,</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because it claims every remaining address.</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app.mount("/", StaticFiles(directory="static", html=True), name="static")</a:t>
            </a:r>
            <a:endParaRPr lang="en-US" sz="1500" dirty="0"/>
          </a:p>
        </p:txBody>
      </p:sp>
      <p:sp>
        <p:nvSpPr>
          <p:cNvPr id="10" name="Shape 8"/>
          <p:cNvSpPr/>
          <p:nvPr/>
        </p:nvSpPr>
        <p:spPr>
          <a:xfrm>
            <a:off x="777240" y="4754880"/>
            <a:ext cx="10634472" cy="1188720"/>
          </a:xfrm>
          <a:prstGeom prst="roundRect">
            <a:avLst>
              <a:gd name="adj" fmla="val 6923"/>
            </a:avLst>
          </a:prstGeom>
          <a:solidFill>
            <a:srgbClr val="FBF0EE"/>
          </a:solidFill>
          <a:ln w="12700">
            <a:solidFill>
              <a:srgbClr val="BE3A2B"/>
            </a:solidFill>
            <a:prstDash val="solid"/>
          </a:ln>
        </p:spPr>
      </p:sp>
      <p:sp>
        <p:nvSpPr>
          <p:cNvPr id="11" name="Text 9"/>
          <p:cNvSpPr/>
          <p:nvPr/>
        </p:nvSpPr>
        <p:spPr>
          <a:xfrm>
            <a:off x="1143000" y="4892040"/>
            <a:ext cx="10241280" cy="411480"/>
          </a:xfrm>
          <a:prstGeom prst="rect">
            <a:avLst/>
          </a:prstGeom>
          <a:noFill/>
          <a:ln/>
        </p:spPr>
        <p:txBody>
          <a:bodyPr wrap="square" lIns="0" tIns="0" rIns="0" bIns="0" rtlCol="0" anchor="ctr"/>
          <a:lstStyle/>
          <a:p>
            <a:pPr indent="0" marL="0">
              <a:buNone/>
            </a:pPr>
            <a:r>
              <a:rPr lang="en-US" sz="1700" b="1" dirty="0">
                <a:solidFill>
                  <a:srgbClr val="BE3A2B"/>
                </a:solidFill>
                <a:latin typeface="Cambria" pitchFamily="34" charset="0"/>
                <a:ea typeface="Cambria" pitchFamily="34" charset="-122"/>
                <a:cs typeface="Cambria" pitchFamily="34" charset="-120"/>
              </a:rPr>
              <a:t>Order matters, and this catches almost everyone.</a:t>
            </a:r>
            <a:endParaRPr lang="en-US" sz="1700" dirty="0"/>
          </a:p>
        </p:txBody>
      </p:sp>
      <p:sp>
        <p:nvSpPr>
          <p:cNvPr id="12" name="Text 10"/>
          <p:cNvSpPr/>
          <p:nvPr/>
        </p:nvSpPr>
        <p:spPr>
          <a:xfrm>
            <a:off x="1143000" y="5303520"/>
            <a:ext cx="10241280" cy="594360"/>
          </a:xfrm>
          <a:prstGeom prst="rect">
            <a:avLst/>
          </a:prstGeom>
          <a:noFill/>
          <a:ln/>
        </p:spPr>
        <p:txBody>
          <a:bodyPr wrap="square" lIns="0" tIns="0" rIns="0" bIns="0" rtlCol="0" anchor="ctr"/>
          <a:lstStyle/>
          <a:p>
            <a:pPr indent="0" marL="0">
              <a:buNone/>
            </a:pPr>
            <a:r>
              <a:rPr lang="en-US" sz="1450" dirty="0">
                <a:solidFill>
                  <a:srgbClr val="BE3A2B"/>
                </a:solidFill>
                <a:latin typeface="Calibri" pitchFamily="34" charset="0"/>
                <a:ea typeface="Calibri" pitchFamily="34" charset="-122"/>
                <a:cs typeface="Calibri" pitchFamily="34" charset="-120"/>
              </a:rPr>
              <a:t>app.mount("/") claims every address not already claimed. Put it above your endpoints and it swallows them — /readings starts returning your HTML page instead of data.</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STAGE 5  ·  THE IMPORTANT PART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What the page is actually doing</a:t>
            </a:r>
            <a:endParaRPr lang="en-US" sz="3100" dirty="0"/>
          </a:p>
        </p:txBody>
      </p:sp>
      <p:sp>
        <p:nvSpPr>
          <p:cNvPr id="4" name="Shape 2"/>
          <p:cNvSpPr/>
          <p:nvPr/>
        </p:nvSpPr>
        <p:spPr>
          <a:xfrm>
            <a:off x="777240" y="1645920"/>
            <a:ext cx="10634472" cy="1737360"/>
          </a:xfrm>
          <a:prstGeom prst="roundRect">
            <a:avLst>
              <a:gd name="adj" fmla="val 4211"/>
            </a:avLst>
          </a:prstGeom>
          <a:solidFill>
            <a:srgbClr val="1B1F2A"/>
          </a:solidFill>
          <a:ln w="12700">
            <a:solidFill>
              <a:srgbClr val="1B1F2A"/>
            </a:solidFill>
            <a:prstDash val="solid"/>
          </a:ln>
        </p:spPr>
      </p:sp>
      <p:sp>
        <p:nvSpPr>
          <p:cNvPr id="5" name="Text 3"/>
          <p:cNvSpPr/>
          <p:nvPr/>
        </p:nvSpPr>
        <p:spPr>
          <a:xfrm>
            <a:off x="1069848" y="173736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static/index.html</a:t>
            </a:r>
            <a:endParaRPr lang="en-US" sz="1050" dirty="0"/>
          </a:p>
        </p:txBody>
      </p:sp>
      <p:sp>
        <p:nvSpPr>
          <p:cNvPr id="6" name="Text 4"/>
          <p:cNvSpPr/>
          <p:nvPr/>
        </p:nvSpPr>
        <p:spPr>
          <a:xfrm>
            <a:off x="1069848" y="2057400"/>
            <a:ext cx="10085832" cy="118872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const res = await fetch("/readings",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method: "POST",</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headers: { "Content-Type": "application/json"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  body: JSON.stringify({ sensor, value, unit, low, high }),</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t>
            </a:r>
            <a:endParaRPr lang="en-US" sz="1500" dirty="0"/>
          </a:p>
        </p:txBody>
      </p:sp>
      <p:sp>
        <p:nvSpPr>
          <p:cNvPr id="7" name="Shape 5"/>
          <p:cNvSpPr/>
          <p:nvPr/>
        </p:nvSpPr>
        <p:spPr>
          <a:xfrm>
            <a:off x="777240" y="3703320"/>
            <a:ext cx="3108960" cy="1280160"/>
          </a:xfrm>
          <a:prstGeom prst="roundRect">
            <a:avLst>
              <a:gd name="adj" fmla="val 6429"/>
            </a:avLst>
          </a:prstGeom>
          <a:solidFill>
            <a:srgbClr val="F5F6F8"/>
          </a:solidFill>
          <a:ln w="12700">
            <a:solidFill>
              <a:srgbClr val="F5F6F8"/>
            </a:solidFill>
            <a:prstDash val="solid"/>
          </a:ln>
        </p:spPr>
      </p:sp>
      <p:sp>
        <p:nvSpPr>
          <p:cNvPr id="8" name="Text 6"/>
          <p:cNvSpPr/>
          <p:nvPr/>
        </p:nvSpPr>
        <p:spPr>
          <a:xfrm>
            <a:off x="868680" y="3904488"/>
            <a:ext cx="292608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9" name="Text 7"/>
          <p:cNvSpPr/>
          <p:nvPr/>
        </p:nvSpPr>
        <p:spPr>
          <a:xfrm>
            <a:off x="886968" y="4343400"/>
            <a:ext cx="2889504" cy="502920"/>
          </a:xfrm>
          <a:prstGeom prst="rect">
            <a:avLst/>
          </a:prstGeom>
          <a:noFill/>
          <a:ln/>
        </p:spPr>
        <p:txBody>
          <a:bodyPr wrap="square" lIns="0" tIns="0" rIns="0" bIns="0" rtlCol="0" anchor="ctr"/>
          <a:lstStyle/>
          <a:p>
            <a:pPr algn="ctr" indent="0" marL="0">
              <a:buNone/>
            </a:pPr>
            <a:r>
              <a:rPr lang="en-US" sz="1200" dirty="0">
                <a:solidFill>
                  <a:srgbClr val="5C6470"/>
                </a:solidFill>
                <a:latin typeface="Calibri" pitchFamily="34" charset="0"/>
                <a:ea typeface="Calibri" pitchFamily="34" charset="-122"/>
                <a:cs typeface="Calibri" pitchFamily="34" charset="-120"/>
              </a:rPr>
              <a:t>no key here</a:t>
            </a:r>
            <a:endParaRPr lang="en-US" sz="1200" dirty="0"/>
          </a:p>
        </p:txBody>
      </p:sp>
      <p:sp>
        <p:nvSpPr>
          <p:cNvPr id="10" name="Shape 8"/>
          <p:cNvSpPr/>
          <p:nvPr/>
        </p:nvSpPr>
        <p:spPr>
          <a:xfrm>
            <a:off x="4069080" y="4206240"/>
            <a:ext cx="1005840" cy="219456"/>
          </a:xfrm>
          <a:prstGeom prst="rightArrow">
            <a:avLst/>
          </a:prstGeom>
          <a:solidFill>
            <a:srgbClr val="A9B0BB"/>
          </a:solidFill>
          <a:ln/>
        </p:spPr>
      </p:sp>
      <p:sp>
        <p:nvSpPr>
          <p:cNvPr id="11" name="Text 9"/>
          <p:cNvSpPr/>
          <p:nvPr/>
        </p:nvSpPr>
        <p:spPr>
          <a:xfrm>
            <a:off x="3657600" y="3822192"/>
            <a:ext cx="182880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the reading</a:t>
            </a:r>
            <a:endParaRPr lang="en-US" sz="1050" dirty="0"/>
          </a:p>
        </p:txBody>
      </p:sp>
      <p:sp>
        <p:nvSpPr>
          <p:cNvPr id="12" name="Shape 10"/>
          <p:cNvSpPr/>
          <p:nvPr/>
        </p:nvSpPr>
        <p:spPr>
          <a:xfrm>
            <a:off x="5212080" y="3703320"/>
            <a:ext cx="3200400" cy="1280160"/>
          </a:xfrm>
          <a:prstGeom prst="roundRect">
            <a:avLst>
              <a:gd name="adj" fmla="val 6429"/>
            </a:avLst>
          </a:prstGeom>
          <a:solidFill>
            <a:srgbClr val="00776A"/>
          </a:solidFill>
          <a:ln w="12700">
            <a:solidFill>
              <a:srgbClr val="00776A"/>
            </a:solidFill>
            <a:prstDash val="solid"/>
          </a:ln>
        </p:spPr>
      </p:sp>
      <p:sp>
        <p:nvSpPr>
          <p:cNvPr id="13" name="Text 11"/>
          <p:cNvSpPr/>
          <p:nvPr/>
        </p:nvSpPr>
        <p:spPr>
          <a:xfrm>
            <a:off x="5303520" y="3904488"/>
            <a:ext cx="3017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Your server</a:t>
            </a:r>
            <a:endParaRPr lang="en-US" sz="1600" dirty="0"/>
          </a:p>
        </p:txBody>
      </p:sp>
      <p:sp>
        <p:nvSpPr>
          <p:cNvPr id="14" name="Text 12"/>
          <p:cNvSpPr/>
          <p:nvPr/>
        </p:nvSpPr>
        <p:spPr>
          <a:xfrm>
            <a:off x="5321808" y="4343400"/>
            <a:ext cx="2980944" cy="502920"/>
          </a:xfrm>
          <a:prstGeom prst="rect">
            <a:avLst/>
          </a:prstGeom>
          <a:noFill/>
          <a:ln/>
        </p:spPr>
        <p:txBody>
          <a:bodyPr wrap="square" lIns="0" tIns="0" rIns="0" bIns="0" rtlCol="0" anchor="ctr"/>
          <a:lstStyle/>
          <a:p>
            <a:pPr algn="ctr" indent="0" marL="0">
              <a:buNone/>
            </a:pPr>
            <a:r>
              <a:rPr lang="en-US" sz="1200" dirty="0">
                <a:solidFill>
                  <a:srgbClr val="C9D0DC"/>
                </a:solidFill>
                <a:latin typeface="Calibri" pitchFamily="34" charset="0"/>
                <a:ea typeface="Calibri" pitchFamily="34" charset="-122"/>
                <a:cs typeface="Calibri" pitchFamily="34" charset="-120"/>
              </a:rPr>
              <a:t>the key lives here</a:t>
            </a:r>
            <a:endParaRPr lang="en-US" sz="1200" dirty="0"/>
          </a:p>
        </p:txBody>
      </p:sp>
      <p:sp>
        <p:nvSpPr>
          <p:cNvPr id="15" name="Shape 13"/>
          <p:cNvSpPr/>
          <p:nvPr/>
        </p:nvSpPr>
        <p:spPr>
          <a:xfrm>
            <a:off x="8595360" y="4206240"/>
            <a:ext cx="1005840" cy="219456"/>
          </a:xfrm>
          <a:prstGeom prst="rightArrow">
            <a:avLst/>
          </a:prstGeom>
          <a:solidFill>
            <a:srgbClr val="A9B0BB"/>
          </a:solidFill>
          <a:ln/>
        </p:spPr>
      </p:sp>
      <p:sp>
        <p:nvSpPr>
          <p:cNvPr id="16" name="Text 14"/>
          <p:cNvSpPr/>
          <p:nvPr/>
        </p:nvSpPr>
        <p:spPr>
          <a:xfrm>
            <a:off x="8183880" y="3822192"/>
            <a:ext cx="1828800" cy="292608"/>
          </a:xfrm>
          <a:prstGeom prst="rect">
            <a:avLst/>
          </a:prstGeom>
          <a:noFill/>
          <a:ln/>
        </p:spPr>
        <p:txBody>
          <a:bodyPr wrap="square" lIns="0" tIns="0" rIns="0" bIns="0" rtlCol="0" anchor="ctr"/>
          <a:lstStyle/>
          <a:p>
            <a:pPr algn="ctr" indent="0" marL="0">
              <a:buNone/>
            </a:pPr>
            <a:r>
              <a:rPr lang="en-US" sz="1050" i="1" dirty="0">
                <a:solidFill>
                  <a:srgbClr val="5C6470"/>
                </a:solidFill>
                <a:latin typeface="Calibri" pitchFamily="34" charset="0"/>
                <a:ea typeface="Calibri" pitchFamily="34" charset="-122"/>
                <a:cs typeface="Calibri" pitchFamily="34" charset="-120"/>
              </a:rPr>
              <a:t>reading + key</a:t>
            </a:r>
            <a:endParaRPr lang="en-US" sz="1050" dirty="0"/>
          </a:p>
        </p:txBody>
      </p:sp>
      <p:sp>
        <p:nvSpPr>
          <p:cNvPr id="17" name="Shape 15"/>
          <p:cNvSpPr/>
          <p:nvPr/>
        </p:nvSpPr>
        <p:spPr>
          <a:xfrm>
            <a:off x="9738360" y="3703320"/>
            <a:ext cx="1645920" cy="1280160"/>
          </a:xfrm>
          <a:prstGeom prst="roundRect">
            <a:avLst>
              <a:gd name="adj" fmla="val 6429"/>
            </a:avLst>
          </a:prstGeom>
          <a:solidFill>
            <a:srgbClr val="F5F6F8"/>
          </a:solidFill>
          <a:ln w="12700">
            <a:solidFill>
              <a:srgbClr val="F5F6F8"/>
            </a:solidFill>
            <a:prstDash val="solid"/>
          </a:ln>
        </p:spPr>
      </p:sp>
      <p:sp>
        <p:nvSpPr>
          <p:cNvPr id="18" name="Text 16"/>
          <p:cNvSpPr/>
          <p:nvPr/>
        </p:nvSpPr>
        <p:spPr>
          <a:xfrm>
            <a:off x="9829800" y="3904488"/>
            <a:ext cx="1463040" cy="411480"/>
          </a:xfrm>
          <a:prstGeom prst="rect">
            <a:avLst/>
          </a:prstGeom>
          <a:noFill/>
          <a:ln/>
        </p:spPr>
        <p:txBody>
          <a:bodyPr wrap="square" lIns="0" tIns="0" rIns="0" bIns="0" rtlCol="0" anchor="ctr"/>
          <a:lstStyle/>
          <a:p>
            <a:pPr algn="ctr" indent="0" marL="0">
              <a:buNone/>
            </a:pPr>
            <a:r>
              <a:rPr lang="en-US" sz="1600" b="1" dirty="0">
                <a:solidFill>
                  <a:srgbClr val="15181F"/>
                </a:solidFill>
                <a:latin typeface="Cambria" pitchFamily="34" charset="0"/>
                <a:ea typeface="Cambria" pitchFamily="34" charset="-122"/>
                <a:cs typeface="Cambria" pitchFamily="34" charset="-120"/>
              </a:rPr>
              <a:t>AI</a:t>
            </a:r>
            <a:endParaRPr lang="en-US" sz="1600" dirty="0"/>
          </a:p>
        </p:txBody>
      </p:sp>
      <p:sp>
        <p:nvSpPr>
          <p:cNvPr id="19" name="Text 17"/>
          <p:cNvSpPr/>
          <p:nvPr/>
        </p:nvSpPr>
        <p:spPr>
          <a:xfrm>
            <a:off x="777240" y="5257800"/>
            <a:ext cx="10634472" cy="82296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The browser posts to your own server, never to the AI company.</a:t>
            </a:r>
            <a:endParaRPr lang="en-US" sz="2000" dirty="0"/>
          </a:p>
        </p:txBody>
      </p:sp>
      <p:sp>
        <p:nvSpPr>
          <p:cNvPr id="20" name="Text 18"/>
          <p:cNvSpPr/>
          <p:nvPr/>
        </p:nvSpPr>
        <p:spPr>
          <a:xfrm>
            <a:off x="777240" y="5806440"/>
            <a:ext cx="10634472" cy="5486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 key never reaches the visitor, so it can never be taken. This is why the backend exists.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OF 6      12 MINUTES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Deploy it to the cloud</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sp>
      <p:sp>
        <p:nvSpPr>
          <p:cNvPr id="5" name="Text 3"/>
          <p:cNvSpPr/>
          <p:nvPr/>
        </p:nvSpPr>
        <p:spPr>
          <a:xfrm>
            <a:off x="109728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requirements.txt and render.yaml,</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then push to GitHub and connect it</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to Render.</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sp>
      <p:sp>
        <p:nvSpPr>
          <p:cNvPr id="8" name="Text 6"/>
          <p:cNvSpPr/>
          <p:nvPr/>
        </p:nvSpPr>
        <p:spPr>
          <a:xfrm>
            <a:off x="6629400" y="19202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indent="0" marL="0">
              <a:buNone/>
            </a:pPr>
            <a:r>
              <a:rPr lang="en-US" sz="1450" dirty="0">
                <a:solidFill>
                  <a:srgbClr val="15181F"/>
                </a:solidFill>
                <a:latin typeface="Calibri" pitchFamily="34" charset="0"/>
                <a:ea typeface="Calibri" pitchFamily="34" charset="-122"/>
                <a:cs typeface="Calibri" pitchFamily="34" charset="-120"/>
              </a:rPr>
              <a:t>A public web address you can open</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on your phone and send to anyone,</a:t>
            </a:r>
            <a:endParaRPr lang="en-US" sz="1450" dirty="0"/>
          </a:p>
          <a:p>
            <a:pPr indent="0" marL="0">
              <a:buNone/>
            </a:pPr>
            <a:r>
              <a:rPr lang="en-US" sz="1450" dirty="0">
                <a:solidFill>
                  <a:srgbClr val="15181F"/>
                </a:solidFill>
                <a:latin typeface="Calibri" pitchFamily="34" charset="0"/>
                <a:ea typeface="Calibri" pitchFamily="34" charset="-122"/>
                <a:cs typeface="Calibri" pitchFamily="34" charset="-120"/>
              </a:rPr>
              <a:t>anywhere.</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  1 OF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Tell the server what to install</a:t>
            </a:r>
            <a:endParaRPr lang="en-US" sz="3100" dirty="0"/>
          </a:p>
        </p:txBody>
      </p:sp>
      <p:sp>
        <p:nvSpPr>
          <p:cNvPr id="4" name="Shape 2"/>
          <p:cNvSpPr/>
          <p:nvPr/>
        </p:nvSpPr>
        <p:spPr>
          <a:xfrm>
            <a:off x="777240" y="1737360"/>
            <a:ext cx="10634472" cy="2011680"/>
          </a:xfrm>
          <a:prstGeom prst="roundRect">
            <a:avLst>
              <a:gd name="adj" fmla="val 3636"/>
            </a:avLst>
          </a:prstGeom>
          <a:solidFill>
            <a:srgbClr val="1B1F2A"/>
          </a:solidFill>
          <a:ln w="12700">
            <a:solidFill>
              <a:srgbClr val="1B1F2A"/>
            </a:solidFill>
            <a:prstDash val="solid"/>
          </a:ln>
        </p:spPr>
      </p:sp>
      <p:sp>
        <p:nvSpPr>
          <p:cNvPr id="5" name="Text 3"/>
          <p:cNvSpPr/>
          <p:nvPr/>
        </p:nvSpPr>
        <p:spPr>
          <a:xfrm>
            <a:off x="1069848" y="182880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requirements.txt</a:t>
            </a:r>
            <a:endParaRPr lang="en-US" sz="1050" dirty="0"/>
          </a:p>
        </p:txBody>
      </p:sp>
      <p:sp>
        <p:nvSpPr>
          <p:cNvPr id="6" name="Text 4"/>
          <p:cNvSpPr/>
          <p:nvPr/>
        </p:nvSpPr>
        <p:spPr>
          <a:xfrm>
            <a:off x="1069848" y="2148840"/>
            <a:ext cx="10085832" cy="1463040"/>
          </a:xfrm>
          <a:prstGeom prst="rect">
            <a:avLst/>
          </a:prstGeom>
          <a:noFill/>
          <a:ln/>
        </p:spPr>
        <p:txBody>
          <a:bodyPr wrap="square" lIns="0" tIns="0" rIns="0" bIns="0" rtlCol="0" anchor="t"/>
          <a:lstStyle/>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fastapi==0.141.1</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uvicorn[standard]==0.34.0</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pydantic==2.10.4</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python-dotenv==1.0.1</a:t>
            </a:r>
            <a:endParaRPr lang="en-US" sz="1500" dirty="0"/>
          </a:p>
          <a:p>
            <a:pPr indent="0" marL="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anthropic==1.0.0</a:t>
            </a:r>
            <a:endParaRPr lang="en-US" sz="1500" dirty="0"/>
          </a:p>
        </p:txBody>
      </p:sp>
      <p:sp>
        <p:nvSpPr>
          <p:cNvPr id="7" name="Shape 5"/>
          <p:cNvSpPr/>
          <p:nvPr/>
        </p:nvSpPr>
        <p:spPr>
          <a:xfrm>
            <a:off x="777240" y="4023360"/>
            <a:ext cx="10634472" cy="1325880"/>
          </a:xfrm>
          <a:prstGeom prst="roundRect">
            <a:avLst>
              <a:gd name="adj" fmla="val 6207"/>
            </a:avLst>
          </a:prstGeom>
          <a:solidFill>
            <a:srgbClr val="FFF8E8"/>
          </a:solidFill>
          <a:ln w="12700">
            <a:solidFill>
              <a:srgbClr val="E5BC64"/>
            </a:solidFill>
            <a:prstDash val="solid"/>
          </a:ln>
        </p:spPr>
      </p:sp>
      <p:sp>
        <p:nvSpPr>
          <p:cNvPr id="8" name="Text 6"/>
          <p:cNvSpPr/>
          <p:nvPr/>
        </p:nvSpPr>
        <p:spPr>
          <a:xfrm>
            <a:off x="1143000" y="4160520"/>
            <a:ext cx="10241280" cy="384048"/>
          </a:xfrm>
          <a:prstGeom prst="rect">
            <a:avLst/>
          </a:prstGeom>
          <a:noFill/>
          <a:ln/>
        </p:spPr>
        <p:txBody>
          <a:bodyPr wrap="square" lIns="0" tIns="0" rIns="0" bIns="0" rtlCol="0" anchor="ctr"/>
          <a:lstStyle/>
          <a:p>
            <a:pPr indent="0" marL="0">
              <a:buNone/>
            </a:pPr>
            <a:r>
              <a:rPr lang="en-US" sz="1800" b="1" dirty="0">
                <a:solidFill>
                  <a:srgbClr val="7A5200"/>
                </a:solidFill>
                <a:latin typeface="Cambria" pitchFamily="34" charset="0"/>
                <a:ea typeface="Cambria" pitchFamily="34" charset="-122"/>
                <a:cs typeface="Cambria" pitchFamily="34" charset="-120"/>
              </a:rPr>
              <a:t>Pin the versions.</a:t>
            </a:r>
            <a:endParaRPr lang="en-US" sz="1800" dirty="0"/>
          </a:p>
        </p:txBody>
      </p:sp>
      <p:sp>
        <p:nvSpPr>
          <p:cNvPr id="9" name="Text 7"/>
          <p:cNvSpPr/>
          <p:nvPr/>
        </p:nvSpPr>
        <p:spPr>
          <a:xfrm>
            <a:off x="1143000" y="4572000"/>
            <a:ext cx="10241280" cy="640080"/>
          </a:xfrm>
          <a:prstGeom prst="rect">
            <a:avLst/>
          </a:prstGeom>
          <a:noFill/>
          <a:ln/>
        </p:spPr>
        <p:txBody>
          <a:bodyPr wrap="square" lIns="0" tIns="0" rIns="0" bIns="0" rtlCol="0" anchor="ctr"/>
          <a:lstStyle/>
          <a:p>
            <a:pPr indent="0" marL="0">
              <a:buNone/>
            </a:pPr>
            <a:r>
              <a:rPr lang="en-US" sz="1450" dirty="0">
                <a:solidFill>
                  <a:srgbClr val="7A5200"/>
                </a:solidFill>
                <a:latin typeface="Calibri" pitchFamily="34" charset="0"/>
                <a:ea typeface="Calibri" pitchFamily="34" charset="-122"/>
                <a:cs typeface="Calibri" pitchFamily="34" charset="-120"/>
              </a:rPr>
              <a:t>Writing fastapi with no version means the server installs whatever is newest on the day it builds. Your app can then break weeks later without you changing a single line.</a:t>
            </a:r>
            <a:endParaRPr lang="en-US" sz="1450" dirty="0"/>
          </a:p>
        </p:txBody>
      </p:sp>
      <p:sp>
        <p:nvSpPr>
          <p:cNvPr id="10" name="Text 8"/>
          <p:cNvSpPr/>
          <p:nvPr/>
        </p:nvSpPr>
        <p:spPr>
          <a:xfrm>
            <a:off x="777240" y="5577840"/>
            <a:ext cx="10634472" cy="45720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Use  pip freeze  to see the exact versions you are running.</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  2 OF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Tell Render how to run it</a:t>
            </a:r>
            <a:endParaRPr lang="en-US" sz="3100" dirty="0"/>
          </a:p>
        </p:txBody>
      </p:sp>
      <p:sp>
        <p:nvSpPr>
          <p:cNvPr id="4" name="Shape 2"/>
          <p:cNvSpPr/>
          <p:nvPr/>
        </p:nvSpPr>
        <p:spPr>
          <a:xfrm>
            <a:off x="777240" y="1691640"/>
            <a:ext cx="10634472" cy="3855720"/>
          </a:xfrm>
          <a:prstGeom prst="roundRect">
            <a:avLst>
              <a:gd name="adj" fmla="val 1897"/>
            </a:avLst>
          </a:prstGeom>
          <a:solidFill>
            <a:srgbClr val="1B1F2A"/>
          </a:solidFill>
          <a:ln w="12700">
            <a:solidFill>
              <a:srgbClr val="1B1F2A"/>
            </a:solidFill>
            <a:prstDash val="solid"/>
          </a:ln>
        </p:spPr>
      </p:sp>
      <p:sp>
        <p:nvSpPr>
          <p:cNvPr id="5" name="Text 3"/>
          <p:cNvSpPr/>
          <p:nvPr/>
        </p:nvSpPr>
        <p:spPr>
          <a:xfrm>
            <a:off x="1069848" y="1783080"/>
            <a:ext cx="5486400" cy="274320"/>
          </a:xfrm>
          <a:prstGeom prst="rect">
            <a:avLst/>
          </a:prstGeom>
          <a:noFill/>
          <a:ln/>
        </p:spPr>
        <p:txBody>
          <a:bodyPr wrap="square" lIns="0" tIns="0" rIns="0" bIns="0" rtlCol="0" anchor="ctr"/>
          <a:lstStyle/>
          <a:p>
            <a:pPr indent="0" marL="0">
              <a:buNone/>
            </a:pPr>
            <a:r>
              <a:rPr lang="en-US" sz="1050" b="1" spc="100" kern="0" dirty="0">
                <a:solidFill>
                  <a:srgbClr val="8B93A3"/>
                </a:solidFill>
                <a:latin typeface="Courier New" pitchFamily="34" charset="0"/>
                <a:ea typeface="Courier New" pitchFamily="34" charset="-122"/>
                <a:cs typeface="Courier New" pitchFamily="34" charset="-120"/>
              </a:rPr>
              <a:t>render.yaml</a:t>
            </a:r>
            <a:endParaRPr lang="en-US" sz="1050" dirty="0"/>
          </a:p>
        </p:txBody>
      </p:sp>
      <p:sp>
        <p:nvSpPr>
          <p:cNvPr id="6" name="Text 4"/>
          <p:cNvSpPr/>
          <p:nvPr/>
        </p:nvSpPr>
        <p:spPr>
          <a:xfrm>
            <a:off x="1069848" y="2103120"/>
            <a:ext cx="10085832" cy="3307080"/>
          </a:xfrm>
          <a:prstGeom prst="rect">
            <a:avLst/>
          </a:prstGeom>
          <a:noFill/>
          <a:ln/>
        </p:spPr>
        <p:txBody>
          <a:bodyPr wrap="square" lIns="0" tIns="0" rIns="0" bIns="0" rtlCol="0" anchor="t"/>
          <a:lstStyle/>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services: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name: sensor-triage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type: web</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runtime: python</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plan: free                  # no credit card required</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buildCommand: pip install -r requirements.txt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startCommand: uvicorn main:app --host 0.0.0.0 --port $PORT</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healthCheckPath: /health    # Render calls this to check you are alive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envVars:</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key: USE_MOCK</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value: "true"</a:t>
            </a:r>
            <a:endParaRPr lang="en-US" sz="1350" dirty="0"/>
          </a:p>
          <a:p>
            <a:pPr indent="0" marL="0">
              <a:lnSpc>
                <a:spcPts val="1650"/>
              </a:lnSpc>
              <a:buNone/>
            </a:pP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'sync: false' means the value is typed into the Render</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dashboard, never written in this file.</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 key: ANTHROPIC_API_KEY</a:t>
            </a:r>
            <a:endParaRPr lang="en-US" sz="1350" dirty="0"/>
          </a:p>
          <a:p>
            <a:pPr indent="0" marL="0">
              <a:lnSpc>
                <a:spcPts val="1650"/>
              </a:lnSpc>
              <a:buNone/>
            </a:pPr>
            <a:r>
              <a:rPr lang="en-US" sz="1350" dirty="0">
                <a:solidFill>
                  <a:srgbClr val="E6E9EF"/>
                </a:solidFill>
                <a:latin typeface="Courier New" pitchFamily="34" charset="0"/>
                <a:ea typeface="Courier New" pitchFamily="34" charset="-122"/>
                <a:cs typeface="Courier New" pitchFamily="34" charset="-120"/>
              </a:rPr>
              <a:t>        sync: false</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Two details worth understanding</a:t>
            </a:r>
            <a:endParaRPr lang="en-US" sz="3100" dirty="0"/>
          </a:p>
        </p:txBody>
      </p:sp>
      <p:sp>
        <p:nvSpPr>
          <p:cNvPr id="4" name="Shape 2"/>
          <p:cNvSpPr/>
          <p:nvPr/>
        </p:nvSpPr>
        <p:spPr>
          <a:xfrm>
            <a:off x="777240" y="1737360"/>
            <a:ext cx="10634472" cy="1828800"/>
          </a:xfrm>
          <a:prstGeom prst="roundRect">
            <a:avLst>
              <a:gd name="adj" fmla="val 4500"/>
            </a:avLst>
          </a:prstGeom>
          <a:solidFill>
            <a:srgbClr val="F5F6F8"/>
          </a:solidFill>
          <a:ln w="12700">
            <a:solidFill>
              <a:srgbClr val="E1E4E9"/>
            </a:solidFill>
            <a:prstDash val="solid"/>
          </a:ln>
        </p:spPr>
      </p:sp>
      <p:sp>
        <p:nvSpPr>
          <p:cNvPr id="5" name="Text 3"/>
          <p:cNvSpPr/>
          <p:nvPr/>
        </p:nvSpPr>
        <p:spPr>
          <a:xfrm>
            <a:off x="1143000" y="1920240"/>
            <a:ext cx="4572000" cy="365760"/>
          </a:xfrm>
          <a:prstGeom prst="rect">
            <a:avLst/>
          </a:prstGeom>
          <a:noFill/>
          <a:ln/>
        </p:spPr>
        <p:txBody>
          <a:bodyPr wrap="square" lIns="0" tIns="0" rIns="0" bIns="0" rtlCol="0" anchor="ctr"/>
          <a:lstStyle/>
          <a:p>
            <a:pPr indent="0" marL="0">
              <a:buNone/>
            </a:pPr>
            <a:r>
              <a:rPr lang="en-US" sz="1700" b="1" dirty="0">
                <a:solidFill>
                  <a:srgbClr val="00776A"/>
                </a:solidFill>
                <a:latin typeface="Courier New" pitchFamily="34" charset="0"/>
                <a:ea typeface="Courier New" pitchFamily="34" charset="-122"/>
                <a:cs typeface="Courier New" pitchFamily="34" charset="-120"/>
              </a:rPr>
              <a:t>--port $PORT</a:t>
            </a:r>
            <a:endParaRPr lang="en-US" sz="1700" dirty="0"/>
          </a:p>
        </p:txBody>
      </p:sp>
      <p:sp>
        <p:nvSpPr>
          <p:cNvPr id="6" name="Text 4"/>
          <p:cNvSpPr/>
          <p:nvPr/>
        </p:nvSpPr>
        <p:spPr>
          <a:xfrm>
            <a:off x="1143000" y="2377440"/>
            <a:ext cx="10241280" cy="10058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 hosting platform chooses the port and tells your app through an environment variable. Never hardcode 8000 in production — the platform will send traffic somewhere else and your app will look dead.</a:t>
            </a:r>
            <a:endParaRPr lang="en-US" sz="1500" dirty="0"/>
          </a:p>
        </p:txBody>
      </p:sp>
      <p:sp>
        <p:nvSpPr>
          <p:cNvPr id="7" name="Shape 5"/>
          <p:cNvSpPr/>
          <p:nvPr/>
        </p:nvSpPr>
        <p:spPr>
          <a:xfrm>
            <a:off x="777240" y="3794760"/>
            <a:ext cx="10634472" cy="2103120"/>
          </a:xfrm>
          <a:prstGeom prst="roundRect">
            <a:avLst>
              <a:gd name="adj" fmla="val 3913"/>
            </a:avLst>
          </a:prstGeom>
          <a:solidFill>
            <a:srgbClr val="FBF0EE"/>
          </a:solidFill>
          <a:ln w="12700">
            <a:solidFill>
              <a:srgbClr val="BE3A2B"/>
            </a:solidFill>
            <a:prstDash val="solid"/>
          </a:ln>
        </p:spPr>
      </p:sp>
      <p:sp>
        <p:nvSpPr>
          <p:cNvPr id="8" name="Text 6"/>
          <p:cNvSpPr/>
          <p:nvPr/>
        </p:nvSpPr>
        <p:spPr>
          <a:xfrm>
            <a:off x="1143000" y="3977640"/>
            <a:ext cx="4572000" cy="365760"/>
          </a:xfrm>
          <a:prstGeom prst="rect">
            <a:avLst/>
          </a:prstGeom>
          <a:noFill/>
          <a:ln/>
        </p:spPr>
        <p:txBody>
          <a:bodyPr wrap="square" lIns="0" tIns="0" rIns="0" bIns="0" rtlCol="0" anchor="ctr"/>
          <a:lstStyle/>
          <a:p>
            <a:pPr indent="0" marL="0">
              <a:buNone/>
            </a:pPr>
            <a:r>
              <a:rPr lang="en-US" sz="1700" b="1" dirty="0">
                <a:solidFill>
                  <a:srgbClr val="BE3A2B"/>
                </a:solidFill>
                <a:latin typeface="Courier New" pitchFamily="34" charset="0"/>
                <a:ea typeface="Courier New" pitchFamily="34" charset="-122"/>
                <a:cs typeface="Courier New" pitchFamily="34" charset="-120"/>
              </a:rPr>
              <a:t>sync: false</a:t>
            </a:r>
            <a:endParaRPr lang="en-US" sz="1700" dirty="0"/>
          </a:p>
        </p:txBody>
      </p:sp>
      <p:sp>
        <p:nvSpPr>
          <p:cNvPr id="9" name="Text 7"/>
          <p:cNvSpPr/>
          <p:nvPr/>
        </p:nvSpPr>
        <p:spPr>
          <a:xfrm>
            <a:off x="1143000" y="4434840"/>
            <a:ext cx="10241280" cy="1005840"/>
          </a:xfrm>
          <a:prstGeom prst="rect">
            <a:avLst/>
          </a:prstGeom>
          <a:noFill/>
          <a:ln/>
        </p:spPr>
        <p:txBody>
          <a:bodyPr wrap="square" lIns="0" tIns="0" rIns="0" bIns="0" rtlCol="0" anchor="ctr"/>
          <a:lstStyle/>
          <a:p>
            <a:pPr indent="0" marL="0">
              <a:buNone/>
            </a:pPr>
            <a:r>
              <a:rPr lang="en-US" sz="1500" dirty="0">
                <a:solidFill>
                  <a:srgbClr val="BE3A2B"/>
                </a:solidFill>
                <a:latin typeface="Calibri" pitchFamily="34" charset="0"/>
                <a:ea typeface="Calibri" pitchFamily="34" charset="-122"/>
                <a:cs typeface="Calibri" pitchFamily="34" charset="-120"/>
              </a:rPr>
              <a:t>render.yaml is uploaded to GitHub. A key written as a value: here is published exactly as if you had put it in your code. sync: false declares the setting without its value; you type the value into the dashboard afterwards.</a:t>
            </a:r>
            <a:endParaRPr lang="en-US" sz="1500" dirty="0"/>
          </a:p>
        </p:txBody>
      </p:sp>
      <p:sp>
        <p:nvSpPr>
          <p:cNvPr id="10" name="Text 8"/>
          <p:cNvSpPr/>
          <p:nvPr/>
        </p:nvSpPr>
        <p:spPr>
          <a:xfrm>
            <a:off x="1143000" y="5440680"/>
            <a:ext cx="10241280" cy="3657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Any config file in git is somewhere a key can hide. .env is not the only one.</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  3 OF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Upload your code to GitHub</a:t>
            </a:r>
            <a:endParaRPr lang="en-US" sz="3100" dirty="0"/>
          </a:p>
        </p:txBody>
      </p:sp>
      <p:sp>
        <p:nvSpPr>
          <p:cNvPr id="4" name="Shape 2"/>
          <p:cNvSpPr/>
          <p:nvPr/>
        </p:nvSpPr>
        <p:spPr>
          <a:xfrm>
            <a:off x="777240" y="1691640"/>
            <a:ext cx="10634472" cy="1335024"/>
          </a:xfrm>
          <a:prstGeom prst="roundRect">
            <a:avLst>
              <a:gd name="adj" fmla="val 5479"/>
            </a:avLst>
          </a:prstGeom>
          <a:solidFill>
            <a:srgbClr val="1B1F2A"/>
          </a:solidFill>
          <a:ln w="12700">
            <a:solidFill>
              <a:srgbClr val="1B1F2A"/>
            </a:solidFill>
            <a:prstDash val="solid"/>
          </a:ln>
        </p:spPr>
      </p:sp>
      <p:sp>
        <p:nvSpPr>
          <p:cNvPr id="5" name="Text 3"/>
          <p:cNvSpPr/>
          <p:nvPr/>
        </p:nvSpPr>
        <p:spPr>
          <a:xfrm>
            <a:off x="1097280" y="192024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init</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add .</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commit -m "Sensor triage service"</a:t>
            </a:r>
            <a:endParaRPr lang="en-US" sz="1600" dirty="0"/>
          </a:p>
        </p:txBody>
      </p:sp>
      <p:sp>
        <p:nvSpPr>
          <p:cNvPr id="6" name="Text 4"/>
          <p:cNvSpPr/>
          <p:nvPr/>
        </p:nvSpPr>
        <p:spPr>
          <a:xfrm>
            <a:off x="777240" y="3063240"/>
            <a:ext cx="10634472" cy="32004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Before you push, check what you are about to upload:</a:t>
            </a:r>
            <a:endParaRPr lang="en-US" sz="1500" dirty="0"/>
          </a:p>
        </p:txBody>
      </p:sp>
      <p:sp>
        <p:nvSpPr>
          <p:cNvPr id="7" name="Shape 5"/>
          <p:cNvSpPr/>
          <p:nvPr/>
        </p:nvSpPr>
        <p:spPr>
          <a:xfrm>
            <a:off x="777240" y="3474720"/>
            <a:ext cx="10634472" cy="749808"/>
          </a:xfrm>
          <a:prstGeom prst="roundRect">
            <a:avLst>
              <a:gd name="adj" fmla="val 9756"/>
            </a:avLst>
          </a:prstGeom>
          <a:solidFill>
            <a:srgbClr val="1B1F2A"/>
          </a:solidFill>
          <a:ln w="12700">
            <a:solidFill>
              <a:srgbClr val="1B1F2A"/>
            </a:solidFill>
            <a:prstDash val="solid"/>
          </a:ln>
        </p:spPr>
      </p:sp>
      <p:sp>
        <p:nvSpPr>
          <p:cNvPr id="8" name="Text 6"/>
          <p:cNvSpPr/>
          <p:nvPr/>
        </p:nvSpPr>
        <p:spPr>
          <a:xfrm>
            <a:off x="1097280" y="370332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status</a:t>
            </a:r>
            <a:endParaRPr lang="en-US" sz="1600" dirty="0"/>
          </a:p>
        </p:txBody>
      </p:sp>
      <p:sp>
        <p:nvSpPr>
          <p:cNvPr id="9" name="Shape 7"/>
          <p:cNvSpPr/>
          <p:nvPr/>
        </p:nvSpPr>
        <p:spPr>
          <a:xfrm>
            <a:off x="777240" y="4434840"/>
            <a:ext cx="10634472" cy="822960"/>
          </a:xfrm>
          <a:prstGeom prst="roundRect">
            <a:avLst>
              <a:gd name="adj" fmla="val 10000"/>
            </a:avLst>
          </a:prstGeom>
          <a:solidFill>
            <a:srgbClr val="FBF0EE"/>
          </a:solidFill>
          <a:ln w="12700">
            <a:solidFill>
              <a:srgbClr val="BE3A2B"/>
            </a:solidFill>
            <a:prstDash val="solid"/>
          </a:ln>
        </p:spPr>
      </p:sp>
      <p:sp>
        <p:nvSpPr>
          <p:cNvPr id="10" name="Text 8"/>
          <p:cNvSpPr/>
          <p:nvPr/>
        </p:nvSpPr>
        <p:spPr>
          <a:xfrm>
            <a:off x="1143000" y="4526280"/>
            <a:ext cx="10241280" cy="640080"/>
          </a:xfrm>
          <a:prstGeom prst="rect">
            <a:avLst/>
          </a:prstGeom>
          <a:noFill/>
          <a:ln/>
        </p:spPr>
        <p:txBody>
          <a:bodyPr wrap="square" lIns="0" tIns="0" rIns="0" bIns="0" rtlCol="0" anchor="ctr"/>
          <a:lstStyle/>
          <a:p>
            <a:pPr indent="0" marL="0">
              <a:buNone/>
            </a:pPr>
            <a:r>
              <a:rPr lang="en-US" sz="1600" b="1" dirty="0">
                <a:solidFill>
                  <a:srgbClr val="BE3A2B"/>
                </a:solidFill>
                <a:latin typeface="Calibri" pitchFamily="34" charset="0"/>
                <a:ea typeface="Calibri" pitchFamily="34" charset="-122"/>
                <a:cs typeface="Calibri" pitchFamily="34" charset="-120"/>
              </a:rPr>
              <a:t>.env must NOT appear in that list. If it does, stop and check .gitignore.</a:t>
            </a:r>
            <a:endParaRPr lang="en-US" sz="1600" dirty="0"/>
          </a:p>
        </p:txBody>
      </p:sp>
      <p:sp>
        <p:nvSpPr>
          <p:cNvPr id="11" name="Shape 9"/>
          <p:cNvSpPr/>
          <p:nvPr/>
        </p:nvSpPr>
        <p:spPr>
          <a:xfrm>
            <a:off x="777240" y="5440680"/>
            <a:ext cx="10634472" cy="1335024"/>
          </a:xfrm>
          <a:prstGeom prst="roundRect">
            <a:avLst>
              <a:gd name="adj" fmla="val 5479"/>
            </a:avLst>
          </a:prstGeom>
          <a:solidFill>
            <a:srgbClr val="1B1F2A"/>
          </a:solidFill>
          <a:ln w="12700">
            <a:solidFill>
              <a:srgbClr val="1B1F2A"/>
            </a:solidFill>
            <a:prstDash val="solid"/>
          </a:ln>
        </p:spPr>
      </p:sp>
      <p:sp>
        <p:nvSpPr>
          <p:cNvPr id="12" name="Text 10"/>
          <p:cNvSpPr/>
          <p:nvPr/>
        </p:nvSpPr>
        <p:spPr>
          <a:xfrm>
            <a:off x="1097280" y="5669280"/>
            <a:ext cx="9994392" cy="877824"/>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remote add origin https://github.com/YOUR-NAME/YOUR-REPO.git</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branch -M main</a:t>
            </a:r>
            <a:endParaRPr lang="en-US" sz="1600" dirty="0"/>
          </a:p>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git push -u origin main</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BE3A2B"/>
                </a:solidFill>
                <a:latin typeface="Calibri" pitchFamily="34" charset="0"/>
                <a:ea typeface="Calibri" pitchFamily="34" charset="-122"/>
                <a:cs typeface="Calibri" pitchFamily="34" charset="-120"/>
              </a:rPr>
              <a:t>STAGE 6  ·  WHY THAT CHECK MATTERS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"I uploaded my key, but I deleted it"</a:t>
            </a:r>
            <a:endParaRPr lang="en-US" sz="3100" dirty="0"/>
          </a:p>
        </p:txBody>
      </p:sp>
      <p:sp>
        <p:nvSpPr>
          <p:cNvPr id="4" name="Shape 2"/>
          <p:cNvSpPr/>
          <p:nvPr/>
        </p:nvSpPr>
        <p:spPr>
          <a:xfrm>
            <a:off x="777240" y="1691640"/>
            <a:ext cx="10634472" cy="621792"/>
          </a:xfrm>
          <a:prstGeom prst="roundRect">
            <a:avLst>
              <a:gd name="adj" fmla="val 13235"/>
            </a:avLst>
          </a:prstGeom>
          <a:solidFill>
            <a:srgbClr val="F5F6F8"/>
          </a:solidFill>
          <a:ln w="12700">
            <a:solidFill>
              <a:srgbClr val="E1E4E9"/>
            </a:solidFill>
            <a:prstDash val="solid"/>
          </a:ln>
        </p:spPr>
      </p:sp>
      <p:sp>
        <p:nvSpPr>
          <p:cNvPr id="5" name="Shape 3"/>
          <p:cNvSpPr/>
          <p:nvPr/>
        </p:nvSpPr>
        <p:spPr>
          <a:xfrm>
            <a:off x="1051560" y="1847088"/>
            <a:ext cx="310896" cy="310896"/>
          </a:xfrm>
          <a:prstGeom prst="ellipse">
            <a:avLst/>
          </a:prstGeom>
          <a:solidFill>
            <a:srgbClr val="5C6470"/>
          </a:solidFill>
          <a:ln/>
        </p:spPr>
      </p:sp>
      <p:sp>
        <p:nvSpPr>
          <p:cNvPr id="6" name="Text 4"/>
          <p:cNvSpPr/>
          <p:nvPr/>
        </p:nvSpPr>
        <p:spPr>
          <a:xfrm>
            <a:off x="1051560"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0992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You upload your code with the key in it, by accident</a:t>
            </a:r>
            <a:endParaRPr lang="en-US" sz="1500" dirty="0"/>
          </a:p>
        </p:txBody>
      </p:sp>
      <p:sp>
        <p:nvSpPr>
          <p:cNvPr id="8" name="Shape 6"/>
          <p:cNvSpPr/>
          <p:nvPr/>
        </p:nvSpPr>
        <p:spPr>
          <a:xfrm>
            <a:off x="777240" y="2423160"/>
            <a:ext cx="10634472" cy="621792"/>
          </a:xfrm>
          <a:prstGeom prst="roundRect">
            <a:avLst>
              <a:gd name="adj" fmla="val 13235"/>
            </a:avLst>
          </a:prstGeom>
          <a:solidFill>
            <a:srgbClr val="F5F6F8"/>
          </a:solidFill>
          <a:ln w="12700">
            <a:solidFill>
              <a:srgbClr val="E1E4E9"/>
            </a:solidFill>
            <a:prstDash val="solid"/>
          </a:ln>
        </p:spPr>
      </p:sp>
      <p:sp>
        <p:nvSpPr>
          <p:cNvPr id="9" name="Shape 7"/>
          <p:cNvSpPr/>
          <p:nvPr/>
        </p:nvSpPr>
        <p:spPr>
          <a:xfrm>
            <a:off x="1051560" y="2578608"/>
            <a:ext cx="310896" cy="310896"/>
          </a:xfrm>
          <a:prstGeom prst="ellipse">
            <a:avLst/>
          </a:prstGeom>
          <a:solidFill>
            <a:srgbClr val="5C6470"/>
          </a:solidFill>
          <a:ln/>
        </p:spPr>
      </p:sp>
      <p:sp>
        <p:nvSpPr>
          <p:cNvPr id="10" name="Text 8"/>
          <p:cNvSpPr/>
          <p:nvPr/>
        </p:nvSpPr>
        <p:spPr>
          <a:xfrm>
            <a:off x="1051560" y="25786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44144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You notice, delete the key, and upload again</a:t>
            </a:r>
            <a:endParaRPr lang="en-US" sz="1500" dirty="0"/>
          </a:p>
        </p:txBody>
      </p:sp>
      <p:sp>
        <p:nvSpPr>
          <p:cNvPr id="12" name="Shape 10"/>
          <p:cNvSpPr/>
          <p:nvPr/>
        </p:nvSpPr>
        <p:spPr>
          <a:xfrm>
            <a:off x="777240" y="3154680"/>
            <a:ext cx="10634472" cy="621792"/>
          </a:xfrm>
          <a:prstGeom prst="roundRect">
            <a:avLst>
              <a:gd name="adj" fmla="val 13235"/>
            </a:avLst>
          </a:prstGeom>
          <a:solidFill>
            <a:srgbClr val="F5F6F8"/>
          </a:solidFill>
          <a:ln w="12700">
            <a:solidFill>
              <a:srgbClr val="E1E4E9"/>
            </a:solidFill>
            <a:prstDash val="solid"/>
          </a:ln>
        </p:spPr>
      </p:sp>
      <p:sp>
        <p:nvSpPr>
          <p:cNvPr id="13" name="Shape 11"/>
          <p:cNvSpPr/>
          <p:nvPr/>
        </p:nvSpPr>
        <p:spPr>
          <a:xfrm>
            <a:off x="1051560" y="3310128"/>
            <a:ext cx="310896" cy="310896"/>
          </a:xfrm>
          <a:prstGeom prst="ellipse">
            <a:avLst/>
          </a:prstGeom>
          <a:solidFill>
            <a:srgbClr val="5C6470"/>
          </a:solidFill>
          <a:ln/>
        </p:spPr>
      </p:sp>
      <p:sp>
        <p:nvSpPr>
          <p:cNvPr id="14" name="Text 12"/>
          <p:cNvSpPr/>
          <p:nvPr/>
        </p:nvSpPr>
        <p:spPr>
          <a:xfrm>
            <a:off x="1051560" y="3310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172968"/>
            <a:ext cx="9601200" cy="585216"/>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The file looks completely clean now</a:t>
            </a:r>
            <a:endParaRPr lang="en-US" sz="1500" dirty="0"/>
          </a:p>
        </p:txBody>
      </p:sp>
      <p:sp>
        <p:nvSpPr>
          <p:cNvPr id="16" name="Shape 14"/>
          <p:cNvSpPr/>
          <p:nvPr/>
        </p:nvSpPr>
        <p:spPr>
          <a:xfrm>
            <a:off x="777240" y="4023360"/>
            <a:ext cx="10634472" cy="1234440"/>
          </a:xfrm>
          <a:prstGeom prst="roundRect">
            <a:avLst>
              <a:gd name="adj" fmla="val 6667"/>
            </a:avLst>
          </a:prstGeom>
          <a:solidFill>
            <a:srgbClr val="FBF0EE"/>
          </a:solidFill>
          <a:ln w="12700">
            <a:solidFill>
              <a:srgbClr val="BE3A2B"/>
            </a:solidFill>
            <a:prstDash val="solid"/>
          </a:ln>
        </p:spPr>
      </p:sp>
      <p:sp>
        <p:nvSpPr>
          <p:cNvPr id="17" name="Text 15"/>
          <p:cNvSpPr/>
          <p:nvPr/>
        </p:nvSpPr>
        <p:spPr>
          <a:xfrm>
            <a:off x="1143000" y="4160520"/>
            <a:ext cx="10241280" cy="365760"/>
          </a:xfrm>
          <a:prstGeom prst="rect">
            <a:avLst/>
          </a:prstGeom>
          <a:noFill/>
          <a:ln/>
        </p:spPr>
        <p:txBody>
          <a:bodyPr wrap="square" lIns="0" tIns="0" rIns="0" bIns="0" rtlCol="0" anchor="ctr"/>
          <a:lstStyle/>
          <a:p>
            <a:pPr indent="0" marL="0">
              <a:buNone/>
            </a:pPr>
            <a:r>
              <a:rPr lang="en-US" sz="1500" b="1" dirty="0">
                <a:solidFill>
                  <a:srgbClr val="BE3A2B"/>
                </a:solidFill>
                <a:latin typeface="Calibri" pitchFamily="34" charset="0"/>
                <a:ea typeface="Calibri" pitchFamily="34" charset="-122"/>
                <a:cs typeface="Calibri" pitchFamily="34" charset="-120"/>
              </a:rPr>
              <a:t>But anyone can still read it, with one command:</a:t>
            </a:r>
            <a:endParaRPr lang="en-US" sz="1500" dirty="0"/>
          </a:p>
        </p:txBody>
      </p:sp>
      <p:sp>
        <p:nvSpPr>
          <p:cNvPr id="18" name="Text 16"/>
          <p:cNvSpPr/>
          <p:nvPr/>
        </p:nvSpPr>
        <p:spPr>
          <a:xfrm>
            <a:off x="1143000" y="4572000"/>
            <a:ext cx="10241280" cy="457200"/>
          </a:xfrm>
          <a:prstGeom prst="rect">
            <a:avLst/>
          </a:prstGeom>
          <a:noFill/>
          <a:ln/>
        </p:spPr>
        <p:txBody>
          <a:bodyPr wrap="square" lIns="0" tIns="0" rIns="0" bIns="0" rtlCol="0" anchor="ctr"/>
          <a:lstStyle/>
          <a:p>
            <a:pPr indent="0" marL="0">
              <a:buNone/>
            </a:pPr>
            <a:r>
              <a:rPr lang="en-US" sz="1500" dirty="0">
                <a:solidFill>
                  <a:srgbClr val="BE3A2B"/>
                </a:solidFill>
                <a:latin typeface="Courier New" pitchFamily="34" charset="0"/>
                <a:ea typeface="Courier New" pitchFamily="34" charset="-122"/>
                <a:cs typeface="Courier New" pitchFamily="34" charset="-120"/>
              </a:rPr>
              <a:t>git show 3c93b13:main.py   -&gt;   api_key = "sk-ant-api03-REDACTED"</a:t>
            </a:r>
            <a:endParaRPr lang="en-US" sz="1500" dirty="0"/>
          </a:p>
        </p:txBody>
      </p:sp>
      <p:sp>
        <p:nvSpPr>
          <p:cNvPr id="19" name="Text 17"/>
          <p:cNvSpPr/>
          <p:nvPr/>
        </p:nvSpPr>
        <p:spPr>
          <a:xfrm>
            <a:off x="777240" y="5440680"/>
            <a:ext cx="10634472" cy="822960"/>
          </a:xfrm>
          <a:prstGeom prst="rect">
            <a:avLst/>
          </a:prstGeom>
          <a:noFill/>
          <a:ln/>
        </p:spPr>
        <p:txBody>
          <a:bodyPr wrap="square" lIns="0" tIns="0" rIns="0" bIns="0" rtlCol="0" anchor="ctr"/>
          <a:lstStyle/>
          <a:p>
            <a:pPr indent="0" marL="0">
              <a:buNone/>
            </a:pPr>
            <a:r>
              <a:rPr lang="en-US" sz="1800" b="1" dirty="0">
                <a:solidFill>
                  <a:srgbClr val="BE3A2B"/>
                </a:solidFill>
                <a:latin typeface="Cambria" pitchFamily="34" charset="0"/>
                <a:ea typeface="Cambria" pitchFamily="34" charset="-122"/>
                <a:cs typeface="Cambria" pitchFamily="34" charset="-120"/>
              </a:rPr>
              <a:t>Git keeps every past version. Delete the key at the provider and make a new one.</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31520"/>
            <a:ext cx="1005840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Deploy</a:t>
            </a:r>
            <a:endParaRPr lang="en-US" sz="3600" dirty="0"/>
          </a:p>
        </p:txBody>
      </p:sp>
      <p:sp>
        <p:nvSpPr>
          <p:cNvPr id="3" name="Shape 1"/>
          <p:cNvSpPr/>
          <p:nvPr/>
        </p:nvSpPr>
        <p:spPr>
          <a:xfrm>
            <a:off x="777240" y="1920240"/>
            <a:ext cx="10634472" cy="658368"/>
          </a:xfrm>
          <a:prstGeom prst="roundRect">
            <a:avLst>
              <a:gd name="adj" fmla="val 9722"/>
            </a:avLst>
          </a:prstGeom>
          <a:solidFill>
            <a:srgbClr val="222732"/>
          </a:solidFill>
          <a:ln w="12700">
            <a:solidFill>
              <a:srgbClr val="222732"/>
            </a:solidFill>
            <a:prstDash val="solid"/>
          </a:ln>
        </p:spPr>
      </p:sp>
      <p:sp>
        <p:nvSpPr>
          <p:cNvPr id="4" name="Shape 2"/>
          <p:cNvSpPr/>
          <p:nvPr/>
        </p:nvSpPr>
        <p:spPr>
          <a:xfrm>
            <a:off x="1051560" y="2093976"/>
            <a:ext cx="310896" cy="310896"/>
          </a:xfrm>
          <a:prstGeom prst="ellipse">
            <a:avLst/>
          </a:prstGeom>
          <a:solidFill>
            <a:srgbClr val="3ACFB6"/>
          </a:solidFill>
          <a:ln/>
        </p:spPr>
      </p:sp>
      <p:sp>
        <p:nvSpPr>
          <p:cNvPr id="5" name="Text 3"/>
          <p:cNvSpPr/>
          <p:nvPr/>
        </p:nvSpPr>
        <p:spPr>
          <a:xfrm>
            <a:off x="1051560" y="209397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645920" y="193852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Go to render.com and sign up with GitHub. No card required.</a:t>
            </a:r>
            <a:endParaRPr lang="en-US" sz="1550" dirty="0"/>
          </a:p>
        </p:txBody>
      </p:sp>
      <p:sp>
        <p:nvSpPr>
          <p:cNvPr id="7" name="Shape 5"/>
          <p:cNvSpPr/>
          <p:nvPr/>
        </p:nvSpPr>
        <p:spPr>
          <a:xfrm>
            <a:off x="777240" y="2697480"/>
            <a:ext cx="10634472" cy="658368"/>
          </a:xfrm>
          <a:prstGeom prst="roundRect">
            <a:avLst>
              <a:gd name="adj" fmla="val 9722"/>
            </a:avLst>
          </a:prstGeom>
          <a:solidFill>
            <a:srgbClr val="222732"/>
          </a:solidFill>
          <a:ln w="12700">
            <a:solidFill>
              <a:srgbClr val="222732"/>
            </a:solidFill>
            <a:prstDash val="solid"/>
          </a:ln>
        </p:spPr>
      </p:sp>
      <p:sp>
        <p:nvSpPr>
          <p:cNvPr id="8" name="Shape 6"/>
          <p:cNvSpPr/>
          <p:nvPr/>
        </p:nvSpPr>
        <p:spPr>
          <a:xfrm>
            <a:off x="1051560" y="2871216"/>
            <a:ext cx="310896" cy="310896"/>
          </a:xfrm>
          <a:prstGeom prst="ellipse">
            <a:avLst/>
          </a:prstGeom>
          <a:solidFill>
            <a:srgbClr val="3ACFB6"/>
          </a:solidFill>
          <a:ln/>
        </p:spPr>
      </p:sp>
      <p:sp>
        <p:nvSpPr>
          <p:cNvPr id="9" name="Text 7"/>
          <p:cNvSpPr/>
          <p:nvPr/>
        </p:nvSpPr>
        <p:spPr>
          <a:xfrm>
            <a:off x="1051560" y="287121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645920" y="271576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Click New, then Blueprint.</a:t>
            </a:r>
            <a:endParaRPr lang="en-US" sz="1550" dirty="0"/>
          </a:p>
        </p:txBody>
      </p:sp>
      <p:sp>
        <p:nvSpPr>
          <p:cNvPr id="11" name="Shape 9"/>
          <p:cNvSpPr/>
          <p:nvPr/>
        </p:nvSpPr>
        <p:spPr>
          <a:xfrm>
            <a:off x="777240" y="3474720"/>
            <a:ext cx="10634472" cy="658368"/>
          </a:xfrm>
          <a:prstGeom prst="roundRect">
            <a:avLst>
              <a:gd name="adj" fmla="val 9722"/>
            </a:avLst>
          </a:prstGeom>
          <a:solidFill>
            <a:srgbClr val="222732"/>
          </a:solidFill>
          <a:ln w="12700">
            <a:solidFill>
              <a:srgbClr val="222732"/>
            </a:solidFill>
            <a:prstDash val="solid"/>
          </a:ln>
        </p:spPr>
      </p:sp>
      <p:sp>
        <p:nvSpPr>
          <p:cNvPr id="12" name="Shape 10"/>
          <p:cNvSpPr/>
          <p:nvPr/>
        </p:nvSpPr>
        <p:spPr>
          <a:xfrm>
            <a:off x="1051560" y="3648456"/>
            <a:ext cx="310896" cy="310896"/>
          </a:xfrm>
          <a:prstGeom prst="ellipse">
            <a:avLst/>
          </a:prstGeom>
          <a:solidFill>
            <a:srgbClr val="3ACFB6"/>
          </a:solidFill>
          <a:ln/>
        </p:spPr>
      </p:sp>
      <p:sp>
        <p:nvSpPr>
          <p:cNvPr id="13" name="Text 11"/>
          <p:cNvSpPr/>
          <p:nvPr/>
        </p:nvSpPr>
        <p:spPr>
          <a:xfrm>
            <a:off x="1051560" y="364845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645920" y="349300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Select your repository, then Apply.</a:t>
            </a:r>
            <a:endParaRPr lang="en-US" sz="1550" dirty="0"/>
          </a:p>
        </p:txBody>
      </p:sp>
      <p:sp>
        <p:nvSpPr>
          <p:cNvPr id="15" name="Shape 13"/>
          <p:cNvSpPr/>
          <p:nvPr/>
        </p:nvSpPr>
        <p:spPr>
          <a:xfrm>
            <a:off x="777240" y="4251960"/>
            <a:ext cx="10634472" cy="658368"/>
          </a:xfrm>
          <a:prstGeom prst="roundRect">
            <a:avLst>
              <a:gd name="adj" fmla="val 9722"/>
            </a:avLst>
          </a:prstGeom>
          <a:solidFill>
            <a:srgbClr val="222732"/>
          </a:solidFill>
          <a:ln w="12700">
            <a:solidFill>
              <a:srgbClr val="222732"/>
            </a:solidFill>
            <a:prstDash val="solid"/>
          </a:ln>
        </p:spPr>
      </p:sp>
      <p:sp>
        <p:nvSpPr>
          <p:cNvPr id="16" name="Shape 14"/>
          <p:cNvSpPr/>
          <p:nvPr/>
        </p:nvSpPr>
        <p:spPr>
          <a:xfrm>
            <a:off x="1051560" y="4425696"/>
            <a:ext cx="310896" cy="310896"/>
          </a:xfrm>
          <a:prstGeom prst="ellipse">
            <a:avLst/>
          </a:prstGeom>
          <a:solidFill>
            <a:srgbClr val="3ACFB6"/>
          </a:solidFill>
          <a:ln/>
        </p:spPr>
      </p:sp>
      <p:sp>
        <p:nvSpPr>
          <p:cNvPr id="17" name="Text 15"/>
          <p:cNvSpPr/>
          <p:nvPr/>
        </p:nvSpPr>
        <p:spPr>
          <a:xfrm>
            <a:off x="1051560" y="442569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645920" y="427024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Wait about three minutes. Errors during the build are normal.</a:t>
            </a:r>
            <a:endParaRPr lang="en-US" sz="1550" dirty="0"/>
          </a:p>
        </p:txBody>
      </p:sp>
      <p:sp>
        <p:nvSpPr>
          <p:cNvPr id="19" name="Shape 17"/>
          <p:cNvSpPr/>
          <p:nvPr/>
        </p:nvSpPr>
        <p:spPr>
          <a:xfrm>
            <a:off x="777240" y="5029200"/>
            <a:ext cx="10634472" cy="658368"/>
          </a:xfrm>
          <a:prstGeom prst="roundRect">
            <a:avLst>
              <a:gd name="adj" fmla="val 9722"/>
            </a:avLst>
          </a:prstGeom>
          <a:solidFill>
            <a:srgbClr val="222732"/>
          </a:solidFill>
          <a:ln w="12700">
            <a:solidFill>
              <a:srgbClr val="222732"/>
            </a:solidFill>
            <a:prstDash val="solid"/>
          </a:ln>
        </p:spPr>
      </p:sp>
      <p:sp>
        <p:nvSpPr>
          <p:cNvPr id="20" name="Shape 18"/>
          <p:cNvSpPr/>
          <p:nvPr/>
        </p:nvSpPr>
        <p:spPr>
          <a:xfrm>
            <a:off x="1051560" y="5202936"/>
            <a:ext cx="310896" cy="310896"/>
          </a:xfrm>
          <a:prstGeom prst="ellipse">
            <a:avLst/>
          </a:prstGeom>
          <a:solidFill>
            <a:srgbClr val="3ACFB6"/>
          </a:solidFill>
          <a:ln/>
        </p:spPr>
      </p:sp>
      <p:sp>
        <p:nvSpPr>
          <p:cNvPr id="21" name="Text 19"/>
          <p:cNvSpPr/>
          <p:nvPr/>
        </p:nvSpPr>
        <p:spPr>
          <a:xfrm>
            <a:off x="1051560" y="520293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645920" y="5047488"/>
            <a:ext cx="9601200" cy="62179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You now have a public address. Open it on your phone.</a:t>
            </a:r>
            <a:endParaRPr lang="en-US" sz="1550" dirty="0"/>
          </a:p>
        </p:txBody>
      </p:sp>
      <p:sp>
        <p:nvSpPr>
          <p:cNvPr id="23" name="Text 21"/>
          <p:cNvSpPr/>
          <p:nvPr/>
        </p:nvSpPr>
        <p:spPr>
          <a:xfrm>
            <a:off x="777240" y="5989320"/>
            <a:ext cx="10607040" cy="411480"/>
          </a:xfrm>
          <a:prstGeom prst="rect">
            <a:avLst/>
          </a:prstGeom>
          <a:noFill/>
          <a:ln/>
        </p:spPr>
        <p:txBody>
          <a:bodyPr wrap="square" lIns="0" tIns="0" rIns="0" bIns="0" rtlCol="0" anchor="ctr"/>
          <a:lstStyle/>
          <a:p>
            <a:pPr indent="0" marL="0">
              <a:buNone/>
            </a:pPr>
            <a:r>
              <a:rPr lang="en-US" sz="1800" dirty="0">
                <a:solidFill>
                  <a:srgbClr val="3ACFB6"/>
                </a:solidFill>
                <a:latin typeface="Courier New" pitchFamily="34" charset="0"/>
                <a:ea typeface="Courier New" pitchFamily="34" charset="-122"/>
                <a:cs typeface="Courier New" pitchFamily="34" charset="-120"/>
              </a:rPr>
              <a:t>https://sensor-triage-xxxx.onrender.com</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  4 OF 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Adding your key in production</a:t>
            </a:r>
            <a:endParaRPr lang="en-US" sz="3100" dirty="0"/>
          </a:p>
        </p:txBody>
      </p:sp>
      <p:sp>
        <p:nvSpPr>
          <p:cNvPr id="4" name="Text 2"/>
          <p:cNvSpPr/>
          <p:nvPr/>
        </p:nvSpPr>
        <p:spPr>
          <a:xfrm>
            <a:off x="777240" y="1371600"/>
            <a:ext cx="10634472" cy="3657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ANTHROPIC_API_KEY was declared with sync: false, so it exists with no value.</a:t>
            </a:r>
            <a:endParaRPr lang="en-US" sz="1550" dirty="0"/>
          </a:p>
        </p:txBody>
      </p:sp>
      <p:sp>
        <p:nvSpPr>
          <p:cNvPr id="5" name="Shape 3"/>
          <p:cNvSpPr/>
          <p:nvPr/>
        </p:nvSpPr>
        <p:spPr>
          <a:xfrm>
            <a:off x="777240" y="1874520"/>
            <a:ext cx="10634472" cy="685800"/>
          </a:xfrm>
          <a:prstGeom prst="roundRect">
            <a:avLst>
              <a:gd name="adj" fmla="val 12000"/>
            </a:avLst>
          </a:prstGeom>
          <a:solidFill>
            <a:srgbClr val="F5F6F8"/>
          </a:solidFill>
          <a:ln w="12700">
            <a:solidFill>
              <a:srgbClr val="E1E4E9"/>
            </a:solidFill>
            <a:prstDash val="solid"/>
          </a:ln>
        </p:spPr>
      </p:sp>
      <p:sp>
        <p:nvSpPr>
          <p:cNvPr id="6" name="Shape 4"/>
          <p:cNvSpPr/>
          <p:nvPr/>
        </p:nvSpPr>
        <p:spPr>
          <a:xfrm>
            <a:off x="1069848" y="2066544"/>
            <a:ext cx="310896" cy="310896"/>
          </a:xfrm>
          <a:prstGeom prst="ellipse">
            <a:avLst/>
          </a:prstGeom>
          <a:solidFill>
            <a:srgbClr val="00776A"/>
          </a:solidFill>
          <a:ln/>
        </p:spPr>
      </p:sp>
      <p:sp>
        <p:nvSpPr>
          <p:cNvPr id="7" name="Text 5"/>
          <p:cNvSpPr/>
          <p:nvPr/>
        </p:nvSpPr>
        <p:spPr>
          <a:xfrm>
            <a:off x="1069848"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645920" y="1892808"/>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In the Render dashboard, open Environment</a:t>
            </a:r>
            <a:endParaRPr lang="en-US" sz="1500" dirty="0"/>
          </a:p>
        </p:txBody>
      </p:sp>
      <p:sp>
        <p:nvSpPr>
          <p:cNvPr id="9" name="Shape 7"/>
          <p:cNvSpPr/>
          <p:nvPr/>
        </p:nvSpPr>
        <p:spPr>
          <a:xfrm>
            <a:off x="777240" y="2679192"/>
            <a:ext cx="10634472" cy="685800"/>
          </a:xfrm>
          <a:prstGeom prst="roundRect">
            <a:avLst>
              <a:gd name="adj" fmla="val 12000"/>
            </a:avLst>
          </a:prstGeom>
          <a:solidFill>
            <a:srgbClr val="F5F6F8"/>
          </a:solidFill>
          <a:ln w="12700">
            <a:solidFill>
              <a:srgbClr val="E1E4E9"/>
            </a:solidFill>
            <a:prstDash val="solid"/>
          </a:ln>
        </p:spPr>
      </p:sp>
      <p:sp>
        <p:nvSpPr>
          <p:cNvPr id="10" name="Shape 8"/>
          <p:cNvSpPr/>
          <p:nvPr/>
        </p:nvSpPr>
        <p:spPr>
          <a:xfrm>
            <a:off x="1069848" y="2871216"/>
            <a:ext cx="310896" cy="310896"/>
          </a:xfrm>
          <a:prstGeom prst="ellipse">
            <a:avLst/>
          </a:prstGeom>
          <a:solidFill>
            <a:srgbClr val="00776A"/>
          </a:solidFill>
          <a:ln/>
        </p:spPr>
      </p:sp>
      <p:sp>
        <p:nvSpPr>
          <p:cNvPr id="11" name="Text 9"/>
          <p:cNvSpPr/>
          <p:nvPr/>
        </p:nvSpPr>
        <p:spPr>
          <a:xfrm>
            <a:off x="1069848" y="28712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2697480"/>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Set the value of ANTHROPIC_API_KEY and save</a:t>
            </a:r>
            <a:endParaRPr lang="en-US" sz="1500" dirty="0"/>
          </a:p>
        </p:txBody>
      </p:sp>
      <p:sp>
        <p:nvSpPr>
          <p:cNvPr id="13" name="Shape 11"/>
          <p:cNvSpPr/>
          <p:nvPr/>
        </p:nvSpPr>
        <p:spPr>
          <a:xfrm>
            <a:off x="777240" y="3483864"/>
            <a:ext cx="10634472" cy="685800"/>
          </a:xfrm>
          <a:prstGeom prst="roundRect">
            <a:avLst>
              <a:gd name="adj" fmla="val 12000"/>
            </a:avLst>
          </a:prstGeom>
          <a:solidFill>
            <a:srgbClr val="F5F6F8"/>
          </a:solidFill>
          <a:ln w="12700">
            <a:solidFill>
              <a:srgbClr val="E1E4E9"/>
            </a:solidFill>
            <a:prstDash val="solid"/>
          </a:ln>
        </p:spPr>
      </p:sp>
      <p:sp>
        <p:nvSpPr>
          <p:cNvPr id="14" name="Shape 12"/>
          <p:cNvSpPr/>
          <p:nvPr/>
        </p:nvSpPr>
        <p:spPr>
          <a:xfrm>
            <a:off x="1069848" y="3675888"/>
            <a:ext cx="310896" cy="310896"/>
          </a:xfrm>
          <a:prstGeom prst="ellipse">
            <a:avLst/>
          </a:prstGeom>
          <a:solidFill>
            <a:srgbClr val="00776A"/>
          </a:solidFill>
          <a:ln/>
        </p:spPr>
      </p:sp>
      <p:sp>
        <p:nvSpPr>
          <p:cNvPr id="15" name="Text 13"/>
          <p:cNvSpPr/>
          <p:nvPr/>
        </p:nvSpPr>
        <p:spPr>
          <a:xfrm>
            <a:off x="1069848" y="36758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645920" y="3502152"/>
            <a:ext cx="9601200" cy="649224"/>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Change USE_MOCK to "false" in render.yaml and push</a:t>
            </a:r>
            <a:endParaRPr lang="en-US" sz="1500" dirty="0"/>
          </a:p>
        </p:txBody>
      </p:sp>
      <p:sp>
        <p:nvSpPr>
          <p:cNvPr id="17" name="Shape 15"/>
          <p:cNvSpPr/>
          <p:nvPr/>
        </p:nvSpPr>
        <p:spPr>
          <a:xfrm>
            <a:off x="777240" y="4434840"/>
            <a:ext cx="10634472" cy="1417320"/>
          </a:xfrm>
          <a:prstGeom prst="roundRect">
            <a:avLst>
              <a:gd name="adj" fmla="val 5806"/>
            </a:avLst>
          </a:prstGeom>
          <a:solidFill>
            <a:srgbClr val="FFF8E8"/>
          </a:solidFill>
          <a:ln w="12700">
            <a:solidFill>
              <a:srgbClr val="E5BC64"/>
            </a:solidFill>
            <a:prstDash val="solid"/>
          </a:ln>
        </p:spPr>
      </p:sp>
      <p:sp>
        <p:nvSpPr>
          <p:cNvPr id="18" name="Text 16"/>
          <p:cNvSpPr/>
          <p:nvPr/>
        </p:nvSpPr>
        <p:spPr>
          <a:xfrm>
            <a:off x="1143000" y="4572000"/>
            <a:ext cx="10241280" cy="384048"/>
          </a:xfrm>
          <a:prstGeom prst="rect">
            <a:avLst/>
          </a:prstGeom>
          <a:noFill/>
          <a:ln/>
        </p:spPr>
        <p:txBody>
          <a:bodyPr wrap="square" lIns="0" tIns="0" rIns="0" bIns="0" rtlCol="0" anchor="ctr"/>
          <a:lstStyle/>
          <a:p>
            <a:pPr indent="0" marL="0">
              <a:buNone/>
            </a:pPr>
            <a:r>
              <a:rPr lang="en-US" sz="1700" b="1" dirty="0">
                <a:solidFill>
                  <a:srgbClr val="7A5200"/>
                </a:solidFill>
                <a:latin typeface="Cambria" pitchFamily="34" charset="0"/>
                <a:ea typeface="Cambria" pitchFamily="34" charset="-122"/>
                <a:cs typeface="Cambria" pitchFamily="34" charset="-120"/>
              </a:rPr>
              <a:t>Changing USE_MOCK in the dashboard will not work.</a:t>
            </a:r>
            <a:endParaRPr lang="en-US" sz="1700" dirty="0"/>
          </a:p>
        </p:txBody>
      </p:sp>
      <p:sp>
        <p:nvSpPr>
          <p:cNvPr id="19" name="Text 17"/>
          <p:cNvSpPr/>
          <p:nvPr/>
        </p:nvSpPr>
        <p:spPr>
          <a:xfrm>
            <a:off x="1143000" y="4983480"/>
            <a:ext cx="10241280" cy="731520"/>
          </a:xfrm>
          <a:prstGeom prst="rect">
            <a:avLst/>
          </a:prstGeom>
          <a:noFill/>
          <a:ln/>
        </p:spPr>
        <p:txBody>
          <a:bodyPr wrap="square" lIns="0" tIns="0" rIns="0" bIns="0" rtlCol="0" anchor="ctr"/>
          <a:lstStyle/>
          <a:p>
            <a:pPr indent="0" marL="0">
              <a:buNone/>
            </a:pPr>
            <a:r>
              <a:rPr lang="en-US" sz="1450" dirty="0">
                <a:solidFill>
                  <a:srgbClr val="7A5200"/>
                </a:solidFill>
                <a:latin typeface="Calibri" pitchFamily="34" charset="0"/>
                <a:ea typeface="Calibri" pitchFamily="34" charset="-122"/>
                <a:cs typeface="Calibri" pitchFamily="34" charset="-120"/>
              </a:rPr>
              <a:t>render.yaml gives it a value, and the file wins. Anything with a value: in the file must be changed in the file. Remember which of your settings live where — this surprises people and costs an evening.</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A85F00"/>
                </a:solidFill>
                <a:latin typeface="Calibri" pitchFamily="34" charset="0"/>
                <a:ea typeface="Calibri" pitchFamily="34" charset="-122"/>
                <a:cs typeface="Calibri" pitchFamily="34" charset="-120"/>
              </a:rPr>
              <a:t>EXPECT THESE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Things you will run into</a:t>
            </a:r>
            <a:endParaRPr lang="en-US" sz="3100" dirty="0"/>
          </a:p>
        </p:txBody>
      </p:sp>
      <p:sp>
        <p:nvSpPr>
          <p:cNvPr id="4" name="Shape 2"/>
          <p:cNvSpPr/>
          <p:nvPr/>
        </p:nvSpPr>
        <p:spPr>
          <a:xfrm>
            <a:off x="777240" y="1691640"/>
            <a:ext cx="10634472" cy="804672"/>
          </a:xfrm>
          <a:prstGeom prst="roundRect">
            <a:avLst>
              <a:gd name="adj" fmla="val 10227"/>
            </a:avLst>
          </a:prstGeom>
          <a:solidFill>
            <a:srgbClr val="F5F6F8"/>
          </a:solidFill>
          <a:ln w="12700">
            <a:solidFill>
              <a:srgbClr val="E1E4E9"/>
            </a:solidFill>
            <a:prstDash val="solid"/>
          </a:ln>
        </p:spPr>
      </p:sp>
      <p:sp>
        <p:nvSpPr>
          <p:cNvPr id="5" name="Shape 3"/>
          <p:cNvSpPr/>
          <p:nvPr/>
        </p:nvSpPr>
        <p:spPr>
          <a:xfrm>
            <a:off x="1069848" y="1929384"/>
            <a:ext cx="329184" cy="329184"/>
          </a:xfrm>
          <a:prstGeom prst="ellipse">
            <a:avLst/>
          </a:prstGeom>
          <a:solidFill>
            <a:srgbClr val="A85F00"/>
          </a:solidFill>
          <a:ln/>
        </p:spPr>
      </p:sp>
      <p:sp>
        <p:nvSpPr>
          <p:cNvPr id="6" name="Text 4"/>
          <p:cNvSpPr/>
          <p:nvPr/>
        </p:nvSpPr>
        <p:spPr>
          <a:xfrm>
            <a:off x="1069848" y="1929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46504"/>
            <a:ext cx="9509760" cy="365760"/>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First visit takes 30-60 seconds</a:t>
            </a:r>
            <a:endParaRPr lang="en-US" sz="1500" dirty="0"/>
          </a:p>
        </p:txBody>
      </p:sp>
      <p:sp>
        <p:nvSpPr>
          <p:cNvPr id="8" name="Text 6"/>
          <p:cNvSpPr/>
          <p:nvPr/>
        </p:nvSpPr>
        <p:spPr>
          <a:xfrm>
            <a:off x="1645920" y="2112264"/>
            <a:ext cx="9509760" cy="365760"/>
          </a:xfrm>
          <a:prstGeom prst="rect">
            <a:avLst/>
          </a:prstGeom>
          <a:noFill/>
          <a:ln/>
        </p:spPr>
        <p:txBody>
          <a:bodyPr wrap="square" lIns="0" tIns="0" rIns="0" bIns="0" rtlCol="0" anchor="ctr"/>
          <a:lstStyle/>
          <a:p>
            <a:pPr indent="0" marL="0">
              <a:buNone/>
            </a:pPr>
            <a:r>
              <a:rPr lang="en-US" sz="1250" dirty="0">
                <a:solidFill>
                  <a:srgbClr val="5C6470"/>
                </a:solidFill>
                <a:latin typeface="Calibri" pitchFamily="34" charset="0"/>
                <a:ea typeface="Calibri" pitchFamily="34" charset="-122"/>
                <a:cs typeface="Calibri" pitchFamily="34" charset="-120"/>
              </a:rPr>
              <a:t>free servers sleep after 15 minutes idle; open the link yourself before a demonstration</a:t>
            </a:r>
            <a:endParaRPr lang="en-US" sz="1250" dirty="0"/>
          </a:p>
        </p:txBody>
      </p:sp>
      <p:sp>
        <p:nvSpPr>
          <p:cNvPr id="9" name="Shape 7"/>
          <p:cNvSpPr/>
          <p:nvPr/>
        </p:nvSpPr>
        <p:spPr>
          <a:xfrm>
            <a:off x="777240" y="2624328"/>
            <a:ext cx="10634472" cy="804672"/>
          </a:xfrm>
          <a:prstGeom prst="roundRect">
            <a:avLst>
              <a:gd name="adj" fmla="val 10227"/>
            </a:avLst>
          </a:prstGeom>
          <a:solidFill>
            <a:srgbClr val="F5F6F8"/>
          </a:solidFill>
          <a:ln w="12700">
            <a:solidFill>
              <a:srgbClr val="E1E4E9"/>
            </a:solidFill>
            <a:prstDash val="solid"/>
          </a:ln>
        </p:spPr>
      </p:sp>
      <p:sp>
        <p:nvSpPr>
          <p:cNvPr id="10" name="Shape 8"/>
          <p:cNvSpPr/>
          <p:nvPr/>
        </p:nvSpPr>
        <p:spPr>
          <a:xfrm>
            <a:off x="1069848" y="2862072"/>
            <a:ext cx="329184" cy="329184"/>
          </a:xfrm>
          <a:prstGeom prst="ellipse">
            <a:avLst/>
          </a:prstGeom>
          <a:solidFill>
            <a:srgbClr val="A85F00"/>
          </a:solidFill>
          <a:ln/>
        </p:spPr>
      </p:sp>
      <p:sp>
        <p:nvSpPr>
          <p:cNvPr id="11" name="Text 9"/>
          <p:cNvSpPr/>
          <p:nvPr/>
        </p:nvSpPr>
        <p:spPr>
          <a:xfrm>
            <a:off x="1069848" y="28620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2679192"/>
            <a:ext cx="9509760" cy="365760"/>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Saved readings disappear after deploying</a:t>
            </a:r>
            <a:endParaRPr lang="en-US" sz="1500" dirty="0"/>
          </a:p>
        </p:txBody>
      </p:sp>
      <p:sp>
        <p:nvSpPr>
          <p:cNvPr id="13" name="Text 11"/>
          <p:cNvSpPr/>
          <p:nvPr/>
        </p:nvSpPr>
        <p:spPr>
          <a:xfrm>
            <a:off x="1645920" y="3044952"/>
            <a:ext cx="9509760" cy="365760"/>
          </a:xfrm>
          <a:prstGeom prst="rect">
            <a:avLst/>
          </a:prstGeom>
          <a:noFill/>
          <a:ln/>
        </p:spPr>
        <p:txBody>
          <a:bodyPr wrap="square" lIns="0" tIns="0" rIns="0" bIns="0" rtlCol="0" anchor="ctr"/>
          <a:lstStyle/>
          <a:p>
            <a:pPr indent="0" marL="0">
              <a:buNone/>
            </a:pPr>
            <a:r>
              <a:rPr lang="en-US" sz="1250" dirty="0">
                <a:solidFill>
                  <a:srgbClr val="5C6470"/>
                </a:solidFill>
                <a:latin typeface="Calibri" pitchFamily="34" charset="0"/>
                <a:ea typeface="Calibri" pitchFamily="34" charset="-122"/>
                <a:cs typeface="Calibri" pitchFamily="34" charset="-120"/>
              </a:rPr>
              <a:t>free servers wipe their disk on each deploy; use a managed database if the data matters</a:t>
            </a:r>
            <a:endParaRPr lang="en-US" sz="1250" dirty="0"/>
          </a:p>
        </p:txBody>
      </p:sp>
      <p:sp>
        <p:nvSpPr>
          <p:cNvPr id="14" name="Shape 12"/>
          <p:cNvSpPr/>
          <p:nvPr/>
        </p:nvSpPr>
        <p:spPr>
          <a:xfrm>
            <a:off x="777240" y="3557016"/>
            <a:ext cx="10634472" cy="804672"/>
          </a:xfrm>
          <a:prstGeom prst="roundRect">
            <a:avLst>
              <a:gd name="adj" fmla="val 10227"/>
            </a:avLst>
          </a:prstGeom>
          <a:solidFill>
            <a:srgbClr val="F5F6F8"/>
          </a:solidFill>
          <a:ln w="12700">
            <a:solidFill>
              <a:srgbClr val="E1E4E9"/>
            </a:solidFill>
            <a:prstDash val="solid"/>
          </a:ln>
        </p:spPr>
      </p:sp>
      <p:sp>
        <p:nvSpPr>
          <p:cNvPr id="15" name="Shape 13"/>
          <p:cNvSpPr/>
          <p:nvPr/>
        </p:nvSpPr>
        <p:spPr>
          <a:xfrm>
            <a:off x="1069848" y="3794760"/>
            <a:ext cx="329184" cy="329184"/>
          </a:xfrm>
          <a:prstGeom prst="ellipse">
            <a:avLst/>
          </a:prstGeom>
          <a:solidFill>
            <a:srgbClr val="A85F00"/>
          </a:solidFill>
          <a:ln/>
        </p:spPr>
      </p:sp>
      <p:sp>
        <p:nvSpPr>
          <p:cNvPr id="16" name="Text 14"/>
          <p:cNvSpPr/>
          <p:nvPr/>
        </p:nvSpPr>
        <p:spPr>
          <a:xfrm>
            <a:off x="1069848" y="3794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645920" y="3611880"/>
            <a:ext cx="9509760" cy="365760"/>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A new database column is missing</a:t>
            </a:r>
            <a:endParaRPr lang="en-US" sz="1500" dirty="0"/>
          </a:p>
        </p:txBody>
      </p:sp>
      <p:sp>
        <p:nvSpPr>
          <p:cNvPr id="18" name="Text 16"/>
          <p:cNvSpPr/>
          <p:nvPr/>
        </p:nvSpPr>
        <p:spPr>
          <a:xfrm>
            <a:off x="1645920" y="3977640"/>
            <a:ext cx="9509760" cy="365760"/>
          </a:xfrm>
          <a:prstGeom prst="rect">
            <a:avLst/>
          </a:prstGeom>
          <a:noFill/>
          <a:ln/>
        </p:spPr>
        <p:txBody>
          <a:bodyPr wrap="square" lIns="0" tIns="0" rIns="0" bIns="0" rtlCol="0" anchor="ctr"/>
          <a:lstStyle/>
          <a:p>
            <a:pPr indent="0" marL="0">
              <a:buNone/>
            </a:pPr>
            <a:r>
              <a:rPr lang="en-US" sz="1250" dirty="0">
                <a:solidFill>
                  <a:srgbClr val="5C6470"/>
                </a:solidFill>
                <a:latin typeface="Calibri" pitchFamily="34" charset="0"/>
                <a:ea typeface="Calibri" pitchFamily="34" charset="-122"/>
                <a:cs typeface="Calibri" pitchFamily="34" charset="-120"/>
              </a:rPr>
              <a:t>CREATE TABLE IF NOT EXISTS will not alter an existing table; delete readings.db</a:t>
            </a:r>
            <a:endParaRPr lang="en-US" sz="1250" dirty="0"/>
          </a:p>
        </p:txBody>
      </p:sp>
      <p:sp>
        <p:nvSpPr>
          <p:cNvPr id="19" name="Shape 17"/>
          <p:cNvSpPr/>
          <p:nvPr/>
        </p:nvSpPr>
        <p:spPr>
          <a:xfrm>
            <a:off x="777240" y="4489704"/>
            <a:ext cx="10634472" cy="804672"/>
          </a:xfrm>
          <a:prstGeom prst="roundRect">
            <a:avLst>
              <a:gd name="adj" fmla="val 10227"/>
            </a:avLst>
          </a:prstGeom>
          <a:solidFill>
            <a:srgbClr val="F5F6F8"/>
          </a:solidFill>
          <a:ln w="12700">
            <a:solidFill>
              <a:srgbClr val="E1E4E9"/>
            </a:solidFill>
            <a:prstDash val="solid"/>
          </a:ln>
        </p:spPr>
      </p:sp>
      <p:sp>
        <p:nvSpPr>
          <p:cNvPr id="20" name="Shape 18"/>
          <p:cNvSpPr/>
          <p:nvPr/>
        </p:nvSpPr>
        <p:spPr>
          <a:xfrm>
            <a:off x="1069848" y="4727448"/>
            <a:ext cx="329184" cy="329184"/>
          </a:xfrm>
          <a:prstGeom prst="ellipse">
            <a:avLst/>
          </a:prstGeom>
          <a:solidFill>
            <a:srgbClr val="A85F00"/>
          </a:solidFill>
          <a:ln/>
        </p:spPr>
      </p:sp>
      <p:sp>
        <p:nvSpPr>
          <p:cNvPr id="21" name="Text 19"/>
          <p:cNvSpPr/>
          <p:nvPr/>
        </p:nvSpPr>
        <p:spPr>
          <a:xfrm>
            <a:off x="1069848" y="4727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645920" y="4544568"/>
            <a:ext cx="9509760" cy="365760"/>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/readings returns your HTML page</a:t>
            </a:r>
            <a:endParaRPr lang="en-US" sz="1500" dirty="0"/>
          </a:p>
        </p:txBody>
      </p:sp>
      <p:sp>
        <p:nvSpPr>
          <p:cNvPr id="23" name="Text 21"/>
          <p:cNvSpPr/>
          <p:nvPr/>
        </p:nvSpPr>
        <p:spPr>
          <a:xfrm>
            <a:off x="1645920" y="4910328"/>
            <a:ext cx="9509760" cy="365760"/>
          </a:xfrm>
          <a:prstGeom prst="rect">
            <a:avLst/>
          </a:prstGeom>
          <a:noFill/>
          <a:ln/>
        </p:spPr>
        <p:txBody>
          <a:bodyPr wrap="square" lIns="0" tIns="0" rIns="0" bIns="0" rtlCol="0" anchor="ctr"/>
          <a:lstStyle/>
          <a:p>
            <a:pPr indent="0" marL="0">
              <a:buNone/>
            </a:pPr>
            <a:r>
              <a:rPr lang="en-US" sz="1250" dirty="0">
                <a:solidFill>
                  <a:srgbClr val="5C6470"/>
                </a:solidFill>
                <a:latin typeface="Calibri" pitchFamily="34" charset="0"/>
                <a:ea typeface="Calibri" pitchFamily="34" charset="-122"/>
                <a:cs typeface="Calibri" pitchFamily="34" charset="-120"/>
              </a:rPr>
              <a:t>app.mount("/") is above your endpoints; move it to the bottom of the file</a:t>
            </a:r>
            <a:endParaRPr lang="en-US" sz="1250" dirty="0"/>
          </a:p>
        </p:txBody>
      </p:sp>
      <p:sp>
        <p:nvSpPr>
          <p:cNvPr id="24" name="Shape 22"/>
          <p:cNvSpPr/>
          <p:nvPr/>
        </p:nvSpPr>
        <p:spPr>
          <a:xfrm>
            <a:off x="777240" y="5422392"/>
            <a:ext cx="10634472" cy="804672"/>
          </a:xfrm>
          <a:prstGeom prst="roundRect">
            <a:avLst>
              <a:gd name="adj" fmla="val 10227"/>
            </a:avLst>
          </a:prstGeom>
          <a:solidFill>
            <a:srgbClr val="F5F6F8"/>
          </a:solidFill>
          <a:ln w="12700">
            <a:solidFill>
              <a:srgbClr val="E1E4E9"/>
            </a:solidFill>
            <a:prstDash val="solid"/>
          </a:ln>
        </p:spPr>
      </p:sp>
      <p:sp>
        <p:nvSpPr>
          <p:cNvPr id="25" name="Shape 23"/>
          <p:cNvSpPr/>
          <p:nvPr/>
        </p:nvSpPr>
        <p:spPr>
          <a:xfrm>
            <a:off x="1069848" y="5660136"/>
            <a:ext cx="329184" cy="329184"/>
          </a:xfrm>
          <a:prstGeom prst="ellipse">
            <a:avLst/>
          </a:prstGeom>
          <a:solidFill>
            <a:srgbClr val="A85F00"/>
          </a:solidFill>
          <a:ln/>
        </p:spPr>
      </p:sp>
      <p:sp>
        <p:nvSpPr>
          <p:cNvPr id="26" name="Text 24"/>
          <p:cNvSpPr/>
          <p:nvPr/>
        </p:nvSpPr>
        <p:spPr>
          <a:xfrm>
            <a:off x="1069848" y="56601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645920" y="5477256"/>
            <a:ext cx="9509760" cy="365760"/>
          </a:xfrm>
          <a:prstGeom prst="rect">
            <a:avLst/>
          </a:prstGeom>
          <a:noFill/>
          <a:ln/>
        </p:spPr>
        <p:txBody>
          <a:bodyPr wrap="square" lIns="0" tIns="0" rIns="0" bIns="0" rtlCol="0" anchor="ctr"/>
          <a:lstStyle/>
          <a:p>
            <a:pPr indent="0" marL="0">
              <a:buNone/>
            </a:pPr>
            <a:r>
              <a:rPr lang="en-US" sz="1500" b="1" dirty="0">
                <a:solidFill>
                  <a:srgbClr val="15181F"/>
                </a:solidFill>
                <a:latin typeface="Cambria" pitchFamily="34" charset="0"/>
                <a:ea typeface="Cambria" pitchFamily="34" charset="-122"/>
                <a:cs typeface="Cambria" pitchFamily="34" charset="-120"/>
              </a:rPr>
              <a:t>Address already in use</a:t>
            </a:r>
            <a:endParaRPr lang="en-US" sz="1500" dirty="0"/>
          </a:p>
        </p:txBody>
      </p:sp>
      <p:sp>
        <p:nvSpPr>
          <p:cNvPr id="28" name="Text 26"/>
          <p:cNvSpPr/>
          <p:nvPr/>
        </p:nvSpPr>
        <p:spPr>
          <a:xfrm>
            <a:off x="1645920" y="5843016"/>
            <a:ext cx="9509760" cy="365760"/>
          </a:xfrm>
          <a:prstGeom prst="rect">
            <a:avLst/>
          </a:prstGeom>
          <a:noFill/>
          <a:ln/>
        </p:spPr>
        <p:txBody>
          <a:bodyPr wrap="square" lIns="0" tIns="0" rIns="0" bIns="0" rtlCol="0" anchor="ctr"/>
          <a:lstStyle/>
          <a:p>
            <a:pPr indent="0" marL="0">
              <a:buNone/>
            </a:pPr>
            <a:r>
              <a:rPr lang="en-US" sz="1250" dirty="0">
                <a:solidFill>
                  <a:srgbClr val="5C6470"/>
                </a:solidFill>
                <a:latin typeface="Calibri" pitchFamily="34" charset="0"/>
                <a:ea typeface="Calibri" pitchFamily="34" charset="-122"/>
                <a:cs typeface="Calibri" pitchFamily="34" charset="-120"/>
              </a:rPr>
              <a:t>an old server is still running; add --port 8001</a:t>
            </a:r>
            <a:endParaRPr lang="en-US" sz="1250" dirty="0"/>
          </a:p>
        </p:txBody>
      </p:sp>
      <p:sp>
        <p:nvSpPr>
          <p:cNvPr id="29" name="Text 27"/>
          <p:cNvSpPr/>
          <p:nvPr/>
        </p:nvSpPr>
        <p:spPr>
          <a:xfrm>
            <a:off x="777240" y="6263640"/>
            <a:ext cx="10634472" cy="320040"/>
          </a:xfrm>
          <a:prstGeom prst="rect">
            <a:avLst/>
          </a:prstGeom>
          <a:noFill/>
          <a:ln/>
        </p:spPr>
        <p:txBody>
          <a:bodyPr wrap="square" lIns="0" tIns="0" rIns="0" bIns="0"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All five are in the troubleshooting table in the guide.</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APPENDIX A</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Free AI with no account at all</a:t>
            </a:r>
            <a:endParaRPr lang="en-US" sz="3100" dirty="0"/>
          </a:p>
        </p:txBody>
      </p:sp>
      <p:sp>
        <p:nvSpPr>
          <p:cNvPr id="4" name="Text 2"/>
          <p:cNvSpPr/>
          <p:nvPr/>
        </p:nvSpPr>
        <p:spPr>
          <a:xfrm>
            <a:off x="777240" y="1371600"/>
            <a:ext cx="10634472" cy="36576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You can run a small model on your own laptop with Ollama. No cost, no key, works offline.</a:t>
            </a:r>
            <a:endParaRPr lang="en-US" sz="1550" dirty="0"/>
          </a:p>
        </p:txBody>
      </p:sp>
      <p:sp>
        <p:nvSpPr>
          <p:cNvPr id="5" name="Shape 3"/>
          <p:cNvSpPr/>
          <p:nvPr/>
        </p:nvSpPr>
        <p:spPr>
          <a:xfrm>
            <a:off x="777240" y="1828800"/>
            <a:ext cx="10634472" cy="749808"/>
          </a:xfrm>
          <a:prstGeom prst="roundRect">
            <a:avLst>
              <a:gd name="adj" fmla="val 9756"/>
            </a:avLst>
          </a:prstGeom>
          <a:solidFill>
            <a:srgbClr val="1B1F2A"/>
          </a:solidFill>
          <a:ln w="12700">
            <a:solidFill>
              <a:srgbClr val="1B1F2A"/>
            </a:solidFill>
            <a:prstDash val="solid"/>
          </a:ln>
        </p:spPr>
      </p:sp>
      <p:sp>
        <p:nvSpPr>
          <p:cNvPr id="6" name="Text 4"/>
          <p:cNvSpPr/>
          <p:nvPr/>
        </p:nvSpPr>
        <p:spPr>
          <a:xfrm>
            <a:off x="1097280" y="2057400"/>
            <a:ext cx="9994392" cy="292608"/>
          </a:xfrm>
          <a:prstGeom prst="rect">
            <a:avLst/>
          </a:prstGeom>
          <a:noFill/>
          <a:ln/>
        </p:spPr>
        <p:txBody>
          <a:bodyPr wrap="square" lIns="0" tIns="0" rIns="0" bIns="0" rtlCol="0" anchor="t"/>
          <a:lstStyle/>
          <a:p>
            <a:pPr indent="0" marL="0">
              <a:lnSpc>
                <a:spcPts val="2300"/>
              </a:lnSpc>
              <a:buNone/>
            </a:pPr>
            <a:r>
              <a:rPr lang="en-US" sz="1600" dirty="0">
                <a:solidFill>
                  <a:srgbClr val="3ACFB6"/>
                </a:solidFill>
                <a:latin typeface="Courier New" pitchFamily="34" charset="0"/>
                <a:ea typeface="Courier New" pitchFamily="34" charset="-122"/>
                <a:cs typeface="Courier New" pitchFamily="34" charset="-120"/>
              </a:rPr>
              <a:t>ollama pull llama3.2:3b</a:t>
            </a:r>
            <a:endParaRPr lang="en-US" sz="1600" dirty="0"/>
          </a:p>
        </p:txBody>
      </p:sp>
      <p:sp>
        <p:nvSpPr>
          <p:cNvPr id="7" name="Text 5"/>
          <p:cNvSpPr/>
          <p:nvPr/>
        </p:nvSpPr>
        <p:spPr>
          <a:xfrm>
            <a:off x="777240" y="2880360"/>
            <a:ext cx="10634472" cy="36576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Then add a third branch to explain() in ai.py that posts to  http://localhost:11434/api/chat</a:t>
            </a:r>
            <a:endParaRPr lang="en-US" sz="1500" dirty="0"/>
          </a:p>
        </p:txBody>
      </p:sp>
      <p:sp>
        <p:nvSpPr>
          <p:cNvPr id="8" name="Shape 6"/>
          <p:cNvSpPr/>
          <p:nvPr/>
        </p:nvSpPr>
        <p:spPr>
          <a:xfrm>
            <a:off x="777240" y="3429000"/>
            <a:ext cx="10634472" cy="1737360"/>
          </a:xfrm>
          <a:prstGeom prst="roundRect">
            <a:avLst>
              <a:gd name="adj" fmla="val 4737"/>
            </a:avLst>
          </a:prstGeom>
          <a:solidFill>
            <a:srgbClr val="FBF0EE"/>
          </a:solidFill>
          <a:ln w="12700">
            <a:solidFill>
              <a:srgbClr val="BE3A2B"/>
            </a:solidFill>
            <a:prstDash val="solid"/>
          </a:ln>
        </p:spPr>
      </p:sp>
      <p:sp>
        <p:nvSpPr>
          <p:cNvPr id="9" name="Text 7"/>
          <p:cNvSpPr/>
          <p:nvPr/>
        </p:nvSpPr>
        <p:spPr>
          <a:xfrm>
            <a:off x="1143000" y="3611880"/>
            <a:ext cx="10241280" cy="384048"/>
          </a:xfrm>
          <a:prstGeom prst="rect">
            <a:avLst/>
          </a:prstGeom>
          <a:noFill/>
          <a:ln/>
        </p:spPr>
        <p:txBody>
          <a:bodyPr wrap="square" lIns="0" tIns="0" rIns="0" bIns="0" rtlCol="0" anchor="ctr"/>
          <a:lstStyle/>
          <a:p>
            <a:pPr indent="0" marL="0">
              <a:buNone/>
            </a:pPr>
            <a:r>
              <a:rPr lang="en-US" sz="1700" b="1" dirty="0">
                <a:solidFill>
                  <a:srgbClr val="BE3A2B"/>
                </a:solidFill>
                <a:latin typeface="Cambria" pitchFamily="34" charset="0"/>
                <a:ea typeface="Cambria" pitchFamily="34" charset="-122"/>
                <a:cs typeface="Cambria" pitchFamily="34" charset="-120"/>
              </a:rPr>
              <a:t>One warning: localhost means the computer the code is running on.</a:t>
            </a:r>
            <a:endParaRPr lang="en-US" sz="1700" dirty="0"/>
          </a:p>
        </p:txBody>
      </p:sp>
      <p:sp>
        <p:nvSpPr>
          <p:cNvPr id="10" name="Text 8"/>
          <p:cNvSpPr/>
          <p:nvPr/>
        </p:nvSpPr>
        <p:spPr>
          <a:xfrm>
            <a:off x="1143000" y="4023360"/>
            <a:ext cx="10241280" cy="1005840"/>
          </a:xfrm>
          <a:prstGeom prst="rect">
            <a:avLst/>
          </a:prstGeom>
          <a:noFill/>
          <a:ln/>
        </p:spPr>
        <p:txBody>
          <a:bodyPr wrap="square" lIns="0" tIns="0" rIns="0" bIns="0" rtlCol="0" anchor="ctr"/>
          <a:lstStyle/>
          <a:p>
            <a:pPr indent="0" marL="0">
              <a:buNone/>
            </a:pPr>
            <a:r>
              <a:rPr lang="en-US" sz="1450" dirty="0">
                <a:solidFill>
                  <a:srgbClr val="BE3A2B"/>
                </a:solidFill>
                <a:latin typeface="Calibri" pitchFamily="34" charset="0"/>
                <a:ea typeface="Calibri" pitchFamily="34" charset="-122"/>
                <a:cs typeface="Calibri" pitchFamily="34" charset="-120"/>
              </a:rPr>
              <a:t>On your laptop that is your laptop, and Ollama is there. On a deployed server it is the server, and Ollama is not there. A local model works for a laptop demonstration; it cannot work on free hosting, which offers around 512 MB against the roughly 4 GB a small model needs.</a:t>
            </a:r>
            <a:endParaRPr lang="en-US" sz="1450" dirty="0"/>
          </a:p>
        </p:txBody>
      </p:sp>
      <p:sp>
        <p:nvSpPr>
          <p:cNvPr id="11" name="Text 9"/>
          <p:cNvSpPr/>
          <p:nvPr/>
        </p:nvSpPr>
        <p:spPr>
          <a:xfrm>
            <a:off x="777240" y="5349240"/>
            <a:ext cx="10634472" cy="822960"/>
          </a:xfrm>
          <a:prstGeom prst="rect">
            <a:avLst/>
          </a:prstGeom>
          <a:noFill/>
          <a:ln/>
        </p:spPr>
        <p:txBody>
          <a:bodyPr wrap="square" lIns="0" tIns="0" rIns="0" bIns="0" rtlCol="0" anchor="ctr"/>
          <a:lstStyle/>
          <a:p>
            <a:pPr indent="0" marL="0">
              <a:buNone/>
            </a:pPr>
            <a:r>
              <a:rPr lang="en-US" sz="1900" b="1" dirty="0">
                <a:solidFill>
                  <a:srgbClr val="15181F"/>
                </a:solidFill>
                <a:latin typeface="Cambria" pitchFamily="34" charset="0"/>
                <a:ea typeface="Cambria" pitchFamily="34" charset="-122"/>
                <a:cs typeface="Cambria" pitchFamily="34" charset="-120"/>
              </a:rPr>
              <a:t>Decide your target before you build: laptop, or public URL.</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APPENDIX B</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indent="0" marL="0">
              <a:buNone/>
            </a:pPr>
            <a:r>
              <a:rPr lang="en-US" sz="3100" b="1" dirty="0">
                <a:solidFill>
                  <a:srgbClr val="15181F"/>
                </a:solidFill>
                <a:latin typeface="Cambria" pitchFamily="34" charset="0"/>
                <a:ea typeface="Cambria" pitchFamily="34" charset="-122"/>
                <a:cs typeface="Cambria" pitchFamily="34" charset="-120"/>
              </a:rPr>
              <a:t>Making it feel fast</a:t>
            </a:r>
            <a:endParaRPr lang="en-US" sz="3100" dirty="0"/>
          </a:p>
        </p:txBody>
      </p:sp>
      <p:sp>
        <p:nvSpPr>
          <p:cNvPr id="4" name="Text 2"/>
          <p:cNvSpPr/>
          <p:nvPr/>
        </p:nvSpPr>
        <p:spPr>
          <a:xfrm>
            <a:off x="777240" y="1371600"/>
            <a:ext cx="10634472" cy="640080"/>
          </a:xfrm>
          <a:prstGeom prst="rect">
            <a:avLst/>
          </a:prstGeom>
          <a:noFill/>
          <a:ln/>
        </p:spPr>
        <p:txBody>
          <a:bodyPr wrap="square" lIns="0" tIns="0" rIns="0" bIns="0" rtlCol="0" anchor="ctr"/>
          <a:lstStyle/>
          <a:p>
            <a:pPr indent="0" marL="0">
              <a:buNone/>
            </a:pPr>
            <a:r>
              <a:rPr lang="en-US" sz="1550" dirty="0">
                <a:solidFill>
                  <a:srgbClr val="5C6470"/>
                </a:solidFill>
                <a:latin typeface="Calibri" pitchFamily="34" charset="0"/>
                <a:ea typeface="Calibri" pitchFamily="34" charset="-122"/>
                <a:cs typeface="Calibri" pitchFamily="34" charset="-120"/>
              </a:rPr>
              <a:t>Our endpoint waits for the AI before replying. With a slow model the same request can take between 5 and 26 seconds, and the visitor sits and waits.</a:t>
            </a:r>
            <a:endParaRPr lang="en-US" sz="1550" dirty="0"/>
          </a:p>
        </p:txBody>
      </p:sp>
      <p:sp>
        <p:nvSpPr>
          <p:cNvPr id="5" name="Shape 3"/>
          <p:cNvSpPr/>
          <p:nvPr/>
        </p:nvSpPr>
        <p:spPr>
          <a:xfrm>
            <a:off x="777240" y="2194560"/>
            <a:ext cx="10634472" cy="658368"/>
          </a:xfrm>
          <a:prstGeom prst="roundRect">
            <a:avLst>
              <a:gd name="adj" fmla="val 12500"/>
            </a:avLst>
          </a:prstGeom>
          <a:solidFill>
            <a:srgbClr val="F5F6F8"/>
          </a:solidFill>
          <a:ln w="12700">
            <a:solidFill>
              <a:srgbClr val="E1E4E9"/>
            </a:solidFill>
            <a:prstDash val="solid"/>
          </a:ln>
        </p:spPr>
      </p:sp>
      <p:sp>
        <p:nvSpPr>
          <p:cNvPr id="6" name="Shape 4"/>
          <p:cNvSpPr/>
          <p:nvPr/>
        </p:nvSpPr>
        <p:spPr>
          <a:xfrm>
            <a:off x="1069848" y="2368296"/>
            <a:ext cx="310896" cy="310896"/>
          </a:xfrm>
          <a:prstGeom prst="ellipse">
            <a:avLst/>
          </a:prstGeom>
          <a:solidFill>
            <a:srgbClr val="5158BE"/>
          </a:solidFill>
          <a:ln/>
        </p:spPr>
      </p:sp>
      <p:sp>
        <p:nvSpPr>
          <p:cNvPr id="7" name="Text 5"/>
          <p:cNvSpPr/>
          <p:nvPr/>
        </p:nvSpPr>
        <p:spPr>
          <a:xfrm>
            <a:off x="1069848" y="2368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645920" y="2212848"/>
            <a:ext cx="9601200" cy="621792"/>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Compute the severity and save the row with ai_status = "pending"</a:t>
            </a:r>
            <a:endParaRPr lang="en-US" sz="1500" dirty="0"/>
          </a:p>
        </p:txBody>
      </p:sp>
      <p:sp>
        <p:nvSpPr>
          <p:cNvPr id="9" name="Shape 7"/>
          <p:cNvSpPr/>
          <p:nvPr/>
        </p:nvSpPr>
        <p:spPr>
          <a:xfrm>
            <a:off x="777240" y="2971800"/>
            <a:ext cx="10634472" cy="658368"/>
          </a:xfrm>
          <a:prstGeom prst="roundRect">
            <a:avLst>
              <a:gd name="adj" fmla="val 12500"/>
            </a:avLst>
          </a:prstGeom>
          <a:solidFill>
            <a:srgbClr val="F5F6F8"/>
          </a:solidFill>
          <a:ln w="12700">
            <a:solidFill>
              <a:srgbClr val="E1E4E9"/>
            </a:solidFill>
            <a:prstDash val="solid"/>
          </a:ln>
        </p:spPr>
      </p:sp>
      <p:sp>
        <p:nvSpPr>
          <p:cNvPr id="10" name="Shape 8"/>
          <p:cNvSpPr/>
          <p:nvPr/>
        </p:nvSpPr>
        <p:spPr>
          <a:xfrm>
            <a:off x="1069848" y="3145536"/>
            <a:ext cx="310896" cy="310896"/>
          </a:xfrm>
          <a:prstGeom prst="ellipse">
            <a:avLst/>
          </a:prstGeom>
          <a:solidFill>
            <a:srgbClr val="5158BE"/>
          </a:solidFill>
          <a:ln/>
        </p:spPr>
      </p:sp>
      <p:sp>
        <p:nvSpPr>
          <p:cNvPr id="11" name="Text 9"/>
          <p:cNvSpPr/>
          <p:nvPr/>
        </p:nvSpPr>
        <p:spPr>
          <a:xfrm>
            <a:off x="1069848" y="31455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2990088"/>
            <a:ext cx="9601200" cy="621792"/>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Return straight away — the visitor has their answer</a:t>
            </a:r>
            <a:endParaRPr lang="en-US" sz="1500" dirty="0"/>
          </a:p>
        </p:txBody>
      </p:sp>
      <p:sp>
        <p:nvSpPr>
          <p:cNvPr id="13" name="Shape 11"/>
          <p:cNvSpPr/>
          <p:nvPr/>
        </p:nvSpPr>
        <p:spPr>
          <a:xfrm>
            <a:off x="777240" y="3749040"/>
            <a:ext cx="10634472" cy="658368"/>
          </a:xfrm>
          <a:prstGeom prst="roundRect">
            <a:avLst>
              <a:gd name="adj" fmla="val 12500"/>
            </a:avLst>
          </a:prstGeom>
          <a:solidFill>
            <a:srgbClr val="F5F6F8"/>
          </a:solidFill>
          <a:ln w="12700">
            <a:solidFill>
              <a:srgbClr val="E1E4E9"/>
            </a:solidFill>
            <a:prstDash val="solid"/>
          </a:ln>
        </p:spPr>
      </p:sp>
      <p:sp>
        <p:nvSpPr>
          <p:cNvPr id="14" name="Shape 12"/>
          <p:cNvSpPr/>
          <p:nvPr/>
        </p:nvSpPr>
        <p:spPr>
          <a:xfrm>
            <a:off x="1069848" y="3922776"/>
            <a:ext cx="310896" cy="310896"/>
          </a:xfrm>
          <a:prstGeom prst="ellipse">
            <a:avLst/>
          </a:prstGeom>
          <a:solidFill>
            <a:srgbClr val="5158BE"/>
          </a:solidFill>
          <a:ln/>
        </p:spPr>
      </p:sp>
      <p:sp>
        <p:nvSpPr>
          <p:cNvPr id="15" name="Text 13"/>
          <p:cNvSpPr/>
          <p:nvPr/>
        </p:nvSpPr>
        <p:spPr>
          <a:xfrm>
            <a:off x="1069848" y="39227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645920" y="3767328"/>
            <a:ext cx="9601200" cy="621792"/>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Do the AI call in a background task and update the row</a:t>
            </a:r>
            <a:endParaRPr lang="en-US" sz="1500" dirty="0"/>
          </a:p>
        </p:txBody>
      </p:sp>
      <p:sp>
        <p:nvSpPr>
          <p:cNvPr id="17" name="Shape 15"/>
          <p:cNvSpPr/>
          <p:nvPr/>
        </p:nvSpPr>
        <p:spPr>
          <a:xfrm>
            <a:off x="777240" y="4526280"/>
            <a:ext cx="10634472" cy="658368"/>
          </a:xfrm>
          <a:prstGeom prst="roundRect">
            <a:avLst>
              <a:gd name="adj" fmla="val 12500"/>
            </a:avLst>
          </a:prstGeom>
          <a:solidFill>
            <a:srgbClr val="F5F6F8"/>
          </a:solidFill>
          <a:ln w="12700">
            <a:solidFill>
              <a:srgbClr val="E1E4E9"/>
            </a:solidFill>
            <a:prstDash val="solid"/>
          </a:ln>
        </p:spPr>
      </p:sp>
      <p:sp>
        <p:nvSpPr>
          <p:cNvPr id="18" name="Shape 16"/>
          <p:cNvSpPr/>
          <p:nvPr/>
        </p:nvSpPr>
        <p:spPr>
          <a:xfrm>
            <a:off x="1069848" y="4700016"/>
            <a:ext cx="310896" cy="310896"/>
          </a:xfrm>
          <a:prstGeom prst="ellipse">
            <a:avLst/>
          </a:prstGeom>
          <a:solidFill>
            <a:srgbClr val="5158BE"/>
          </a:solidFill>
          <a:ln/>
        </p:spPr>
      </p:sp>
      <p:sp>
        <p:nvSpPr>
          <p:cNvPr id="19" name="Text 17"/>
          <p:cNvSpPr/>
          <p:nvPr/>
        </p:nvSpPr>
        <p:spPr>
          <a:xfrm>
            <a:off x="1069848" y="4700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645920" y="4544568"/>
            <a:ext cx="9601200" cy="621792"/>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Have the page poll until the explanation appears</a:t>
            </a:r>
            <a:endParaRPr lang="en-US" sz="1500" dirty="0"/>
          </a:p>
        </p:txBody>
      </p:sp>
      <p:sp>
        <p:nvSpPr>
          <p:cNvPr id="21" name="Shape 19"/>
          <p:cNvSpPr/>
          <p:nvPr/>
        </p:nvSpPr>
        <p:spPr>
          <a:xfrm>
            <a:off x="777240" y="5440680"/>
            <a:ext cx="10634472" cy="914400"/>
          </a:xfrm>
          <a:prstGeom prst="roundRect">
            <a:avLst>
              <a:gd name="adj" fmla="val 9000"/>
            </a:avLst>
          </a:prstGeom>
          <a:solidFill>
            <a:srgbClr val="EAF6F3"/>
          </a:solidFill>
          <a:ln w="12700">
            <a:solidFill>
              <a:srgbClr val="9CCFC6"/>
            </a:solidFill>
            <a:prstDash val="solid"/>
          </a:ln>
        </p:spPr>
      </p:sp>
      <p:sp>
        <p:nvSpPr>
          <p:cNvPr id="22" name="Text 20"/>
          <p:cNvSpPr/>
          <p:nvPr/>
        </p:nvSpPr>
        <p:spPr>
          <a:xfrm>
            <a:off x="1143000" y="5532120"/>
            <a:ext cx="10241280" cy="731520"/>
          </a:xfrm>
          <a:prstGeom prst="rect">
            <a:avLst/>
          </a:prstGeom>
          <a:noFill/>
          <a:ln/>
        </p:spPr>
        <p:txBody>
          <a:bodyPr wrap="square" lIns="0" tIns="0" rIns="0" bIns="0" rtlCol="0" anchor="ctr"/>
          <a:lstStyle/>
          <a:p>
            <a:pPr indent="0" marL="0">
              <a:buNone/>
            </a:pPr>
            <a:r>
              <a:rPr lang="en-US" sz="1500" dirty="0">
                <a:solidFill>
                  <a:srgbClr val="00776A"/>
                </a:solidFill>
                <a:latin typeface="Calibri" pitchFamily="34" charset="0"/>
                <a:ea typeface="Calibri" pitchFamily="34" charset="-122"/>
                <a:cs typeface="Calibri" pitchFamily="34" charset="-120"/>
              </a:rPr>
              <a:t>You have seen this: a message shows a tick instantly, then the delivery status updates a moment later. FastAPI has BackgroundTasks built in for exactly this.</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31520"/>
            <a:ext cx="100584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you built</a:t>
            </a:r>
            <a:endParaRPr lang="en-US" sz="3400" dirty="0"/>
          </a:p>
        </p:txBody>
      </p:sp>
      <p:sp>
        <p:nvSpPr>
          <p:cNvPr id="3" name="Shape 1"/>
          <p:cNvSpPr/>
          <p:nvPr/>
        </p:nvSpPr>
        <p:spPr>
          <a:xfrm>
            <a:off x="822960" y="1911096"/>
            <a:ext cx="274320" cy="274320"/>
          </a:xfrm>
          <a:prstGeom prst="ellipse">
            <a:avLst/>
          </a:prstGeom>
          <a:solidFill>
            <a:srgbClr val="3ACFB6"/>
          </a:solidFill>
          <a:ln/>
        </p:spPr>
      </p:sp>
      <p:sp>
        <p:nvSpPr>
          <p:cNvPr id="4" name="Text 2"/>
          <p:cNvSpPr/>
          <p:nvPr/>
        </p:nvSpPr>
        <p:spPr>
          <a:xfrm>
            <a:off x="1371600" y="1783080"/>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web server with four endpoints</a:t>
            </a:r>
            <a:endParaRPr lang="en-US" sz="1650" dirty="0"/>
          </a:p>
        </p:txBody>
      </p:sp>
      <p:sp>
        <p:nvSpPr>
          <p:cNvPr id="5" name="Shape 3"/>
          <p:cNvSpPr/>
          <p:nvPr/>
        </p:nvSpPr>
        <p:spPr>
          <a:xfrm>
            <a:off x="822960" y="2569464"/>
            <a:ext cx="274320" cy="274320"/>
          </a:xfrm>
          <a:prstGeom prst="ellipse">
            <a:avLst/>
          </a:prstGeom>
          <a:solidFill>
            <a:srgbClr val="3ACFB6"/>
          </a:solidFill>
          <a:ln/>
        </p:spPr>
      </p:sp>
      <p:sp>
        <p:nvSpPr>
          <p:cNvPr id="6" name="Text 4"/>
          <p:cNvSpPr/>
          <p:nvPr/>
        </p:nvSpPr>
        <p:spPr>
          <a:xfrm>
            <a:off x="1371600" y="2441448"/>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Input validation that rejects bad data before your code runs</a:t>
            </a:r>
            <a:endParaRPr lang="en-US" sz="1650" dirty="0"/>
          </a:p>
        </p:txBody>
      </p:sp>
      <p:sp>
        <p:nvSpPr>
          <p:cNvPr id="7" name="Shape 5"/>
          <p:cNvSpPr/>
          <p:nvPr/>
        </p:nvSpPr>
        <p:spPr>
          <a:xfrm>
            <a:off x="822960" y="3227832"/>
            <a:ext cx="274320" cy="274320"/>
          </a:xfrm>
          <a:prstGeom prst="ellipse">
            <a:avLst/>
          </a:prstGeom>
          <a:solidFill>
            <a:srgbClr val="3ACFB6"/>
          </a:solidFill>
          <a:ln/>
        </p:spPr>
      </p:sp>
      <p:sp>
        <p:nvSpPr>
          <p:cNvPr id="8" name="Text 6"/>
          <p:cNvSpPr/>
          <p:nvPr/>
        </p:nvSpPr>
        <p:spPr>
          <a:xfrm>
            <a:off x="1371600" y="3099816"/>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database that survives restarts</a:t>
            </a:r>
            <a:endParaRPr lang="en-US" sz="1650" dirty="0"/>
          </a:p>
        </p:txBody>
      </p:sp>
      <p:sp>
        <p:nvSpPr>
          <p:cNvPr id="9" name="Shape 7"/>
          <p:cNvSpPr/>
          <p:nvPr/>
        </p:nvSpPr>
        <p:spPr>
          <a:xfrm>
            <a:off x="822960" y="3886200"/>
            <a:ext cx="274320" cy="274320"/>
          </a:xfrm>
          <a:prstGeom prst="ellipse">
            <a:avLst/>
          </a:prstGeom>
          <a:solidFill>
            <a:srgbClr val="3ACFB6"/>
          </a:solidFill>
          <a:ln/>
        </p:spPr>
      </p:sp>
      <p:sp>
        <p:nvSpPr>
          <p:cNvPr id="10" name="Text 8"/>
          <p:cNvSpPr/>
          <p:nvPr/>
        </p:nvSpPr>
        <p:spPr>
          <a:xfrm>
            <a:off x="1371600" y="3758184"/>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An AI integration with the key handled correctly</a:t>
            </a:r>
            <a:endParaRPr lang="en-US" sz="1650" dirty="0"/>
          </a:p>
        </p:txBody>
      </p:sp>
      <p:sp>
        <p:nvSpPr>
          <p:cNvPr id="11" name="Shape 9"/>
          <p:cNvSpPr/>
          <p:nvPr/>
        </p:nvSpPr>
        <p:spPr>
          <a:xfrm>
            <a:off x="822960" y="4544568"/>
            <a:ext cx="274320" cy="274320"/>
          </a:xfrm>
          <a:prstGeom prst="ellipse">
            <a:avLst/>
          </a:prstGeom>
          <a:solidFill>
            <a:srgbClr val="3ACFB6"/>
          </a:solidFill>
          <a:ln/>
        </p:spPr>
      </p:sp>
      <p:sp>
        <p:nvSpPr>
          <p:cNvPr id="12" name="Text 10"/>
          <p:cNvSpPr/>
          <p:nvPr/>
        </p:nvSpPr>
        <p:spPr>
          <a:xfrm>
            <a:off x="1371600" y="4416552"/>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web page that talks to your own backend</a:t>
            </a:r>
            <a:endParaRPr lang="en-US" sz="1650" dirty="0"/>
          </a:p>
        </p:txBody>
      </p:sp>
      <p:sp>
        <p:nvSpPr>
          <p:cNvPr id="13" name="Shape 11"/>
          <p:cNvSpPr/>
          <p:nvPr/>
        </p:nvSpPr>
        <p:spPr>
          <a:xfrm>
            <a:off x="822960" y="5202936"/>
            <a:ext cx="274320" cy="274320"/>
          </a:xfrm>
          <a:prstGeom prst="ellipse">
            <a:avLst/>
          </a:prstGeom>
          <a:solidFill>
            <a:srgbClr val="3ACFB6"/>
          </a:solidFill>
          <a:ln/>
        </p:spPr>
      </p:sp>
      <p:sp>
        <p:nvSpPr>
          <p:cNvPr id="14" name="Text 12"/>
          <p:cNvSpPr/>
          <p:nvPr/>
        </p:nvSpPr>
        <p:spPr>
          <a:xfrm>
            <a:off x="1371600" y="5074920"/>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All of it deployed and running on the public internet</a:t>
            </a:r>
            <a:endParaRPr lang="en-US" sz="1650" dirty="0"/>
          </a:p>
        </p:txBody>
      </p:sp>
      <p:sp>
        <p:nvSpPr>
          <p:cNvPr id="15" name="Text 13"/>
          <p:cNvSpPr/>
          <p:nvPr/>
        </p:nvSpPr>
        <p:spPr>
          <a:xfrm>
            <a:off x="777240" y="5806440"/>
            <a:ext cx="10607040" cy="457200"/>
          </a:xfrm>
          <a:prstGeom prst="rect">
            <a:avLst/>
          </a:prstGeom>
          <a:noFill/>
          <a:ln/>
        </p:spPr>
        <p:txBody>
          <a:bodyPr wrap="square" lIns="0" tIns="0" rIns="0" bIns="0" rtlCol="0" anchor="ctr"/>
          <a:lstStyle/>
          <a:p>
            <a:pPr indent="0" marL="0">
              <a:buNone/>
            </a:pPr>
            <a:r>
              <a:rPr lang="en-US" sz="1800" b="1" dirty="0">
                <a:solidFill>
                  <a:srgbClr val="3ACFB6"/>
                </a:solidFill>
                <a:latin typeface="Cambria" pitchFamily="34" charset="0"/>
                <a:ea typeface="Cambria" pitchFamily="34" charset="-122"/>
                <a:cs typeface="Cambria" pitchFamily="34" charset="-120"/>
              </a:rPr>
              <a:t>The next application you build has the same shape.</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148840"/>
            <a:ext cx="100584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Questions</a:t>
            </a:r>
            <a:endParaRPr lang="en-US" sz="5000" dirty="0"/>
          </a:p>
        </p:txBody>
      </p:sp>
      <p:sp>
        <p:nvSpPr>
          <p:cNvPr id="3" name="Text 1"/>
          <p:cNvSpPr/>
          <p:nvPr/>
        </p:nvSpPr>
        <p:spPr>
          <a:xfrm>
            <a:off x="777240" y="3337560"/>
            <a:ext cx="9875520" cy="54864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The written guide has every command, the full code for all six stages, and a troubleshooting table.</a:t>
            </a:r>
            <a:endParaRPr lang="en-US" sz="1600" dirty="0"/>
          </a:p>
        </p:txBody>
      </p:sp>
      <p:sp>
        <p:nvSpPr>
          <p:cNvPr id="4" name="Text 2"/>
          <p:cNvSpPr/>
          <p:nvPr/>
        </p:nvSpPr>
        <p:spPr>
          <a:xfrm>
            <a:off x="777240" y="4069080"/>
            <a:ext cx="10058400" cy="457200"/>
          </a:xfrm>
          <a:prstGeom prst="rect">
            <a:avLst/>
          </a:prstGeom>
          <a:noFill/>
          <a:ln/>
        </p:spPr>
        <p:txBody>
          <a:bodyPr wrap="square" lIns="0" tIns="0" rIns="0" bIns="0" rtlCol="0" anchor="ctr"/>
          <a:lstStyle/>
          <a:p>
            <a:pPr indent="0" marL="0">
              <a:buNone/>
            </a:pPr>
            <a:r>
              <a:rPr lang="en-US" sz="2000" dirty="0">
                <a:solidFill>
                  <a:srgbClr val="3ACFB6"/>
                </a:solidFill>
                <a:latin typeface="Courier New" pitchFamily="34" charset="0"/>
                <a:ea typeface="Courier New" pitchFamily="34" charset="-122"/>
                <a:cs typeface="Courier New" pitchFamily="34" charset="-120"/>
              </a:rPr>
              <a:t>github.com/Shamsu3100/demon</a:t>
            </a:r>
            <a:endParaRPr lang="en-US" sz="2000" dirty="0"/>
          </a:p>
        </p:txBody>
      </p:sp>
      <p:sp>
        <p:nvSpPr>
          <p:cNvPr id="5" name="Text 3"/>
          <p:cNvSpPr/>
          <p:nvPr/>
        </p:nvSpPr>
        <p:spPr>
          <a:xfrm>
            <a:off x="777240" y="4846320"/>
            <a:ext cx="10058400"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Take it, change it, use it for your project.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Full-Stack App Deployment with AI APIs &amp; Cloud</dc:title>
  <dc:subject>PptxGenJS Presentation</dc:subject>
  <dc:creator>Project Nexus 2026</dc:creator>
  <cp:lastModifiedBy>Project Nexus 2026</cp:lastModifiedBy>
  <cp:revision>1</cp:revision>
  <dcterms:created xsi:type="dcterms:W3CDTF">2026-08-22T14:46:45Z</dcterms:created>
  <dcterms:modified xsi:type="dcterms:W3CDTF">2026-08-22T14:46:45Z</dcterms:modified>
</cp:coreProperties>
</file>