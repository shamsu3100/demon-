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Correct</c:v>
                </c:pt>
              </c:strCache>
            </c:strRef>
          </c:tx>
          <c:spPr>
            <a:solidFill>
              <a:srgbClr val="00776A"/>
            </a:solidFill>
            <a:effectLst/>
          </c:spPr>
          <c:invertIfNegative val="0"/>
          <c:dLbls>
            <c:numFmt formatCode="0&quot;%&quot;" sourceLinked="0"/>
            <c:txPr>
              <a:bodyPr/>
              <a:lstStyle/>
              <a:p>
                <a:pPr>
                  <a:defRPr b="1" i="0" strike="noStrike" sz="1400" u="none">
                    <a:solidFill>
                      <a:srgbClr val="15181F"/>
                    </a:solidFill>
                    <a:latin typeface="Arial"/>
                  </a:defRPr>
                </a:pPr>
              </a:p>
            </c:txPr>
            <c:showLegendKey val="0"/>
            <c:showVal val="1"/>
            <c:showCatName val="0"/>
            <c:showSerName val="0"/>
            <c:showPercent val="0"/>
            <c:showBubbleSize val="0"/>
            <c:showLeaderLines val="0"/>
          </c:dLbls>
          <c:dPt>
            <c:idx val="0"/>
            <c:invertIfNegative val="0"/>
            <c:bubble3D val="0"/>
            <c:spPr>
              <a:solidFill>
                <a:srgbClr val="00776A"/>
              </a:solidFill>
              <a:effectLst/>
            </c:spPr>
          </c:dPt>
          <c:dPt>
            <c:idx val="1"/>
            <c:invertIfNegative val="0"/>
            <c:bubble3D val="0"/>
            <c:spPr>
              <a:solidFill>
                <a:srgbClr val="BE3A2B"/>
              </a:solidFill>
              <a:effectLst/>
            </c:spPr>
          </c:dPt>
          <c:dPt>
            <c:idx val="2"/>
            <c:invertIfNegative val="0"/>
            <c:bubble3D val="0"/>
            <c:spPr>
              <a:solidFill>
                <a:srgbClr val="A85F00"/>
              </a:solidFill>
              <a:effectLst/>
            </c:spPr>
          </c:dPt>
          <c:cat>
            <c:multiLvlStrRef>
              <c:f>Sheet1!$A$2:$A$4</c:f>
              <c:multiLvlStrCache>
                <c:ptCount val="3"/>
                <c:lvl>
                  <c:pt idx="0">
                    <c:v>Plain arithmetic</c:v>
                  </c:pt>
                  <c:pt idx="1">
                    <c:v>Small model</c:v>
                  </c:pt>
                  <c:pt idx="2">
                    <c:v>Larger model</c:v>
                  </c:pt>
                </c:lvl>
              </c:multiLvlStrCache>
            </c:multiLvlStrRef>
          </c:cat>
          <c:val>
            <c:numRef>
              <c:f>Sheet1!$B$2:$B$4</c:f>
              <c:numCache>
                <c:formatCode>General</c:formatCode>
                <c:ptCount val="3"/>
                <c:pt idx="0">
                  <c:v>100</c:v>
                </c:pt>
                <c:pt idx="1">
                  <c:v>38</c:v>
                </c:pt>
                <c:pt idx="2">
                  <c:v>83</c:v>
                </c:pt>
              </c:numCache>
            </c:numRef>
          </c:val>
        </c:ser>
        <c:dLbls>
          <c:numFmt formatCode="0&quot;%&quot;" sourceLinked="0"/>
          <c:txPr>
            <a:bodyPr/>
            <a:lstStyle/>
            <a:p>
              <a:pPr>
                <a:defRPr b="1" i="0" strike="noStrike" sz="1400" u="none">
                  <a:solidFill>
                    <a:srgbClr val="15181F"/>
                  </a:solidFill>
                  <a:latin typeface="Arial"/>
                </a:defRPr>
              </a:pPr>
            </a:p>
          </c:txPr>
          <c:showLegendKey val="0"/>
          <c:showVal val="1"/>
          <c:showCatName val="0"/>
          <c:showSerName val="0"/>
          <c:showPercent val="0"/>
          <c:showBubbleSize val="0"/>
          <c:showLeaderLines val="0"/>
        </c:dLbls>
        <c:gapWidth val="6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470"/>
                </a:solidFill>
                <a:latin typeface="Arial"/>
              </a:defRPr>
            </a:pPr>
            <a:endParaRPr lang="en-US"/>
          </a:p>
        </c:txPr>
        <c:crossAx val="2094734552"/>
        <c:crosses val="autoZero"/>
        <c:auto val="1"/>
        <c:lblAlgn val="ctr"/>
        <c:noMultiLvlLbl val="1"/>
      </c:catAx>
      <c:valAx>
        <c:axId val="2094734552"/>
        <c:scaling>
          <c:orientation val="minMax"/>
          <c:max val="118"/>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level in the first minute, explicitly:
"I am going to assume you can program. I am going to assume you have never put anything on the internet. If you have, some of this is revision."
That sentence matters. A good part of the room is worried they are the only one who does not know this. Tell them they are not.
Housekeeping:
- 90 minutes. Roughly 70 building, 20 for questions.
- Everything is free. No API key, no credit card, no account until Stage 6.
- The written guide has every command. Nobody needs to copy code off a slide.
- Post the guide link in the chat now and again at every stage boundary.
Ask them to open a terminal and a code editor before you go further.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concrete. Vague promises lose an audience.
Point 2 is the hook. For most of this room, "someone in another city can open my thing on their phone" has never happened. It is genuinely exciting the first time and it is worth naming.
Point 3 is the reason we build from scratch rather than handing out a finished project. A repository you did not write is a repository you cannot debug at 2am.
Then remove the money barrier out loud, because some students have already decided they cannot follow along without paying.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boxes, one warning. Keep it to that.
The red box is the whole reason this slide exists. Do it live: open any site, press F12, click through the sources for thirty seconds. Ask them to do the same on whatever tab they have open.
Say it in this form, because it is the version that sticks: "when someone visits your page, you are not showing it to them, you are giving them a copy."
Then plant the flag: "Remember this. At Stage 4 it decides where your API key is allowed to live, and it is the reason the backend exists at all."
Do not explain HTTP, DNS or hosting yet. One idea per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This is the model everything else sits on.
Walk the two arrows aloud, twice. Then give three examples they already know: opening Instagram, tapping like, sending a WhatsApp message. All request and response.
The line at the bottom is the reframe that matters. They are not building the internet. They are writing one small function that decides what the answer is. That is a manageable thing to picture, and it is accurate.
If someone asks about HTTP or TCP: that is the plumbing, you do not need it today. Do not follow that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stops two thirds of the room switching off.
If you only ever show a soil moisture sensor, the healthcare teams conclude this is an IoT talk and stop listening. Show all six examples and say directly: "whichever track you are in, your project is in this list."
There is a real engineering point here too, worth one sentence: when several different problems share the same shape, you write one program instead of three. Recognising that shape is a large part of software design.
Good moment to ask the chat what their projects measure. Take two or three answers and say which column they fall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shape of the next hour so nobody feels lost in the middle.
Say the rescue line out loud and mean it: with this many people, some will fall behind in the first five minutes. Without a way back you lose them for the whole session. The stage folders are that way back. Repeat it at every stage boundary.
Ask everyone now to create a folder, make a virtual environment, and install the packages. The commands are in the guide. Wait for people to catch up before Stage 1 — this is the last easy place to synchronise.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it live, slowly, and say each line as you write it. It is six lines; do not paste it.
When it runs, pause on the browser showing {"status":"ok"}. Say: "that is a web server. You are running one."
Then the moment that matters most in this stage: open /docs.
FastAPI generated an interactive page for their API automatically. They can call their own endpoint from it. Fifteen minutes in, with no frontend written, they are using their own API in a real interface. For a beginner that is when this stops feeling theoretical.
Tell them they will use /docs for the next three stages instead of writing a frontend.
Also explain --reload once: the server restarts when they save. Leave it running all session.
Wait for "running" in the chat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to draw attention to while they type.
First, classify() is ordinary arithmetic. No AI. Say that now, because at Stage 4 you will explain why it stays that way.
Second, and more important: after it works, ask them to send "value": "hot" instead of a number. They get HTTP 422 and their classify function never ran. The Reading class rejected it first.
That is the teaching moment. Never trust incoming data. Anyone can send anything to your address: a faulty sensor, a typo, or someone deliberately probing. Declaring the shape you expect defends against all three at once, and FastAPI gave it to them for one class definition.
Test table to work through with them: 36.8 normal, 37.4 warning, 39.4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stage is mostly boilerplate, so let them copy it from the guide rather than typing every line. Spend the time saved on the two ideas instead.
The restart demonstration is the point of the stage. Send readings, Ctrl+C, start again, call GET /readings. Data still there. Point at readings.db appearing in the folder and say: that file is the database.
On parameterised queries, one sentence is enough: never build SQL by joining strings, always use the question marks. That is how SQL injection happens and it is worth them hearing it once, early.
Warn them now about a problem they will hit at Stage 4: CREATE TABLE IF NOT EXISTS will not change a table that already exists. When we add columns, they must delete readings.db first. Saying it now saves ten minutes of confusion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real teaching slide in Part 2, and it is the idea most likely to change how they build. Give it three or four minutes.
The instinct students have is that AI is the clever option and plain code is the primitive one, so anything difficult should go to the model. For anything numeric that is backwards.
Comparing two numbers is something computers have done perfectly since the 1940s. Routing it through a language model makes it slower, more expensive and less reliable, and you can measure all three.
Be fair about the data: a large paid model would score higher. But you would be paying for something an if-statement does instantly and with certainty. The lesson is not "AI is bad". It is: know what each component is good at, and do not route work to the wrong one. That is ordinary engineering judgement and it applies well beyond AI.
Then the positive half. Writing a clear sentence for a tired engineer at 2am is something code genuinely cannot do. That is where the AI earns its place, and that is exactly what we are about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stage. Three things to make explicit while they type.
One. anthropic.Anthropic() takes no arguments. It finds the key in the environment by itself. The key appears nowhere in their code. Point at the line and say so.
Two. output_format=Advice forces the model to reply with exactly two named fields. Without it they would be parsing loose prose and hoping. Structured output is the difference between a demo and something you can build on.
Three. USE_MOCK means the whole application runs with no key at all. Everyone in the room completes this stage. Nobody is blocked by not having an account.
Then connect back to Concept 1: the frontend is public, so the key can never go there. It lives on the server, in .env, and .gitignore is what stops .env being uploaded. This is the reason the backend exists.
Remind them to delete readings.db before restarting, because we added columns.
If you have a real key, switch USE_MOCK to false and show one real answer on screen. It is worth the thirty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them copy the HTML rather than typing it. JavaScript and CSS are not the subject and typing them costs eight minutes that teach nothing about deployment.
Spend the stage on the diagram instead. Walk it left to right twice, then ask them to tell you what is in each box.
One practical trap to call out before they hit it: app.mount("/") must be the last line in main.py. It claims every address not already claimed, so if it sits above the endpoints it swallows them, and /readings starts returning the HTML page instead of data. Several people will do this. Warning them costs ten seconds.
A sharp student may ask: "if anyone can post to my server, can they not use my AI for free?" Good question, answer it honestly. They could send requests, but they cannot take the key and use it elsewhere, and a spending limit caps the damage. Real services add authentication and rate limiting; that is the next thing to learn after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live from a fresh account if you can, narrating every click. Five steps, none of them difficult. Students expect deployment to be the hardest part of the day; it is the easiest.
Warn them before step 4 that a blank page or an error for two or three minutes is normal while it builds, not a failure.
Two things in the files worth explaining as you add them:
--port $PORT. The platform chooses the port and tells your app through an environment variable. Never hardcode 8000 in production.
sync: false on the API key. render.yaml is uploaded to GitHub. A key written as a value there is published exactly as if it were in your code. sync: false declares the setting without its value, and you type the value into the dashboard afterwards. Any config file in git is somewhere a key can hide; .env is not the only one.
On the git status line at the bottom: if a key is ever pushed, deleting it later does not remove it. Git keeps every past version and anyone who clones the repository can read the old one. The only real fix is to delete that key at the provider and make a new one. Providers also scan public repositories and disable keys automatically.
When your address appears, open it on your phone and hold it up to the camera. Then invite them to paste their own addresses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these honestly: "I hit every one of these while building the version you just ran. Not while reading about it, while building it."
That matters. It tells them these are normal, not evidence that they are doing something wrong. Beginners assume every error is their own incompetence.
Number 1 catches people at demonstrations. Free hosting sleeps and the first visitor waits up to a minute. If that visitor is an examiner or a judge, you have lost them before they see anything. Opening the link yourself ten minutes earlier costs nothing.
Numbers 3 and 4 you will already have warned them about during the stages. Repeating them here gives everyone a written record.
All four are in the troubleshooting table in the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list out. It is longer than they realise and seeing it written down is the point.
Then the closing line, and mean it: the next application they build has this same shape. A server, validated input, storage, an external service, a page, a deployment. They have now done each of those once, and that is what makes the second time straightforward.
If you have time, go back to the six-stage roadmap slide and tick them off out loud. It gives the session a clean 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Fifteen to twenty minutes.
If questions are slow, ask one yourself. These work:
- "Who got a live address? Paste it in the chat."
- "Who is measuring something with a sensor? Tell me what, and I will show you where it fits."
- "Which stage was the least clear?"
Beginners often will not ask in front of a large group. Invite private questions through the moderator and offer to answer them in the event channel afterwards.
Questions to expect:
- "Can I use a different AI provider?" Yes. Only ai.py changes, which is why it is a separate file.
- "How do I connect my ESP32?" It posts JSON to /readings, exactly like the browser does. Same endpoint, no changes.
- "Is the free hosting enough for the exhibition?" Yes, with the sleep warning from the previous slide.
- "How do I add login?" Out of scope today; point them at FastAPI's security documentation.
Close by repeating the guide link.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1965960"/>
            <a:ext cx="10607040" cy="8686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Full-Stack App Deployment</a:t>
            </a:r>
            <a:endParaRPr lang="en-US" sz="4200" dirty="0"/>
          </a:p>
        </p:txBody>
      </p:sp>
      <p:sp>
        <p:nvSpPr>
          <p:cNvPr id="3" name="Text 1"/>
          <p:cNvSpPr/>
          <p:nvPr/>
        </p:nvSpPr>
        <p:spPr>
          <a:xfrm>
            <a:off x="777240" y="2788920"/>
            <a:ext cx="10607040" cy="868680"/>
          </a:xfrm>
          <a:prstGeom prst="rect">
            <a:avLst/>
          </a:prstGeom>
          <a:noFill/>
          <a:ln/>
        </p:spPr>
        <p:txBody>
          <a:bodyPr wrap="square" lIns="0" tIns="0" rIns="0" bIns="0" rtlCol="0" anchor="ctr"/>
          <a:lstStyle/>
          <a:p>
            <a:pPr indent="0" marL="0">
              <a:buNone/>
            </a:pPr>
            <a:r>
              <a:rPr lang="en-US" sz="4200" b="1" dirty="0">
                <a:solidFill>
                  <a:srgbClr val="35C9B0"/>
                </a:solidFill>
                <a:latin typeface="Cambria" pitchFamily="34" charset="0"/>
                <a:ea typeface="Cambria" pitchFamily="34" charset="-122"/>
                <a:cs typeface="Cambria" pitchFamily="34" charset="-120"/>
              </a:rPr>
              <a:t>with AI APIs &amp; Cloud</a:t>
            </a:r>
            <a:endParaRPr lang="en-US" sz="4200" dirty="0"/>
          </a:p>
        </p:txBody>
      </p:sp>
      <p:sp>
        <p:nvSpPr>
          <p:cNvPr id="4" name="Text 2"/>
          <p:cNvSpPr/>
          <p:nvPr/>
        </p:nvSpPr>
        <p:spPr>
          <a:xfrm>
            <a:off x="777240" y="3886200"/>
            <a:ext cx="10058400" cy="45720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Build a web application from an empty folder, connect an AI API, and put it on the internet.</a:t>
            </a:r>
            <a:endParaRPr lang="en-US" sz="1600" dirty="0"/>
          </a:p>
        </p:txBody>
      </p:sp>
      <p:sp>
        <p:nvSpPr>
          <p:cNvPr id="5" name="Text 3"/>
          <p:cNvSpPr/>
          <p:nvPr/>
        </p:nvSpPr>
        <p:spPr>
          <a:xfrm>
            <a:off x="777240" y="6035040"/>
            <a:ext cx="10058400" cy="320040"/>
          </a:xfrm>
          <a:prstGeom prst="rect">
            <a:avLst/>
          </a:prstGeom>
          <a:noFill/>
          <a:ln/>
        </p:spPr>
        <p:txBody>
          <a:bodyPr wrap="square" lIns="0" tIns="0" rIns="0" bIns="0" rtlCol="0" anchor="ctr"/>
          <a:lstStyle/>
          <a:p>
            <a:pPr indent="0" marL="0">
              <a:buNone/>
            </a:pPr>
            <a:r>
              <a:rPr lang="en-US" sz="1200" dirty="0">
                <a:solidFill>
                  <a:srgbClr val="5C6470"/>
                </a:solidFill>
                <a:latin typeface="Calibri" pitchFamily="34" charset="0"/>
                <a:ea typeface="Calibri" pitchFamily="34" charset="-122"/>
                <a:cs typeface="Calibri" pitchFamily="34" charset="-120"/>
              </a:rPr>
              <a:t>Project Nexus 2026  |  IEEE MMU Student Branch  |  31 August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BY THE END OF THIS SESSION</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Three things you will have built</a:t>
            </a:r>
            <a:endParaRPr lang="en-US" sz="3300" dirty="0"/>
          </a:p>
        </p:txBody>
      </p:sp>
      <p:sp>
        <p:nvSpPr>
          <p:cNvPr id="4" name="Shape 2"/>
          <p:cNvSpPr/>
          <p:nvPr/>
        </p:nvSpPr>
        <p:spPr>
          <a:xfrm>
            <a:off x="777240" y="1783080"/>
            <a:ext cx="10634472" cy="1188720"/>
          </a:xfrm>
          <a:prstGeom prst="roundRect">
            <a:avLst>
              <a:gd name="adj" fmla="val 6923"/>
            </a:avLst>
          </a:prstGeom>
          <a:solidFill>
            <a:srgbClr val="F5F6F8"/>
          </a:solidFill>
          <a:ln w="12700">
            <a:solidFill>
              <a:srgbClr val="E1E4E9"/>
            </a:solidFill>
            <a:prstDash val="solid"/>
          </a:ln>
        </p:spPr>
      </p:sp>
      <p:sp>
        <p:nvSpPr>
          <p:cNvPr id="5" name="Shape 3"/>
          <p:cNvSpPr/>
          <p:nvPr/>
        </p:nvSpPr>
        <p:spPr>
          <a:xfrm>
            <a:off x="1124712" y="2148840"/>
            <a:ext cx="457200" cy="457200"/>
          </a:xfrm>
          <a:prstGeom prst="ellipse">
            <a:avLst/>
          </a:prstGeom>
          <a:solidFill>
            <a:srgbClr val="00776A"/>
          </a:solidFill>
          <a:ln/>
        </p:spPr>
      </p:sp>
      <p:sp>
        <p:nvSpPr>
          <p:cNvPr id="6" name="Text 4"/>
          <p:cNvSpPr/>
          <p:nvPr/>
        </p:nvSpPr>
        <p:spPr>
          <a:xfrm>
            <a:off x="1124712" y="21488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828800" y="20116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A working web application</a:t>
            </a:r>
            <a:endParaRPr lang="en-US" sz="2000" dirty="0"/>
          </a:p>
        </p:txBody>
      </p:sp>
      <p:sp>
        <p:nvSpPr>
          <p:cNvPr id="8" name="Text 6"/>
          <p:cNvSpPr/>
          <p:nvPr/>
        </p:nvSpPr>
        <p:spPr>
          <a:xfrm>
            <a:off x="1828800" y="24414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running on your own machine, in a browser</a:t>
            </a:r>
            <a:endParaRPr lang="en-US" sz="1450" dirty="0"/>
          </a:p>
        </p:txBody>
      </p:sp>
      <p:sp>
        <p:nvSpPr>
          <p:cNvPr id="9" name="Shape 7"/>
          <p:cNvSpPr/>
          <p:nvPr/>
        </p:nvSpPr>
        <p:spPr>
          <a:xfrm>
            <a:off x="777240" y="3154680"/>
            <a:ext cx="10634472" cy="1188720"/>
          </a:xfrm>
          <a:prstGeom prst="roundRect">
            <a:avLst>
              <a:gd name="adj" fmla="val 6923"/>
            </a:avLst>
          </a:prstGeom>
          <a:solidFill>
            <a:srgbClr val="F5F6F8"/>
          </a:solidFill>
          <a:ln w="12700">
            <a:solidFill>
              <a:srgbClr val="E1E4E9"/>
            </a:solidFill>
            <a:prstDash val="solid"/>
          </a:ln>
        </p:spPr>
      </p:sp>
      <p:sp>
        <p:nvSpPr>
          <p:cNvPr id="10" name="Shape 8"/>
          <p:cNvSpPr/>
          <p:nvPr/>
        </p:nvSpPr>
        <p:spPr>
          <a:xfrm>
            <a:off x="1124712" y="3520440"/>
            <a:ext cx="457200" cy="457200"/>
          </a:xfrm>
          <a:prstGeom prst="ellipse">
            <a:avLst/>
          </a:prstGeom>
          <a:solidFill>
            <a:srgbClr val="5158BE"/>
          </a:solidFill>
          <a:ln/>
        </p:spPr>
      </p:sp>
      <p:sp>
        <p:nvSpPr>
          <p:cNvPr id="11" name="Text 9"/>
          <p:cNvSpPr/>
          <p:nvPr/>
        </p:nvSpPr>
        <p:spPr>
          <a:xfrm>
            <a:off x="1124712" y="35204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2" name="Text 10"/>
          <p:cNvSpPr/>
          <p:nvPr/>
        </p:nvSpPr>
        <p:spPr>
          <a:xfrm>
            <a:off x="1828800" y="33832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A live public address</a:t>
            </a:r>
            <a:endParaRPr lang="en-US" sz="2000" dirty="0"/>
          </a:p>
        </p:txBody>
      </p:sp>
      <p:sp>
        <p:nvSpPr>
          <p:cNvPr id="13" name="Text 11"/>
          <p:cNvSpPr/>
          <p:nvPr/>
        </p:nvSpPr>
        <p:spPr>
          <a:xfrm>
            <a:off x="1828800" y="38130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anyone can open it, from anywhere, on any device</a:t>
            </a:r>
            <a:endParaRPr lang="en-US" sz="1450" dirty="0"/>
          </a:p>
        </p:txBody>
      </p:sp>
      <p:sp>
        <p:nvSpPr>
          <p:cNvPr id="14" name="Shape 12"/>
          <p:cNvSpPr/>
          <p:nvPr/>
        </p:nvSpPr>
        <p:spPr>
          <a:xfrm>
            <a:off x="777240" y="4526280"/>
            <a:ext cx="10634472" cy="1188720"/>
          </a:xfrm>
          <a:prstGeom prst="roundRect">
            <a:avLst>
              <a:gd name="adj" fmla="val 6923"/>
            </a:avLst>
          </a:prstGeom>
          <a:solidFill>
            <a:srgbClr val="F5F6F8"/>
          </a:solidFill>
          <a:ln w="12700">
            <a:solidFill>
              <a:srgbClr val="E1E4E9"/>
            </a:solidFill>
            <a:prstDash val="solid"/>
          </a:ln>
        </p:spPr>
      </p:sp>
      <p:sp>
        <p:nvSpPr>
          <p:cNvPr id="15" name="Shape 13"/>
          <p:cNvSpPr/>
          <p:nvPr/>
        </p:nvSpPr>
        <p:spPr>
          <a:xfrm>
            <a:off x="1124712" y="4892040"/>
            <a:ext cx="457200" cy="457200"/>
          </a:xfrm>
          <a:prstGeom prst="ellipse">
            <a:avLst/>
          </a:prstGeom>
          <a:solidFill>
            <a:srgbClr val="0A7D28"/>
          </a:solidFill>
          <a:ln/>
        </p:spPr>
      </p:sp>
      <p:sp>
        <p:nvSpPr>
          <p:cNvPr id="16" name="Text 14"/>
          <p:cNvSpPr/>
          <p:nvPr/>
        </p:nvSpPr>
        <p:spPr>
          <a:xfrm>
            <a:off x="1124712" y="489204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7" name="Text 15"/>
          <p:cNvSpPr/>
          <p:nvPr/>
        </p:nvSpPr>
        <p:spPr>
          <a:xfrm>
            <a:off x="1828800" y="4754880"/>
            <a:ext cx="9326880" cy="411480"/>
          </a:xfrm>
          <a:prstGeom prst="rect">
            <a:avLst/>
          </a:prstGeom>
          <a:noFill/>
          <a:ln/>
        </p:spPr>
        <p:txBody>
          <a:bodyPr wrap="square" lIns="0" tIns="0" rIns="0" bIns="0" rtlCol="0" anchor="ctr"/>
          <a:lstStyle/>
          <a:p>
            <a:pPr indent="0" marL="0">
              <a:buNone/>
            </a:pPr>
            <a:r>
              <a:rPr lang="en-US" sz="2000" b="1" dirty="0">
                <a:solidFill>
                  <a:srgbClr val="15181F"/>
                </a:solidFill>
                <a:latin typeface="Cambria" pitchFamily="34" charset="0"/>
                <a:ea typeface="Cambria" pitchFamily="34" charset="-122"/>
                <a:cs typeface="Cambria" pitchFamily="34" charset="-120"/>
              </a:rPr>
              <a:t>Code you understand</a:t>
            </a:r>
            <a:endParaRPr lang="en-US" sz="2000" dirty="0"/>
          </a:p>
        </p:txBody>
      </p:sp>
      <p:sp>
        <p:nvSpPr>
          <p:cNvPr id="18" name="Text 16"/>
          <p:cNvSpPr/>
          <p:nvPr/>
        </p:nvSpPr>
        <p:spPr>
          <a:xfrm>
            <a:off x="1828800" y="5184648"/>
            <a:ext cx="9326880" cy="41148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you wrote every line, so you can change any of it</a:t>
            </a:r>
            <a:endParaRPr lang="en-US" sz="1450" dirty="0"/>
          </a:p>
        </p:txBody>
      </p:sp>
      <p:sp>
        <p:nvSpPr>
          <p:cNvPr id="19" name="Text 17"/>
          <p:cNvSpPr/>
          <p:nvPr/>
        </p:nvSpPr>
        <p:spPr>
          <a:xfrm>
            <a:off x="777240" y="5943600"/>
            <a:ext cx="10634472" cy="41148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No API key needed. No credit card. No paid account.</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CONCEPT 1</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What full-stack means</a:t>
            </a:r>
            <a:endParaRPr lang="en-US" sz="3300" dirty="0"/>
          </a:p>
        </p:txBody>
      </p:sp>
      <p:sp>
        <p:nvSpPr>
          <p:cNvPr id="4" name="Shape 2"/>
          <p:cNvSpPr/>
          <p:nvPr/>
        </p:nvSpPr>
        <p:spPr>
          <a:xfrm>
            <a:off x="777240" y="1737360"/>
            <a:ext cx="3337560" cy="2743200"/>
          </a:xfrm>
          <a:prstGeom prst="roundRect">
            <a:avLst>
              <a:gd name="adj" fmla="val 3000"/>
            </a:avLst>
          </a:prstGeom>
          <a:solidFill>
            <a:srgbClr val="F5F6F8"/>
          </a:solidFill>
          <a:ln w="12700">
            <a:solidFill>
              <a:srgbClr val="E1E4E9"/>
            </a:solidFill>
            <a:prstDash val="solid"/>
          </a:ln>
        </p:spPr>
      </p:sp>
      <p:sp>
        <p:nvSpPr>
          <p:cNvPr id="5" name="Text 3"/>
          <p:cNvSpPr/>
          <p:nvPr/>
        </p:nvSpPr>
        <p:spPr>
          <a:xfrm>
            <a:off x="1005840" y="196596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Frontend</a:t>
            </a:r>
            <a:endParaRPr lang="en-US" sz="2200" dirty="0"/>
          </a:p>
        </p:txBody>
      </p:sp>
      <p:sp>
        <p:nvSpPr>
          <p:cNvPr id="6" name="Text 4"/>
          <p:cNvSpPr/>
          <p:nvPr/>
        </p:nvSpPr>
        <p:spPr>
          <a:xfrm>
            <a:off x="1005840" y="2487168"/>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the page in the</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visitor's browser</a:t>
            </a:r>
            <a:endParaRPr lang="en-US" sz="1450" dirty="0"/>
          </a:p>
        </p:txBody>
      </p:sp>
      <p:sp>
        <p:nvSpPr>
          <p:cNvPr id="7" name="Text 5"/>
          <p:cNvSpPr/>
          <p:nvPr/>
        </p:nvSpPr>
        <p:spPr>
          <a:xfrm>
            <a:off x="1005840" y="3886200"/>
            <a:ext cx="2880360" cy="365760"/>
          </a:xfrm>
          <a:prstGeom prst="rect">
            <a:avLst/>
          </a:prstGeom>
          <a:noFill/>
          <a:ln/>
        </p:spPr>
        <p:txBody>
          <a:bodyPr wrap="square" lIns="0" tIns="0" rIns="0" bIns="0" rtlCol="0" anchor="ctr"/>
          <a:lstStyle/>
          <a:p>
            <a:pPr indent="0" marL="0">
              <a:buNone/>
            </a:pPr>
            <a:r>
              <a:rPr lang="en-US" sz="1400" b="1" spc="150" kern="0" dirty="0">
                <a:solidFill>
                  <a:srgbClr val="BE3A2B"/>
                </a:solidFill>
                <a:latin typeface="Calibri" pitchFamily="34" charset="0"/>
                <a:ea typeface="Calibri" pitchFamily="34" charset="-122"/>
                <a:cs typeface="Calibri" pitchFamily="34" charset="-120"/>
              </a:rPr>
              <a:t>PUBLIC</a:t>
            </a:r>
            <a:endParaRPr lang="en-US" sz="1400" dirty="0"/>
          </a:p>
        </p:txBody>
      </p:sp>
      <p:sp>
        <p:nvSpPr>
          <p:cNvPr id="8" name="Shape 6"/>
          <p:cNvSpPr/>
          <p:nvPr/>
        </p:nvSpPr>
        <p:spPr>
          <a:xfrm>
            <a:off x="4434840" y="1737360"/>
            <a:ext cx="3337560" cy="2743200"/>
          </a:xfrm>
          <a:prstGeom prst="roundRect">
            <a:avLst>
              <a:gd name="adj" fmla="val 3000"/>
            </a:avLst>
          </a:prstGeom>
          <a:solidFill>
            <a:srgbClr val="F5F6F8"/>
          </a:solidFill>
          <a:ln w="12700">
            <a:solidFill>
              <a:srgbClr val="E1E4E9"/>
            </a:solidFill>
            <a:prstDash val="solid"/>
          </a:ln>
        </p:spPr>
      </p:sp>
      <p:sp>
        <p:nvSpPr>
          <p:cNvPr id="9" name="Text 7"/>
          <p:cNvSpPr/>
          <p:nvPr/>
        </p:nvSpPr>
        <p:spPr>
          <a:xfrm>
            <a:off x="4663440" y="196596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Backend</a:t>
            </a:r>
            <a:endParaRPr lang="en-US" sz="2200" dirty="0"/>
          </a:p>
        </p:txBody>
      </p:sp>
      <p:sp>
        <p:nvSpPr>
          <p:cNvPr id="10" name="Text 8"/>
          <p:cNvSpPr/>
          <p:nvPr/>
        </p:nvSpPr>
        <p:spPr>
          <a:xfrm>
            <a:off x="4663440" y="2487168"/>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your program,</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running on a server</a:t>
            </a:r>
            <a:endParaRPr lang="en-US" sz="1450" dirty="0"/>
          </a:p>
        </p:txBody>
      </p:sp>
      <p:sp>
        <p:nvSpPr>
          <p:cNvPr id="11" name="Text 9"/>
          <p:cNvSpPr/>
          <p:nvPr/>
        </p:nvSpPr>
        <p:spPr>
          <a:xfrm>
            <a:off x="4663440" y="3886200"/>
            <a:ext cx="2880360" cy="365760"/>
          </a:xfrm>
          <a:prstGeom prst="rect">
            <a:avLst/>
          </a:prstGeom>
          <a:noFill/>
          <a:ln/>
        </p:spPr>
        <p:txBody>
          <a:bodyPr wrap="square" lIns="0" tIns="0" rIns="0" bIns="0" rtlCol="0" anchor="ctr"/>
          <a:lstStyle/>
          <a:p>
            <a:pPr indent="0" marL="0">
              <a:buNone/>
            </a:pPr>
            <a:r>
              <a:rPr lang="en-US" sz="1400" b="1" spc="150" kern="0" dirty="0">
                <a:solidFill>
                  <a:srgbClr val="0A7D28"/>
                </a:solidFill>
                <a:latin typeface="Calibri" pitchFamily="34" charset="0"/>
                <a:ea typeface="Calibri" pitchFamily="34" charset="-122"/>
                <a:cs typeface="Calibri" pitchFamily="34" charset="-120"/>
              </a:rPr>
              <a:t>PRIVATE</a:t>
            </a:r>
            <a:endParaRPr lang="en-US" sz="1400" dirty="0"/>
          </a:p>
        </p:txBody>
      </p:sp>
      <p:sp>
        <p:nvSpPr>
          <p:cNvPr id="12" name="Shape 10"/>
          <p:cNvSpPr/>
          <p:nvPr/>
        </p:nvSpPr>
        <p:spPr>
          <a:xfrm>
            <a:off x="8092440" y="1737360"/>
            <a:ext cx="3337560" cy="2743200"/>
          </a:xfrm>
          <a:prstGeom prst="roundRect">
            <a:avLst>
              <a:gd name="adj" fmla="val 3000"/>
            </a:avLst>
          </a:prstGeom>
          <a:solidFill>
            <a:srgbClr val="F5F6F8"/>
          </a:solidFill>
          <a:ln w="12700">
            <a:solidFill>
              <a:srgbClr val="E1E4E9"/>
            </a:solidFill>
            <a:prstDash val="solid"/>
          </a:ln>
        </p:spPr>
      </p:sp>
      <p:sp>
        <p:nvSpPr>
          <p:cNvPr id="13" name="Text 11"/>
          <p:cNvSpPr/>
          <p:nvPr/>
        </p:nvSpPr>
        <p:spPr>
          <a:xfrm>
            <a:off x="8321040" y="1965960"/>
            <a:ext cx="2880360" cy="457200"/>
          </a:xfrm>
          <a:prstGeom prst="rect">
            <a:avLst/>
          </a:prstGeom>
          <a:noFill/>
          <a:ln/>
        </p:spPr>
        <p:txBody>
          <a:bodyPr wrap="square" lIns="0" tIns="0" rIns="0" bIns="0" rtlCol="0" anchor="ctr"/>
          <a:lstStyle/>
          <a:p>
            <a:pPr indent="0" marL="0">
              <a:buNone/>
            </a:pPr>
            <a:r>
              <a:rPr lang="en-US" sz="2200" b="1" dirty="0">
                <a:solidFill>
                  <a:srgbClr val="15181F"/>
                </a:solidFill>
                <a:latin typeface="Cambria" pitchFamily="34" charset="0"/>
                <a:ea typeface="Cambria" pitchFamily="34" charset="-122"/>
                <a:cs typeface="Cambria" pitchFamily="34" charset="-120"/>
              </a:rPr>
              <a:t>Data</a:t>
            </a:r>
            <a:endParaRPr lang="en-US" sz="2200" dirty="0"/>
          </a:p>
        </p:txBody>
      </p:sp>
      <p:sp>
        <p:nvSpPr>
          <p:cNvPr id="14" name="Text 12"/>
          <p:cNvSpPr/>
          <p:nvPr/>
        </p:nvSpPr>
        <p:spPr>
          <a:xfrm>
            <a:off x="8321040" y="2487168"/>
            <a:ext cx="2880360" cy="100584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what is kept</a:t>
            </a:r>
            <a:endParaRPr lang="en-US" sz="1450" dirty="0"/>
          </a:p>
          <a:p>
            <a:pPr indent="0" marL="0">
              <a:buNone/>
            </a:pPr>
            <a:r>
              <a:rPr lang="en-US" sz="1450" dirty="0">
                <a:solidFill>
                  <a:srgbClr val="5C6470"/>
                </a:solidFill>
                <a:latin typeface="Calibri" pitchFamily="34" charset="0"/>
                <a:ea typeface="Calibri" pitchFamily="34" charset="-122"/>
                <a:cs typeface="Calibri" pitchFamily="34" charset="-120"/>
              </a:rPr>
              <a:t>between visits</a:t>
            </a:r>
            <a:endParaRPr lang="en-US" sz="1450" dirty="0"/>
          </a:p>
        </p:txBody>
      </p:sp>
      <p:sp>
        <p:nvSpPr>
          <p:cNvPr id="15" name="Text 13"/>
          <p:cNvSpPr/>
          <p:nvPr/>
        </p:nvSpPr>
        <p:spPr>
          <a:xfrm>
            <a:off x="8321040" y="3886200"/>
            <a:ext cx="2880360" cy="365760"/>
          </a:xfrm>
          <a:prstGeom prst="rect">
            <a:avLst/>
          </a:prstGeom>
          <a:noFill/>
          <a:ln/>
        </p:spPr>
        <p:txBody>
          <a:bodyPr wrap="square" lIns="0" tIns="0" rIns="0" bIns="0" rtlCol="0" anchor="ctr"/>
          <a:lstStyle/>
          <a:p>
            <a:pPr indent="0" marL="0">
              <a:buNone/>
            </a:pPr>
            <a:r>
              <a:rPr lang="en-US" sz="1400" b="1" spc="150" kern="0" dirty="0">
                <a:solidFill>
                  <a:srgbClr val="0A7D28"/>
                </a:solidFill>
                <a:latin typeface="Calibri" pitchFamily="34" charset="0"/>
                <a:ea typeface="Calibri" pitchFamily="34" charset="-122"/>
                <a:cs typeface="Calibri" pitchFamily="34" charset="-120"/>
              </a:rPr>
              <a:t>PRIVATE</a:t>
            </a:r>
            <a:endParaRPr lang="en-US" sz="1400" dirty="0"/>
          </a:p>
        </p:txBody>
      </p:sp>
      <p:sp>
        <p:nvSpPr>
          <p:cNvPr id="16" name="Shape 14"/>
          <p:cNvSpPr/>
          <p:nvPr/>
        </p:nvSpPr>
        <p:spPr>
          <a:xfrm>
            <a:off x="777240" y="4800600"/>
            <a:ext cx="10634472" cy="1234440"/>
          </a:xfrm>
          <a:prstGeom prst="roundRect">
            <a:avLst>
              <a:gd name="adj" fmla="val 6667"/>
            </a:avLst>
          </a:prstGeom>
          <a:solidFill>
            <a:srgbClr val="FBF0EE"/>
          </a:solidFill>
          <a:ln w="12700">
            <a:solidFill>
              <a:srgbClr val="BE3A2B"/>
            </a:solidFill>
            <a:prstDash val="solid"/>
          </a:ln>
        </p:spPr>
      </p:sp>
      <p:sp>
        <p:nvSpPr>
          <p:cNvPr id="17" name="Text 15"/>
          <p:cNvSpPr/>
          <p:nvPr/>
        </p:nvSpPr>
        <p:spPr>
          <a:xfrm>
            <a:off x="1143000" y="4983480"/>
            <a:ext cx="10241280" cy="411480"/>
          </a:xfrm>
          <a:prstGeom prst="rect">
            <a:avLst/>
          </a:prstGeom>
          <a:noFill/>
          <a:ln/>
        </p:spPr>
        <p:txBody>
          <a:bodyPr wrap="square" lIns="0" tIns="0" rIns="0" bIns="0" rtlCol="0" anchor="ctr"/>
          <a:lstStyle/>
          <a:p>
            <a:pPr indent="0" marL="0">
              <a:buNone/>
            </a:pPr>
            <a:r>
              <a:rPr lang="en-US" sz="1700" b="1" dirty="0">
                <a:solidFill>
                  <a:srgbClr val="BE3A2B"/>
                </a:solidFill>
                <a:latin typeface="Cambria" pitchFamily="34" charset="0"/>
                <a:ea typeface="Cambria" pitchFamily="34" charset="-122"/>
                <a:cs typeface="Cambria" pitchFamily="34" charset="-120"/>
              </a:rPr>
              <a:t>Everything the frontend receives has been handed to the visitor to keep.</a:t>
            </a:r>
            <a:endParaRPr lang="en-US" sz="1700" dirty="0"/>
          </a:p>
        </p:txBody>
      </p:sp>
      <p:sp>
        <p:nvSpPr>
          <p:cNvPr id="18" name="Text 16"/>
          <p:cNvSpPr/>
          <p:nvPr/>
        </p:nvSpPr>
        <p:spPr>
          <a:xfrm>
            <a:off x="1143000" y="5413248"/>
            <a:ext cx="10241280" cy="457200"/>
          </a:xfrm>
          <a:prstGeom prst="rect">
            <a:avLst/>
          </a:prstGeom>
          <a:noFill/>
          <a:ln/>
        </p:spPr>
        <p:txBody>
          <a:bodyPr wrap="square" lIns="0" tIns="0" rIns="0" bIns="0" rtlCol="0" anchor="ctr"/>
          <a:lstStyle/>
          <a:p>
            <a:pPr indent="0" marL="0">
              <a:buNone/>
            </a:pPr>
            <a:r>
              <a:rPr lang="en-US" sz="1450" dirty="0">
                <a:solidFill>
                  <a:srgbClr val="BE3A2B"/>
                </a:solidFill>
                <a:latin typeface="Calibri" pitchFamily="34" charset="0"/>
                <a:ea typeface="Calibri" pitchFamily="34" charset="-122"/>
                <a:cs typeface="Calibri" pitchFamily="34" charset="-120"/>
              </a:rPr>
              <a:t>Press F12 in any browser and you can read all of it. There is no way to send something to a browser and hide it.</a:t>
            </a:r>
            <a:endParaRPr lang="en-US" sz="14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CONCEPT 2</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Every action on the web is two steps</a:t>
            </a:r>
            <a:endParaRPr lang="en-US" sz="3300" dirty="0"/>
          </a:p>
        </p:txBody>
      </p:sp>
      <p:sp>
        <p:nvSpPr>
          <p:cNvPr id="4" name="Shape 2"/>
          <p:cNvSpPr/>
          <p:nvPr/>
        </p:nvSpPr>
        <p:spPr>
          <a:xfrm>
            <a:off x="1325880" y="2148840"/>
            <a:ext cx="3566160" cy="1463040"/>
          </a:xfrm>
          <a:prstGeom prst="roundRect">
            <a:avLst>
              <a:gd name="adj" fmla="val 5625"/>
            </a:avLst>
          </a:prstGeom>
          <a:solidFill>
            <a:srgbClr val="F5F6F8"/>
          </a:solidFill>
          <a:ln w="12700">
            <a:solidFill>
              <a:srgbClr val="F5F6F8"/>
            </a:solidFill>
            <a:prstDash val="solid"/>
          </a:ln>
        </p:spPr>
      </p:sp>
      <p:sp>
        <p:nvSpPr>
          <p:cNvPr id="5" name="Text 3"/>
          <p:cNvSpPr/>
          <p:nvPr/>
        </p:nvSpPr>
        <p:spPr>
          <a:xfrm>
            <a:off x="1417320" y="2368296"/>
            <a:ext cx="3383280" cy="411480"/>
          </a:xfrm>
          <a:prstGeom prst="rect">
            <a:avLst/>
          </a:prstGeom>
          <a:noFill/>
          <a:ln/>
        </p:spPr>
        <p:txBody>
          <a:bodyPr wrap="square" lIns="0" tIns="0" rIns="0" bIns="0" rtlCol="0" anchor="ctr"/>
          <a:lstStyle/>
          <a:p>
            <a:pPr algn="ctr" indent="0" marL="0">
              <a:buNone/>
            </a:pPr>
            <a:r>
              <a:rPr lang="en-US" sz="1700" b="1" dirty="0">
                <a:solidFill>
                  <a:srgbClr val="15181F"/>
                </a:solidFill>
                <a:latin typeface="Cambria" pitchFamily="34" charset="0"/>
                <a:ea typeface="Cambria" pitchFamily="34" charset="-122"/>
                <a:cs typeface="Cambria" pitchFamily="34" charset="-120"/>
              </a:rPr>
              <a:t>Browser</a:t>
            </a:r>
            <a:endParaRPr lang="en-US" sz="1700" dirty="0"/>
          </a:p>
        </p:txBody>
      </p:sp>
      <p:sp>
        <p:nvSpPr>
          <p:cNvPr id="6" name="Shape 4"/>
          <p:cNvSpPr/>
          <p:nvPr/>
        </p:nvSpPr>
        <p:spPr>
          <a:xfrm>
            <a:off x="7543800" y="2148840"/>
            <a:ext cx="3566160" cy="1463040"/>
          </a:xfrm>
          <a:prstGeom prst="roundRect">
            <a:avLst>
              <a:gd name="adj" fmla="val 5625"/>
            </a:avLst>
          </a:prstGeom>
          <a:solidFill>
            <a:srgbClr val="00776A"/>
          </a:solidFill>
          <a:ln w="12700">
            <a:solidFill>
              <a:srgbClr val="00776A"/>
            </a:solidFill>
            <a:prstDash val="solid"/>
          </a:ln>
        </p:spPr>
      </p:sp>
      <p:sp>
        <p:nvSpPr>
          <p:cNvPr id="7" name="Text 5"/>
          <p:cNvSpPr/>
          <p:nvPr/>
        </p:nvSpPr>
        <p:spPr>
          <a:xfrm>
            <a:off x="7635240" y="2368296"/>
            <a:ext cx="338328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Server</a:t>
            </a:r>
            <a:endParaRPr lang="en-US" sz="1700" dirty="0"/>
          </a:p>
        </p:txBody>
      </p:sp>
      <p:sp>
        <p:nvSpPr>
          <p:cNvPr id="8" name="Shape 6"/>
          <p:cNvSpPr/>
          <p:nvPr/>
        </p:nvSpPr>
        <p:spPr>
          <a:xfrm>
            <a:off x="5074920" y="2487168"/>
            <a:ext cx="2286000" cy="237744"/>
          </a:xfrm>
          <a:prstGeom prst="rightArrow">
            <a:avLst/>
          </a:prstGeom>
          <a:solidFill>
            <a:srgbClr val="A9B0BB"/>
          </a:solidFill>
          <a:ln/>
        </p:spPr>
      </p:sp>
      <p:sp>
        <p:nvSpPr>
          <p:cNvPr id="9" name="Text 7"/>
          <p:cNvSpPr/>
          <p:nvPr/>
        </p:nvSpPr>
        <p:spPr>
          <a:xfrm>
            <a:off x="4709160" y="2084832"/>
            <a:ext cx="3017520" cy="310896"/>
          </a:xfrm>
          <a:prstGeom prst="rect">
            <a:avLst/>
          </a:prstGeom>
          <a:noFill/>
          <a:ln/>
        </p:spPr>
        <p:txBody>
          <a:bodyPr wrap="square" lIns="0" tIns="0" rIns="0" bIns="0" rtlCol="0" anchor="ctr"/>
          <a:lstStyle/>
          <a:p>
            <a:pPr algn="ctr" indent="0" marL="0">
              <a:buNone/>
            </a:pPr>
            <a:r>
              <a:rPr lang="en-US" sz="1100" i="1" dirty="0">
                <a:solidFill>
                  <a:srgbClr val="5C6470"/>
                </a:solidFill>
                <a:latin typeface="Calibri" pitchFamily="34" charset="0"/>
                <a:ea typeface="Calibri" pitchFamily="34" charset="-122"/>
                <a:cs typeface="Calibri" pitchFamily="34" charset="-120"/>
              </a:rPr>
              <a:t>1.  request</a:t>
            </a:r>
            <a:endParaRPr lang="en-US" sz="1100" dirty="0"/>
          </a:p>
        </p:txBody>
      </p:sp>
      <p:sp>
        <p:nvSpPr>
          <p:cNvPr id="10" name="Shape 8"/>
          <p:cNvSpPr/>
          <p:nvPr/>
        </p:nvSpPr>
        <p:spPr>
          <a:xfrm>
            <a:off x="5074920" y="3063240"/>
            <a:ext cx="2286000" cy="237744"/>
          </a:xfrm>
          <a:prstGeom prst="leftArrow">
            <a:avLst/>
          </a:prstGeom>
          <a:solidFill>
            <a:srgbClr val="A9B0BB"/>
          </a:solidFill>
          <a:ln/>
        </p:spPr>
      </p:sp>
      <p:sp>
        <p:nvSpPr>
          <p:cNvPr id="11" name="Text 9"/>
          <p:cNvSpPr/>
          <p:nvPr/>
        </p:nvSpPr>
        <p:spPr>
          <a:xfrm>
            <a:off x="4709160" y="3364992"/>
            <a:ext cx="3017520" cy="310896"/>
          </a:xfrm>
          <a:prstGeom prst="rect">
            <a:avLst/>
          </a:prstGeom>
          <a:noFill/>
          <a:ln/>
        </p:spPr>
        <p:txBody>
          <a:bodyPr wrap="square" lIns="0" tIns="0" rIns="0" bIns="0" rtlCol="0" anchor="ctr"/>
          <a:lstStyle/>
          <a:p>
            <a:pPr algn="ctr" indent="0" marL="0">
              <a:buNone/>
            </a:pPr>
            <a:r>
              <a:rPr lang="en-US" sz="1100" i="1" dirty="0">
                <a:solidFill>
                  <a:srgbClr val="5C6470"/>
                </a:solidFill>
                <a:latin typeface="Calibri" pitchFamily="34" charset="0"/>
                <a:ea typeface="Calibri" pitchFamily="34" charset="-122"/>
                <a:cs typeface="Calibri" pitchFamily="34" charset="-120"/>
              </a:rPr>
              <a:t>2.  response</a:t>
            </a:r>
            <a:endParaRPr lang="en-US" sz="1100" dirty="0"/>
          </a:p>
        </p:txBody>
      </p:sp>
      <p:sp>
        <p:nvSpPr>
          <p:cNvPr id="12" name="Shape 10"/>
          <p:cNvSpPr/>
          <p:nvPr/>
        </p:nvSpPr>
        <p:spPr>
          <a:xfrm>
            <a:off x="777240" y="4160520"/>
            <a:ext cx="10634472" cy="1051560"/>
          </a:xfrm>
          <a:prstGeom prst="roundRect">
            <a:avLst>
              <a:gd name="adj" fmla="val 7826"/>
            </a:avLst>
          </a:prstGeom>
          <a:solidFill>
            <a:srgbClr val="F5F6F8"/>
          </a:solidFill>
          <a:ln w="12700">
            <a:solidFill>
              <a:srgbClr val="E1E4E9"/>
            </a:solidFill>
            <a:prstDash val="solid"/>
          </a:ln>
        </p:spPr>
      </p:sp>
      <p:sp>
        <p:nvSpPr>
          <p:cNvPr id="13" name="Text 11"/>
          <p:cNvSpPr/>
          <p:nvPr/>
        </p:nvSpPr>
        <p:spPr>
          <a:xfrm>
            <a:off x="1143000" y="4370832"/>
            <a:ext cx="10241280" cy="548640"/>
          </a:xfrm>
          <a:prstGeom prst="rect">
            <a:avLst/>
          </a:prstGeom>
          <a:noFill/>
          <a:ln/>
        </p:spPr>
        <p:txBody>
          <a:bodyPr wrap="square" lIns="0" tIns="0" rIns="0" bIns="0" rtlCol="0" anchor="ctr"/>
          <a:lstStyle/>
          <a:p>
            <a:pPr indent="0" marL="0">
              <a:buNone/>
            </a:pPr>
            <a:r>
              <a:rPr lang="en-US" sz="1600" dirty="0">
                <a:solidFill>
                  <a:srgbClr val="15181F"/>
                </a:solidFill>
                <a:latin typeface="Calibri" pitchFamily="34" charset="0"/>
                <a:ea typeface="Calibri" pitchFamily="34" charset="-122"/>
                <a:cs typeface="Calibri" pitchFamily="34" charset="-120"/>
              </a:rPr>
              <a:t>Loading a page. Pressing a button. Sending a message. All the same shape.</a:t>
            </a:r>
            <a:endParaRPr lang="en-US" sz="1600" dirty="0"/>
          </a:p>
        </p:txBody>
      </p:sp>
      <p:sp>
        <p:nvSpPr>
          <p:cNvPr id="14" name="Text 12"/>
          <p:cNvSpPr/>
          <p:nvPr/>
        </p:nvSpPr>
        <p:spPr>
          <a:xfrm>
            <a:off x="777240" y="5486400"/>
            <a:ext cx="10634472" cy="86868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Your job is to write the code that decides what goes in the response.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5C6470"/>
                </a:solidFill>
                <a:latin typeface="Calibri" pitchFamily="34" charset="0"/>
                <a:ea typeface="Calibri" pitchFamily="34" charset="-122"/>
                <a:cs typeface="Calibri" pitchFamily="34" charset="-120"/>
              </a:rPr>
              <a:t>THE APPLICATION</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A sensor triage service</a:t>
            </a:r>
            <a:endParaRPr lang="en-US" sz="3300" dirty="0"/>
          </a:p>
        </p:txBody>
      </p:sp>
      <p:sp>
        <p:nvSpPr>
          <p:cNvPr id="4" name="Text 2"/>
          <p:cNvSpPr/>
          <p:nvPr/>
        </p:nvSpPr>
        <p:spPr>
          <a:xfrm>
            <a:off x="777240" y="1463040"/>
            <a:ext cx="10634472" cy="457200"/>
          </a:xfrm>
          <a:prstGeom prst="rect">
            <a:avLst/>
          </a:prstGeom>
          <a:noFill/>
          <a:ln/>
        </p:spPr>
        <p:txBody>
          <a:bodyPr wrap="square" lIns="0" tIns="0" rIns="0" bIns="0" rtlCol="0" anchor="ctr"/>
          <a:lstStyle/>
          <a:p>
            <a:pPr indent="0" marL="0">
              <a:buNone/>
            </a:pPr>
            <a:r>
              <a:rPr lang="en-US" sz="1700" dirty="0">
                <a:solidFill>
                  <a:srgbClr val="5C6470"/>
                </a:solidFill>
                <a:latin typeface="Calibri" pitchFamily="34" charset="0"/>
                <a:ea typeface="Calibri" pitchFamily="34" charset="-122"/>
                <a:cs typeface="Calibri" pitchFamily="34" charset="-120"/>
              </a:rPr>
              <a:t>Something sends a reading. Your code decides if it is safe. An AI explains what it means.</a:t>
            </a:r>
            <a:endParaRPr lang="en-US" sz="1700" dirty="0"/>
          </a:p>
        </p:txBody>
      </p:sp>
      <p:sp>
        <p:nvSpPr>
          <p:cNvPr id="5" name="Shape 3"/>
          <p:cNvSpPr/>
          <p:nvPr/>
        </p:nvSpPr>
        <p:spPr>
          <a:xfrm>
            <a:off x="777240" y="2148840"/>
            <a:ext cx="3337560" cy="2148840"/>
          </a:xfrm>
          <a:prstGeom prst="roundRect">
            <a:avLst>
              <a:gd name="adj" fmla="val 3830"/>
            </a:avLst>
          </a:prstGeom>
          <a:solidFill>
            <a:srgbClr val="F5F6F8"/>
          </a:solidFill>
          <a:ln w="12700">
            <a:solidFill>
              <a:srgbClr val="E1E4E9"/>
            </a:solidFill>
            <a:prstDash val="solid"/>
          </a:ln>
        </p:spPr>
      </p:sp>
      <p:sp>
        <p:nvSpPr>
          <p:cNvPr id="6" name="Text 4"/>
          <p:cNvSpPr/>
          <p:nvPr/>
        </p:nvSpPr>
        <p:spPr>
          <a:xfrm>
            <a:off x="1033272" y="2331720"/>
            <a:ext cx="2834640" cy="548640"/>
          </a:xfrm>
          <a:prstGeom prst="rect">
            <a:avLst/>
          </a:prstGeom>
          <a:noFill/>
          <a:ln/>
        </p:spPr>
        <p:txBody>
          <a:bodyPr wrap="square" lIns="0" tIns="0" rIns="0" bIns="0" rtlCol="0" anchor="ctr"/>
          <a:lstStyle/>
          <a:p>
            <a:pPr indent="0" marL="0">
              <a:buNone/>
            </a:pPr>
            <a:r>
              <a:rPr lang="en-US" sz="1450" b="1" dirty="0">
                <a:solidFill>
                  <a:srgbClr val="5158BE"/>
                </a:solidFill>
                <a:latin typeface="Cambria" pitchFamily="34" charset="0"/>
                <a:ea typeface="Cambria" pitchFamily="34" charset="-122"/>
                <a:cs typeface="Cambria" pitchFamily="34" charset="-120"/>
              </a:rPr>
              <a:t>Healthcare</a:t>
            </a:r>
            <a:endParaRPr lang="en-US" sz="1450" dirty="0"/>
          </a:p>
        </p:txBody>
      </p:sp>
      <p:sp>
        <p:nvSpPr>
          <p:cNvPr id="7" name="Text 5"/>
          <p:cNvSpPr/>
          <p:nvPr/>
        </p:nvSpPr>
        <p:spPr>
          <a:xfrm>
            <a:off x="1033272" y="292608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body temperature   36.1-37.2 C</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blood oxygen       95-100 %</a:t>
            </a:r>
            <a:endParaRPr lang="en-US" sz="1050" dirty="0"/>
          </a:p>
        </p:txBody>
      </p:sp>
      <p:sp>
        <p:nvSpPr>
          <p:cNvPr id="8" name="Shape 6"/>
          <p:cNvSpPr/>
          <p:nvPr/>
        </p:nvSpPr>
        <p:spPr>
          <a:xfrm>
            <a:off x="4434840" y="2148840"/>
            <a:ext cx="3337560" cy="2148840"/>
          </a:xfrm>
          <a:prstGeom prst="roundRect">
            <a:avLst>
              <a:gd name="adj" fmla="val 3830"/>
            </a:avLst>
          </a:prstGeom>
          <a:solidFill>
            <a:srgbClr val="F5F6F8"/>
          </a:solidFill>
          <a:ln w="12700">
            <a:solidFill>
              <a:srgbClr val="E1E4E9"/>
            </a:solidFill>
            <a:prstDash val="solid"/>
          </a:ln>
        </p:spPr>
      </p:sp>
      <p:sp>
        <p:nvSpPr>
          <p:cNvPr id="9" name="Text 7"/>
          <p:cNvSpPr/>
          <p:nvPr/>
        </p:nvSpPr>
        <p:spPr>
          <a:xfrm>
            <a:off x="4690872" y="2331720"/>
            <a:ext cx="2834640" cy="548640"/>
          </a:xfrm>
          <a:prstGeom prst="rect">
            <a:avLst/>
          </a:prstGeom>
          <a:noFill/>
          <a:ln/>
        </p:spPr>
        <p:txBody>
          <a:bodyPr wrap="square" lIns="0" tIns="0" rIns="0" bIns="0" rtlCol="0" anchor="ctr"/>
          <a:lstStyle/>
          <a:p>
            <a:pPr indent="0" marL="0">
              <a:buNone/>
            </a:pPr>
            <a:r>
              <a:rPr lang="en-US" sz="1450" b="1" dirty="0">
                <a:solidFill>
                  <a:srgbClr val="0A7D28"/>
                </a:solidFill>
                <a:latin typeface="Cambria" pitchFamily="34" charset="0"/>
                <a:ea typeface="Cambria" pitchFamily="34" charset="-122"/>
                <a:cs typeface="Cambria" pitchFamily="34" charset="-120"/>
              </a:rPr>
              <a:t>Sustainable Solutions</a:t>
            </a:r>
            <a:endParaRPr lang="en-US" sz="1450" dirty="0"/>
          </a:p>
        </p:txBody>
      </p:sp>
      <p:sp>
        <p:nvSpPr>
          <p:cNvPr id="10" name="Text 8"/>
          <p:cNvSpPr/>
          <p:nvPr/>
        </p:nvSpPr>
        <p:spPr>
          <a:xfrm>
            <a:off x="4690872" y="292608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indoor CO2         400-1000 ppm</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power draw         0-3500 W</a:t>
            </a:r>
            <a:endParaRPr lang="en-US" sz="1050" dirty="0"/>
          </a:p>
        </p:txBody>
      </p:sp>
      <p:sp>
        <p:nvSpPr>
          <p:cNvPr id="11" name="Shape 9"/>
          <p:cNvSpPr/>
          <p:nvPr/>
        </p:nvSpPr>
        <p:spPr>
          <a:xfrm>
            <a:off x="8092440" y="2148840"/>
            <a:ext cx="3337560" cy="2148840"/>
          </a:xfrm>
          <a:prstGeom prst="roundRect">
            <a:avLst>
              <a:gd name="adj" fmla="val 3830"/>
            </a:avLst>
          </a:prstGeom>
          <a:solidFill>
            <a:srgbClr val="F5F6F8"/>
          </a:solidFill>
          <a:ln w="12700">
            <a:solidFill>
              <a:srgbClr val="E1E4E9"/>
            </a:solidFill>
            <a:prstDash val="solid"/>
          </a:ln>
        </p:spPr>
      </p:sp>
      <p:sp>
        <p:nvSpPr>
          <p:cNvPr id="12" name="Text 10"/>
          <p:cNvSpPr/>
          <p:nvPr/>
        </p:nvSpPr>
        <p:spPr>
          <a:xfrm>
            <a:off x="8348472" y="2331720"/>
            <a:ext cx="2834640" cy="548640"/>
          </a:xfrm>
          <a:prstGeom prst="rect">
            <a:avLst/>
          </a:prstGeom>
          <a:noFill/>
          <a:ln/>
        </p:spPr>
        <p:txBody>
          <a:bodyPr wrap="square" lIns="0" tIns="0" rIns="0" bIns="0" rtlCol="0" anchor="ctr"/>
          <a:lstStyle/>
          <a:p>
            <a:pPr indent="0" marL="0">
              <a:buNone/>
            </a:pPr>
            <a:r>
              <a:rPr lang="en-US" sz="1450" b="1" dirty="0">
                <a:solidFill>
                  <a:srgbClr val="A85F00"/>
                </a:solidFill>
                <a:latin typeface="Cambria" pitchFamily="34" charset="0"/>
                <a:ea typeface="Cambria" pitchFamily="34" charset="-122"/>
                <a:cs typeface="Cambria" pitchFamily="34" charset="-120"/>
              </a:rPr>
              <a:t>Global Impact</a:t>
            </a:r>
            <a:endParaRPr lang="en-US" sz="1450" dirty="0"/>
          </a:p>
        </p:txBody>
      </p:sp>
      <p:sp>
        <p:nvSpPr>
          <p:cNvPr id="13" name="Text 11"/>
          <p:cNvSpPr/>
          <p:nvPr/>
        </p:nvSpPr>
        <p:spPr>
          <a:xfrm>
            <a:off x="8348472" y="2926080"/>
            <a:ext cx="2926080" cy="1188720"/>
          </a:xfrm>
          <a:prstGeom prst="rect">
            <a:avLst/>
          </a:prstGeom>
          <a:noFill/>
          <a:ln/>
        </p:spPr>
        <p:txBody>
          <a:bodyPr wrap="square" lIns="0" tIns="0" rIns="0" bIns="0" rtlCol="0" anchor="ctr"/>
          <a:lstStyle/>
          <a:p>
            <a:pPr indent="0" marL="0">
              <a:buNone/>
            </a:pPr>
            <a:r>
              <a:rPr lang="en-US" sz="1050" dirty="0">
                <a:solidFill>
                  <a:srgbClr val="15181F"/>
                </a:solidFill>
                <a:latin typeface="Courier New" pitchFamily="34" charset="0"/>
                <a:ea typeface="Courier New" pitchFamily="34" charset="-122"/>
                <a:cs typeface="Courier New" pitchFamily="34" charset="-120"/>
              </a:rPr>
              <a:t>soil moisture      30-70 %</a:t>
            </a:r>
            <a:endParaRPr lang="en-US" sz="1050" dirty="0"/>
          </a:p>
          <a:p>
            <a:pPr indent="0" marL="0">
              <a:buNone/>
            </a:pPr>
            <a:r>
              <a:rPr lang="en-US" sz="1050" dirty="0">
                <a:solidFill>
                  <a:srgbClr val="15181F"/>
                </a:solidFill>
                <a:latin typeface="Courier New" pitchFamily="34" charset="0"/>
                <a:ea typeface="Courier New" pitchFamily="34" charset="-122"/>
                <a:cs typeface="Courier New" pitchFamily="34" charset="-120"/>
              </a:rPr>
              <a:t>motor temperature  20-60 C</a:t>
            </a:r>
            <a:endParaRPr lang="en-US" sz="1050" dirty="0"/>
          </a:p>
        </p:txBody>
      </p:sp>
      <p:sp>
        <p:nvSpPr>
          <p:cNvPr id="14" name="Text 12"/>
          <p:cNvSpPr/>
          <p:nvPr/>
        </p:nvSpPr>
        <p:spPr>
          <a:xfrm>
            <a:off x="777240" y="4663440"/>
            <a:ext cx="10634472" cy="868680"/>
          </a:xfrm>
          <a:prstGeom prst="rect">
            <a:avLst/>
          </a:prstGeom>
          <a:noFill/>
          <a:ln/>
        </p:spPr>
        <p:txBody>
          <a:bodyPr wrap="square" lIns="0" tIns="0" rIns="0" bIns="0" rtlCol="0" anchor="ctr"/>
          <a:lstStyle/>
          <a:p>
            <a:pPr indent="0" marL="0">
              <a:buNone/>
            </a:pPr>
            <a:r>
              <a:rPr lang="en-US" sz="2100" b="1" dirty="0">
                <a:solidFill>
                  <a:srgbClr val="15181F"/>
                </a:solidFill>
                <a:latin typeface="Cambria" pitchFamily="34" charset="0"/>
                <a:ea typeface="Cambria" pitchFamily="34" charset="-122"/>
                <a:cs typeface="Cambria" pitchFamily="34" charset="-120"/>
              </a:rPr>
              <a:t>Every track measures a number that has a safe range.</a:t>
            </a:r>
            <a:endParaRPr lang="en-US" sz="2100" dirty="0"/>
          </a:p>
        </p:txBody>
      </p:sp>
      <p:sp>
        <p:nvSpPr>
          <p:cNvPr id="15" name="Text 13"/>
          <p:cNvSpPr/>
          <p:nvPr/>
        </p:nvSpPr>
        <p:spPr>
          <a:xfrm>
            <a:off x="777240" y="5257800"/>
            <a:ext cx="10634472" cy="73152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The code is identical for all of them. Only the numbers change. Whatever your project measures, it fits.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685800"/>
            <a:ext cx="1005840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Six stages</a:t>
            </a:r>
            <a:endParaRPr lang="en-US" sz="3400" dirty="0"/>
          </a:p>
        </p:txBody>
      </p:sp>
      <p:sp>
        <p:nvSpPr>
          <p:cNvPr id="3" name="Text 1"/>
          <p:cNvSpPr/>
          <p:nvPr/>
        </p:nvSpPr>
        <p:spPr>
          <a:xfrm>
            <a:off x="777240" y="1371600"/>
            <a:ext cx="10058400" cy="365760"/>
          </a:xfrm>
          <a:prstGeom prst="rect">
            <a:avLst/>
          </a:prstGeom>
          <a:noFill/>
          <a:ln/>
        </p:spPr>
        <p:txBody>
          <a:bodyPr wrap="square" lIns="0" tIns="0" rIns="0" bIns="0" rtlCol="0" anchor="ctr"/>
          <a:lstStyle/>
          <a:p>
            <a:pPr indent="0" marL="0">
              <a:buNone/>
            </a:pPr>
            <a:r>
              <a:rPr lang="en-US" sz="1500" dirty="0">
                <a:solidFill>
                  <a:srgbClr val="98A0AC"/>
                </a:solidFill>
                <a:latin typeface="Calibri" pitchFamily="34" charset="0"/>
                <a:ea typeface="Calibri" pitchFamily="34" charset="-122"/>
                <a:cs typeface="Calibri" pitchFamily="34" charset="-120"/>
              </a:rPr>
              <a:t>Each one runs before we move to the next.</a:t>
            </a:r>
            <a:endParaRPr lang="en-US" sz="1500" dirty="0"/>
          </a:p>
        </p:txBody>
      </p:sp>
      <p:sp>
        <p:nvSpPr>
          <p:cNvPr id="4" name="Shape 2"/>
          <p:cNvSpPr/>
          <p:nvPr/>
        </p:nvSpPr>
        <p:spPr>
          <a:xfrm>
            <a:off x="777240" y="1965960"/>
            <a:ext cx="10634472" cy="603504"/>
          </a:xfrm>
          <a:prstGeom prst="roundRect">
            <a:avLst>
              <a:gd name="adj" fmla="val 10606"/>
            </a:avLst>
          </a:prstGeom>
          <a:solidFill>
            <a:srgbClr val="222732"/>
          </a:solidFill>
          <a:ln w="12700">
            <a:solidFill>
              <a:srgbClr val="222732"/>
            </a:solidFill>
            <a:prstDash val="solid"/>
          </a:ln>
        </p:spPr>
      </p:sp>
      <p:sp>
        <p:nvSpPr>
          <p:cNvPr id="5" name="Shape 3"/>
          <p:cNvSpPr/>
          <p:nvPr/>
        </p:nvSpPr>
        <p:spPr>
          <a:xfrm>
            <a:off x="1051560" y="2112264"/>
            <a:ext cx="310896" cy="310896"/>
          </a:xfrm>
          <a:prstGeom prst="ellipse">
            <a:avLst/>
          </a:prstGeom>
          <a:solidFill>
            <a:srgbClr val="35C9B0"/>
          </a:solidFill>
          <a:ln/>
        </p:spPr>
      </p:sp>
      <p:sp>
        <p:nvSpPr>
          <p:cNvPr id="6" name="Text 4"/>
          <p:cNvSpPr/>
          <p:nvPr/>
        </p:nvSpPr>
        <p:spPr>
          <a:xfrm>
            <a:off x="1051560" y="2112264"/>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984248"/>
            <a:ext cx="7863840" cy="56692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A server that answers</a:t>
            </a:r>
            <a:endParaRPr lang="en-US" sz="1550" dirty="0"/>
          </a:p>
        </p:txBody>
      </p:sp>
      <p:sp>
        <p:nvSpPr>
          <p:cNvPr id="8" name="Text 6"/>
          <p:cNvSpPr/>
          <p:nvPr/>
        </p:nvSpPr>
        <p:spPr>
          <a:xfrm>
            <a:off x="9738360" y="1984248"/>
            <a:ext cx="1554480" cy="566928"/>
          </a:xfrm>
          <a:prstGeom prst="rect">
            <a:avLst/>
          </a:prstGeom>
          <a:noFill/>
          <a:ln/>
        </p:spPr>
        <p:txBody>
          <a:bodyPr wrap="square" lIns="0" tIns="0" rIns="0" bIns="0" rtlCol="0" anchor="ctr"/>
          <a:lstStyle/>
          <a:p>
            <a:pPr algn="r" indent="0" marL="0">
              <a:buNone/>
            </a:pPr>
            <a:r>
              <a:rPr lang="en-US" sz="1300" dirty="0">
                <a:solidFill>
                  <a:srgbClr val="98A0AC"/>
                </a:solidFill>
                <a:latin typeface="Calibri" pitchFamily="34" charset="0"/>
                <a:ea typeface="Calibri" pitchFamily="34" charset="-122"/>
                <a:cs typeface="Calibri" pitchFamily="34" charset="-120"/>
              </a:rPr>
              <a:t>7 min</a:t>
            </a:r>
            <a:endParaRPr lang="en-US" sz="1300" dirty="0"/>
          </a:p>
        </p:txBody>
      </p:sp>
      <p:sp>
        <p:nvSpPr>
          <p:cNvPr id="9" name="Shape 7"/>
          <p:cNvSpPr/>
          <p:nvPr/>
        </p:nvSpPr>
        <p:spPr>
          <a:xfrm>
            <a:off x="777240" y="2679192"/>
            <a:ext cx="10634472" cy="603504"/>
          </a:xfrm>
          <a:prstGeom prst="roundRect">
            <a:avLst>
              <a:gd name="adj" fmla="val 10606"/>
            </a:avLst>
          </a:prstGeom>
          <a:solidFill>
            <a:srgbClr val="222732"/>
          </a:solidFill>
          <a:ln w="12700">
            <a:solidFill>
              <a:srgbClr val="222732"/>
            </a:solidFill>
            <a:prstDash val="solid"/>
          </a:ln>
        </p:spPr>
      </p:sp>
      <p:sp>
        <p:nvSpPr>
          <p:cNvPr id="10" name="Shape 8"/>
          <p:cNvSpPr/>
          <p:nvPr/>
        </p:nvSpPr>
        <p:spPr>
          <a:xfrm>
            <a:off x="1051560" y="2825496"/>
            <a:ext cx="310896" cy="310896"/>
          </a:xfrm>
          <a:prstGeom prst="ellipse">
            <a:avLst/>
          </a:prstGeom>
          <a:solidFill>
            <a:srgbClr val="35C9B0"/>
          </a:solidFill>
          <a:ln/>
        </p:spPr>
      </p:sp>
      <p:sp>
        <p:nvSpPr>
          <p:cNvPr id="11" name="Text 9"/>
          <p:cNvSpPr/>
          <p:nvPr/>
        </p:nvSpPr>
        <p:spPr>
          <a:xfrm>
            <a:off x="1051560" y="2825496"/>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2</a:t>
            </a:r>
            <a:endParaRPr lang="en-US" sz="1300" dirty="0"/>
          </a:p>
        </p:txBody>
      </p:sp>
      <p:sp>
        <p:nvSpPr>
          <p:cNvPr id="12" name="Text 10"/>
          <p:cNvSpPr/>
          <p:nvPr/>
        </p:nvSpPr>
        <p:spPr>
          <a:xfrm>
            <a:off x="1645920" y="2697480"/>
            <a:ext cx="7863840" cy="56692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An endpoint that accepts data</a:t>
            </a:r>
            <a:endParaRPr lang="en-US" sz="1550" dirty="0"/>
          </a:p>
        </p:txBody>
      </p:sp>
      <p:sp>
        <p:nvSpPr>
          <p:cNvPr id="13" name="Text 11"/>
          <p:cNvSpPr/>
          <p:nvPr/>
        </p:nvSpPr>
        <p:spPr>
          <a:xfrm>
            <a:off x="9738360" y="2697480"/>
            <a:ext cx="1554480" cy="566928"/>
          </a:xfrm>
          <a:prstGeom prst="rect">
            <a:avLst/>
          </a:prstGeom>
          <a:noFill/>
          <a:ln/>
        </p:spPr>
        <p:txBody>
          <a:bodyPr wrap="square" lIns="0" tIns="0" rIns="0" bIns="0" rtlCol="0" anchor="ctr"/>
          <a:lstStyle/>
          <a:p>
            <a:pPr algn="r" indent="0" marL="0">
              <a:buNone/>
            </a:pPr>
            <a:r>
              <a:rPr lang="en-US" sz="1300" dirty="0">
                <a:solidFill>
                  <a:srgbClr val="98A0AC"/>
                </a:solidFill>
                <a:latin typeface="Calibri" pitchFamily="34" charset="0"/>
                <a:ea typeface="Calibri" pitchFamily="34" charset="-122"/>
                <a:cs typeface="Calibri" pitchFamily="34" charset="-120"/>
              </a:rPr>
              <a:t>8 min</a:t>
            </a:r>
            <a:endParaRPr lang="en-US" sz="1300" dirty="0"/>
          </a:p>
        </p:txBody>
      </p:sp>
      <p:sp>
        <p:nvSpPr>
          <p:cNvPr id="14" name="Shape 12"/>
          <p:cNvSpPr/>
          <p:nvPr/>
        </p:nvSpPr>
        <p:spPr>
          <a:xfrm>
            <a:off x="777240" y="3392424"/>
            <a:ext cx="10634472" cy="603504"/>
          </a:xfrm>
          <a:prstGeom prst="roundRect">
            <a:avLst>
              <a:gd name="adj" fmla="val 10606"/>
            </a:avLst>
          </a:prstGeom>
          <a:solidFill>
            <a:srgbClr val="222732"/>
          </a:solidFill>
          <a:ln w="12700">
            <a:solidFill>
              <a:srgbClr val="222732"/>
            </a:solidFill>
            <a:prstDash val="solid"/>
          </a:ln>
        </p:spPr>
      </p:sp>
      <p:sp>
        <p:nvSpPr>
          <p:cNvPr id="15" name="Shape 13"/>
          <p:cNvSpPr/>
          <p:nvPr/>
        </p:nvSpPr>
        <p:spPr>
          <a:xfrm>
            <a:off x="1051560" y="3538728"/>
            <a:ext cx="310896" cy="310896"/>
          </a:xfrm>
          <a:prstGeom prst="ellipse">
            <a:avLst/>
          </a:prstGeom>
          <a:solidFill>
            <a:srgbClr val="35C9B0"/>
          </a:solidFill>
          <a:ln/>
        </p:spPr>
      </p:sp>
      <p:sp>
        <p:nvSpPr>
          <p:cNvPr id="16" name="Text 14"/>
          <p:cNvSpPr/>
          <p:nvPr/>
        </p:nvSpPr>
        <p:spPr>
          <a:xfrm>
            <a:off x="1051560" y="3538728"/>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1645920" y="3410712"/>
            <a:ext cx="7863840" cy="56692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Store the readings</a:t>
            </a:r>
            <a:endParaRPr lang="en-US" sz="1550" dirty="0"/>
          </a:p>
        </p:txBody>
      </p:sp>
      <p:sp>
        <p:nvSpPr>
          <p:cNvPr id="18" name="Text 16"/>
          <p:cNvSpPr/>
          <p:nvPr/>
        </p:nvSpPr>
        <p:spPr>
          <a:xfrm>
            <a:off x="9738360" y="3410712"/>
            <a:ext cx="1554480" cy="566928"/>
          </a:xfrm>
          <a:prstGeom prst="rect">
            <a:avLst/>
          </a:prstGeom>
          <a:noFill/>
          <a:ln/>
        </p:spPr>
        <p:txBody>
          <a:bodyPr wrap="square" lIns="0" tIns="0" rIns="0" bIns="0" rtlCol="0" anchor="ctr"/>
          <a:lstStyle/>
          <a:p>
            <a:pPr algn="r" indent="0" marL="0">
              <a:buNone/>
            </a:pPr>
            <a:r>
              <a:rPr lang="en-US" sz="1300" dirty="0">
                <a:solidFill>
                  <a:srgbClr val="98A0AC"/>
                </a:solidFill>
                <a:latin typeface="Calibri" pitchFamily="34" charset="0"/>
                <a:ea typeface="Calibri" pitchFamily="34" charset="-122"/>
                <a:cs typeface="Calibri" pitchFamily="34" charset="-120"/>
              </a:rPr>
              <a:t>7 min</a:t>
            </a:r>
            <a:endParaRPr lang="en-US" sz="1300" dirty="0"/>
          </a:p>
        </p:txBody>
      </p:sp>
      <p:sp>
        <p:nvSpPr>
          <p:cNvPr id="19" name="Shape 17"/>
          <p:cNvSpPr/>
          <p:nvPr/>
        </p:nvSpPr>
        <p:spPr>
          <a:xfrm>
            <a:off x="777240" y="4105656"/>
            <a:ext cx="10634472" cy="603504"/>
          </a:xfrm>
          <a:prstGeom prst="roundRect">
            <a:avLst>
              <a:gd name="adj" fmla="val 10606"/>
            </a:avLst>
          </a:prstGeom>
          <a:solidFill>
            <a:srgbClr val="222732"/>
          </a:solidFill>
          <a:ln w="12700">
            <a:solidFill>
              <a:srgbClr val="222732"/>
            </a:solidFill>
            <a:prstDash val="solid"/>
          </a:ln>
        </p:spPr>
      </p:sp>
      <p:sp>
        <p:nvSpPr>
          <p:cNvPr id="20" name="Shape 18"/>
          <p:cNvSpPr/>
          <p:nvPr/>
        </p:nvSpPr>
        <p:spPr>
          <a:xfrm>
            <a:off x="1051560" y="4251960"/>
            <a:ext cx="310896" cy="310896"/>
          </a:xfrm>
          <a:prstGeom prst="ellipse">
            <a:avLst/>
          </a:prstGeom>
          <a:solidFill>
            <a:srgbClr val="35C9B0"/>
          </a:solidFill>
          <a:ln/>
        </p:spPr>
      </p:sp>
      <p:sp>
        <p:nvSpPr>
          <p:cNvPr id="21" name="Text 19"/>
          <p:cNvSpPr/>
          <p:nvPr/>
        </p:nvSpPr>
        <p:spPr>
          <a:xfrm>
            <a:off x="1051560" y="4251960"/>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4</a:t>
            </a:r>
            <a:endParaRPr lang="en-US" sz="1300" dirty="0"/>
          </a:p>
        </p:txBody>
      </p:sp>
      <p:sp>
        <p:nvSpPr>
          <p:cNvPr id="22" name="Text 20"/>
          <p:cNvSpPr/>
          <p:nvPr/>
        </p:nvSpPr>
        <p:spPr>
          <a:xfrm>
            <a:off x="1645920" y="4123944"/>
            <a:ext cx="7863840" cy="56692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Connect the AI API</a:t>
            </a:r>
            <a:endParaRPr lang="en-US" sz="1550" dirty="0"/>
          </a:p>
        </p:txBody>
      </p:sp>
      <p:sp>
        <p:nvSpPr>
          <p:cNvPr id="23" name="Text 21"/>
          <p:cNvSpPr/>
          <p:nvPr/>
        </p:nvSpPr>
        <p:spPr>
          <a:xfrm>
            <a:off x="9738360" y="4123944"/>
            <a:ext cx="1554480" cy="566928"/>
          </a:xfrm>
          <a:prstGeom prst="rect">
            <a:avLst/>
          </a:prstGeom>
          <a:noFill/>
          <a:ln/>
        </p:spPr>
        <p:txBody>
          <a:bodyPr wrap="square" lIns="0" tIns="0" rIns="0" bIns="0" rtlCol="0" anchor="ctr"/>
          <a:lstStyle/>
          <a:p>
            <a:pPr algn="r" indent="0" marL="0">
              <a:buNone/>
            </a:pPr>
            <a:r>
              <a:rPr lang="en-US" sz="1300" dirty="0">
                <a:solidFill>
                  <a:srgbClr val="98A0AC"/>
                </a:solidFill>
                <a:latin typeface="Calibri" pitchFamily="34" charset="0"/>
                <a:ea typeface="Calibri" pitchFamily="34" charset="-122"/>
                <a:cs typeface="Calibri" pitchFamily="34" charset="-120"/>
              </a:rPr>
              <a:t>13 min</a:t>
            </a:r>
            <a:endParaRPr lang="en-US" sz="1300" dirty="0"/>
          </a:p>
        </p:txBody>
      </p:sp>
      <p:sp>
        <p:nvSpPr>
          <p:cNvPr id="24" name="Shape 22"/>
          <p:cNvSpPr/>
          <p:nvPr/>
        </p:nvSpPr>
        <p:spPr>
          <a:xfrm>
            <a:off x="777240" y="4818888"/>
            <a:ext cx="10634472" cy="603504"/>
          </a:xfrm>
          <a:prstGeom prst="roundRect">
            <a:avLst>
              <a:gd name="adj" fmla="val 10606"/>
            </a:avLst>
          </a:prstGeom>
          <a:solidFill>
            <a:srgbClr val="222732"/>
          </a:solidFill>
          <a:ln w="12700">
            <a:solidFill>
              <a:srgbClr val="222732"/>
            </a:solidFill>
            <a:prstDash val="solid"/>
          </a:ln>
        </p:spPr>
      </p:sp>
      <p:sp>
        <p:nvSpPr>
          <p:cNvPr id="25" name="Shape 23"/>
          <p:cNvSpPr/>
          <p:nvPr/>
        </p:nvSpPr>
        <p:spPr>
          <a:xfrm>
            <a:off x="1051560" y="4965192"/>
            <a:ext cx="310896" cy="310896"/>
          </a:xfrm>
          <a:prstGeom prst="ellipse">
            <a:avLst/>
          </a:prstGeom>
          <a:solidFill>
            <a:srgbClr val="35C9B0"/>
          </a:solidFill>
          <a:ln/>
        </p:spPr>
      </p:sp>
      <p:sp>
        <p:nvSpPr>
          <p:cNvPr id="26" name="Text 24"/>
          <p:cNvSpPr/>
          <p:nvPr/>
        </p:nvSpPr>
        <p:spPr>
          <a:xfrm>
            <a:off x="1051560" y="4965192"/>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5</a:t>
            </a:r>
            <a:endParaRPr lang="en-US" sz="1300" dirty="0"/>
          </a:p>
        </p:txBody>
      </p:sp>
      <p:sp>
        <p:nvSpPr>
          <p:cNvPr id="27" name="Text 25"/>
          <p:cNvSpPr/>
          <p:nvPr/>
        </p:nvSpPr>
        <p:spPr>
          <a:xfrm>
            <a:off x="1645920" y="4837176"/>
            <a:ext cx="7863840" cy="56692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The web page</a:t>
            </a:r>
            <a:endParaRPr lang="en-US" sz="1550" dirty="0"/>
          </a:p>
        </p:txBody>
      </p:sp>
      <p:sp>
        <p:nvSpPr>
          <p:cNvPr id="28" name="Text 26"/>
          <p:cNvSpPr/>
          <p:nvPr/>
        </p:nvSpPr>
        <p:spPr>
          <a:xfrm>
            <a:off x="9738360" y="4837176"/>
            <a:ext cx="1554480" cy="566928"/>
          </a:xfrm>
          <a:prstGeom prst="rect">
            <a:avLst/>
          </a:prstGeom>
          <a:noFill/>
          <a:ln/>
        </p:spPr>
        <p:txBody>
          <a:bodyPr wrap="square" lIns="0" tIns="0" rIns="0" bIns="0" rtlCol="0" anchor="ctr"/>
          <a:lstStyle/>
          <a:p>
            <a:pPr algn="r" indent="0" marL="0">
              <a:buNone/>
            </a:pPr>
            <a:r>
              <a:rPr lang="en-US" sz="1300" dirty="0">
                <a:solidFill>
                  <a:srgbClr val="98A0AC"/>
                </a:solidFill>
                <a:latin typeface="Calibri" pitchFamily="34" charset="0"/>
                <a:ea typeface="Calibri" pitchFamily="34" charset="-122"/>
                <a:cs typeface="Calibri" pitchFamily="34" charset="-120"/>
              </a:rPr>
              <a:t>8 min</a:t>
            </a:r>
            <a:endParaRPr lang="en-US" sz="1300" dirty="0"/>
          </a:p>
        </p:txBody>
      </p:sp>
      <p:sp>
        <p:nvSpPr>
          <p:cNvPr id="29" name="Shape 27"/>
          <p:cNvSpPr/>
          <p:nvPr/>
        </p:nvSpPr>
        <p:spPr>
          <a:xfrm>
            <a:off x="777240" y="5532120"/>
            <a:ext cx="10634472" cy="603504"/>
          </a:xfrm>
          <a:prstGeom prst="roundRect">
            <a:avLst>
              <a:gd name="adj" fmla="val 10606"/>
            </a:avLst>
          </a:prstGeom>
          <a:solidFill>
            <a:srgbClr val="222732"/>
          </a:solidFill>
          <a:ln w="12700">
            <a:solidFill>
              <a:srgbClr val="222732"/>
            </a:solidFill>
            <a:prstDash val="solid"/>
          </a:ln>
        </p:spPr>
      </p:sp>
      <p:sp>
        <p:nvSpPr>
          <p:cNvPr id="30" name="Shape 28"/>
          <p:cNvSpPr/>
          <p:nvPr/>
        </p:nvSpPr>
        <p:spPr>
          <a:xfrm>
            <a:off x="1051560" y="5678424"/>
            <a:ext cx="310896" cy="310896"/>
          </a:xfrm>
          <a:prstGeom prst="ellipse">
            <a:avLst/>
          </a:prstGeom>
          <a:solidFill>
            <a:srgbClr val="35C9B0"/>
          </a:solidFill>
          <a:ln/>
        </p:spPr>
      </p:sp>
      <p:sp>
        <p:nvSpPr>
          <p:cNvPr id="31" name="Text 29"/>
          <p:cNvSpPr/>
          <p:nvPr/>
        </p:nvSpPr>
        <p:spPr>
          <a:xfrm>
            <a:off x="1051560" y="5678424"/>
            <a:ext cx="310896" cy="310896"/>
          </a:xfrm>
          <a:prstGeom prst="rect">
            <a:avLst/>
          </a:prstGeom>
          <a:noFill/>
          <a:ln/>
        </p:spPr>
        <p:txBody>
          <a:bodyPr wrap="square" lIns="0" tIns="0" rIns="0" bIns="0" rtlCol="0" anchor="ctr"/>
          <a:lstStyle/>
          <a:p>
            <a:pPr algn="ctr" indent="0" marL="0">
              <a:buNone/>
            </a:pPr>
            <a:r>
              <a:rPr lang="en-US" sz="1300" b="1" dirty="0">
                <a:solidFill>
                  <a:srgbClr val="15181F"/>
                </a:solidFill>
                <a:latin typeface="Calibri" pitchFamily="34" charset="0"/>
                <a:ea typeface="Calibri" pitchFamily="34" charset="-122"/>
                <a:cs typeface="Calibri" pitchFamily="34" charset="-120"/>
              </a:rPr>
              <a:t>6</a:t>
            </a:r>
            <a:endParaRPr lang="en-US" sz="1300" dirty="0"/>
          </a:p>
        </p:txBody>
      </p:sp>
      <p:sp>
        <p:nvSpPr>
          <p:cNvPr id="32" name="Text 30"/>
          <p:cNvSpPr/>
          <p:nvPr/>
        </p:nvSpPr>
        <p:spPr>
          <a:xfrm>
            <a:off x="1645920" y="5550408"/>
            <a:ext cx="7863840" cy="566928"/>
          </a:xfrm>
          <a:prstGeom prst="rect">
            <a:avLst/>
          </a:prstGeom>
          <a:noFill/>
          <a:ln/>
        </p:spPr>
        <p:txBody>
          <a:bodyPr wrap="square" lIns="0" tIns="0" rIns="0" bIns="0" rtlCol="0" anchor="ctr"/>
          <a:lstStyle/>
          <a:p>
            <a:pPr indent="0" marL="0">
              <a:buNone/>
            </a:pPr>
            <a:r>
              <a:rPr lang="en-US" sz="1550" dirty="0">
                <a:solidFill>
                  <a:srgbClr val="FFFFFF"/>
                </a:solidFill>
                <a:latin typeface="Calibri" pitchFamily="34" charset="0"/>
                <a:ea typeface="Calibri" pitchFamily="34" charset="-122"/>
                <a:cs typeface="Calibri" pitchFamily="34" charset="-120"/>
              </a:rPr>
              <a:t>Deploy to the cloud</a:t>
            </a:r>
            <a:endParaRPr lang="en-US" sz="1550" dirty="0"/>
          </a:p>
        </p:txBody>
      </p:sp>
      <p:sp>
        <p:nvSpPr>
          <p:cNvPr id="33" name="Text 31"/>
          <p:cNvSpPr/>
          <p:nvPr/>
        </p:nvSpPr>
        <p:spPr>
          <a:xfrm>
            <a:off x="9738360" y="5550408"/>
            <a:ext cx="1554480" cy="566928"/>
          </a:xfrm>
          <a:prstGeom prst="rect">
            <a:avLst/>
          </a:prstGeom>
          <a:noFill/>
          <a:ln/>
        </p:spPr>
        <p:txBody>
          <a:bodyPr wrap="square" lIns="0" tIns="0" rIns="0" bIns="0" rtlCol="0" anchor="ctr"/>
          <a:lstStyle/>
          <a:p>
            <a:pPr algn="r" indent="0" marL="0">
              <a:buNone/>
            </a:pPr>
            <a:r>
              <a:rPr lang="en-US" sz="1300" dirty="0">
                <a:solidFill>
                  <a:srgbClr val="98A0AC"/>
                </a:solidFill>
                <a:latin typeface="Calibri" pitchFamily="34" charset="0"/>
                <a:ea typeface="Calibri" pitchFamily="34" charset="-122"/>
                <a:cs typeface="Calibri" pitchFamily="34" charset="-120"/>
              </a:rPr>
              <a:t>12 min</a:t>
            </a:r>
            <a:endParaRPr lang="en-US" sz="1300" dirty="0"/>
          </a:p>
        </p:txBody>
      </p:sp>
      <p:sp>
        <p:nvSpPr>
          <p:cNvPr id="34" name="Text 32"/>
          <p:cNvSpPr/>
          <p:nvPr/>
        </p:nvSpPr>
        <p:spPr>
          <a:xfrm>
            <a:off x="777240" y="6309360"/>
            <a:ext cx="10607040" cy="365760"/>
          </a:xfrm>
          <a:prstGeom prst="rect">
            <a:avLst/>
          </a:prstGeom>
          <a:noFill/>
          <a:ln/>
        </p:spPr>
        <p:txBody>
          <a:bodyPr wrap="square" lIns="0" tIns="0" rIns="0" bIns="0" rtlCol="0" anchor="ctr"/>
          <a:lstStyle/>
          <a:p>
            <a:pPr indent="0" marL="0">
              <a:buNone/>
            </a:pPr>
            <a:r>
              <a:rPr lang="en-US" sz="1300" i="1" dirty="0">
                <a:solidFill>
                  <a:srgbClr val="98A0AC"/>
                </a:solidFill>
                <a:latin typeface="Calibri" pitchFamily="34" charset="0"/>
                <a:ea typeface="Calibri" pitchFamily="34" charset="-122"/>
                <a:cs typeface="Calibri" pitchFamily="34" charset="-120"/>
              </a:rPr>
              <a:t>Fallen behind? Every stage has a complete working copy in the guide. Copy it and carry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1 OF 6      7 MINUTES</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A server that answers</a:t>
            </a:r>
            <a:endParaRPr lang="en-US" sz="3300" dirty="0"/>
          </a:p>
        </p:txBody>
      </p:sp>
      <p:sp>
        <p:nvSpPr>
          <p:cNvPr id="4" name="Shape 2"/>
          <p:cNvSpPr/>
          <p:nvPr/>
        </p:nvSpPr>
        <p:spPr>
          <a:xfrm>
            <a:off x="777240" y="1691640"/>
            <a:ext cx="5257800" cy="2514600"/>
          </a:xfrm>
          <a:prstGeom prst="roundRect">
            <a:avLst>
              <a:gd name="adj" fmla="val 3273"/>
            </a:avLst>
          </a:prstGeom>
          <a:solidFill>
            <a:srgbClr val="F5F6F8"/>
          </a:solidFill>
          <a:ln w="12700">
            <a:solidFill>
              <a:srgbClr val="E1E4E9"/>
            </a:solidFill>
            <a:prstDash val="solid"/>
          </a:ln>
        </p:spPr>
      </p:sp>
      <p:sp>
        <p:nvSpPr>
          <p:cNvPr id="5" name="Text 3"/>
          <p:cNvSpPr/>
          <p:nvPr/>
        </p:nvSpPr>
        <p:spPr>
          <a:xfrm>
            <a:off x="109728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main.py</a:t>
            </a:r>
            <a:endParaRPr lang="en-US" sz="1500" dirty="0"/>
          </a:p>
          <a:p>
            <a:pPr indent="0" marL="0">
              <a:buNone/>
            </a:pP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Six lines: import FastAPI, create the</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app, and one function that returns</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{"status": "ok"}.</a:t>
            </a:r>
            <a:endParaRPr lang="en-US" sz="1500" dirty="0"/>
          </a:p>
        </p:txBody>
      </p:sp>
      <p:sp>
        <p:nvSpPr>
          <p:cNvPr id="7" name="Shape 5"/>
          <p:cNvSpPr/>
          <p:nvPr/>
        </p:nvSpPr>
        <p:spPr>
          <a:xfrm>
            <a:off x="6309360" y="1691640"/>
            <a:ext cx="5257800" cy="2514600"/>
          </a:xfrm>
          <a:prstGeom prst="roundRect">
            <a:avLst>
              <a:gd name="adj" fmla="val 3273"/>
            </a:avLst>
          </a:prstGeom>
          <a:solidFill>
            <a:srgbClr val="F5F6F8"/>
          </a:solidFill>
          <a:ln w="12700">
            <a:solidFill>
              <a:srgbClr val="E1E4E9"/>
            </a:solidFill>
            <a:prstDash val="solid"/>
          </a:ln>
        </p:spPr>
      </p:sp>
      <p:sp>
        <p:nvSpPr>
          <p:cNvPr id="8" name="Text 6"/>
          <p:cNvSpPr/>
          <p:nvPr/>
        </p:nvSpPr>
        <p:spPr>
          <a:xfrm>
            <a:off x="662940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uvicorn main:app --reload</a:t>
            </a:r>
            <a:endParaRPr lang="en-US" sz="1500" dirty="0"/>
          </a:p>
          <a:p>
            <a:pPr indent="0" marL="0">
              <a:buNone/>
            </a:pP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127.0.0.1:8000/health shows</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{"status":"ok"} in your browser.</a:t>
            </a:r>
            <a:endParaRPr lang="en-US" sz="1500" dirty="0"/>
          </a:p>
        </p:txBody>
      </p:sp>
      <p:sp>
        <p:nvSpPr>
          <p:cNvPr id="10" name="Text 8"/>
          <p:cNvSpPr/>
          <p:nvPr/>
        </p:nvSpPr>
        <p:spPr>
          <a:xfrm>
            <a:off x="777240" y="44348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New terms</a:t>
            </a:r>
            <a:endParaRPr lang="en-US" sz="1150" dirty="0"/>
          </a:p>
        </p:txBody>
      </p:sp>
      <p:sp>
        <p:nvSpPr>
          <p:cNvPr id="11" name="Shape 9"/>
          <p:cNvSpPr/>
          <p:nvPr/>
        </p:nvSpPr>
        <p:spPr>
          <a:xfrm>
            <a:off x="777240" y="4800600"/>
            <a:ext cx="10634472" cy="566928"/>
          </a:xfrm>
          <a:prstGeom prst="roundRect">
            <a:avLst>
              <a:gd name="adj" fmla="val 14516"/>
            </a:avLst>
          </a:prstGeom>
          <a:solidFill>
            <a:srgbClr val="F5F6F8"/>
          </a:solidFill>
          <a:ln w="12700">
            <a:solidFill>
              <a:srgbClr val="E1E4E9"/>
            </a:solidFill>
            <a:prstDash val="solid"/>
          </a:ln>
        </p:spPr>
      </p:sp>
      <p:sp>
        <p:nvSpPr>
          <p:cNvPr id="12" name="Text 10"/>
          <p:cNvSpPr/>
          <p:nvPr/>
        </p:nvSpPr>
        <p:spPr>
          <a:xfrm>
            <a:off x="1051560" y="4818888"/>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endpoint</a:t>
            </a:r>
            <a:endParaRPr lang="en-US" sz="1400" dirty="0"/>
          </a:p>
        </p:txBody>
      </p:sp>
      <p:sp>
        <p:nvSpPr>
          <p:cNvPr id="13" name="Text 11"/>
          <p:cNvSpPr/>
          <p:nvPr/>
        </p:nvSpPr>
        <p:spPr>
          <a:xfrm>
            <a:off x="3977640" y="4818888"/>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one address your server answers, and the code behind it</a:t>
            </a:r>
            <a:endParaRPr lang="en-US" sz="1350" dirty="0"/>
          </a:p>
        </p:txBody>
      </p:sp>
      <p:sp>
        <p:nvSpPr>
          <p:cNvPr id="14" name="Shape 12"/>
          <p:cNvSpPr/>
          <p:nvPr/>
        </p:nvSpPr>
        <p:spPr>
          <a:xfrm>
            <a:off x="777240" y="5458968"/>
            <a:ext cx="10634472" cy="566928"/>
          </a:xfrm>
          <a:prstGeom prst="roundRect">
            <a:avLst>
              <a:gd name="adj" fmla="val 14516"/>
            </a:avLst>
          </a:prstGeom>
          <a:solidFill>
            <a:srgbClr val="F5F6F8"/>
          </a:solidFill>
          <a:ln w="12700">
            <a:solidFill>
              <a:srgbClr val="E1E4E9"/>
            </a:solidFill>
            <a:prstDash val="solid"/>
          </a:ln>
        </p:spPr>
      </p:sp>
      <p:sp>
        <p:nvSpPr>
          <p:cNvPr id="15" name="Text 13"/>
          <p:cNvSpPr/>
          <p:nvPr/>
        </p:nvSpPr>
        <p:spPr>
          <a:xfrm>
            <a:off x="1051560" y="5477256"/>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@app.get(...)</a:t>
            </a:r>
            <a:endParaRPr lang="en-US" sz="1400" dirty="0"/>
          </a:p>
        </p:txBody>
      </p:sp>
      <p:sp>
        <p:nvSpPr>
          <p:cNvPr id="16" name="Text 14"/>
          <p:cNvSpPr/>
          <p:nvPr/>
        </p:nvSpPr>
        <p:spPr>
          <a:xfrm>
            <a:off x="3977640" y="5477256"/>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tells FastAPI which address this function handles</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2 OF 6      8 MINUTES</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An endpoint that accepts data</a:t>
            </a:r>
            <a:endParaRPr lang="en-US" sz="3300" dirty="0"/>
          </a:p>
        </p:txBody>
      </p:sp>
      <p:sp>
        <p:nvSpPr>
          <p:cNvPr id="4" name="Shape 2"/>
          <p:cNvSpPr/>
          <p:nvPr/>
        </p:nvSpPr>
        <p:spPr>
          <a:xfrm>
            <a:off x="777240" y="1691640"/>
            <a:ext cx="5257800" cy="2514600"/>
          </a:xfrm>
          <a:prstGeom prst="roundRect">
            <a:avLst>
              <a:gd name="adj" fmla="val 3273"/>
            </a:avLst>
          </a:prstGeom>
          <a:solidFill>
            <a:srgbClr val="F5F6F8"/>
          </a:solidFill>
          <a:ln w="12700">
            <a:solidFill>
              <a:srgbClr val="E1E4E9"/>
            </a:solidFill>
            <a:prstDash val="solid"/>
          </a:ln>
        </p:spPr>
      </p:sp>
      <p:sp>
        <p:nvSpPr>
          <p:cNvPr id="5" name="Text 3"/>
          <p:cNvSpPr/>
          <p:nvPr/>
        </p:nvSpPr>
        <p:spPr>
          <a:xfrm>
            <a:off x="109728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A Reading class describing valid input,</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a classify() function doing the</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arithmetic, and POST /readings.</a:t>
            </a:r>
            <a:endParaRPr lang="en-US" sz="1500" dirty="0"/>
          </a:p>
        </p:txBody>
      </p:sp>
      <p:sp>
        <p:nvSpPr>
          <p:cNvPr id="7" name="Shape 5"/>
          <p:cNvSpPr/>
          <p:nvPr/>
        </p:nvSpPr>
        <p:spPr>
          <a:xfrm>
            <a:off x="6309360" y="1691640"/>
            <a:ext cx="5257800" cy="2514600"/>
          </a:xfrm>
          <a:prstGeom prst="roundRect">
            <a:avLst>
              <a:gd name="adj" fmla="val 3273"/>
            </a:avLst>
          </a:prstGeom>
          <a:solidFill>
            <a:srgbClr val="F5F6F8"/>
          </a:solidFill>
          <a:ln w="12700">
            <a:solidFill>
              <a:srgbClr val="E1E4E9"/>
            </a:solidFill>
            <a:prstDash val="solid"/>
          </a:ln>
        </p:spPr>
      </p:sp>
      <p:sp>
        <p:nvSpPr>
          <p:cNvPr id="8" name="Text 6"/>
          <p:cNvSpPr/>
          <p:nvPr/>
        </p:nvSpPr>
        <p:spPr>
          <a:xfrm>
            <a:off x="662940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In /docs, POST a reading of 87 with a</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safe range of 20-60 and get back</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"severity": "critical".</a:t>
            </a:r>
            <a:endParaRPr lang="en-US" sz="1500" dirty="0"/>
          </a:p>
        </p:txBody>
      </p:sp>
      <p:sp>
        <p:nvSpPr>
          <p:cNvPr id="10" name="Text 8"/>
          <p:cNvSpPr/>
          <p:nvPr/>
        </p:nvSpPr>
        <p:spPr>
          <a:xfrm>
            <a:off x="777240" y="44348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New terms</a:t>
            </a:r>
            <a:endParaRPr lang="en-US" sz="1150" dirty="0"/>
          </a:p>
        </p:txBody>
      </p:sp>
      <p:sp>
        <p:nvSpPr>
          <p:cNvPr id="11" name="Shape 9"/>
          <p:cNvSpPr/>
          <p:nvPr/>
        </p:nvSpPr>
        <p:spPr>
          <a:xfrm>
            <a:off x="777240" y="4800600"/>
            <a:ext cx="10634472" cy="566928"/>
          </a:xfrm>
          <a:prstGeom prst="roundRect">
            <a:avLst>
              <a:gd name="adj" fmla="val 14516"/>
            </a:avLst>
          </a:prstGeom>
          <a:solidFill>
            <a:srgbClr val="F5F6F8"/>
          </a:solidFill>
          <a:ln w="12700">
            <a:solidFill>
              <a:srgbClr val="E1E4E9"/>
            </a:solidFill>
            <a:prstDash val="solid"/>
          </a:ln>
        </p:spPr>
      </p:sp>
      <p:sp>
        <p:nvSpPr>
          <p:cNvPr id="12" name="Text 10"/>
          <p:cNvSpPr/>
          <p:nvPr/>
        </p:nvSpPr>
        <p:spPr>
          <a:xfrm>
            <a:off x="1051560" y="4818888"/>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GET and POST</a:t>
            </a:r>
            <a:endParaRPr lang="en-US" sz="1400" dirty="0"/>
          </a:p>
        </p:txBody>
      </p:sp>
      <p:sp>
        <p:nvSpPr>
          <p:cNvPr id="13" name="Text 11"/>
          <p:cNvSpPr/>
          <p:nvPr/>
        </p:nvSpPr>
        <p:spPr>
          <a:xfrm>
            <a:off x="3977640" y="4818888"/>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GET asks for something. POST sends something.</a:t>
            </a:r>
            <a:endParaRPr lang="en-US" sz="1350" dirty="0"/>
          </a:p>
        </p:txBody>
      </p:sp>
      <p:sp>
        <p:nvSpPr>
          <p:cNvPr id="14" name="Shape 12"/>
          <p:cNvSpPr/>
          <p:nvPr/>
        </p:nvSpPr>
        <p:spPr>
          <a:xfrm>
            <a:off x="777240" y="5458968"/>
            <a:ext cx="10634472" cy="566928"/>
          </a:xfrm>
          <a:prstGeom prst="roundRect">
            <a:avLst>
              <a:gd name="adj" fmla="val 14516"/>
            </a:avLst>
          </a:prstGeom>
          <a:solidFill>
            <a:srgbClr val="F5F6F8"/>
          </a:solidFill>
          <a:ln w="12700">
            <a:solidFill>
              <a:srgbClr val="E1E4E9"/>
            </a:solidFill>
            <a:prstDash val="solid"/>
          </a:ln>
        </p:spPr>
      </p:sp>
      <p:sp>
        <p:nvSpPr>
          <p:cNvPr id="15" name="Text 13"/>
          <p:cNvSpPr/>
          <p:nvPr/>
        </p:nvSpPr>
        <p:spPr>
          <a:xfrm>
            <a:off x="1051560" y="5477256"/>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JSON</a:t>
            </a:r>
            <a:endParaRPr lang="en-US" sz="1400" dirty="0"/>
          </a:p>
        </p:txBody>
      </p:sp>
      <p:sp>
        <p:nvSpPr>
          <p:cNvPr id="16" name="Text 14"/>
          <p:cNvSpPr/>
          <p:nvPr/>
        </p:nvSpPr>
        <p:spPr>
          <a:xfrm>
            <a:off x="3977640" y="5477256"/>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the text format programs use to exchange data</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3 OF 6      7 MINUTES</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Store the readings</a:t>
            </a:r>
            <a:endParaRPr lang="en-US" sz="3300" dirty="0"/>
          </a:p>
        </p:txBody>
      </p:sp>
      <p:sp>
        <p:nvSpPr>
          <p:cNvPr id="4" name="Shape 2"/>
          <p:cNvSpPr/>
          <p:nvPr/>
        </p:nvSpPr>
        <p:spPr>
          <a:xfrm>
            <a:off x="777240" y="1691640"/>
            <a:ext cx="5257800" cy="2514600"/>
          </a:xfrm>
          <a:prstGeom prst="roundRect">
            <a:avLst>
              <a:gd name="adj" fmla="val 3273"/>
            </a:avLst>
          </a:prstGeom>
          <a:solidFill>
            <a:srgbClr val="F5F6F8"/>
          </a:solidFill>
          <a:ln w="12700">
            <a:solidFill>
              <a:srgbClr val="E1E4E9"/>
            </a:solidFill>
            <a:prstDash val="solid"/>
          </a:ln>
        </p:spPr>
      </p:sp>
      <p:sp>
        <p:nvSpPr>
          <p:cNvPr id="5" name="Text 3"/>
          <p:cNvSpPr/>
          <p:nvPr/>
        </p:nvSpPr>
        <p:spPr>
          <a:xfrm>
            <a:off x="109728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A small database helper, a table,</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and GET /readings to list what</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you have saved.</a:t>
            </a:r>
            <a:endParaRPr lang="en-US" sz="1500" dirty="0"/>
          </a:p>
        </p:txBody>
      </p:sp>
      <p:sp>
        <p:nvSpPr>
          <p:cNvPr id="7" name="Shape 5"/>
          <p:cNvSpPr/>
          <p:nvPr/>
        </p:nvSpPr>
        <p:spPr>
          <a:xfrm>
            <a:off x="6309360" y="1691640"/>
            <a:ext cx="5257800" cy="2514600"/>
          </a:xfrm>
          <a:prstGeom prst="roundRect">
            <a:avLst>
              <a:gd name="adj" fmla="val 3273"/>
            </a:avLst>
          </a:prstGeom>
          <a:solidFill>
            <a:srgbClr val="F5F6F8"/>
          </a:solidFill>
          <a:ln w="12700">
            <a:solidFill>
              <a:srgbClr val="E1E4E9"/>
            </a:solidFill>
            <a:prstDash val="solid"/>
          </a:ln>
        </p:spPr>
      </p:sp>
      <p:sp>
        <p:nvSpPr>
          <p:cNvPr id="8" name="Text 6"/>
          <p:cNvSpPr/>
          <p:nvPr/>
        </p:nvSpPr>
        <p:spPr>
          <a:xfrm>
            <a:off x="662940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Send three readings, stop the server,</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start it again. The readings are</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still there.</a:t>
            </a:r>
            <a:endParaRPr lang="en-US" sz="1500" dirty="0"/>
          </a:p>
        </p:txBody>
      </p:sp>
      <p:sp>
        <p:nvSpPr>
          <p:cNvPr id="10" name="Text 8"/>
          <p:cNvSpPr/>
          <p:nvPr/>
        </p:nvSpPr>
        <p:spPr>
          <a:xfrm>
            <a:off x="777240" y="44348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New terms</a:t>
            </a:r>
            <a:endParaRPr lang="en-US" sz="1150" dirty="0"/>
          </a:p>
        </p:txBody>
      </p:sp>
      <p:sp>
        <p:nvSpPr>
          <p:cNvPr id="11" name="Shape 9"/>
          <p:cNvSpPr/>
          <p:nvPr/>
        </p:nvSpPr>
        <p:spPr>
          <a:xfrm>
            <a:off x="777240" y="4800600"/>
            <a:ext cx="10634472" cy="566928"/>
          </a:xfrm>
          <a:prstGeom prst="roundRect">
            <a:avLst>
              <a:gd name="adj" fmla="val 14516"/>
            </a:avLst>
          </a:prstGeom>
          <a:solidFill>
            <a:srgbClr val="F5F6F8"/>
          </a:solidFill>
          <a:ln w="12700">
            <a:solidFill>
              <a:srgbClr val="E1E4E9"/>
            </a:solidFill>
            <a:prstDash val="solid"/>
          </a:ln>
        </p:spPr>
      </p:sp>
      <p:sp>
        <p:nvSpPr>
          <p:cNvPr id="12" name="Text 10"/>
          <p:cNvSpPr/>
          <p:nvPr/>
        </p:nvSpPr>
        <p:spPr>
          <a:xfrm>
            <a:off x="1051560" y="4818888"/>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SQLite</a:t>
            </a:r>
            <a:endParaRPr lang="en-US" sz="1400" dirty="0"/>
          </a:p>
        </p:txBody>
      </p:sp>
      <p:sp>
        <p:nvSpPr>
          <p:cNvPr id="13" name="Text 11"/>
          <p:cNvSpPr/>
          <p:nvPr/>
        </p:nvSpPr>
        <p:spPr>
          <a:xfrm>
            <a:off x="3977640" y="4818888"/>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a whole database inside a single file, nothing to install</a:t>
            </a:r>
            <a:endParaRPr lang="en-US" sz="1350" dirty="0"/>
          </a:p>
        </p:txBody>
      </p:sp>
      <p:sp>
        <p:nvSpPr>
          <p:cNvPr id="14" name="Shape 12"/>
          <p:cNvSpPr/>
          <p:nvPr/>
        </p:nvSpPr>
        <p:spPr>
          <a:xfrm>
            <a:off x="777240" y="5458968"/>
            <a:ext cx="10634472" cy="566928"/>
          </a:xfrm>
          <a:prstGeom prst="roundRect">
            <a:avLst>
              <a:gd name="adj" fmla="val 14516"/>
            </a:avLst>
          </a:prstGeom>
          <a:solidFill>
            <a:srgbClr val="F5F6F8"/>
          </a:solidFill>
          <a:ln w="12700">
            <a:solidFill>
              <a:srgbClr val="E1E4E9"/>
            </a:solidFill>
            <a:prstDash val="solid"/>
          </a:ln>
        </p:spPr>
      </p:sp>
      <p:sp>
        <p:nvSpPr>
          <p:cNvPr id="15" name="Text 13"/>
          <p:cNvSpPr/>
          <p:nvPr/>
        </p:nvSpPr>
        <p:spPr>
          <a:xfrm>
            <a:off x="1051560" y="5477256"/>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parameterised query</a:t>
            </a:r>
            <a:endParaRPr lang="en-US" sz="1400" dirty="0"/>
          </a:p>
        </p:txBody>
      </p:sp>
      <p:sp>
        <p:nvSpPr>
          <p:cNvPr id="16" name="Text 14"/>
          <p:cNvSpPr/>
          <p:nvPr/>
        </p:nvSpPr>
        <p:spPr>
          <a:xfrm>
            <a:off x="3977640" y="5477256"/>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passing values separately, never joining SQL strings</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5158BE"/>
                </a:solidFill>
                <a:latin typeface="Calibri" pitchFamily="34" charset="0"/>
                <a:ea typeface="Calibri" pitchFamily="34" charset="-122"/>
                <a:cs typeface="Calibri" pitchFamily="34" charset="-120"/>
              </a:rPr>
              <a:t>BEFORE STAGE 4</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Which half of the job should the AI do?</a:t>
            </a:r>
            <a:endParaRPr lang="en-US" sz="3300" dirty="0"/>
          </a:p>
        </p:txBody>
      </p:sp>
      <p:graphicFrame>
        <p:nvGraphicFramePr>
          <p:cNvPr id="4" name="Chart 0" descr=""/>
          <p:cNvGraphicFramePr/>
          <p:nvPr/>
        </p:nvGraphicFramePr>
        <p:xfrm>
          <a:off x="777240" y="1737360"/>
          <a:ext cx="6035040" cy="32918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7178040" y="1737360"/>
            <a:ext cx="4251960" cy="3291840"/>
          </a:xfrm>
          <a:prstGeom prst="roundRect">
            <a:avLst>
              <a:gd name="adj" fmla="val 2500"/>
            </a:avLst>
          </a:prstGeom>
          <a:solidFill>
            <a:srgbClr val="F5F6F8"/>
          </a:solidFill>
          <a:ln w="12700">
            <a:solidFill>
              <a:srgbClr val="E1E4E9"/>
            </a:solidFill>
            <a:prstDash val="solid"/>
          </a:ln>
        </p:spPr>
      </p:sp>
      <p:sp>
        <p:nvSpPr>
          <p:cNvPr id="6" name="Text 3"/>
          <p:cNvSpPr/>
          <p:nvPr/>
        </p:nvSpPr>
        <p:spPr>
          <a:xfrm>
            <a:off x="7452360" y="1920240"/>
            <a:ext cx="3703320" cy="365760"/>
          </a:xfrm>
          <a:prstGeom prst="rect">
            <a:avLst/>
          </a:prstGeom>
          <a:noFill/>
          <a:ln/>
        </p:spPr>
        <p:txBody>
          <a:bodyPr wrap="square" lIns="0" tIns="0" rIns="0" bIns="0" rtlCol="0" anchor="ctr"/>
          <a:lstStyle/>
          <a:p>
            <a:pPr indent="0" marL="0">
              <a:buNone/>
            </a:pPr>
            <a:r>
              <a:rPr lang="en-US" sz="1400" b="1" dirty="0">
                <a:solidFill>
                  <a:srgbClr val="15181F"/>
                </a:solidFill>
                <a:latin typeface="Cambria" pitchFamily="34" charset="0"/>
                <a:ea typeface="Cambria" pitchFamily="34" charset="-122"/>
                <a:cs typeface="Cambria" pitchFamily="34" charset="-120"/>
              </a:rPr>
              <a:t>The question asked</a:t>
            </a:r>
            <a:endParaRPr lang="en-US" sz="1400" dirty="0"/>
          </a:p>
        </p:txBody>
      </p:sp>
      <p:sp>
        <p:nvSpPr>
          <p:cNvPr id="7" name="Text 4"/>
          <p:cNvSpPr/>
          <p:nvPr/>
        </p:nvSpPr>
        <p:spPr>
          <a:xfrm>
            <a:off x="7452360" y="2331720"/>
            <a:ext cx="3703320" cy="137160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"Is this reading inside the safe range?"</a:t>
            </a:r>
            <a:endParaRPr lang="en-US" sz="1350" dirty="0"/>
          </a:p>
          <a:p>
            <a:pPr indent="0" marL="0">
              <a:buNone/>
            </a:pPr>
            <a:endParaRPr lang="en-US" sz="1350" dirty="0"/>
          </a:p>
          <a:p>
            <a:pPr indent="0" marL="0">
              <a:buNone/>
            </a:pPr>
            <a:r>
              <a:rPr lang="en-US" sz="1350" dirty="0">
                <a:solidFill>
                  <a:srgbClr val="5C6470"/>
                </a:solidFill>
                <a:latin typeface="Calibri" pitchFamily="34" charset="0"/>
                <a:ea typeface="Calibri" pitchFamily="34" charset="-122"/>
                <a:cs typeface="Calibri" pitchFamily="34" charset="-120"/>
              </a:rPr>
              <a:t>8 readings, 3 runs each.</a:t>
            </a:r>
            <a:endParaRPr lang="en-US" sz="1350" dirty="0"/>
          </a:p>
          <a:p>
            <a:pPr indent="0" marL="0">
              <a:buNone/>
            </a:pPr>
            <a:r>
              <a:rPr lang="en-US" sz="1350" dirty="0">
                <a:solidFill>
                  <a:srgbClr val="5C6470"/>
                </a:solidFill>
                <a:latin typeface="Calibri" pitchFamily="34" charset="0"/>
                <a:ea typeface="Calibri" pitchFamily="34" charset="-122"/>
                <a:cs typeface="Calibri" pitchFamily="34" charset="-120"/>
              </a:rPr>
              <a:t>There is a correct answer every time.</a:t>
            </a:r>
            <a:endParaRPr lang="en-US" sz="1350" dirty="0"/>
          </a:p>
        </p:txBody>
      </p:sp>
      <p:sp>
        <p:nvSpPr>
          <p:cNvPr id="8" name="Text 5"/>
          <p:cNvSpPr/>
          <p:nvPr/>
        </p:nvSpPr>
        <p:spPr>
          <a:xfrm>
            <a:off x="7452360" y="3794760"/>
            <a:ext cx="3703320" cy="1097280"/>
          </a:xfrm>
          <a:prstGeom prst="rect">
            <a:avLst/>
          </a:prstGeom>
          <a:noFill/>
          <a:ln/>
        </p:spPr>
        <p:txBody>
          <a:bodyPr wrap="square" lIns="0" tIns="0" rIns="0" bIns="0" rtlCol="0" anchor="ctr"/>
          <a:lstStyle/>
          <a:p>
            <a:pPr indent="0" marL="0">
              <a:buNone/>
            </a:pPr>
            <a:r>
              <a:rPr lang="en-US" sz="1350" b="1" dirty="0">
                <a:solidFill>
                  <a:srgbClr val="BE3A2B"/>
                </a:solidFill>
                <a:latin typeface="Calibri" pitchFamily="34" charset="0"/>
                <a:ea typeface="Calibri" pitchFamily="34" charset="-122"/>
                <a:cs typeface="Calibri" pitchFamily="34" charset="-120"/>
              </a:rPr>
              <a:t>The larger model called 87 C</a:t>
            </a:r>
            <a:endParaRPr lang="en-US" sz="1350" dirty="0"/>
          </a:p>
          <a:p>
            <a:pPr indent="0" marL="0">
              <a:buNone/>
            </a:pPr>
            <a:r>
              <a:rPr lang="en-US" sz="1350" b="1" dirty="0">
                <a:solidFill>
                  <a:srgbClr val="BE3A2B"/>
                </a:solidFill>
                <a:latin typeface="Calibri" pitchFamily="34" charset="0"/>
                <a:ea typeface="Calibri" pitchFamily="34" charset="-122"/>
                <a:cs typeface="Calibri" pitchFamily="34" charset="-120"/>
              </a:rPr>
              <a:t>"normal" when the safe range</a:t>
            </a:r>
            <a:endParaRPr lang="en-US" sz="1350" dirty="0"/>
          </a:p>
          <a:p>
            <a:pPr indent="0" marL="0">
              <a:buNone/>
            </a:pPr>
            <a:r>
              <a:rPr lang="en-US" sz="1350" b="1" dirty="0">
                <a:solidFill>
                  <a:srgbClr val="BE3A2B"/>
                </a:solidFill>
                <a:latin typeface="Calibri" pitchFamily="34" charset="0"/>
                <a:ea typeface="Calibri" pitchFamily="34" charset="-122"/>
                <a:cs typeface="Calibri" pitchFamily="34" charset="-120"/>
              </a:rPr>
              <a:t>was 20-60 C, twice in three runs.</a:t>
            </a:r>
            <a:endParaRPr lang="en-US" sz="1350" dirty="0"/>
          </a:p>
        </p:txBody>
      </p:sp>
      <p:sp>
        <p:nvSpPr>
          <p:cNvPr id="9" name="Text 6"/>
          <p:cNvSpPr/>
          <p:nvPr/>
        </p:nvSpPr>
        <p:spPr>
          <a:xfrm>
            <a:off x="777240" y="5257800"/>
            <a:ext cx="10634472" cy="868680"/>
          </a:xfrm>
          <a:prstGeom prst="rect">
            <a:avLst/>
          </a:prstGeom>
          <a:noFill/>
          <a:ln/>
        </p:spPr>
        <p:txBody>
          <a:bodyPr wrap="square" lIns="0" tIns="0" rIns="0" bIns="0" rtlCol="0" anchor="ctr"/>
          <a:lstStyle/>
          <a:p>
            <a:pPr indent="0" marL="0">
              <a:buNone/>
            </a:pPr>
            <a:r>
              <a:rPr lang="en-US" sz="2100" b="1" dirty="0">
                <a:solidFill>
                  <a:srgbClr val="00776A"/>
                </a:solidFill>
                <a:latin typeface="Cambria" pitchFamily="34" charset="0"/>
                <a:ea typeface="Cambria" pitchFamily="34" charset="-122"/>
                <a:cs typeface="Cambria" pitchFamily="34" charset="-120"/>
              </a:rPr>
              <a:t>Your code decides the severity. The AI explains what it means.</a:t>
            </a:r>
            <a:endParaRPr lang="en-US" sz="2100" dirty="0"/>
          </a:p>
        </p:txBody>
      </p:sp>
      <p:sp>
        <p:nvSpPr>
          <p:cNvPr id="10" name="Text 7"/>
          <p:cNvSpPr/>
          <p:nvPr/>
        </p:nvSpPr>
        <p:spPr>
          <a:xfrm>
            <a:off x="777240" y="5852160"/>
            <a:ext cx="10634472" cy="45720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Comparing two numbers is not a job for a language model. Writing a sentence a person wants to read is.</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4 OF 6      13 MINUTES</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Connect the AI API</a:t>
            </a:r>
            <a:endParaRPr lang="en-US" sz="3300" dirty="0"/>
          </a:p>
        </p:txBody>
      </p:sp>
      <p:sp>
        <p:nvSpPr>
          <p:cNvPr id="4" name="Shape 2"/>
          <p:cNvSpPr/>
          <p:nvPr/>
        </p:nvSpPr>
        <p:spPr>
          <a:xfrm>
            <a:off x="777240" y="1691640"/>
            <a:ext cx="5257800" cy="2514600"/>
          </a:xfrm>
          <a:prstGeom prst="roundRect">
            <a:avLst>
              <a:gd name="adj" fmla="val 3273"/>
            </a:avLst>
          </a:prstGeom>
          <a:solidFill>
            <a:srgbClr val="F5F6F8"/>
          </a:solidFill>
          <a:ln w="12700">
            <a:solidFill>
              <a:srgbClr val="E1E4E9"/>
            </a:solidFill>
            <a:prstDash val="solid"/>
          </a:ln>
        </p:spPr>
      </p:sp>
      <p:sp>
        <p:nvSpPr>
          <p:cNvPr id="5" name="Text 3"/>
          <p:cNvSpPr/>
          <p:nvPr/>
        </p:nvSpPr>
        <p:spPr>
          <a:xfrm>
            <a:off x="109728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You write</a:t>
            </a:r>
            <a:endParaRPr lang="en-US" sz="1150" dirty="0"/>
          </a:p>
        </p:txBody>
      </p:sp>
      <p:sp>
        <p:nvSpPr>
          <p:cNvPr id="6" name="Text 4"/>
          <p:cNvSpPr/>
          <p:nvPr/>
        </p:nvSpPr>
        <p:spPr>
          <a:xfrm>
            <a:off x="109728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.env with your settings, ai.py with</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the API call, and two new columns</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on the readings table.</a:t>
            </a:r>
            <a:endParaRPr lang="en-US" sz="1500" dirty="0"/>
          </a:p>
        </p:txBody>
      </p:sp>
      <p:sp>
        <p:nvSpPr>
          <p:cNvPr id="7" name="Shape 5"/>
          <p:cNvSpPr/>
          <p:nvPr/>
        </p:nvSpPr>
        <p:spPr>
          <a:xfrm>
            <a:off x="6309360" y="1691640"/>
            <a:ext cx="5257800" cy="2514600"/>
          </a:xfrm>
          <a:prstGeom prst="roundRect">
            <a:avLst>
              <a:gd name="adj" fmla="val 3273"/>
            </a:avLst>
          </a:prstGeom>
          <a:solidFill>
            <a:srgbClr val="F5F6F8"/>
          </a:solidFill>
          <a:ln w="12700">
            <a:solidFill>
              <a:srgbClr val="E1E4E9"/>
            </a:solidFill>
            <a:prstDash val="solid"/>
          </a:ln>
        </p:spPr>
      </p:sp>
      <p:sp>
        <p:nvSpPr>
          <p:cNvPr id="8" name="Text 6"/>
          <p:cNvSpPr/>
          <p:nvPr/>
        </p:nvSpPr>
        <p:spPr>
          <a:xfrm>
            <a:off x="6629400" y="1874520"/>
            <a:ext cx="4572000" cy="320040"/>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It works when</a:t>
            </a:r>
            <a:endParaRPr lang="en-US" sz="1150" dirty="0"/>
          </a:p>
        </p:txBody>
      </p:sp>
      <p:sp>
        <p:nvSpPr>
          <p:cNvPr id="9" name="Text 7"/>
          <p:cNvSpPr/>
          <p:nvPr/>
        </p:nvSpPr>
        <p:spPr>
          <a:xfrm>
            <a:off x="6629400" y="2286000"/>
            <a:ext cx="4617720" cy="1737360"/>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A reading comes back with a written</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reason and action. It works with</a:t>
            </a:r>
            <a:endParaRPr lang="en-US" sz="1500" dirty="0"/>
          </a:p>
          <a:p>
            <a:pPr indent="0" marL="0">
              <a:buNone/>
            </a:pPr>
            <a:r>
              <a:rPr lang="en-US" sz="1500" dirty="0">
                <a:solidFill>
                  <a:srgbClr val="15181F"/>
                </a:solidFill>
                <a:latin typeface="Calibri" pitchFamily="34" charset="0"/>
                <a:ea typeface="Calibri" pitchFamily="34" charset="-122"/>
                <a:cs typeface="Calibri" pitchFamily="34" charset="-120"/>
              </a:rPr>
              <a:t>USE_MOCK=true and no key at all.</a:t>
            </a:r>
            <a:endParaRPr lang="en-US" sz="1500" dirty="0"/>
          </a:p>
        </p:txBody>
      </p:sp>
      <p:sp>
        <p:nvSpPr>
          <p:cNvPr id="10" name="Text 8"/>
          <p:cNvSpPr/>
          <p:nvPr/>
        </p:nvSpPr>
        <p:spPr>
          <a:xfrm>
            <a:off x="777240" y="4434840"/>
            <a:ext cx="4572000" cy="292608"/>
          </a:xfrm>
          <a:prstGeom prst="rect">
            <a:avLst/>
          </a:prstGeom>
          <a:noFill/>
          <a:ln/>
        </p:spPr>
        <p:txBody>
          <a:bodyPr wrap="square" lIns="0" tIns="0" rIns="0" bIns="0" rtlCol="0" anchor="ctr"/>
          <a:lstStyle/>
          <a:p>
            <a:pPr indent="0" marL="0">
              <a:buNone/>
            </a:pPr>
            <a:r>
              <a:rPr lang="en-US" sz="1150" b="1" spc="150" kern="0" dirty="0">
                <a:solidFill>
                  <a:srgbClr val="5C6470"/>
                </a:solidFill>
                <a:latin typeface="Calibri" pitchFamily="34" charset="0"/>
                <a:ea typeface="Calibri" pitchFamily="34" charset="-122"/>
                <a:cs typeface="Calibri" pitchFamily="34" charset="-120"/>
              </a:rPr>
              <a:t>New terms</a:t>
            </a:r>
            <a:endParaRPr lang="en-US" sz="1150" dirty="0"/>
          </a:p>
        </p:txBody>
      </p:sp>
      <p:sp>
        <p:nvSpPr>
          <p:cNvPr id="11" name="Shape 9"/>
          <p:cNvSpPr/>
          <p:nvPr/>
        </p:nvSpPr>
        <p:spPr>
          <a:xfrm>
            <a:off x="777240" y="4800600"/>
            <a:ext cx="10634472" cy="566928"/>
          </a:xfrm>
          <a:prstGeom prst="roundRect">
            <a:avLst>
              <a:gd name="adj" fmla="val 14516"/>
            </a:avLst>
          </a:prstGeom>
          <a:solidFill>
            <a:srgbClr val="F5F6F8"/>
          </a:solidFill>
          <a:ln w="12700">
            <a:solidFill>
              <a:srgbClr val="E1E4E9"/>
            </a:solidFill>
            <a:prstDash val="solid"/>
          </a:ln>
        </p:spPr>
      </p:sp>
      <p:sp>
        <p:nvSpPr>
          <p:cNvPr id="12" name="Text 10"/>
          <p:cNvSpPr/>
          <p:nvPr/>
        </p:nvSpPr>
        <p:spPr>
          <a:xfrm>
            <a:off x="1051560" y="4818888"/>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environment variable</a:t>
            </a:r>
            <a:endParaRPr lang="en-US" sz="1400" dirty="0"/>
          </a:p>
        </p:txBody>
      </p:sp>
      <p:sp>
        <p:nvSpPr>
          <p:cNvPr id="13" name="Text 11"/>
          <p:cNvSpPr/>
          <p:nvPr/>
        </p:nvSpPr>
        <p:spPr>
          <a:xfrm>
            <a:off x="3977640" y="4818888"/>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a setting supplied when the program runs, not written in it</a:t>
            </a:r>
            <a:endParaRPr lang="en-US" sz="1350" dirty="0"/>
          </a:p>
        </p:txBody>
      </p:sp>
      <p:sp>
        <p:nvSpPr>
          <p:cNvPr id="14" name="Shape 12"/>
          <p:cNvSpPr/>
          <p:nvPr/>
        </p:nvSpPr>
        <p:spPr>
          <a:xfrm>
            <a:off x="777240" y="5458968"/>
            <a:ext cx="10634472" cy="566928"/>
          </a:xfrm>
          <a:prstGeom prst="roundRect">
            <a:avLst>
              <a:gd name="adj" fmla="val 14516"/>
            </a:avLst>
          </a:prstGeom>
          <a:solidFill>
            <a:srgbClr val="F5F6F8"/>
          </a:solidFill>
          <a:ln w="12700">
            <a:solidFill>
              <a:srgbClr val="E1E4E9"/>
            </a:solidFill>
            <a:prstDash val="solid"/>
          </a:ln>
        </p:spPr>
      </p:sp>
      <p:sp>
        <p:nvSpPr>
          <p:cNvPr id="15" name="Text 13"/>
          <p:cNvSpPr/>
          <p:nvPr/>
        </p:nvSpPr>
        <p:spPr>
          <a:xfrm>
            <a:off x="1051560" y="5477256"/>
            <a:ext cx="2743200" cy="530352"/>
          </a:xfrm>
          <a:prstGeom prst="rect">
            <a:avLst/>
          </a:prstGeom>
          <a:noFill/>
          <a:ln/>
        </p:spPr>
        <p:txBody>
          <a:bodyPr wrap="square" lIns="0" tIns="0" rIns="0" bIns="0" rtlCol="0" anchor="ctr"/>
          <a:lstStyle/>
          <a:p>
            <a:pPr indent="0" marL="0">
              <a:buNone/>
            </a:pPr>
            <a:r>
              <a:rPr lang="en-US" sz="1400" b="1" dirty="0">
                <a:solidFill>
                  <a:srgbClr val="00776A"/>
                </a:solidFill>
                <a:latin typeface="Courier New" pitchFamily="34" charset="0"/>
                <a:ea typeface="Courier New" pitchFamily="34" charset="-122"/>
                <a:cs typeface="Courier New" pitchFamily="34" charset="-120"/>
              </a:rPr>
              <a:t>API key</a:t>
            </a:r>
            <a:endParaRPr lang="en-US" sz="1400" dirty="0"/>
          </a:p>
        </p:txBody>
      </p:sp>
      <p:sp>
        <p:nvSpPr>
          <p:cNvPr id="16" name="Text 14"/>
          <p:cNvSpPr/>
          <p:nvPr/>
        </p:nvSpPr>
        <p:spPr>
          <a:xfrm>
            <a:off x="3977640" y="5477256"/>
            <a:ext cx="7315200" cy="530352"/>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a secret identifying your account. A bank card with no PIN.</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5 OF 6      8 MINUTES</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The web page, and the shape it creates</a:t>
            </a:r>
            <a:endParaRPr lang="en-US" sz="3300" dirty="0"/>
          </a:p>
        </p:txBody>
      </p:sp>
      <p:sp>
        <p:nvSpPr>
          <p:cNvPr id="4" name="Shape 2"/>
          <p:cNvSpPr/>
          <p:nvPr/>
        </p:nvSpPr>
        <p:spPr>
          <a:xfrm>
            <a:off x="777240" y="1965960"/>
            <a:ext cx="3200400" cy="1417320"/>
          </a:xfrm>
          <a:prstGeom prst="roundRect">
            <a:avLst>
              <a:gd name="adj" fmla="val 5806"/>
            </a:avLst>
          </a:prstGeom>
          <a:solidFill>
            <a:srgbClr val="F5F6F8"/>
          </a:solidFill>
          <a:ln w="12700">
            <a:solidFill>
              <a:srgbClr val="F5F6F8"/>
            </a:solidFill>
            <a:prstDash val="solid"/>
          </a:ln>
        </p:spPr>
      </p:sp>
      <p:sp>
        <p:nvSpPr>
          <p:cNvPr id="5" name="Text 3"/>
          <p:cNvSpPr/>
          <p:nvPr/>
        </p:nvSpPr>
        <p:spPr>
          <a:xfrm>
            <a:off x="868680" y="2185416"/>
            <a:ext cx="3017520" cy="411480"/>
          </a:xfrm>
          <a:prstGeom prst="rect">
            <a:avLst/>
          </a:prstGeom>
          <a:noFill/>
          <a:ln/>
        </p:spPr>
        <p:txBody>
          <a:bodyPr wrap="square" lIns="0" tIns="0" rIns="0" bIns="0" rtlCol="0" anchor="ctr"/>
          <a:lstStyle/>
          <a:p>
            <a:pPr algn="ctr" indent="0" marL="0">
              <a:buNone/>
            </a:pPr>
            <a:r>
              <a:rPr lang="en-US" sz="1700" b="1" dirty="0">
                <a:solidFill>
                  <a:srgbClr val="15181F"/>
                </a:solidFill>
                <a:latin typeface="Cambria" pitchFamily="34" charset="0"/>
                <a:ea typeface="Cambria" pitchFamily="34" charset="-122"/>
                <a:cs typeface="Cambria" pitchFamily="34" charset="-120"/>
              </a:rPr>
              <a:t>Browser</a:t>
            </a:r>
            <a:endParaRPr lang="en-US" sz="1700" dirty="0"/>
          </a:p>
        </p:txBody>
      </p:sp>
      <p:sp>
        <p:nvSpPr>
          <p:cNvPr id="6" name="Text 4"/>
          <p:cNvSpPr/>
          <p:nvPr/>
        </p:nvSpPr>
        <p:spPr>
          <a:xfrm>
            <a:off x="914400" y="2651760"/>
            <a:ext cx="2926080" cy="594360"/>
          </a:xfrm>
          <a:prstGeom prst="rect">
            <a:avLst/>
          </a:prstGeom>
          <a:noFill/>
          <a:ln/>
        </p:spPr>
        <p:txBody>
          <a:bodyPr wrap="square" lIns="0" tIns="0" rIns="0" bIns="0" rtlCol="0" anchor="ctr"/>
          <a:lstStyle/>
          <a:p>
            <a:pPr algn="ctr" indent="0" marL="0">
              <a:buNone/>
            </a:pPr>
            <a:r>
              <a:rPr lang="en-US" sz="1250" dirty="0">
                <a:solidFill>
                  <a:srgbClr val="5C6470"/>
                </a:solidFill>
                <a:latin typeface="Calibri" pitchFamily="34" charset="0"/>
                <a:ea typeface="Calibri" pitchFamily="34" charset="-122"/>
                <a:cs typeface="Calibri" pitchFamily="34" charset="-120"/>
              </a:rPr>
              <a:t>no key here</a:t>
            </a:r>
            <a:endParaRPr lang="en-US" sz="1250" dirty="0"/>
          </a:p>
        </p:txBody>
      </p:sp>
      <p:sp>
        <p:nvSpPr>
          <p:cNvPr id="7" name="Shape 5"/>
          <p:cNvSpPr/>
          <p:nvPr/>
        </p:nvSpPr>
        <p:spPr>
          <a:xfrm>
            <a:off x="4160520" y="2542032"/>
            <a:ext cx="1051560" cy="237744"/>
          </a:xfrm>
          <a:prstGeom prst="rightArrow">
            <a:avLst/>
          </a:prstGeom>
          <a:solidFill>
            <a:srgbClr val="A9B0BB"/>
          </a:solidFill>
          <a:ln/>
        </p:spPr>
      </p:sp>
      <p:sp>
        <p:nvSpPr>
          <p:cNvPr id="8" name="Text 6"/>
          <p:cNvSpPr/>
          <p:nvPr/>
        </p:nvSpPr>
        <p:spPr>
          <a:xfrm>
            <a:off x="3794760" y="2139696"/>
            <a:ext cx="1783080" cy="310896"/>
          </a:xfrm>
          <a:prstGeom prst="rect">
            <a:avLst/>
          </a:prstGeom>
          <a:noFill/>
          <a:ln/>
        </p:spPr>
        <p:txBody>
          <a:bodyPr wrap="square" lIns="0" tIns="0" rIns="0" bIns="0" rtlCol="0" anchor="ctr"/>
          <a:lstStyle/>
          <a:p>
            <a:pPr algn="ctr" indent="0" marL="0">
              <a:buNone/>
            </a:pPr>
            <a:r>
              <a:rPr lang="en-US" sz="1100" i="1" dirty="0">
                <a:solidFill>
                  <a:srgbClr val="5C6470"/>
                </a:solidFill>
                <a:latin typeface="Calibri" pitchFamily="34" charset="0"/>
                <a:ea typeface="Calibri" pitchFamily="34" charset="-122"/>
                <a:cs typeface="Calibri" pitchFamily="34" charset="-120"/>
              </a:rPr>
              <a:t>the reading</a:t>
            </a:r>
            <a:endParaRPr lang="en-US" sz="1100" dirty="0"/>
          </a:p>
        </p:txBody>
      </p:sp>
      <p:sp>
        <p:nvSpPr>
          <p:cNvPr id="9" name="Shape 7"/>
          <p:cNvSpPr/>
          <p:nvPr/>
        </p:nvSpPr>
        <p:spPr>
          <a:xfrm>
            <a:off x="5394960" y="1965960"/>
            <a:ext cx="3200400" cy="1417320"/>
          </a:xfrm>
          <a:prstGeom prst="roundRect">
            <a:avLst>
              <a:gd name="adj" fmla="val 5806"/>
            </a:avLst>
          </a:prstGeom>
          <a:solidFill>
            <a:srgbClr val="00776A"/>
          </a:solidFill>
          <a:ln w="12700">
            <a:solidFill>
              <a:srgbClr val="00776A"/>
            </a:solidFill>
            <a:prstDash val="solid"/>
          </a:ln>
        </p:spPr>
      </p:sp>
      <p:sp>
        <p:nvSpPr>
          <p:cNvPr id="10" name="Text 8"/>
          <p:cNvSpPr/>
          <p:nvPr/>
        </p:nvSpPr>
        <p:spPr>
          <a:xfrm>
            <a:off x="5486400" y="2185416"/>
            <a:ext cx="3017520" cy="41148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Your server</a:t>
            </a:r>
            <a:endParaRPr lang="en-US" sz="1700" dirty="0"/>
          </a:p>
        </p:txBody>
      </p:sp>
      <p:sp>
        <p:nvSpPr>
          <p:cNvPr id="11" name="Text 9"/>
          <p:cNvSpPr/>
          <p:nvPr/>
        </p:nvSpPr>
        <p:spPr>
          <a:xfrm>
            <a:off x="5532120" y="2651760"/>
            <a:ext cx="2926080" cy="594360"/>
          </a:xfrm>
          <a:prstGeom prst="rect">
            <a:avLst/>
          </a:prstGeom>
          <a:noFill/>
          <a:ln/>
        </p:spPr>
        <p:txBody>
          <a:bodyPr wrap="square" lIns="0" tIns="0" rIns="0" bIns="0" rtlCol="0" anchor="ctr"/>
          <a:lstStyle/>
          <a:p>
            <a:pPr algn="ctr" indent="0" marL="0">
              <a:buNone/>
            </a:pPr>
            <a:r>
              <a:rPr lang="en-US" sz="1250" dirty="0">
                <a:solidFill>
                  <a:srgbClr val="C9D0DC"/>
                </a:solidFill>
                <a:latin typeface="Calibri" pitchFamily="34" charset="0"/>
                <a:ea typeface="Calibri" pitchFamily="34" charset="-122"/>
                <a:cs typeface="Calibri" pitchFamily="34" charset="-120"/>
              </a:rPr>
              <a:t>the key lives here</a:t>
            </a:r>
            <a:endParaRPr lang="en-US" sz="1250" dirty="0"/>
          </a:p>
        </p:txBody>
      </p:sp>
      <p:sp>
        <p:nvSpPr>
          <p:cNvPr id="12" name="Shape 10"/>
          <p:cNvSpPr/>
          <p:nvPr/>
        </p:nvSpPr>
        <p:spPr>
          <a:xfrm>
            <a:off x="8778240" y="2542032"/>
            <a:ext cx="1051560" cy="237744"/>
          </a:xfrm>
          <a:prstGeom prst="rightArrow">
            <a:avLst/>
          </a:prstGeom>
          <a:solidFill>
            <a:srgbClr val="A9B0BB"/>
          </a:solidFill>
          <a:ln/>
        </p:spPr>
      </p:sp>
      <p:sp>
        <p:nvSpPr>
          <p:cNvPr id="13" name="Text 11"/>
          <p:cNvSpPr/>
          <p:nvPr/>
        </p:nvSpPr>
        <p:spPr>
          <a:xfrm>
            <a:off x="8412480" y="2139696"/>
            <a:ext cx="1783080" cy="310896"/>
          </a:xfrm>
          <a:prstGeom prst="rect">
            <a:avLst/>
          </a:prstGeom>
          <a:noFill/>
          <a:ln/>
        </p:spPr>
        <p:txBody>
          <a:bodyPr wrap="square" lIns="0" tIns="0" rIns="0" bIns="0" rtlCol="0" anchor="ctr"/>
          <a:lstStyle/>
          <a:p>
            <a:pPr algn="ctr" indent="0" marL="0">
              <a:buNone/>
            </a:pPr>
            <a:r>
              <a:rPr lang="en-US" sz="1100" i="1" dirty="0">
                <a:solidFill>
                  <a:srgbClr val="5C6470"/>
                </a:solidFill>
                <a:latin typeface="Calibri" pitchFamily="34" charset="0"/>
                <a:ea typeface="Calibri" pitchFamily="34" charset="-122"/>
                <a:cs typeface="Calibri" pitchFamily="34" charset="-120"/>
              </a:rPr>
              <a:t>reading + key</a:t>
            </a:r>
            <a:endParaRPr lang="en-US" sz="1100" dirty="0"/>
          </a:p>
        </p:txBody>
      </p:sp>
      <p:sp>
        <p:nvSpPr>
          <p:cNvPr id="14" name="Shape 12"/>
          <p:cNvSpPr/>
          <p:nvPr/>
        </p:nvSpPr>
        <p:spPr>
          <a:xfrm>
            <a:off x="10012680" y="1965960"/>
            <a:ext cx="1417320" cy="1417320"/>
          </a:xfrm>
          <a:prstGeom prst="roundRect">
            <a:avLst>
              <a:gd name="adj" fmla="val 5806"/>
            </a:avLst>
          </a:prstGeom>
          <a:solidFill>
            <a:srgbClr val="F5F6F8"/>
          </a:solidFill>
          <a:ln w="12700">
            <a:solidFill>
              <a:srgbClr val="F5F6F8"/>
            </a:solidFill>
            <a:prstDash val="solid"/>
          </a:ln>
        </p:spPr>
      </p:sp>
      <p:sp>
        <p:nvSpPr>
          <p:cNvPr id="15" name="Text 13"/>
          <p:cNvSpPr/>
          <p:nvPr/>
        </p:nvSpPr>
        <p:spPr>
          <a:xfrm>
            <a:off x="10104120" y="2185416"/>
            <a:ext cx="1234440" cy="411480"/>
          </a:xfrm>
          <a:prstGeom prst="rect">
            <a:avLst/>
          </a:prstGeom>
          <a:noFill/>
          <a:ln/>
        </p:spPr>
        <p:txBody>
          <a:bodyPr wrap="square" lIns="0" tIns="0" rIns="0" bIns="0" rtlCol="0" anchor="ctr"/>
          <a:lstStyle/>
          <a:p>
            <a:pPr algn="ctr" indent="0" marL="0">
              <a:buNone/>
            </a:pPr>
            <a:r>
              <a:rPr lang="en-US" sz="1700" b="1" dirty="0">
                <a:solidFill>
                  <a:srgbClr val="15181F"/>
                </a:solidFill>
                <a:latin typeface="Cambria" pitchFamily="34" charset="0"/>
                <a:ea typeface="Cambria" pitchFamily="34" charset="-122"/>
                <a:cs typeface="Cambria" pitchFamily="34" charset="-120"/>
              </a:rPr>
              <a:t>AI</a:t>
            </a:r>
            <a:endParaRPr lang="en-US" sz="1700" dirty="0"/>
          </a:p>
        </p:txBody>
      </p:sp>
      <p:sp>
        <p:nvSpPr>
          <p:cNvPr id="16" name="Shape 14"/>
          <p:cNvSpPr/>
          <p:nvPr/>
        </p:nvSpPr>
        <p:spPr>
          <a:xfrm>
            <a:off x="777240" y="3749040"/>
            <a:ext cx="10634472" cy="1371600"/>
          </a:xfrm>
          <a:prstGeom prst="roundRect">
            <a:avLst>
              <a:gd name="adj" fmla="val 6000"/>
            </a:avLst>
          </a:prstGeom>
          <a:solidFill>
            <a:srgbClr val="F5F6F8"/>
          </a:solidFill>
          <a:ln w="12700">
            <a:solidFill>
              <a:srgbClr val="E1E4E9"/>
            </a:solidFill>
            <a:prstDash val="solid"/>
          </a:ln>
        </p:spPr>
      </p:sp>
      <p:sp>
        <p:nvSpPr>
          <p:cNvPr id="17" name="Text 15"/>
          <p:cNvSpPr/>
          <p:nvPr/>
        </p:nvSpPr>
        <p:spPr>
          <a:xfrm>
            <a:off x="1143000" y="3931920"/>
            <a:ext cx="10241280" cy="411480"/>
          </a:xfrm>
          <a:prstGeom prst="rect">
            <a:avLst/>
          </a:prstGeom>
          <a:noFill/>
          <a:ln/>
        </p:spPr>
        <p:txBody>
          <a:bodyPr wrap="square" lIns="0" tIns="0" rIns="0" bIns="0" rtlCol="0" anchor="ctr"/>
          <a:lstStyle/>
          <a:p>
            <a:pPr indent="0" marL="0">
              <a:buNone/>
            </a:pPr>
            <a:r>
              <a:rPr lang="en-US" sz="1800" b="1" dirty="0">
                <a:solidFill>
                  <a:srgbClr val="15181F"/>
                </a:solidFill>
                <a:latin typeface="Cambria" pitchFamily="34" charset="0"/>
                <a:ea typeface="Cambria" pitchFamily="34" charset="-122"/>
                <a:cs typeface="Cambria" pitchFamily="34" charset="-120"/>
              </a:rPr>
              <a:t>The browser posts to your own server, never to the AI company.</a:t>
            </a:r>
            <a:endParaRPr lang="en-US" sz="1800" dirty="0"/>
          </a:p>
        </p:txBody>
      </p:sp>
      <p:sp>
        <p:nvSpPr>
          <p:cNvPr id="18" name="Text 16"/>
          <p:cNvSpPr/>
          <p:nvPr/>
        </p:nvSpPr>
        <p:spPr>
          <a:xfrm>
            <a:off x="1143000" y="4370832"/>
            <a:ext cx="10241280" cy="594360"/>
          </a:xfrm>
          <a:prstGeom prst="rect">
            <a:avLst/>
          </a:prstGeom>
          <a:noFill/>
          <a:ln/>
        </p:spPr>
        <p:txBody>
          <a:bodyPr wrap="square" lIns="0" tIns="0" rIns="0" bIns="0" rtlCol="0" anchor="ctr"/>
          <a:lstStyle/>
          <a:p>
            <a:pPr indent="0" marL="0">
              <a:buNone/>
            </a:pPr>
            <a:r>
              <a:rPr lang="en-US" sz="1500" dirty="0">
                <a:solidFill>
                  <a:srgbClr val="5C6470"/>
                </a:solidFill>
                <a:latin typeface="Calibri" pitchFamily="34" charset="0"/>
                <a:ea typeface="Calibri" pitchFamily="34" charset="-122"/>
                <a:cs typeface="Calibri" pitchFamily="34" charset="-120"/>
              </a:rPr>
              <a:t>Your server adds the key and makes that call on the browser's behalf. The key never reaches the visitor, so it can never be taken.</a:t>
            </a:r>
            <a:endParaRPr lang="en-US" sz="1500" dirty="0"/>
          </a:p>
        </p:txBody>
      </p:sp>
      <p:sp>
        <p:nvSpPr>
          <p:cNvPr id="19" name="Text 17"/>
          <p:cNvSpPr/>
          <p:nvPr/>
        </p:nvSpPr>
        <p:spPr>
          <a:xfrm>
            <a:off x="777240" y="5303520"/>
            <a:ext cx="10634472" cy="868680"/>
          </a:xfrm>
          <a:prstGeom prst="rect">
            <a:avLst/>
          </a:prstGeom>
          <a:noFill/>
          <a:ln/>
        </p:spPr>
        <p:txBody>
          <a:bodyPr wrap="square" lIns="0" tIns="0" rIns="0" bIns="0" rtlCol="0" anchor="ctr"/>
          <a:lstStyle/>
          <a:p>
            <a:pPr indent="0" marL="0">
              <a:buNone/>
            </a:pPr>
            <a:r>
              <a:rPr lang="en-US" sz="2000" b="1" dirty="0">
                <a:solidFill>
                  <a:srgbClr val="00776A"/>
                </a:solidFill>
                <a:latin typeface="Cambria" pitchFamily="34" charset="0"/>
                <a:ea typeface="Cambria" pitchFamily="34" charset="-122"/>
                <a:cs typeface="Cambria" pitchFamily="34" charset="-120"/>
              </a:rPr>
              <a:t>This is the single most important structure in the workshop.</a:t>
            </a:r>
            <a:endParaRPr lang="en-US" sz="2000" dirty="0"/>
          </a:p>
        </p:txBody>
      </p:sp>
      <p:sp>
        <p:nvSpPr>
          <p:cNvPr id="20" name="Text 18"/>
          <p:cNvSpPr/>
          <p:nvPr/>
        </p:nvSpPr>
        <p:spPr>
          <a:xfrm>
            <a:off x="777240" y="5852160"/>
            <a:ext cx="10634472" cy="457200"/>
          </a:xfrm>
          <a:prstGeom prst="rect">
            <a:avLst/>
          </a:prstGeom>
          <a:noFill/>
          <a:ln/>
        </p:spPr>
        <p:txBody>
          <a:bodyPr wrap="square" lIns="0" tIns="0" rIns="0" bIns="0" rtlCol="0" anchor="ctr"/>
          <a:lstStyle/>
          <a:p>
            <a:pPr indent="0" marL="0">
              <a:buNone/>
            </a:pPr>
            <a:r>
              <a:rPr lang="en-US" sz="1450" dirty="0">
                <a:solidFill>
                  <a:srgbClr val="5C6470"/>
                </a:solidFill>
                <a:latin typeface="Calibri" pitchFamily="34" charset="0"/>
                <a:ea typeface="Calibri" pitchFamily="34" charset="-122"/>
                <a:cs typeface="Calibri" pitchFamily="34" charset="-120"/>
              </a:rPr>
              <a:t>Copy index.html from the guide, mount it at the BOTTOM of main.py, and open 127.0.0.1:8000</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00776A"/>
                </a:solidFill>
                <a:latin typeface="Calibri" pitchFamily="34" charset="0"/>
                <a:ea typeface="Calibri" pitchFamily="34" charset="-122"/>
                <a:cs typeface="Calibri" pitchFamily="34" charset="-120"/>
              </a:rPr>
              <a:t>STAGE 6 OF 6      12 MINUTES</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Deploy it to the cloud</a:t>
            </a:r>
            <a:endParaRPr lang="en-US" sz="3300" dirty="0"/>
          </a:p>
        </p:txBody>
      </p:sp>
      <p:sp>
        <p:nvSpPr>
          <p:cNvPr id="4" name="Shape 2"/>
          <p:cNvSpPr/>
          <p:nvPr/>
        </p:nvSpPr>
        <p:spPr>
          <a:xfrm>
            <a:off x="777240" y="1691640"/>
            <a:ext cx="10634472" cy="603504"/>
          </a:xfrm>
          <a:prstGeom prst="roundRect">
            <a:avLst>
              <a:gd name="adj" fmla="val 13636"/>
            </a:avLst>
          </a:prstGeom>
          <a:solidFill>
            <a:srgbClr val="F5F6F8"/>
          </a:solidFill>
          <a:ln w="12700">
            <a:solidFill>
              <a:srgbClr val="E1E4E9"/>
            </a:solidFill>
            <a:prstDash val="solid"/>
          </a:ln>
        </p:spPr>
      </p:sp>
      <p:sp>
        <p:nvSpPr>
          <p:cNvPr id="5" name="Shape 3"/>
          <p:cNvSpPr/>
          <p:nvPr/>
        </p:nvSpPr>
        <p:spPr>
          <a:xfrm>
            <a:off x="1051560" y="1837944"/>
            <a:ext cx="310896" cy="310896"/>
          </a:xfrm>
          <a:prstGeom prst="ellipse">
            <a:avLst/>
          </a:prstGeom>
          <a:solidFill>
            <a:srgbClr val="00776A"/>
          </a:solidFill>
          <a:ln/>
        </p:spPr>
      </p:sp>
      <p:sp>
        <p:nvSpPr>
          <p:cNvPr id="6" name="Text 4"/>
          <p:cNvSpPr/>
          <p:nvPr/>
        </p:nvSpPr>
        <p:spPr>
          <a:xfrm>
            <a:off x="1051560" y="18379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645920" y="1709928"/>
            <a:ext cx="9601200" cy="566928"/>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Add requirements.txt and render.yaml</a:t>
            </a:r>
            <a:endParaRPr lang="en-US" sz="1500" dirty="0"/>
          </a:p>
        </p:txBody>
      </p:sp>
      <p:sp>
        <p:nvSpPr>
          <p:cNvPr id="8" name="Shape 6"/>
          <p:cNvSpPr/>
          <p:nvPr/>
        </p:nvSpPr>
        <p:spPr>
          <a:xfrm>
            <a:off x="777240" y="2404872"/>
            <a:ext cx="10634472" cy="603504"/>
          </a:xfrm>
          <a:prstGeom prst="roundRect">
            <a:avLst>
              <a:gd name="adj" fmla="val 13636"/>
            </a:avLst>
          </a:prstGeom>
          <a:solidFill>
            <a:srgbClr val="F5F6F8"/>
          </a:solidFill>
          <a:ln w="12700">
            <a:solidFill>
              <a:srgbClr val="E1E4E9"/>
            </a:solidFill>
            <a:prstDash val="solid"/>
          </a:ln>
        </p:spPr>
      </p:sp>
      <p:sp>
        <p:nvSpPr>
          <p:cNvPr id="9" name="Shape 7"/>
          <p:cNvSpPr/>
          <p:nvPr/>
        </p:nvSpPr>
        <p:spPr>
          <a:xfrm>
            <a:off x="1051560" y="2551176"/>
            <a:ext cx="310896" cy="310896"/>
          </a:xfrm>
          <a:prstGeom prst="ellipse">
            <a:avLst/>
          </a:prstGeom>
          <a:solidFill>
            <a:srgbClr val="00776A"/>
          </a:solidFill>
          <a:ln/>
        </p:spPr>
      </p:sp>
      <p:sp>
        <p:nvSpPr>
          <p:cNvPr id="10" name="Text 8"/>
          <p:cNvSpPr/>
          <p:nvPr/>
        </p:nvSpPr>
        <p:spPr>
          <a:xfrm>
            <a:off x="1051560" y="25511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645920" y="2423160"/>
            <a:ext cx="9601200" cy="566928"/>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git init, commit, and push to GitHub</a:t>
            </a:r>
            <a:endParaRPr lang="en-US" sz="1500" dirty="0"/>
          </a:p>
        </p:txBody>
      </p:sp>
      <p:sp>
        <p:nvSpPr>
          <p:cNvPr id="12" name="Shape 10"/>
          <p:cNvSpPr/>
          <p:nvPr/>
        </p:nvSpPr>
        <p:spPr>
          <a:xfrm>
            <a:off x="777240" y="3118104"/>
            <a:ext cx="10634472" cy="603504"/>
          </a:xfrm>
          <a:prstGeom prst="roundRect">
            <a:avLst>
              <a:gd name="adj" fmla="val 13636"/>
            </a:avLst>
          </a:prstGeom>
          <a:solidFill>
            <a:srgbClr val="F5F6F8"/>
          </a:solidFill>
          <a:ln w="12700">
            <a:solidFill>
              <a:srgbClr val="E1E4E9"/>
            </a:solidFill>
            <a:prstDash val="solid"/>
          </a:ln>
        </p:spPr>
      </p:sp>
      <p:sp>
        <p:nvSpPr>
          <p:cNvPr id="13" name="Shape 11"/>
          <p:cNvSpPr/>
          <p:nvPr/>
        </p:nvSpPr>
        <p:spPr>
          <a:xfrm>
            <a:off x="1051560" y="3264408"/>
            <a:ext cx="310896" cy="310896"/>
          </a:xfrm>
          <a:prstGeom prst="ellipse">
            <a:avLst/>
          </a:prstGeom>
          <a:solidFill>
            <a:srgbClr val="00776A"/>
          </a:solidFill>
          <a:ln/>
        </p:spPr>
      </p:sp>
      <p:sp>
        <p:nvSpPr>
          <p:cNvPr id="14" name="Text 12"/>
          <p:cNvSpPr/>
          <p:nvPr/>
        </p:nvSpPr>
        <p:spPr>
          <a:xfrm>
            <a:off x="1051560" y="326440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1645920" y="3136392"/>
            <a:ext cx="9601200" cy="566928"/>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render.com -&gt; New -&gt; Blueprint -&gt; your repository</a:t>
            </a:r>
            <a:endParaRPr lang="en-US" sz="1500" dirty="0"/>
          </a:p>
        </p:txBody>
      </p:sp>
      <p:sp>
        <p:nvSpPr>
          <p:cNvPr id="16" name="Shape 14"/>
          <p:cNvSpPr/>
          <p:nvPr/>
        </p:nvSpPr>
        <p:spPr>
          <a:xfrm>
            <a:off x="777240" y="3831336"/>
            <a:ext cx="10634472" cy="603504"/>
          </a:xfrm>
          <a:prstGeom prst="roundRect">
            <a:avLst>
              <a:gd name="adj" fmla="val 13636"/>
            </a:avLst>
          </a:prstGeom>
          <a:solidFill>
            <a:srgbClr val="F5F6F8"/>
          </a:solidFill>
          <a:ln w="12700">
            <a:solidFill>
              <a:srgbClr val="E1E4E9"/>
            </a:solidFill>
            <a:prstDash val="solid"/>
          </a:ln>
        </p:spPr>
      </p:sp>
      <p:sp>
        <p:nvSpPr>
          <p:cNvPr id="17" name="Shape 15"/>
          <p:cNvSpPr/>
          <p:nvPr/>
        </p:nvSpPr>
        <p:spPr>
          <a:xfrm>
            <a:off x="1051560" y="3977640"/>
            <a:ext cx="310896" cy="310896"/>
          </a:xfrm>
          <a:prstGeom prst="ellipse">
            <a:avLst/>
          </a:prstGeom>
          <a:solidFill>
            <a:srgbClr val="00776A"/>
          </a:solidFill>
          <a:ln/>
        </p:spPr>
      </p:sp>
      <p:sp>
        <p:nvSpPr>
          <p:cNvPr id="18" name="Text 16"/>
          <p:cNvSpPr/>
          <p:nvPr/>
        </p:nvSpPr>
        <p:spPr>
          <a:xfrm>
            <a:off x="1051560" y="3977640"/>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1645920" y="3849624"/>
            <a:ext cx="9601200" cy="566928"/>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Wait about three minutes</a:t>
            </a:r>
            <a:endParaRPr lang="en-US" sz="1500" dirty="0"/>
          </a:p>
        </p:txBody>
      </p:sp>
      <p:sp>
        <p:nvSpPr>
          <p:cNvPr id="20" name="Shape 18"/>
          <p:cNvSpPr/>
          <p:nvPr/>
        </p:nvSpPr>
        <p:spPr>
          <a:xfrm>
            <a:off x="777240" y="4544568"/>
            <a:ext cx="10634472" cy="603504"/>
          </a:xfrm>
          <a:prstGeom prst="roundRect">
            <a:avLst>
              <a:gd name="adj" fmla="val 13636"/>
            </a:avLst>
          </a:prstGeom>
          <a:solidFill>
            <a:srgbClr val="F5F6F8"/>
          </a:solidFill>
          <a:ln w="12700">
            <a:solidFill>
              <a:srgbClr val="E1E4E9"/>
            </a:solidFill>
            <a:prstDash val="solid"/>
          </a:ln>
        </p:spPr>
      </p:sp>
      <p:sp>
        <p:nvSpPr>
          <p:cNvPr id="21" name="Shape 19"/>
          <p:cNvSpPr/>
          <p:nvPr/>
        </p:nvSpPr>
        <p:spPr>
          <a:xfrm>
            <a:off x="1051560" y="4690872"/>
            <a:ext cx="310896" cy="310896"/>
          </a:xfrm>
          <a:prstGeom prst="ellipse">
            <a:avLst/>
          </a:prstGeom>
          <a:solidFill>
            <a:srgbClr val="00776A"/>
          </a:solidFill>
          <a:ln/>
        </p:spPr>
      </p:sp>
      <p:sp>
        <p:nvSpPr>
          <p:cNvPr id="22" name="Text 20"/>
          <p:cNvSpPr/>
          <p:nvPr/>
        </p:nvSpPr>
        <p:spPr>
          <a:xfrm>
            <a:off x="1051560" y="46908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1645920" y="4562856"/>
            <a:ext cx="9601200" cy="566928"/>
          </a:xfrm>
          <a:prstGeom prst="rect">
            <a:avLst/>
          </a:prstGeom>
          <a:noFill/>
          <a:ln/>
        </p:spPr>
        <p:txBody>
          <a:bodyPr wrap="square" lIns="0" tIns="0" rIns="0" bIns="0" rtlCol="0" anchor="ctr"/>
          <a:lstStyle/>
          <a:p>
            <a:pPr indent="0" marL="0">
              <a:buNone/>
            </a:pPr>
            <a:r>
              <a:rPr lang="en-US" sz="1500" dirty="0">
                <a:solidFill>
                  <a:srgbClr val="15181F"/>
                </a:solidFill>
                <a:latin typeface="Calibri" pitchFamily="34" charset="0"/>
                <a:ea typeface="Calibri" pitchFamily="34" charset="-122"/>
                <a:cs typeface="Calibri" pitchFamily="34" charset="-120"/>
              </a:rPr>
              <a:t>Open your public address on your phone</a:t>
            </a:r>
            <a:endParaRPr lang="en-US" sz="1500" dirty="0"/>
          </a:p>
        </p:txBody>
      </p:sp>
      <p:sp>
        <p:nvSpPr>
          <p:cNvPr id="24" name="Shape 22"/>
          <p:cNvSpPr/>
          <p:nvPr/>
        </p:nvSpPr>
        <p:spPr>
          <a:xfrm>
            <a:off x="777240" y="5349240"/>
            <a:ext cx="10634472" cy="1005840"/>
          </a:xfrm>
          <a:prstGeom prst="roundRect">
            <a:avLst>
              <a:gd name="adj" fmla="val 8182"/>
            </a:avLst>
          </a:prstGeom>
          <a:solidFill>
            <a:srgbClr val="F5F6F8"/>
          </a:solidFill>
          <a:ln w="12700">
            <a:solidFill>
              <a:srgbClr val="E1E4E9"/>
            </a:solidFill>
            <a:prstDash val="solid"/>
          </a:ln>
        </p:spPr>
      </p:sp>
      <p:sp>
        <p:nvSpPr>
          <p:cNvPr id="25" name="Text 23"/>
          <p:cNvSpPr/>
          <p:nvPr/>
        </p:nvSpPr>
        <p:spPr>
          <a:xfrm>
            <a:off x="1143000" y="5623560"/>
            <a:ext cx="10058400" cy="411480"/>
          </a:xfrm>
          <a:prstGeom prst="rect">
            <a:avLst/>
          </a:prstGeom>
          <a:noFill/>
          <a:ln/>
        </p:spPr>
        <p:txBody>
          <a:bodyPr wrap="square" lIns="0" tIns="0" rIns="0" bIns="0" rtlCol="0" anchor="t"/>
          <a:lstStyle/>
          <a:p>
            <a:pPr indent="0" marL="0">
              <a:buNone/>
            </a:pPr>
            <a:r>
              <a:rPr lang="en-US" sz="1400" dirty="0">
                <a:solidFill>
                  <a:srgbClr val="BE3A2B"/>
                </a:solidFill>
                <a:latin typeface="Courier New" pitchFamily="34" charset="0"/>
                <a:ea typeface="Courier New" pitchFamily="34" charset="-122"/>
                <a:cs typeface="Courier New" pitchFamily="34" charset="-120"/>
              </a:rPr>
              <a:t>git status        &lt;-  run this before you push. .env must NOT be listed.</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777240" y="292608"/>
            <a:ext cx="10634472" cy="274320"/>
          </a:xfrm>
          <a:prstGeom prst="rect">
            <a:avLst/>
          </a:prstGeom>
          <a:noFill/>
          <a:ln/>
        </p:spPr>
        <p:txBody>
          <a:bodyPr wrap="square" lIns="0" tIns="0" rIns="0" bIns="0" rtlCol="0" anchor="ctr"/>
          <a:lstStyle/>
          <a:p>
            <a:pPr indent="0" marL="0">
              <a:buNone/>
            </a:pPr>
            <a:r>
              <a:rPr lang="en-US" sz="1100" b="1" spc="220" kern="0" dirty="0">
                <a:solidFill>
                  <a:srgbClr val="A85F00"/>
                </a:solidFill>
                <a:latin typeface="Calibri" pitchFamily="34" charset="0"/>
                <a:ea typeface="Calibri" pitchFamily="34" charset="-122"/>
                <a:cs typeface="Calibri" pitchFamily="34" charset="-120"/>
              </a:rPr>
              <a:t>EXPECT THESE</a:t>
            </a:r>
            <a:endParaRPr lang="en-US" sz="1100" dirty="0"/>
          </a:p>
        </p:txBody>
      </p:sp>
      <p:sp>
        <p:nvSpPr>
          <p:cNvPr id="3" name="Text 1"/>
          <p:cNvSpPr/>
          <p:nvPr/>
        </p:nvSpPr>
        <p:spPr>
          <a:xfrm>
            <a:off x="777240" y="566928"/>
            <a:ext cx="10634472" cy="822960"/>
          </a:xfrm>
          <a:prstGeom prst="rect">
            <a:avLst/>
          </a:prstGeom>
          <a:noFill/>
          <a:ln/>
        </p:spPr>
        <p:txBody>
          <a:bodyPr wrap="square" lIns="0" tIns="0" rIns="0" bIns="0" rtlCol="0" anchor="t"/>
          <a:lstStyle/>
          <a:p>
            <a:pPr indent="0" marL="0">
              <a:buNone/>
            </a:pPr>
            <a:r>
              <a:rPr lang="en-US" sz="3300" b="1" dirty="0">
                <a:solidFill>
                  <a:srgbClr val="15181F"/>
                </a:solidFill>
                <a:latin typeface="Cambria" pitchFamily="34" charset="0"/>
                <a:ea typeface="Cambria" pitchFamily="34" charset="-122"/>
                <a:cs typeface="Cambria" pitchFamily="34" charset="-120"/>
              </a:rPr>
              <a:t>Four things that will confuse you, once</a:t>
            </a:r>
            <a:endParaRPr lang="en-US" sz="3300" dirty="0"/>
          </a:p>
        </p:txBody>
      </p:sp>
      <p:sp>
        <p:nvSpPr>
          <p:cNvPr id="4" name="Shape 2"/>
          <p:cNvSpPr/>
          <p:nvPr/>
        </p:nvSpPr>
        <p:spPr>
          <a:xfrm>
            <a:off x="777240" y="1737360"/>
            <a:ext cx="10634472" cy="960120"/>
          </a:xfrm>
          <a:prstGeom prst="roundRect">
            <a:avLst>
              <a:gd name="adj" fmla="val 8571"/>
            </a:avLst>
          </a:prstGeom>
          <a:solidFill>
            <a:srgbClr val="F5F6F8"/>
          </a:solidFill>
          <a:ln w="12700">
            <a:solidFill>
              <a:srgbClr val="E1E4E9"/>
            </a:solidFill>
            <a:prstDash val="solid"/>
          </a:ln>
        </p:spPr>
      </p:sp>
      <p:sp>
        <p:nvSpPr>
          <p:cNvPr id="5" name="Shape 3"/>
          <p:cNvSpPr/>
          <p:nvPr/>
        </p:nvSpPr>
        <p:spPr>
          <a:xfrm>
            <a:off x="1069848" y="2029968"/>
            <a:ext cx="365760" cy="365760"/>
          </a:xfrm>
          <a:prstGeom prst="ellipse">
            <a:avLst/>
          </a:prstGeom>
          <a:solidFill>
            <a:srgbClr val="A85F00"/>
          </a:solidFill>
          <a:ln/>
        </p:spPr>
      </p:sp>
      <p:sp>
        <p:nvSpPr>
          <p:cNvPr id="6" name="Text 4"/>
          <p:cNvSpPr/>
          <p:nvPr/>
        </p:nvSpPr>
        <p:spPr>
          <a:xfrm>
            <a:off x="1069848" y="202996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p:nvPr/>
        </p:nvSpPr>
        <p:spPr>
          <a:xfrm>
            <a:off x="1691640" y="184708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First visit takes 30-60 seconds</a:t>
            </a:r>
            <a:endParaRPr lang="en-US" sz="1600" dirty="0"/>
          </a:p>
        </p:txBody>
      </p:sp>
      <p:sp>
        <p:nvSpPr>
          <p:cNvPr id="8" name="Text 6"/>
          <p:cNvSpPr/>
          <p:nvPr/>
        </p:nvSpPr>
        <p:spPr>
          <a:xfrm>
            <a:off x="1691640" y="224028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free servers sleep after 15 minutes idle; open the link yourself before a demo</a:t>
            </a:r>
            <a:endParaRPr lang="en-US" sz="1350" dirty="0"/>
          </a:p>
        </p:txBody>
      </p:sp>
      <p:sp>
        <p:nvSpPr>
          <p:cNvPr id="9" name="Shape 7"/>
          <p:cNvSpPr/>
          <p:nvPr/>
        </p:nvSpPr>
        <p:spPr>
          <a:xfrm>
            <a:off x="777240" y="2834640"/>
            <a:ext cx="10634472" cy="960120"/>
          </a:xfrm>
          <a:prstGeom prst="roundRect">
            <a:avLst>
              <a:gd name="adj" fmla="val 8571"/>
            </a:avLst>
          </a:prstGeom>
          <a:solidFill>
            <a:srgbClr val="F5F6F8"/>
          </a:solidFill>
          <a:ln w="12700">
            <a:solidFill>
              <a:srgbClr val="E1E4E9"/>
            </a:solidFill>
            <a:prstDash val="solid"/>
          </a:ln>
        </p:spPr>
      </p:sp>
      <p:sp>
        <p:nvSpPr>
          <p:cNvPr id="10" name="Shape 8"/>
          <p:cNvSpPr/>
          <p:nvPr/>
        </p:nvSpPr>
        <p:spPr>
          <a:xfrm>
            <a:off x="1069848" y="3127248"/>
            <a:ext cx="365760" cy="365760"/>
          </a:xfrm>
          <a:prstGeom prst="ellipse">
            <a:avLst/>
          </a:prstGeom>
          <a:solidFill>
            <a:srgbClr val="A85F00"/>
          </a:solidFill>
          <a:ln/>
        </p:spPr>
      </p:sp>
      <p:sp>
        <p:nvSpPr>
          <p:cNvPr id="11" name="Text 9"/>
          <p:cNvSpPr/>
          <p:nvPr/>
        </p:nvSpPr>
        <p:spPr>
          <a:xfrm>
            <a:off x="1069848" y="312724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p:nvPr/>
        </p:nvSpPr>
        <p:spPr>
          <a:xfrm>
            <a:off x="1691640" y="294436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Saved readings disappear after deploying</a:t>
            </a:r>
            <a:endParaRPr lang="en-US" sz="1600" dirty="0"/>
          </a:p>
        </p:txBody>
      </p:sp>
      <p:sp>
        <p:nvSpPr>
          <p:cNvPr id="13" name="Text 11"/>
          <p:cNvSpPr/>
          <p:nvPr/>
        </p:nvSpPr>
        <p:spPr>
          <a:xfrm>
            <a:off x="1691640" y="333756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free servers wipe their disk on each deploy; use a managed database if it matters</a:t>
            </a:r>
            <a:endParaRPr lang="en-US" sz="1350" dirty="0"/>
          </a:p>
        </p:txBody>
      </p:sp>
      <p:sp>
        <p:nvSpPr>
          <p:cNvPr id="14" name="Shape 12"/>
          <p:cNvSpPr/>
          <p:nvPr/>
        </p:nvSpPr>
        <p:spPr>
          <a:xfrm>
            <a:off x="777240" y="3931920"/>
            <a:ext cx="10634472" cy="960120"/>
          </a:xfrm>
          <a:prstGeom prst="roundRect">
            <a:avLst>
              <a:gd name="adj" fmla="val 8571"/>
            </a:avLst>
          </a:prstGeom>
          <a:solidFill>
            <a:srgbClr val="F5F6F8"/>
          </a:solidFill>
          <a:ln w="12700">
            <a:solidFill>
              <a:srgbClr val="E1E4E9"/>
            </a:solidFill>
            <a:prstDash val="solid"/>
          </a:ln>
        </p:spPr>
      </p:sp>
      <p:sp>
        <p:nvSpPr>
          <p:cNvPr id="15" name="Shape 13"/>
          <p:cNvSpPr/>
          <p:nvPr/>
        </p:nvSpPr>
        <p:spPr>
          <a:xfrm>
            <a:off x="1069848" y="4224528"/>
            <a:ext cx="365760" cy="365760"/>
          </a:xfrm>
          <a:prstGeom prst="ellipse">
            <a:avLst/>
          </a:prstGeom>
          <a:solidFill>
            <a:srgbClr val="A85F00"/>
          </a:solidFill>
          <a:ln/>
        </p:spPr>
      </p:sp>
      <p:sp>
        <p:nvSpPr>
          <p:cNvPr id="16" name="Text 14"/>
          <p:cNvSpPr/>
          <p:nvPr/>
        </p:nvSpPr>
        <p:spPr>
          <a:xfrm>
            <a:off x="1069848" y="422452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p:nvPr/>
        </p:nvSpPr>
        <p:spPr>
          <a:xfrm>
            <a:off x="1691640" y="404164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A new database column is missing</a:t>
            </a:r>
            <a:endParaRPr lang="en-US" sz="1600" dirty="0"/>
          </a:p>
        </p:txBody>
      </p:sp>
      <p:sp>
        <p:nvSpPr>
          <p:cNvPr id="18" name="Text 16"/>
          <p:cNvSpPr/>
          <p:nvPr/>
        </p:nvSpPr>
        <p:spPr>
          <a:xfrm>
            <a:off x="1691640" y="443484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CREATE TABLE IF NOT EXISTS will not alter an existing table; delete readings.db</a:t>
            </a:r>
            <a:endParaRPr lang="en-US" sz="1350" dirty="0"/>
          </a:p>
        </p:txBody>
      </p:sp>
      <p:sp>
        <p:nvSpPr>
          <p:cNvPr id="19" name="Shape 17"/>
          <p:cNvSpPr/>
          <p:nvPr/>
        </p:nvSpPr>
        <p:spPr>
          <a:xfrm>
            <a:off x="777240" y="5029200"/>
            <a:ext cx="10634472" cy="960120"/>
          </a:xfrm>
          <a:prstGeom prst="roundRect">
            <a:avLst>
              <a:gd name="adj" fmla="val 8571"/>
            </a:avLst>
          </a:prstGeom>
          <a:solidFill>
            <a:srgbClr val="F5F6F8"/>
          </a:solidFill>
          <a:ln w="12700">
            <a:solidFill>
              <a:srgbClr val="E1E4E9"/>
            </a:solidFill>
            <a:prstDash val="solid"/>
          </a:ln>
        </p:spPr>
      </p:sp>
      <p:sp>
        <p:nvSpPr>
          <p:cNvPr id="20" name="Shape 18"/>
          <p:cNvSpPr/>
          <p:nvPr/>
        </p:nvSpPr>
        <p:spPr>
          <a:xfrm>
            <a:off x="1069848" y="5321808"/>
            <a:ext cx="365760" cy="365760"/>
          </a:xfrm>
          <a:prstGeom prst="ellipse">
            <a:avLst/>
          </a:prstGeom>
          <a:solidFill>
            <a:srgbClr val="A85F00"/>
          </a:solidFill>
          <a:ln/>
        </p:spPr>
      </p:sp>
      <p:sp>
        <p:nvSpPr>
          <p:cNvPr id="21" name="Text 19"/>
          <p:cNvSpPr/>
          <p:nvPr/>
        </p:nvSpPr>
        <p:spPr>
          <a:xfrm>
            <a:off x="1069848" y="5321808"/>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p:nvPr/>
        </p:nvSpPr>
        <p:spPr>
          <a:xfrm>
            <a:off x="1691640" y="5138928"/>
            <a:ext cx="9418320" cy="384048"/>
          </a:xfrm>
          <a:prstGeom prst="rect">
            <a:avLst/>
          </a:prstGeom>
          <a:noFill/>
          <a:ln/>
        </p:spPr>
        <p:txBody>
          <a:bodyPr wrap="square" lIns="0" tIns="0" rIns="0" bIns="0" rtlCol="0" anchor="ctr"/>
          <a:lstStyle/>
          <a:p>
            <a:pPr indent="0" marL="0">
              <a:buNone/>
            </a:pPr>
            <a:r>
              <a:rPr lang="en-US" sz="1600" b="1" dirty="0">
                <a:solidFill>
                  <a:srgbClr val="15181F"/>
                </a:solidFill>
                <a:latin typeface="Cambria" pitchFamily="34" charset="0"/>
                <a:ea typeface="Cambria" pitchFamily="34" charset="-122"/>
                <a:cs typeface="Cambria" pitchFamily="34" charset="-120"/>
              </a:rPr>
              <a:t>/readings returns your HTML page</a:t>
            </a:r>
            <a:endParaRPr lang="en-US" sz="1600" dirty="0"/>
          </a:p>
        </p:txBody>
      </p:sp>
      <p:sp>
        <p:nvSpPr>
          <p:cNvPr id="23" name="Text 21"/>
          <p:cNvSpPr/>
          <p:nvPr/>
        </p:nvSpPr>
        <p:spPr>
          <a:xfrm>
            <a:off x="1691640" y="5532120"/>
            <a:ext cx="9418320" cy="411480"/>
          </a:xfrm>
          <a:prstGeom prst="rect">
            <a:avLst/>
          </a:prstGeom>
          <a:noFill/>
          <a:ln/>
        </p:spPr>
        <p:txBody>
          <a:bodyPr wrap="square" lIns="0" tIns="0" rIns="0" bIns="0" rtlCol="0" anchor="ctr"/>
          <a:lstStyle/>
          <a:p>
            <a:pPr indent="0" marL="0">
              <a:buNone/>
            </a:pPr>
            <a:r>
              <a:rPr lang="en-US" sz="1350" dirty="0">
                <a:solidFill>
                  <a:srgbClr val="5C6470"/>
                </a:solidFill>
                <a:latin typeface="Calibri" pitchFamily="34" charset="0"/>
                <a:ea typeface="Calibri" pitchFamily="34" charset="-122"/>
                <a:cs typeface="Calibri" pitchFamily="34" charset="-120"/>
              </a:rPr>
              <a:t>app.mount("/") is above your endpoints; move it to the bottom</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731520"/>
            <a:ext cx="100584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you built</a:t>
            </a:r>
            <a:endParaRPr lang="en-US" sz="3400" dirty="0"/>
          </a:p>
        </p:txBody>
      </p:sp>
      <p:sp>
        <p:nvSpPr>
          <p:cNvPr id="3" name="Shape 1"/>
          <p:cNvSpPr/>
          <p:nvPr/>
        </p:nvSpPr>
        <p:spPr>
          <a:xfrm>
            <a:off x="822960" y="1911096"/>
            <a:ext cx="274320" cy="274320"/>
          </a:xfrm>
          <a:prstGeom prst="ellipse">
            <a:avLst/>
          </a:prstGeom>
          <a:solidFill>
            <a:srgbClr val="35C9B0"/>
          </a:solidFill>
          <a:ln/>
        </p:spPr>
      </p:sp>
      <p:sp>
        <p:nvSpPr>
          <p:cNvPr id="4" name="Text 2"/>
          <p:cNvSpPr/>
          <p:nvPr/>
        </p:nvSpPr>
        <p:spPr>
          <a:xfrm>
            <a:off x="1371600" y="1783080"/>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 web server with four endpoints</a:t>
            </a:r>
            <a:endParaRPr lang="en-US" sz="1650" dirty="0"/>
          </a:p>
        </p:txBody>
      </p:sp>
      <p:sp>
        <p:nvSpPr>
          <p:cNvPr id="5" name="Shape 3"/>
          <p:cNvSpPr/>
          <p:nvPr/>
        </p:nvSpPr>
        <p:spPr>
          <a:xfrm>
            <a:off x="822960" y="2569464"/>
            <a:ext cx="274320" cy="274320"/>
          </a:xfrm>
          <a:prstGeom prst="ellipse">
            <a:avLst/>
          </a:prstGeom>
          <a:solidFill>
            <a:srgbClr val="35C9B0"/>
          </a:solidFill>
          <a:ln/>
        </p:spPr>
      </p:sp>
      <p:sp>
        <p:nvSpPr>
          <p:cNvPr id="6" name="Text 4"/>
          <p:cNvSpPr/>
          <p:nvPr/>
        </p:nvSpPr>
        <p:spPr>
          <a:xfrm>
            <a:off x="1371600" y="2441448"/>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Input validation that rejects bad data before your code runs</a:t>
            </a:r>
            <a:endParaRPr lang="en-US" sz="1650" dirty="0"/>
          </a:p>
        </p:txBody>
      </p:sp>
      <p:sp>
        <p:nvSpPr>
          <p:cNvPr id="7" name="Shape 5"/>
          <p:cNvSpPr/>
          <p:nvPr/>
        </p:nvSpPr>
        <p:spPr>
          <a:xfrm>
            <a:off x="822960" y="3227832"/>
            <a:ext cx="274320" cy="274320"/>
          </a:xfrm>
          <a:prstGeom prst="ellipse">
            <a:avLst/>
          </a:prstGeom>
          <a:solidFill>
            <a:srgbClr val="35C9B0"/>
          </a:solidFill>
          <a:ln/>
        </p:spPr>
      </p:sp>
      <p:sp>
        <p:nvSpPr>
          <p:cNvPr id="8" name="Text 6"/>
          <p:cNvSpPr/>
          <p:nvPr/>
        </p:nvSpPr>
        <p:spPr>
          <a:xfrm>
            <a:off x="1371600" y="3099816"/>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 database that survives restarts</a:t>
            </a:r>
            <a:endParaRPr lang="en-US" sz="1650" dirty="0"/>
          </a:p>
        </p:txBody>
      </p:sp>
      <p:sp>
        <p:nvSpPr>
          <p:cNvPr id="9" name="Shape 7"/>
          <p:cNvSpPr/>
          <p:nvPr/>
        </p:nvSpPr>
        <p:spPr>
          <a:xfrm>
            <a:off x="822960" y="3886200"/>
            <a:ext cx="274320" cy="274320"/>
          </a:xfrm>
          <a:prstGeom prst="ellipse">
            <a:avLst/>
          </a:prstGeom>
          <a:solidFill>
            <a:srgbClr val="35C9B0"/>
          </a:solidFill>
          <a:ln/>
        </p:spPr>
      </p:sp>
      <p:sp>
        <p:nvSpPr>
          <p:cNvPr id="10" name="Text 8"/>
          <p:cNvSpPr/>
          <p:nvPr/>
        </p:nvSpPr>
        <p:spPr>
          <a:xfrm>
            <a:off x="1371600" y="3758184"/>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An AI integration with the key handled correctly</a:t>
            </a:r>
            <a:endParaRPr lang="en-US" sz="1650" dirty="0"/>
          </a:p>
        </p:txBody>
      </p:sp>
      <p:sp>
        <p:nvSpPr>
          <p:cNvPr id="11" name="Shape 9"/>
          <p:cNvSpPr/>
          <p:nvPr/>
        </p:nvSpPr>
        <p:spPr>
          <a:xfrm>
            <a:off x="822960" y="4544568"/>
            <a:ext cx="274320" cy="274320"/>
          </a:xfrm>
          <a:prstGeom prst="ellipse">
            <a:avLst/>
          </a:prstGeom>
          <a:solidFill>
            <a:srgbClr val="35C9B0"/>
          </a:solidFill>
          <a:ln/>
        </p:spPr>
      </p:sp>
      <p:sp>
        <p:nvSpPr>
          <p:cNvPr id="12" name="Text 10"/>
          <p:cNvSpPr/>
          <p:nvPr/>
        </p:nvSpPr>
        <p:spPr>
          <a:xfrm>
            <a:off x="1371600" y="4416552"/>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 web page that talks to your own backend</a:t>
            </a:r>
            <a:endParaRPr lang="en-US" sz="1650" dirty="0"/>
          </a:p>
        </p:txBody>
      </p:sp>
      <p:sp>
        <p:nvSpPr>
          <p:cNvPr id="13" name="Shape 11"/>
          <p:cNvSpPr/>
          <p:nvPr/>
        </p:nvSpPr>
        <p:spPr>
          <a:xfrm>
            <a:off x="822960" y="5202936"/>
            <a:ext cx="274320" cy="274320"/>
          </a:xfrm>
          <a:prstGeom prst="ellipse">
            <a:avLst/>
          </a:prstGeom>
          <a:solidFill>
            <a:srgbClr val="35C9B0"/>
          </a:solidFill>
          <a:ln/>
        </p:spPr>
      </p:sp>
      <p:sp>
        <p:nvSpPr>
          <p:cNvPr id="14" name="Text 12"/>
          <p:cNvSpPr/>
          <p:nvPr/>
        </p:nvSpPr>
        <p:spPr>
          <a:xfrm>
            <a:off x="1371600" y="5074920"/>
            <a:ext cx="10058400" cy="502920"/>
          </a:xfrm>
          <a:prstGeom prst="rect">
            <a:avLst/>
          </a:prstGeom>
          <a:noFill/>
          <a:ln/>
        </p:spPr>
        <p:txBody>
          <a:bodyPr wrap="square" lIns="0" tIns="0" rIns="0" bIns="0" rtlCol="0" anchor="ctr"/>
          <a:lstStyle/>
          <a:p>
            <a:pPr indent="0" marL="0">
              <a:buNone/>
            </a:pPr>
            <a:r>
              <a:rPr lang="en-US" sz="1650" dirty="0">
                <a:solidFill>
                  <a:srgbClr val="FFFFFF"/>
                </a:solidFill>
                <a:latin typeface="Calibri" pitchFamily="34" charset="0"/>
                <a:ea typeface="Calibri" pitchFamily="34" charset="-122"/>
                <a:cs typeface="Calibri" pitchFamily="34" charset="-120"/>
              </a:rPr>
              <a:t>All of it deployed and running on the public internet</a:t>
            </a:r>
            <a:endParaRPr lang="en-US" sz="1650" dirty="0"/>
          </a:p>
        </p:txBody>
      </p:sp>
      <p:sp>
        <p:nvSpPr>
          <p:cNvPr id="15" name="Text 13"/>
          <p:cNvSpPr/>
          <p:nvPr/>
        </p:nvSpPr>
        <p:spPr>
          <a:xfrm>
            <a:off x="777240" y="5806440"/>
            <a:ext cx="10607040" cy="457200"/>
          </a:xfrm>
          <a:prstGeom prst="rect">
            <a:avLst/>
          </a:prstGeom>
          <a:noFill/>
          <a:ln/>
        </p:spPr>
        <p:txBody>
          <a:bodyPr wrap="square" lIns="0" tIns="0" rIns="0" bIns="0" rtlCol="0" anchor="ctr"/>
          <a:lstStyle/>
          <a:p>
            <a:pPr indent="0" marL="0">
              <a:buNone/>
            </a:pPr>
            <a:r>
              <a:rPr lang="en-US" sz="1800" b="1" dirty="0">
                <a:solidFill>
                  <a:srgbClr val="35C9B0"/>
                </a:solidFill>
                <a:latin typeface="Cambria" pitchFamily="34" charset="0"/>
                <a:ea typeface="Cambria" pitchFamily="34" charset="-122"/>
                <a:cs typeface="Cambria" pitchFamily="34" charset="-120"/>
              </a:rPr>
              <a:t>The next application you build has the same shape.</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181F"/>
        </a:solidFill>
      </p:bgPr>
    </p:bg>
    <p:spTree>
      <p:nvGrpSpPr>
        <p:cNvPr id="1" name=""/>
        <p:cNvGrpSpPr/>
        <p:nvPr/>
      </p:nvGrpSpPr>
      <p:grpSpPr>
        <a:xfrm>
          <a:off x="0" y="0"/>
          <a:ext cx="0" cy="0"/>
          <a:chOff x="0" y="0"/>
          <a:chExt cx="0" cy="0"/>
        </a:xfrm>
      </p:grpSpPr>
      <p:sp>
        <p:nvSpPr>
          <p:cNvPr id="2" name="Text 0"/>
          <p:cNvSpPr/>
          <p:nvPr/>
        </p:nvSpPr>
        <p:spPr>
          <a:xfrm>
            <a:off x="777240" y="2194560"/>
            <a:ext cx="100584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Questions</a:t>
            </a:r>
            <a:endParaRPr lang="en-US" sz="5000" dirty="0"/>
          </a:p>
        </p:txBody>
      </p:sp>
      <p:sp>
        <p:nvSpPr>
          <p:cNvPr id="3" name="Text 1"/>
          <p:cNvSpPr/>
          <p:nvPr/>
        </p:nvSpPr>
        <p:spPr>
          <a:xfrm>
            <a:off x="777240" y="3383280"/>
            <a:ext cx="9875520" cy="548640"/>
          </a:xfrm>
          <a:prstGeom prst="rect">
            <a:avLst/>
          </a:prstGeom>
          <a:noFill/>
          <a:ln/>
        </p:spPr>
        <p:txBody>
          <a:bodyPr wrap="square" lIns="0" tIns="0" rIns="0" bIns="0" rtlCol="0" anchor="ctr"/>
          <a:lstStyle/>
          <a:p>
            <a:pPr indent="0" marL="0">
              <a:buNone/>
            </a:pPr>
            <a:r>
              <a:rPr lang="en-US" sz="1600" dirty="0">
                <a:solidFill>
                  <a:srgbClr val="98A0AC"/>
                </a:solidFill>
                <a:latin typeface="Calibri" pitchFamily="34" charset="0"/>
                <a:ea typeface="Calibri" pitchFamily="34" charset="-122"/>
                <a:cs typeface="Calibri" pitchFamily="34" charset="-120"/>
              </a:rPr>
              <a:t>The written guide has every command, the full code for all six stages, and a troubleshooting table.</a:t>
            </a:r>
            <a:endParaRPr lang="en-US" sz="1600" dirty="0"/>
          </a:p>
        </p:txBody>
      </p:sp>
      <p:sp>
        <p:nvSpPr>
          <p:cNvPr id="4" name="Text 2"/>
          <p:cNvSpPr/>
          <p:nvPr/>
        </p:nvSpPr>
        <p:spPr>
          <a:xfrm>
            <a:off x="777240" y="4114800"/>
            <a:ext cx="10058400" cy="457200"/>
          </a:xfrm>
          <a:prstGeom prst="rect">
            <a:avLst/>
          </a:prstGeom>
          <a:noFill/>
          <a:ln/>
        </p:spPr>
        <p:txBody>
          <a:bodyPr wrap="square" lIns="0" tIns="0" rIns="0" bIns="0" rtlCol="0" anchor="ctr"/>
          <a:lstStyle/>
          <a:p>
            <a:pPr indent="0" marL="0">
              <a:buNone/>
            </a:pPr>
            <a:r>
              <a:rPr lang="en-US" sz="2000" dirty="0">
                <a:solidFill>
                  <a:srgbClr val="35C9B0"/>
                </a:solidFill>
                <a:latin typeface="Courier New" pitchFamily="34" charset="0"/>
                <a:ea typeface="Courier New" pitchFamily="34" charset="-122"/>
                <a:cs typeface="Courier New" pitchFamily="34" charset="-120"/>
              </a:rPr>
              <a:t>github.com/Shamsu3100/AITriage</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Full-Stack App Deployment with AI APIs &amp; Cloud</dc:title>
  <dc:subject>PptxGenJS Presentation</dc:subject>
  <dc:creator>Project Nexus 2026</dc:creator>
  <cp:lastModifiedBy>Project Nexus 2026</cp:lastModifiedBy>
  <cp:revision>1</cp:revision>
  <dcterms:created xsi:type="dcterms:W3CDTF">2026-08-22T14:16:49Z</dcterms:created>
  <dcterms:modified xsi:type="dcterms:W3CDTF">2026-08-22T14:16:49Z</dcterms:modified>
</cp:coreProperties>
</file>