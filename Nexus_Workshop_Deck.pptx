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1.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Correct</c:v>
                </c:pt>
              </c:strCache>
            </c:strRef>
          </c:tx>
          <c:spPr>
            <a:solidFill>
              <a:srgbClr val="00776A"/>
            </a:solidFill>
            <a:effectLst/>
          </c:spPr>
          <c:invertIfNegative val="0"/>
          <c:dLbls>
            <c:numFmt formatCode="0&quot;%&quot;" sourceLinked="0"/>
            <c:txPr>
              <a:bodyPr/>
              <a:lstStyle/>
              <a:p>
                <a:pPr>
                  <a:defRPr b="1" i="0" strike="noStrike" sz="1400" u="none">
                    <a:solidFill>
                      <a:srgbClr val="15181F"/>
                    </a:solidFill>
                    <a:latin typeface="Arial"/>
                  </a:defRPr>
                </a:pPr>
              </a:p>
            </c:txPr>
            <c:showLegendKey val="0"/>
            <c:showVal val="1"/>
            <c:showCatName val="0"/>
            <c:showSerName val="0"/>
            <c:showPercent val="0"/>
            <c:showBubbleSize val="0"/>
            <c:showLeaderLines val="0"/>
          </c:dLbls>
          <c:dPt>
            <c:idx val="0"/>
            <c:invertIfNegative val="0"/>
            <c:bubble3D val="0"/>
            <c:spPr>
              <a:solidFill>
                <a:srgbClr val="00776A"/>
              </a:solidFill>
              <a:effectLst/>
            </c:spPr>
          </c:dPt>
          <c:dPt>
            <c:idx val="1"/>
            <c:invertIfNegative val="0"/>
            <c:bubble3D val="0"/>
            <c:spPr>
              <a:solidFill>
                <a:srgbClr val="BE3A2B"/>
              </a:solidFill>
              <a:effectLst/>
            </c:spPr>
          </c:dPt>
          <c:dPt>
            <c:idx val="2"/>
            <c:invertIfNegative val="0"/>
            <c:bubble3D val="0"/>
            <c:spPr>
              <a:solidFill>
                <a:srgbClr val="A85F00"/>
              </a:solidFill>
              <a:effectLst/>
            </c:spPr>
          </c:dPt>
          <c:cat>
            <c:multiLvlStrRef>
              <c:f>Sheet1!$A$2:$A$4</c:f>
              <c:multiLvlStrCache>
                <c:ptCount val="3"/>
                <c:lvl>
                  <c:pt idx="0">
                    <c:v>Plain arithmetic</c:v>
                  </c:pt>
                  <c:pt idx="1">
                    <c:v>Small model</c:v>
                  </c:pt>
                  <c:pt idx="2">
                    <c:v>Larger model</c:v>
                  </c:pt>
                </c:lvl>
              </c:multiLvlStrCache>
            </c:multiLvlStrRef>
          </c:cat>
          <c:val>
            <c:numRef>
              <c:f>Sheet1!$B$2:$B$4</c:f>
              <c:numCache>
                <c:formatCode>General</c:formatCode>
                <c:ptCount val="3"/>
                <c:pt idx="0">
                  <c:v>100</c:v>
                </c:pt>
                <c:pt idx="1">
                  <c:v>38</c:v>
                </c:pt>
                <c:pt idx="2">
                  <c:v>83</c:v>
                </c:pt>
              </c:numCache>
            </c:numRef>
          </c:val>
        </c:ser>
        <c:dLbls>
          <c:numFmt formatCode="0&quot;%&quot;" sourceLinked="0"/>
          <c:txPr>
            <a:bodyPr/>
            <a:lstStyle/>
            <a:p>
              <a:pPr>
                <a:defRPr b="1" i="0" strike="noStrike" sz="1400" u="none">
                  <a:solidFill>
                    <a:srgbClr val="15181F"/>
                  </a:solidFill>
                  <a:latin typeface="Arial"/>
                </a:defRPr>
              </a:pPr>
            </a:p>
          </c:txPr>
          <c:showLegendKey val="0"/>
          <c:showVal val="1"/>
          <c:showCatName val="0"/>
          <c:showSerName val="0"/>
          <c:showPercent val="0"/>
          <c:showBubbleSize val="0"/>
          <c:showLeaderLines val="0"/>
        </c:dLbls>
        <c:gapWidth val="6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470"/>
                </a:solidFill>
                <a:latin typeface="Arial"/>
              </a:defRPr>
            </a:pPr>
            <a:endParaRPr lang="en-US"/>
          </a:p>
        </c:txPr>
        <c:crossAx val="2094734552"/>
        <c:crosses val="autoZero"/>
        <c:auto val="1"/>
        <c:lblAlgn val="ctr"/>
        <c:noMultiLvlLbl val="1"/>
      </c:catAx>
      <c:valAx>
        <c:axId val="2094734552"/>
        <c:scaling>
          <c:orientation val="minMax"/>
          <c:max val="1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level in the first minute, explicitly:
"I am going to assume you can program. I am going to assume you have never put anything on the internet before. If you have, some of this will be revision."
A good part of the room is quietly worried they are the only one who does not know this. Tell them they are not.
Housekeeping:
- Everything today is free. No API key, no credit card, no paid account.
- Every command is in the written guide, so nobody needs to copy code off a slide.
- Post the guide and the repository link in the chat now, and again at each part boundary.
Ask everyone to open a terminal and a code editor before you go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before you say anything about what they will build.
The point of the slide is the red box. A trained model is invisible to anyone not sitting at the laptop that trained it. A sensor reading in a terminal cannot be shown to a judge, a supervisor, or a collaborator in another city. That is a real gap, and it is one nobody else in this series covers.
Say the one-line version out loud, because it is the version they will remember:
"Nine of these workshops teach you to build something. This is the one where somebody else gets to see it."
Then be honest about scope: this session is not about AI, and it is not about hardware. It is about the step that turns either one into something with an address.
Come back to this slide at the end -- Part 4 shows exactly where each of the other workshops plugs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concrete. Vague promises lose an audience.
Point 2 is the hook. For most of this room, "someone in another city can open my thing on their phone" has never happened. It is genuinely exciting the first time, and worth naming as such.
Point 3 is why we build from scratch rather than handing out a finished project. A repository you did not write is one you cannot debug at 2am.
Then remove the money barrier out loud. Some students have already decided they cannot follow along without paying for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of the session so nobody feels lost in the middle.
Say the rescue line out loud and mean it. With this many people, some will fall behind in the first ten minutes, and without a way back you lose them entirely. The stage folders are that way back. Repeat it at every part boundary.
If your audience already has Python, VS Code and Git working, Part 0 can be a two-minute checklist instead of a section. Ask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most of the room already has these installed, do the checklist slide and move on.
If they do not, this is worth doing properly. Every minute spent here saves five later, and a student who cannot run "python --version" cannot follow any of Part 2.
Everything in this part is written out step by step in the guide, including where each download button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four checks with them, out loud, right now. It is the fastest way to find who is stuck.
If someone is on Python 3.9 or older they must upgrade; nothing in Part 2 will work otherwise.
If someone has no Git, they can still follow Parts 1 and 2 and download the code as a zip. They only need Git at Part 3.
Do not let one person's installation problem hold the room. Hand them to the moderator and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have one thing in common: none of them produces a message that tells you what is wrong.
Number 1 does not bite until Part 2, when their .env file exists but the program cannot find it. Turning extensions on takes two clicks and prevents an hour of confusion. Do it now.
Number 2 is the most common setup failure anywhere in programming. If someone sees "python is not recognized", this is why.
Number 3: the fix is one command, Set-ExecutionPolicy -Scope CurrentUser RemoteSigned. It is in the guide. Mention it now so they recognise the error rather than panicking.
Number 4 is silent. No error at all. If a cd appears to do nothing, they are on the wrong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explicitly: no code in this part, do not open your editor yet, just watch.
That instruction genuinely helps. Anxious students otherwise fiddle with their terminal instead of listening.
If they leave with only Part 1, they can still read documentation and follow tutorials on their own. That is worth a lot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boxes and one warning. Keep it to that.
The red box is why this slide exists. Say it in exactly that form -- "you are not showing it to them, you are giving them a copy" -- because that is the version that sticks.
Then plant the flag: "Remember this. In Part 2 it decides where your API key is allowed to live, and it is the reason the backend exists at all."
Next slide proves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live. Open any site, press F12, click through the Sources and Network panels for about forty seconds.
Ask the room to do the same on whatever tab they already have open. It takes ten seconds and turns an abstract statement into something physical.
Do not explain what all the panels do. The only message is: everything the page sent is visible here, and there is nothing you can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model everything else sits on.
Walk the two arrows aloud, twice. Then give three examples they already know: opening Instagram, tapping like, sending a WhatsApp message. All request and response.
The bottom line is the reframe that matters. They are not building the internet. They are writing one small function that decides what the answer is. That is a manageable thing to picture, and it is accurate.
If someone asks about HTTP or TCP: that is plumbing, not needed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response carries one of these. Reading them saves enormous time.
Make the bottom line concrete, because beginners treat all errors as one undifferentiated "it broke":
404 means your ADDRESS is wrong. The server looked and there is nothing there. Check your spelling and your route.
500 means your address was RIGHT and the code behind it crashed. Go and read the traceback in your terminal.
422 is the one they will meet most in Part 2, and it means their data did not match the shape the server expected.
Debugging starts with knowing which of those three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word. Students imagine a rack of machines in a cold room, or something only a company can own.
Say it plainly: a server is just a computer that is always on. Theirs will be one for the next hour.
On ports, the useful comparison is flats in a building: the address gets you to the building, the number gets you to the door. One computer runs many programs; the port says which one.
The second term is the setup for a real bug in Part 4. "localhost" is relative. On your laptop it means your laptop. On a server it means the server. Flag it now; it pays off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definition and pause. Students find it genuinely clarifying, because "the cloud" is used constantly and never explained.
You could do all of this at home with a spare computer. People do. You would then be responsible for power cuts, your home address changing, security updates, and the machine dying at 3am.
For a student project renting is obviously right. But knowing what you are renting is the point of the next three slides, and it is the part that transfers to every project they ever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Render?" properly, rather than "because I said so".
Go through them one at a time, and for each say what you give and what you get back:
Static: you upload finished files. Nothing of yours runs. Free and fast, but it cannot run Python and cannot keep a secret.
Platform: you give code and a start command. They run it. You never touch the operating system.
Server: you rent an empty Linux machine. Total control, and you are now responsible for security updates forever.
Serverless: you give one function. It costs nothing when idle and scales enormously, but nothing is remembered between calls and long jobs do not fit.
Do not rush. For most of this room this is the first time anyone has laid the landscape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read it for a moment before you speak.
The two rows that decide it for us:
- "Can hold a secret" -- static is out immediately, because we have an API key.
- "You manage the OS" -- a bare server is out, because we would spend the session on Linux configuration rather than on the application.
Serverless would work for one endpoint but fights us on a full application with a database.
Then be honest and say it plainly: Railway, Fly.io and PythonAnywhere would all work just as well. Nothing in this workshop is Render-specific except the shape of one configuration file. Render is chosen because its free tier needs no credit card, which matters for a student cohort.
Also cover when they would outgrow it: continuous traffic, more memory, files that must survive a redeploy.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in one sentence and then immediately give examples they have already used. The goal is someone thinking "oh, is that all it is?"
Connect it explicitly back to 1.2: an API call is a request and a response. They already know this shape. The only new thing is a name.
The bottom two lines matter and are usually skipped. The word gets used for both directions. They are consuming an API today, and they are also building one -- and in Part 4 an ESP32 will call theirs with no changes to their code.
If someone asks what the letters stand for, say it does not matter, and move on. Knowing the expansion helps nobody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 card comparison is the one that lands. Use it and let it sit for a moment.
Emphasise "no PIN". There is no second factor, no confirmation email, no approval step. That is genuinely how API keys work, and students find it surprising.
The last item in the list is worth saying aloud even though it is on screen. Students routinely post their terminal into a group chat or record a demo video with the key visible. They do not think of those as leaks.
Next slide closes the loop with the frontend point from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the whole of Part 1 has been building towards. Deliver it as a conclusion they have derived, not a rule you are announcing.
Say the two premises, pause, then the conclusion. Some of the room will get there before you finish.
Then the payoff line: that is what the backend is for. Students often think a backend is just "where the code goes". This is a concrete reason it has to exist at all -- and it is why static hosting was ruled out two slides ago.
Anticipate the sharp question: "if anyone can send requests to my server, can they not use my AI for free?" Answer honestly -- they could send requests, but they cannot take the key and use it elsewhere, and a spending limit caps the damage. Real services add authentication and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columns brief. The yellow box is the content of this slide.
It surprises people, and it is much better heard now than discovered at 2am the night before a deadline. Their application will keep working perfectly; only the stored history vanishes.
For today it genuinely does not matter -- we are learning the shape, not running a business. But say clearly: if your project needs its data to survive, that is the moment to add a managed database, and it is a change to how you connect, not to your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the tool they were taught is the only one, or the best one. Show them the field.
Say why we chose FastAPI honestly: not because it is objectively best, but because this room already writes Python for AI and engineering work, so there is no second language to learn. The automatic validation and the free /docs page are genuine advantages over Flask and Express, both of which need extra libraries for the same thing.
If someone in the room already knows Express or Spring, tell them the concepts transfer completely. Routes, request bodies, status codes and middleware exist in all of them. Only the spelling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teal box is the slide. Everything above it is context.
This is the reason the frontend/backend split exists at all, and it is worth saying slowly. They are not building a web page that happens to have some Python behind it. They are building a service, and the web page is one client of it.
Concrete consequence for their projects: if they later decide they want a phone app instead of a web page, they do not rebuild anything. The backend is already done.
Worth a specific note on Streamlit and Gradio, because for some projects they are genuinely the better choice. Both let you build an interface in pure Python with no HTML, and a dashboard that takes an hour here takes fifteen lines there. But neither can receive a POST from a device -- they have no route handlers. If your project has a microcontroller, you need a real backend. If it is software only, Streamlit will save you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one lesson each.
On databases, the categories matter more than the brands. Relational means tables with fixed columns queried with SQL -- right when your data has a consistent shape, which sensor data does. Document means records that are JSON objects and need not all match -- right when the shape varies. Key-value is a very fast lookup, usually a cache in front of something else.
On AI providers, the point is at the bottom. They all take text and a key and return text. Students worry about being locked in to one company. They are not, and the reason is architectural: the call lives in one file.
If someone asks which provider is best, be honest -- it changes every few months, and the sensible engineering answer is to keep the call isolated so the question stays cheap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point of the whole landscape section. The tables are reference; this is the transferable skill.
Walk through how our own choices fall out of it. Question 1: an ESP32 needs to send readings, so we need a real backend, which removes static hosting and Streamlit. Question 2: we have an API key, same answer. Question 3: this room writes Python, so FastAPI rather than Express. Question 4: a prototype for an exhibition, so free hosting is exactly right and a managed database is not needed yet.
Four questions, and every technology choice in this workshop is explained.
Tell them to actually use this. The most common failure in student projects is picking a tool because it appeared in a tutorial, discovering three weeks later that it cannot do something essential, and having to start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two thirds of the room switching off.
If you only ever show a soil moisture sensor, the healthcare teams conclude this is an IoT talk and stop listening. Show all six and say directly: "whichever track you are in, your project is somewhere in this list."
There is a real design lesson here too, worth one sentence: when several different problems share one shape, you write one program instead of several. Noticing that shape is a large part of software design.
Ask the chat what their projects measure. Take two or three answers and place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the working rule now: build in ONE folder of your own the whole way through, adding to it each stage.
The stage folders in the repository are complete working copies, for rescue only. Repeat that at every stage boundary.
Then walk them through creating the folder, the virtual environment, and installing the four packages. Wait for the room before Stage 1 -- this is the last easy place to synchronise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with them and wait for the room.
Explain the virtual environment in one sentence: a private copy of Python for this project alone, so packages here do not affect other projects.
The activate command differs by operating system and that trips people up. Say both, slowly, and paste both into the chat.
If PowerShell refuses with "running scripts is disabled", that is the Part 0 trap. Set-ExecutionPolicy -Scope CurrentUser RemoteSigned, answer Y, try again.
Name the four packages rather than letting them paste blindly. fastapi is the framework you write against; uvicorn is the program that runs it and listens for requests. That distinction confuses people -- you import one and you type the other.
Ask for "ok" in the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one live rather than pasting. It is six lines, and watching a web server appear from nothing is the point of the stage.
Before you start, make sure everyone has the virtual environment active and the packages installed. From here on, anyone who is not set up will fall behind quickly.
Two things to say while you type:
- FastAPI turns an ordinary Python function into something the internet can call.
- The function itself is completely normal Python returning a normal dictionary. There is nothing special about it.
Stage 1 has two visible results, and the second one surprises people: /health in the browser, and then /docs, which FastAPI generated for them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line and say what it does as you go.
Line 1 imports the framework. Line 3 creates the application object. The decorator is the interesting one: it tells FastAPI that when a GET request arrives for /health, run the function underneath. The function is ordinary Python returning an ordinary dictionary; FastAPI converts it to JSON.
Explain "main:app" once: the file called main, and the object called app inside it. People mistype this constantly.
--reload restarts the server whenever they save. Leave it running all session.
If someone gets "Address already in use", an old server is still running -- add --port 8001.
Wait for "running" in the chat. This is the first real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Stage 1 exists for.
Fifteen minutes in, with no frontend written, they are using their own API in a real interface. For a beginner that is when it stops feeling theoretical.
Show it properly: expand /health, click Try it out, click Execute, point at the response.
Also explain why /health in particular: hosting platforms call an address like this every few seconds to check the application is alive, and restart it if not. We point Render at it in Part 3. Almost every production service has one, and theirs now does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every stage visibly changes something on screen.
Let them copy the HTML rather than typing it. HTML and CSS are not the subject and typing them costs time that teaches nothing about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fetch call: that is the frontend calling the backend. Same /health endpoint they tested in /docs a moment ago, this time from a page.
Then warn about the mount line BEFORE they paste it, not after. Several people will put it in the wrong place and spend ten minutes wondering why /health returns HTML.
The reason in one sentence: FastAPI checks routes in the order you declared them, and mounting at "/" matches everything, so anything declared after it is unreachable.
Rule to give them: the mount line is always the last line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payoff for all of Part 1.
Ask them to say in the chat when they see it. Wait for a reasonable number.
Then narrate what just happened, slowly: the browser sent a request to /health. Your Python function ran. It returned a dictionary. FastAPI turned it into JSON. The page read it and put it on screen.
Every one of those steps is something they wrote or configured. Nothing here is magic, and that is worth saying out loud to a room that has never done this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a class that says what valid input looks like, a function that does the arithmetic, and an endpoint that ties them together. We do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fields: what the sensor is, what it read, the unit, and the two ends of the safe range.
The types are the important part. value: float means a number. If somebody sends text, FastAPI rejects the request before their function is ever called. We prove that in three slides, and it is the most valuable thing in this stage.
Point out that they get this for free. In most frameworks, validation is code you write by hand for every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logic aloud: inside the range is normal, a long way outside is critical, otherwise warning.
The margin line is the only slightly clever part, and it is worth explaining because it shows the rule adapting itself. For a body temperature range of 36.1 to 37.2, half the width is about half a degree. For a motor range of 20 to 60, it is twenty degrees. Same code, sensible thresholds for both.
Say the green box now. It sets up Stage 5 and makes that argument land much harder when you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point is the one worth dwelling on. That single type annotation does a lot of work: it tells FastAPI to read the request body, validate it against the class, and give you a ready-made Python object.
They never parse anything. They never check whether a field exists. That is all handled at the boundary.
GET versus POST in one sentence: reading a page is a GET, submitting a form is a POST. Enough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these with them rather than just showing the table. Ask what they expect before each one.
The fourth row is worth a comment: 8% against a safe range of 30-70% is a long way below, so it is critical rather than warning. The rule scaled itself without being told to.
Give people a minute to try their own numbers. Curiosity here is good; it means they understand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It takes fifteen seconds and it is the most useful thing in Stage 3.
The point is not that an error appeared. It is WHERE it appeared. The request was rejected at the boundary of the application, so their code never saw the bad value and could not crash on it.
Make the threat model concrete for their own projects: a sensor with a loose wire sends nonsense. A teammate's code has a typo. And once the address is public, strangers will send deliberately malformed data to see what happens. Same defence for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every reading is forgotten the moment you reply. Let's keep them.
This stage is mostly boilerplate. Let them copy it and spend the time saved on the restart demonstration instead, which is the point of the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 into context managers. One sentence about the guarantee is enough: whatever happens inside the with-block, the connection closes.
Explain why that matters in a server specifically. On a script that runs for two seconds, a leaked connection is invisible. On a server running for weeks, it accumulates until something falls over. Writing the helper once means every use is safe by construction.
row_factory lets them read a column by name instead of counting positions. Without it they get tuples and code full of row[3].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The parameterised query. The database receives the command and the data as two separate things. If you join strings instead, someone can send a "sensor name" that is actually a command and your database will run it. One character of habit prevents an entire class of attack.
And the trap they will hit in Stage 5: CREATE TABLE IF NOT EXISTS will NOT change a table that already exists. When we add two columns next stage, they must delete readings.db first. Saying it here saves ten confused minutes later -- flag it now and again when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restart live. It is the whole point of the stage and takes twenty seconds.
Before restarting, ask the room what they expect to happen. Some will say the data is gone. Then show them it is not.
Point at readings.db in the file listing and say: that file is the database. No server to install, no configuration, no password.
The side-by-side comparison in the footer is the strongest version if you have two terminals open. Stage 3 forgets, Stage 4 remembers. That is what a database is, demonstrated rather than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 of the workshop. Before any code, we make one design decision, and it is the most valuable idea in the session. Do not skip straight to the API call.
Order: the decision, then .env and .gitignore, then ai.py, then wiring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three or four minutes. It is the idea most likely to change how they build.
The instinct students have is that AI is the clever option and plain code is the primitive one, so anything difficult should go to the model. For anything numeric, that is backwards.
On a yes-or-no question, guessing scores about 50 percent. The small model did worse than guessing, because it has a habit of raising the alarm even when everything is fine.
A false negative is the worst kind of error here. Saying "critical" when things are fine is annoying. Saying "normal" when the motor is overheating is the failure that matters. And it was not repeatable -- the same question gave different answers, so you cannot write a passing test for it.
Be fair: a large paid model would score higher. But you would be paying for something an if-statement does instantly and with certainty. The lesson is not "AI is bad" -- it is know what each component is good at, and do not route work to the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in one picture.
The right-hand box is the positive half and it is easy to skip past. Writing a clear sentence for a tired engineer at 2am is genuinely something code cannot do. That is not a consolation prize; it is a real capability and it is why the AI is in this application at all.
Make the bottom-left line explicit: severity is a fact, computed by your code, and it is always there. Everything the AI produces is an addition. If the AI is unavailable, the application still works and still gives a correct answer.
That principle matters far beyond today: know which parts of your system are essential and which are enhancements, and make sure the enhancements cannot take the essentials down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files, four lines each, and they carry a lot.
.env holds settings that differ between your laptop and the server, and secrets that must never be in your code. .gitignore is the list of things git must never upload, and .env is its first line for a reason.
The ordering is deliberate and worth naming. Most people create .gitignore after they already have a key sitting in the folder. Doing it first is the habit worth building.
Note that USE_MOCK is true by default, so everything works from the start with no account.
Windows warning: if they did not turn on file extensions in Part 0, Notepad saves this as .env.txt and nothing will work. Check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 do with the AI lives in its own file, including the key. That separation pays off later: if you change provider, only this file changes.
Walk the function: if USE_MOCK is on, return a canned answer and stop. Otherwise build a prompt and call the API.
Show them the prompt is just a sentence of plain English with numbers filled in. Students often expect prompts to be some special language. They are not.
And note we tell the model what the automatic check already decided. We are not asking it to classify. We are asking it to explain a decision that has already been made correctly.
The next slide covers the three lines that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line in the editor as you say it.
Number 2 is the one they will thank you for. Without structured output they would be writing code to find the useful part of a paragraph of prose, and that code breaks constantly. Naming the fields you require and getting a validated object back is the difference between a demo and something you can build on.
Number 3 is about the room, not the code. Nobody is blocked. Say it clearly so anyone without an account stops worrying.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load_dotenv() must run before anything reads the environment, which is why it sits above the other imports. That looks like a mistake -- imports are normally grouped -- so say why.
The two numbered comments are the design decision from five slides ago, written into the code. Read them aloud.
The yellow warning is the trap you flagged in Stage 4. Several people will forget. Have them delete readings.db now, before they restart, and they avoid a confusing error about a missing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key, switch USE_MOCK to false and show one real answer on screen. Thirty seconds, and seeing the model write a sensible sentence about their own numbers is memorable.
Then be honest about cost so nobody is frightened of it. A request like this is roughly 500 tokens in and 150 out. Normal use during a project costs a few cents.
Two pieces of advice: set a spending limit on the account before you start, and keep USE_MOCK=true while developing so you are not paying for every test run.
If nobody in the room has a key, that is fine. The application is finished either way, and that is the point of building it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expect this to be the hardest part of the day. It is the easiest. Say so before you start; it changes how they approach it.
Nothing about their application changes here. main.py, ai.py and index.html are finished. Everything in this part is around the code, not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deployment as three problems rather than a list of steps. Then GitHub, render.yaml and the health check each arrive as the answer to one of them, instead of as instructions to follow.
Number 2 catches people out. Their laptop has FastAPI because they installed it. The server starts completely empty. That is what requirements.txt is for, and it is why "it works on my machine" is not a joke.
Number 3 is why we wrote /health in Stage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is how the server knows what your project needs.
The warning is worth real time because the failure is genuinely baffling. Nothing in their code changed, they did not touch the server, and one day the build fails. The cause is a dependency that released a new version.
This happened to me while preparing this workshop: installing an unrelated package upgraded a library underneath FastAPI and broke the application. requirements.txt had pinned FastAPI, but not the library beneath it.
pip freeze prints the exact versions currently installed.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file describes the whole service. Read it top to bottom; it is close to plain English.
healthCheckPath is why we wrote /health in Stage 1. Render calls it to decide whether the application is running and whether to restart it. That endpoint has been waiting for this moment since minute fifteen.
The next slide covers the three details worth understanding properly, so do not explain them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 point is small but it prevents a confusing failure. The app appears to start fine, the logs look healthy, and yet the address shows nothing -- because the platform is sending traffic to a door the app is not standing behind.
The sync: false point is the more important one, and it catches people who have already learned the .env lesson. They protect .env carefully, feel safe, and then paste the key into a YAML file three days later. I made exactly this mistake while preparing this workshop.
The bottom line generalises: config files, CI workflow files, notebooks, Docker files. The habit is to ask "is this file uploaded?" before typing a secret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git to the minimum they need today. Do not teach branching, merging or pull requests.
The diagram is the useful part. Two separate actions: commit records locally, push copies to GitHub. Beginners assume they are one thing, and then cannot understand why their commit did not appear online.
Why we need it here: Render does not want a zip file. It connects to GitHub, reads your repository, and rebuilds your application from it. Every time you push, it can redeploy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create an empty repository on GitHub first -- and tell them NOT to tick "Add a README", ".gitignore" or "licence". Those create files on GitHub that conflict with what they already have locally, and produce a confusing error on the first push.
The git status check is the habit worth building. Three seconds, and it is the last moment before a mistake becomes permanent. Do it yourself on screen and read the list aloud.
The next slide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in a throwaway folder. It takes about ninety seconds and it is the most memorable moment of the session.
Sequence: make a folder, git init, save a file with a fake key, commit, delete the key, commit again, show the clean file -- then run git show against the earlier commit and watch the key reappear.
Use an obviously fake key so nobody panics.
The emotional beat is what makes it stick: they see the file is clean, they relax, and then the key comes back.
Then give the only correct response. If a key has been pushed, even for one minute, even to a private repository, treat it as stolen. Delete it at the provider and create a new one. Thirty seconds, and it is the only thing that works.
Add that providers scan public repositories automatically and disable keys they find, often within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narrating every click, ideally from a fresh account so they see exactly what they will see.
"Blueprint" is Render's word for "read the render.yaml file and set everything up from it". The alternative is filling in a form by hand; the file is better because it is version-controlled and repeatable.
Warn them before step 4 that a blank page or an error for two or three minutes is normal, not a failure. Beginners assume any error is their own fault and give up.
When your address appears, open it on your phone and hold the phone up to the camera. That image is worth more than any slide.
Then invite them to paste their own addresses in the chat. Some will succeed during the session; let the room react to it.
Check the three addresses afterwards: / for the page, /health, and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sync: false. The setting exists on the server, its value was typed into a private dashboard, and it was never in the repository.
The yellow warning is a genuine trap. I changed the value in the dashboard, watched for fifteen minutes, and nothing happened, because the file was the source of truth.
The general rule once you use a configuration file: the file is the control panel, not the dashboard. Knowing which of your settings live where saves a lot of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makes deployment worth doing properly rather than uploading files by hand.
They now have a real development cycle. Say it out loud and point at the bottom box: edit, test, commit, push, live.
Make a small visible change on screen -- the page heading is ideal -- push it, and let them watch the new version appear. It takes two minutes and it is what makes deployment feel like a tool rather than a chore.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footer line out loud. It tells them these are normal, not evidence of their own incompetence. Beginners assume every error is a personal failing.
Number 1 catches people at demonstrations and exhibitions. Free hosting sleeps, and the first visitor waits. If that visitor is an examiner, you have lost them before they see anything. Opening the link yourself ten minutes early costs nothing.
Number 3 is a skill, not a fact: read the log from the top. The first error is the cause; everything after it is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reference material rather than something to build together. Cover 4.1 and 4.2 properly, and point at the rest in the guide.
4.1 is the one most of this room needs -- connecting a real device -- and it deserves full attention because it requires no server changes at all.
4.2 is the positioning slide: every other workshop in this series produces something that lives on a laptop or a device. Yours is the only one that ends with a public address. Say that explicitly; it reframes what they have just built.
The remaining five items are pointers with code in the guide. Do not try to teach them all. If you have time for one, make it "make it feel fast" -- the pattern applies far beyond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most of this room needs, so give it proper time.
The important message is the first line: no server changes. They built an endpoint that accepts JSON, and JSON is JSON regardless of what sent it.
Three practical notes worth saying:
setInsecure() skips checking the HTTPS certificate. Fine for a prototype on your own service; not what you would ship.
Watch the free tier's sleep. A device posting once an hour hits a sleeping server every single time. Posting every few minutes keeps it awake.
For a real deployment you would store safe ranges per sensor in the database, so the device only sends a reading rather than the range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positions your session inside the series, and it is worth saying explicitly.
Look at the other nine: a trained model, code on a microcontroller, readings in a terminal, a PCB, a CAD file. All of them live on a laptop or a device. None of them can be opened by someone who is not in the room.
Yours ends with a public address. That makes this application the natural place for the others to become visible.
The first row is worth demonstrating if you have time: swapping classify() for a trained model is four lines, and everything else -- the endpoint, the database, the page, the deployment -- is unchanged. That is what a clean boundary buys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these rather than teaching them. They are reference material and the guide has code for each.
If you have time for one, make it the second: answer immediately and fill in the AI explanation afterwards. Measured on this application, the endpoint returned in about 30 milliseconds instead of waiting between 9 and 50 seconds. The pattern applies far beyond AI -- payments, email, image processing all belong behind it.
The third is worth a warning even if you skip the rest: localhost means "the computer running this code". On a laptop that is the laptop. On a server it is the server, and Ollama is not there. A small model needs about 4 GB; free hosting gives about 512 MB. Decide your target before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rather than on a summary of features.
Read the list slowly. It is longer than they realise, and seeing it written down is the point -- they learned seven transferable ideas, not one framework.
Then the last line, and mean it. The next application they build will have this same shape: a server, validated input, storage, an external service, a page, a deployment. They have now done each of those once, and that is what makes the second time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questions are slow to start, ask one yourself:
- "Who got a live address? Paste it in the chat."
- "Who is measuring something with a sensor? Tell me what, and I will show you where it fits."
- "Which stage was the least clear?"
Questions to expect, with short answers:
Can I use a different AI provider? Yes. Only ai.py changes -- that is exactly why it is a separate file.
How do I connect my ESP32? It posts JSON to /readings, the same as the browser does. No changes to your code.
Is free hosting enough for the exhibition? Yes, with the sleep warning from the troubleshooting slide.
How do I add a login? Out of scope today. FastAPI's security documentation is the place to start.
How do I keep the data permanently? Add a managed database. Render offers a free PostgreSQL instance.
Beginners often will not ask in front of a large group. Invite private questions through the moderator and offer to answer them in the event channel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1874520"/>
            <a:ext cx="10607040" cy="8686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Full-Stack App Deployment</a:t>
            </a:r>
            <a:endParaRPr lang="en-US" sz="4200" dirty="0"/>
          </a:p>
        </p:txBody>
      </p:sp>
      <p:sp>
        <p:nvSpPr>
          <p:cNvPr id="3" name="Text 1"/>
          <p:cNvSpPr/>
          <p:nvPr/>
        </p:nvSpPr>
        <p:spPr>
          <a:xfrm>
            <a:off x="777240" y="2697480"/>
            <a:ext cx="10607040" cy="868680"/>
          </a:xfrm>
          <a:prstGeom prst="rect">
            <a:avLst/>
          </a:prstGeom>
          <a:noFill/>
          <a:ln/>
        </p:spPr>
        <p:txBody>
          <a:bodyPr wrap="square" lIns="0" tIns="0" rIns="0" bIns="0" rtlCol="0" anchor="ctr"/>
          <a:lstStyle/>
          <a:p>
            <a:pPr indent="0" marL="0">
              <a:buNone/>
            </a:pPr>
            <a:r>
              <a:rPr lang="en-US" sz="4200" b="1" dirty="0">
                <a:solidFill>
                  <a:srgbClr val="3ACFB6"/>
                </a:solidFill>
                <a:latin typeface="Cambria" pitchFamily="34" charset="0"/>
                <a:ea typeface="Cambria" pitchFamily="34" charset="-122"/>
                <a:cs typeface="Cambria" pitchFamily="34" charset="-120"/>
              </a:rPr>
              <a:t>with AI APIs &amp; Cloud</a:t>
            </a:r>
            <a:endParaRPr lang="en-US" sz="4200" dirty="0"/>
          </a:p>
        </p:txBody>
      </p:sp>
      <p:sp>
        <p:nvSpPr>
          <p:cNvPr id="4" name="Text 2"/>
          <p:cNvSpPr/>
          <p:nvPr/>
        </p:nvSpPr>
        <p:spPr>
          <a:xfrm>
            <a:off x="777240" y="3794760"/>
            <a:ext cx="10058400" cy="45720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Build a web application from an empty folder, connect an AI API, and put it on the internet.</a:t>
            </a:r>
            <a:endParaRPr lang="en-US" sz="1600" dirty="0"/>
          </a:p>
        </p:txBody>
      </p:sp>
      <p:sp>
        <p:nvSpPr>
          <p:cNvPr id="5" name="Text 3"/>
          <p:cNvSpPr/>
          <p:nvPr/>
        </p:nvSpPr>
        <p:spPr>
          <a:xfrm>
            <a:off x="777240" y="5989320"/>
            <a:ext cx="10058400" cy="320040"/>
          </a:xfrm>
          <a:prstGeom prst="rect">
            <a:avLst/>
          </a:prstGeom>
          <a:noFill/>
          <a:ln/>
        </p:spPr>
        <p:txBody>
          <a:bodyPr wrap="square" lIns="0" tIns="0" rIns="0" bIns="0" rtlCol="0" anchor="ctr"/>
          <a:lstStyle/>
          <a:p>
            <a:pPr indent="0" marL="0">
              <a:buNone/>
            </a:pPr>
            <a:r>
              <a:rPr lang="en-US" sz="1200" dirty="0">
                <a:solidFill>
                  <a:srgbClr val="5C6470"/>
                </a:solidFill>
                <a:latin typeface="Calibri" pitchFamily="34" charset="0"/>
                <a:ea typeface="Calibri" pitchFamily="34" charset="-122"/>
                <a:cs typeface="Calibri" pitchFamily="34" charset="-120"/>
              </a:rPr>
              <a:t>Project Nexus 2026  |  IEEE MMU Student Branch  |  31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WHY THIS WORKSHOP EXISTS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2500" b="1" dirty="0">
                <a:solidFill>
                  <a:srgbClr val="15181F"/>
                </a:solidFill>
                <a:latin typeface="Cambria" pitchFamily="34" charset="0"/>
                <a:ea typeface="Cambria" pitchFamily="34" charset="-122"/>
                <a:cs typeface="Cambria" pitchFamily="34" charset="-120"/>
              </a:rPr>
              <a:t>Nine workshops build something. This is the one where somebody else sees it.</a:t>
            </a:r>
            <a:endParaRPr lang="en-US" sz="2500" dirty="0"/>
          </a:p>
        </p:txBody>
      </p:sp>
      <p:sp>
        <p:nvSpPr>
          <p:cNvPr id="4" name="Shape 2"/>
          <p:cNvSpPr/>
          <p:nvPr/>
        </p:nvSpPr>
        <p:spPr>
          <a:xfrm>
            <a:off x="777240" y="1600200"/>
            <a:ext cx="4846320" cy="914400"/>
          </a:xfrm>
          <a:prstGeom prst="roundRect">
            <a:avLst>
              <a:gd name="adj" fmla="val 9000"/>
            </a:avLst>
          </a:prstGeom>
          <a:solidFill>
            <a:srgbClr val="F5F6F8"/>
          </a:solidFill>
          <a:ln w="12700">
            <a:solidFill>
              <a:srgbClr val="E1E4E9"/>
            </a:solidFill>
            <a:prstDash val="solid"/>
          </a:ln>
        </p:spPr>
      </p:sp>
      <p:sp>
        <p:nvSpPr>
          <p:cNvPr id="5" name="Text 3"/>
          <p:cNvSpPr/>
          <p:nvPr/>
        </p:nvSpPr>
        <p:spPr>
          <a:xfrm>
            <a:off x="960120" y="1737360"/>
            <a:ext cx="4480560" cy="320040"/>
          </a:xfrm>
          <a:prstGeom prst="rect">
            <a:avLst/>
          </a:prstGeom>
          <a:noFill/>
          <a:ln/>
        </p:spPr>
        <p:txBody>
          <a:bodyPr wrap="square" lIns="0" tIns="0" rIns="0" bIns="0" rtlCol="0" anchor="ctr"/>
          <a:lstStyle/>
          <a:p>
            <a:pPr algn="ctr" indent="0" marL="0">
              <a:buNone/>
            </a:pPr>
            <a:r>
              <a:rPr lang="en-US" sz="1400" b="1" dirty="0">
                <a:solidFill>
                  <a:srgbClr val="15181F"/>
                </a:solidFill>
                <a:latin typeface="Cambria" pitchFamily="34" charset="0"/>
                <a:ea typeface="Cambria" pitchFamily="34" charset="-122"/>
                <a:cs typeface="Cambria" pitchFamily="34" charset="-120"/>
              </a:rPr>
              <a:t>Your engineering idea</a:t>
            </a:r>
            <a:endParaRPr lang="en-US" sz="1400" dirty="0"/>
          </a:p>
        </p:txBody>
      </p:sp>
      <p:sp>
        <p:nvSpPr>
          <p:cNvPr id="6" name="Text 4"/>
          <p:cNvSpPr/>
          <p:nvPr/>
        </p:nvSpPr>
        <p:spPr>
          <a:xfrm>
            <a:off x="960120" y="2057400"/>
            <a:ext cx="4480560" cy="320040"/>
          </a:xfrm>
          <a:prstGeom prst="rect">
            <a:avLst/>
          </a:prstGeom>
          <a:noFill/>
          <a:ln/>
        </p:spPr>
        <p:txBody>
          <a:bodyPr wrap="square" lIns="0" tIns="0" rIns="0" bIns="0" rtlCol="0" anchor="ctr"/>
          <a:lstStyle/>
          <a:p>
            <a:pPr algn="ctr" indent="0" marL="0">
              <a:buNone/>
            </a:pPr>
            <a:r>
              <a:rPr lang="en-US" sz="1150" dirty="0">
                <a:solidFill>
                  <a:srgbClr val="5C6470"/>
                </a:solidFill>
                <a:latin typeface="Calibri" pitchFamily="34" charset="0"/>
                <a:ea typeface="Calibri" pitchFamily="34" charset="-122"/>
                <a:cs typeface="Calibri" pitchFamily="34" charset="-120"/>
              </a:rPr>
              <a:t>the thing you want to make exist</a:t>
            </a:r>
            <a:endParaRPr lang="en-US" sz="1150" dirty="0"/>
          </a:p>
        </p:txBody>
      </p:sp>
      <p:sp>
        <p:nvSpPr>
          <p:cNvPr id="7" name="Shape 5"/>
          <p:cNvSpPr/>
          <p:nvPr/>
        </p:nvSpPr>
        <p:spPr>
          <a:xfrm>
            <a:off x="6629400" y="1600200"/>
            <a:ext cx="4846320" cy="914400"/>
          </a:xfrm>
          <a:prstGeom prst="roundRect">
            <a:avLst>
              <a:gd name="adj" fmla="val 9000"/>
            </a:avLst>
          </a:prstGeom>
          <a:solidFill>
            <a:srgbClr val="F5F6F8"/>
          </a:solidFill>
          <a:ln w="12700">
            <a:solidFill>
              <a:srgbClr val="E1E4E9"/>
            </a:solidFill>
            <a:prstDash val="solid"/>
          </a:ln>
        </p:spPr>
      </p:sp>
      <p:sp>
        <p:nvSpPr>
          <p:cNvPr id="8" name="Text 6"/>
          <p:cNvSpPr/>
          <p:nvPr/>
        </p:nvSpPr>
        <p:spPr>
          <a:xfrm>
            <a:off x="6812280" y="1737360"/>
            <a:ext cx="4480560" cy="320040"/>
          </a:xfrm>
          <a:prstGeom prst="rect">
            <a:avLst/>
          </a:prstGeom>
          <a:noFill/>
          <a:ln/>
        </p:spPr>
        <p:txBody>
          <a:bodyPr wrap="square" lIns="0" tIns="0" rIns="0" bIns="0" rtlCol="0" anchor="ctr"/>
          <a:lstStyle/>
          <a:p>
            <a:pPr algn="ctr" indent="0" marL="0">
              <a:buNone/>
            </a:pPr>
            <a:r>
              <a:rPr lang="en-US" sz="1400" b="1" dirty="0">
                <a:solidFill>
                  <a:srgbClr val="15181F"/>
                </a:solidFill>
                <a:latin typeface="Cambria" pitchFamily="34" charset="0"/>
                <a:ea typeface="Cambria" pitchFamily="34" charset="-122"/>
                <a:cs typeface="Cambria" pitchFamily="34" charset="-120"/>
              </a:rPr>
              <a:t>The other nine workshops</a:t>
            </a:r>
            <a:endParaRPr lang="en-US" sz="1400" dirty="0"/>
          </a:p>
        </p:txBody>
      </p:sp>
      <p:sp>
        <p:nvSpPr>
          <p:cNvPr id="9" name="Text 7"/>
          <p:cNvSpPr/>
          <p:nvPr/>
        </p:nvSpPr>
        <p:spPr>
          <a:xfrm>
            <a:off x="6812280" y="2057400"/>
            <a:ext cx="4480560" cy="320040"/>
          </a:xfrm>
          <a:prstGeom prst="rect">
            <a:avLst/>
          </a:prstGeom>
          <a:noFill/>
          <a:ln/>
        </p:spPr>
        <p:txBody>
          <a:bodyPr wrap="square" lIns="0" tIns="0" rIns="0" bIns="0" rtlCol="0" anchor="ctr"/>
          <a:lstStyle/>
          <a:p>
            <a:pPr algn="ctr" indent="0" marL="0">
              <a:buNone/>
            </a:pPr>
            <a:r>
              <a:rPr lang="en-US" sz="1150" dirty="0">
                <a:solidFill>
                  <a:srgbClr val="5C6470"/>
                </a:solidFill>
                <a:latin typeface="Calibri" pitchFamily="34" charset="0"/>
                <a:ea typeface="Calibri" pitchFamily="34" charset="-122"/>
                <a:cs typeface="Calibri" pitchFamily="34" charset="-120"/>
              </a:rPr>
              <a:t>a model  ·  a sensor rig  ·  an algorithm  ·  a PCB</a:t>
            </a:r>
            <a:endParaRPr lang="en-US" sz="1150" dirty="0"/>
          </a:p>
        </p:txBody>
      </p:sp>
      <p:sp>
        <p:nvSpPr>
          <p:cNvPr id="10" name="Shape 8"/>
          <p:cNvSpPr/>
          <p:nvPr/>
        </p:nvSpPr>
        <p:spPr>
          <a:xfrm>
            <a:off x="5897880" y="2606040"/>
            <a:ext cx="411480" cy="292608"/>
          </a:xfrm>
          <a:prstGeom prst="downArrow">
            <a:avLst/>
          </a:prstGeom>
          <a:solidFill>
            <a:srgbClr val="A9B0BB"/>
          </a:solidFill>
          <a:ln/>
        </p:spPr>
      </p:sp>
      <p:sp>
        <p:nvSpPr>
          <p:cNvPr id="11" name="Shape 9"/>
          <p:cNvSpPr/>
          <p:nvPr/>
        </p:nvSpPr>
        <p:spPr>
          <a:xfrm>
            <a:off x="3355848" y="2999232"/>
            <a:ext cx="5486400" cy="658368"/>
          </a:xfrm>
          <a:prstGeom prst="roundRect">
            <a:avLst>
              <a:gd name="adj" fmla="val 11111"/>
            </a:avLst>
          </a:prstGeom>
          <a:solidFill>
            <a:srgbClr val="FBF0EE"/>
          </a:solidFill>
          <a:ln w="12700">
            <a:solidFill>
              <a:srgbClr val="BE3A2B"/>
            </a:solidFill>
            <a:prstDash val="solid"/>
          </a:ln>
        </p:spPr>
      </p:sp>
      <p:sp>
        <p:nvSpPr>
          <p:cNvPr id="12" name="Text 10"/>
          <p:cNvSpPr/>
          <p:nvPr/>
        </p:nvSpPr>
        <p:spPr>
          <a:xfrm>
            <a:off x="3355848" y="2999232"/>
            <a:ext cx="5486400" cy="658368"/>
          </a:xfrm>
          <a:prstGeom prst="rect">
            <a:avLst/>
          </a:prstGeom>
          <a:noFill/>
          <a:ln/>
        </p:spPr>
        <p:txBody>
          <a:bodyPr wrap="square" lIns="0" tIns="0" rIns="0" bIns="0" rtlCol="0" anchor="ctr"/>
          <a:lstStyle/>
          <a:p>
            <a:pPr algn="ctr" indent="0" marL="0">
              <a:buNone/>
            </a:pPr>
            <a:r>
              <a:rPr lang="en-US" sz="1600" b="1" dirty="0">
                <a:solidFill>
                  <a:srgbClr val="BE3A2B"/>
                </a:solidFill>
                <a:latin typeface="Cambria" pitchFamily="34" charset="0"/>
                <a:ea typeface="Cambria" pitchFamily="34" charset="-122"/>
                <a:cs typeface="Cambria" pitchFamily="34" charset="-120"/>
              </a:rPr>
              <a:t>IT ALL LIVES ON ONE LAPTOP</a:t>
            </a:r>
            <a:endParaRPr lang="en-US" sz="1600" dirty="0"/>
          </a:p>
        </p:txBody>
      </p:sp>
      <p:sp>
        <p:nvSpPr>
          <p:cNvPr id="13" name="Shape 11"/>
          <p:cNvSpPr/>
          <p:nvPr/>
        </p:nvSpPr>
        <p:spPr>
          <a:xfrm>
            <a:off x="5897880" y="3730752"/>
            <a:ext cx="411480" cy="292608"/>
          </a:xfrm>
          <a:prstGeom prst="downArrow">
            <a:avLst/>
          </a:prstGeom>
          <a:solidFill>
            <a:srgbClr val="A9B0BB"/>
          </a:solidFill>
          <a:ln/>
        </p:spPr>
      </p:sp>
      <p:sp>
        <p:nvSpPr>
          <p:cNvPr id="14" name="Shape 12"/>
          <p:cNvSpPr/>
          <p:nvPr/>
        </p:nvSpPr>
        <p:spPr>
          <a:xfrm>
            <a:off x="3355848" y="4114800"/>
            <a:ext cx="5486400" cy="1325880"/>
          </a:xfrm>
          <a:prstGeom prst="roundRect">
            <a:avLst>
              <a:gd name="adj" fmla="val 5517"/>
            </a:avLst>
          </a:prstGeom>
          <a:solidFill>
            <a:srgbClr val="00776A"/>
          </a:solidFill>
          <a:ln w="12700">
            <a:solidFill>
              <a:srgbClr val="00776A"/>
            </a:solidFill>
            <a:prstDash val="solid"/>
          </a:ln>
        </p:spPr>
      </p:sp>
      <p:sp>
        <p:nvSpPr>
          <p:cNvPr id="15" name="Text 13"/>
          <p:cNvSpPr/>
          <p:nvPr/>
        </p:nvSpPr>
        <p:spPr>
          <a:xfrm>
            <a:off x="3355848" y="4224528"/>
            <a:ext cx="5486400" cy="365760"/>
          </a:xfrm>
          <a:prstGeom prst="rect">
            <a:avLst/>
          </a:prstGeom>
          <a:noFill/>
          <a:ln/>
        </p:spPr>
        <p:txBody>
          <a:bodyPr wrap="square" lIns="0" tIns="0" rIns="0" bIns="0" rtlCol="0" anchor="ctr"/>
          <a:lstStyle/>
          <a:p>
            <a:pPr algn="ctr" indent="0" marL="0">
              <a:buNone/>
            </a:pPr>
            <a:r>
              <a:rPr lang="en-US" sz="1600" b="1" spc="150" kern="0" dirty="0">
                <a:solidFill>
                  <a:srgbClr val="FFFFFF"/>
                </a:solidFill>
                <a:latin typeface="Cambria" pitchFamily="34" charset="0"/>
                <a:ea typeface="Cambria" pitchFamily="34" charset="-122"/>
                <a:cs typeface="Cambria" pitchFamily="34" charset="-120"/>
              </a:rPr>
              <a:t>THIS WORKSHOP</a:t>
            </a:r>
            <a:endParaRPr lang="en-US" sz="1600" dirty="0"/>
          </a:p>
        </p:txBody>
      </p:sp>
      <p:sp>
        <p:nvSpPr>
          <p:cNvPr id="16" name="Text 14"/>
          <p:cNvSpPr/>
          <p:nvPr/>
        </p:nvSpPr>
        <p:spPr>
          <a:xfrm>
            <a:off x="3401568" y="4645152"/>
            <a:ext cx="5394960" cy="685800"/>
          </a:xfrm>
          <a:prstGeom prst="rect">
            <a:avLst/>
          </a:prstGeom>
          <a:noFill/>
          <a:ln/>
        </p:spPr>
        <p:txBody>
          <a:bodyPr wrap="square" lIns="0" tIns="0" rIns="0" bIns="0" rtlCol="0" anchor="ctr"/>
          <a:lstStyle/>
          <a:p>
            <a:pPr algn="ctr" indent="0" marL="0">
              <a:buNone/>
            </a:pPr>
            <a:r>
              <a:rPr lang="en-US" sz="1300" dirty="0">
                <a:solidFill>
                  <a:srgbClr val="C9F0E9"/>
                </a:solidFill>
                <a:latin typeface="Calibri" pitchFamily="34" charset="0"/>
                <a:ea typeface="Calibri" pitchFamily="34" charset="-122"/>
                <a:cs typeface="Calibri" pitchFamily="34" charset="-120"/>
              </a:rPr>
              <a:t>full-stack app   ·   AI integration   ·   cloud deployment</a:t>
            </a:r>
            <a:endParaRPr lang="en-US" sz="1300" dirty="0"/>
          </a:p>
        </p:txBody>
      </p:sp>
      <p:sp>
        <p:nvSpPr>
          <p:cNvPr id="17" name="Shape 15"/>
          <p:cNvSpPr/>
          <p:nvPr/>
        </p:nvSpPr>
        <p:spPr>
          <a:xfrm>
            <a:off x="5897880" y="5513832"/>
            <a:ext cx="411480" cy="292608"/>
          </a:xfrm>
          <a:prstGeom prst="downArrow">
            <a:avLst/>
          </a:prstGeom>
          <a:solidFill>
            <a:srgbClr val="A9B0BB"/>
          </a:solidFill>
          <a:ln/>
        </p:spPr>
      </p:sp>
      <p:sp>
        <p:nvSpPr>
          <p:cNvPr id="18" name="Text 16"/>
          <p:cNvSpPr/>
          <p:nvPr/>
        </p:nvSpPr>
        <p:spPr>
          <a:xfrm>
            <a:off x="3355848" y="5897880"/>
            <a:ext cx="5486400" cy="411480"/>
          </a:xfrm>
          <a:prstGeom prst="rect">
            <a:avLst/>
          </a:prstGeom>
          <a:noFill/>
          <a:ln/>
        </p:spPr>
        <p:txBody>
          <a:bodyPr wrap="square" lIns="0" tIns="0" rIns="0" bIns="0" rtlCol="0" anchor="ctr"/>
          <a:lstStyle/>
          <a:p>
            <a:pPr algn="ctr" indent="0" marL="0">
              <a:buNone/>
            </a:pPr>
            <a:r>
              <a:rPr lang="en-US" sz="2000" b="1" dirty="0">
                <a:solidFill>
                  <a:srgbClr val="00776A"/>
                </a:solidFill>
                <a:latin typeface="Cambria" pitchFamily="34" charset="0"/>
                <a:ea typeface="Cambria" pitchFamily="34" charset="-122"/>
                <a:cs typeface="Cambria" pitchFamily="34" charset="-120"/>
              </a:rPr>
              <a:t>a link you can send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BY THE END OF THIS SESSION</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Three things you will have built</a:t>
            </a:r>
            <a:endParaRPr lang="en-US" sz="3100" dirty="0"/>
          </a:p>
        </p:txBody>
      </p:sp>
      <p:sp>
        <p:nvSpPr>
          <p:cNvPr id="4" name="Shape 2"/>
          <p:cNvSpPr/>
          <p:nvPr/>
        </p:nvSpPr>
        <p:spPr>
          <a:xfrm>
            <a:off x="777240" y="1783080"/>
            <a:ext cx="10634472" cy="1188720"/>
          </a:xfrm>
          <a:prstGeom prst="roundRect">
            <a:avLst>
              <a:gd name="adj" fmla="val 6923"/>
            </a:avLst>
          </a:prstGeom>
          <a:solidFill>
            <a:srgbClr val="F5F6F8"/>
          </a:solidFill>
          <a:ln w="12700">
            <a:solidFill>
              <a:srgbClr val="E1E4E9"/>
            </a:solidFill>
            <a:prstDash val="solid"/>
          </a:ln>
        </p:spPr>
      </p:sp>
      <p:sp>
        <p:nvSpPr>
          <p:cNvPr id="5" name="Shape 3"/>
          <p:cNvSpPr/>
          <p:nvPr/>
        </p:nvSpPr>
        <p:spPr>
          <a:xfrm>
            <a:off x="1124712" y="2148840"/>
            <a:ext cx="457200" cy="457200"/>
          </a:xfrm>
          <a:prstGeom prst="ellipse">
            <a:avLst/>
          </a:prstGeom>
          <a:solidFill>
            <a:srgbClr val="00776A"/>
          </a:solidFill>
          <a:ln/>
        </p:spPr>
      </p:sp>
      <p:sp>
        <p:nvSpPr>
          <p:cNvPr id="6" name="Text 4"/>
          <p:cNvSpPr/>
          <p:nvPr/>
        </p:nvSpPr>
        <p:spPr>
          <a:xfrm>
            <a:off x="1124712" y="2148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828800" y="20116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A working web application</a:t>
            </a:r>
            <a:endParaRPr lang="en-US" sz="2000" dirty="0"/>
          </a:p>
        </p:txBody>
      </p:sp>
      <p:sp>
        <p:nvSpPr>
          <p:cNvPr id="8" name="Text 6"/>
          <p:cNvSpPr/>
          <p:nvPr/>
        </p:nvSpPr>
        <p:spPr>
          <a:xfrm>
            <a:off x="1828800" y="24414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running on your own machine, in a browser</a:t>
            </a:r>
            <a:endParaRPr lang="en-US" sz="1450" dirty="0"/>
          </a:p>
        </p:txBody>
      </p:sp>
      <p:sp>
        <p:nvSpPr>
          <p:cNvPr id="9" name="Shape 7"/>
          <p:cNvSpPr/>
          <p:nvPr/>
        </p:nvSpPr>
        <p:spPr>
          <a:xfrm>
            <a:off x="777240" y="3154680"/>
            <a:ext cx="10634472" cy="1188720"/>
          </a:xfrm>
          <a:prstGeom prst="roundRect">
            <a:avLst>
              <a:gd name="adj" fmla="val 6923"/>
            </a:avLst>
          </a:prstGeom>
          <a:solidFill>
            <a:srgbClr val="F5F6F8"/>
          </a:solidFill>
          <a:ln w="12700">
            <a:solidFill>
              <a:srgbClr val="E1E4E9"/>
            </a:solidFill>
            <a:prstDash val="solid"/>
          </a:ln>
        </p:spPr>
      </p:sp>
      <p:sp>
        <p:nvSpPr>
          <p:cNvPr id="10" name="Shape 8"/>
          <p:cNvSpPr/>
          <p:nvPr/>
        </p:nvSpPr>
        <p:spPr>
          <a:xfrm>
            <a:off x="1124712" y="3520440"/>
            <a:ext cx="457200" cy="457200"/>
          </a:xfrm>
          <a:prstGeom prst="ellipse">
            <a:avLst/>
          </a:prstGeom>
          <a:solidFill>
            <a:srgbClr val="5158BE"/>
          </a:solidFill>
          <a:ln/>
        </p:spPr>
      </p:sp>
      <p:sp>
        <p:nvSpPr>
          <p:cNvPr id="11" name="Text 9"/>
          <p:cNvSpPr/>
          <p:nvPr/>
        </p:nvSpPr>
        <p:spPr>
          <a:xfrm>
            <a:off x="1124712" y="3520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828800" y="33832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A live public address</a:t>
            </a:r>
            <a:endParaRPr lang="en-US" sz="2000" dirty="0"/>
          </a:p>
        </p:txBody>
      </p:sp>
      <p:sp>
        <p:nvSpPr>
          <p:cNvPr id="13" name="Text 11"/>
          <p:cNvSpPr/>
          <p:nvPr/>
        </p:nvSpPr>
        <p:spPr>
          <a:xfrm>
            <a:off x="1828800" y="38130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anyone can open it, from anywhere, on any device</a:t>
            </a:r>
            <a:endParaRPr lang="en-US" sz="1450" dirty="0"/>
          </a:p>
        </p:txBody>
      </p:sp>
      <p:sp>
        <p:nvSpPr>
          <p:cNvPr id="14" name="Shape 12"/>
          <p:cNvSpPr/>
          <p:nvPr/>
        </p:nvSpPr>
        <p:spPr>
          <a:xfrm>
            <a:off x="777240" y="4526280"/>
            <a:ext cx="10634472" cy="1188720"/>
          </a:xfrm>
          <a:prstGeom prst="roundRect">
            <a:avLst>
              <a:gd name="adj" fmla="val 6923"/>
            </a:avLst>
          </a:prstGeom>
          <a:solidFill>
            <a:srgbClr val="F5F6F8"/>
          </a:solidFill>
          <a:ln w="12700">
            <a:solidFill>
              <a:srgbClr val="E1E4E9"/>
            </a:solidFill>
            <a:prstDash val="solid"/>
          </a:ln>
        </p:spPr>
      </p:sp>
      <p:sp>
        <p:nvSpPr>
          <p:cNvPr id="15" name="Shape 13"/>
          <p:cNvSpPr/>
          <p:nvPr/>
        </p:nvSpPr>
        <p:spPr>
          <a:xfrm>
            <a:off x="1124712" y="4892040"/>
            <a:ext cx="457200" cy="457200"/>
          </a:xfrm>
          <a:prstGeom prst="ellipse">
            <a:avLst/>
          </a:prstGeom>
          <a:solidFill>
            <a:srgbClr val="0A7D28"/>
          </a:solidFill>
          <a:ln/>
        </p:spPr>
      </p:sp>
      <p:sp>
        <p:nvSpPr>
          <p:cNvPr id="16" name="Text 14"/>
          <p:cNvSpPr/>
          <p:nvPr/>
        </p:nvSpPr>
        <p:spPr>
          <a:xfrm>
            <a:off x="1124712" y="4892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828800" y="47548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Code you understand</a:t>
            </a:r>
            <a:endParaRPr lang="en-US" sz="2000" dirty="0"/>
          </a:p>
        </p:txBody>
      </p:sp>
      <p:sp>
        <p:nvSpPr>
          <p:cNvPr id="18" name="Text 16"/>
          <p:cNvSpPr/>
          <p:nvPr/>
        </p:nvSpPr>
        <p:spPr>
          <a:xfrm>
            <a:off x="1828800" y="51846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you wrote every line, so you can change any of it</a:t>
            </a:r>
            <a:endParaRPr lang="en-US" sz="1450" dirty="0"/>
          </a:p>
        </p:txBody>
      </p:sp>
      <p:sp>
        <p:nvSpPr>
          <p:cNvPr id="19" name="Text 17"/>
          <p:cNvSpPr/>
          <p:nvPr/>
        </p:nvSpPr>
        <p:spPr>
          <a:xfrm>
            <a:off x="777240" y="5943600"/>
            <a:ext cx="10634472"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No API key needed. No credit card. No paid account.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73152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parts</a:t>
            </a:r>
            <a:endParaRPr lang="en-US" sz="3400" dirty="0"/>
          </a:p>
        </p:txBody>
      </p:sp>
      <p:sp>
        <p:nvSpPr>
          <p:cNvPr id="3" name="Text 1"/>
          <p:cNvSpPr/>
          <p:nvPr/>
        </p:nvSpPr>
        <p:spPr>
          <a:xfrm>
            <a:off x="777240" y="1417320"/>
            <a:ext cx="10058400" cy="365760"/>
          </a:xfrm>
          <a:prstGeom prst="rect">
            <a:avLst/>
          </a:prstGeom>
          <a:noFill/>
          <a:ln/>
        </p:spPr>
        <p:txBody>
          <a:bodyPr wrap="square" lIns="0" tIns="0" rIns="0" bIns="0" rtlCol="0" anchor="ctr"/>
          <a:lstStyle/>
          <a:p>
            <a:pPr indent="0" marL="0">
              <a:buNone/>
            </a:pPr>
            <a:r>
              <a:rPr lang="en-US" sz="1500" dirty="0">
                <a:solidFill>
                  <a:srgbClr val="98A0AC"/>
                </a:solidFill>
                <a:latin typeface="Calibri" pitchFamily="34" charset="0"/>
                <a:ea typeface="Calibri" pitchFamily="34" charset="-122"/>
                <a:cs typeface="Calibri" pitchFamily="34" charset="-120"/>
              </a:rPr>
              <a:t>Parts 0 and 1 have no code at all.</a:t>
            </a:r>
            <a:endParaRPr lang="en-US" sz="1500" dirty="0"/>
          </a:p>
        </p:txBody>
      </p:sp>
      <p:sp>
        <p:nvSpPr>
          <p:cNvPr id="4" name="Shape 2"/>
          <p:cNvSpPr/>
          <p:nvPr/>
        </p:nvSpPr>
        <p:spPr>
          <a:xfrm>
            <a:off x="777240" y="2057400"/>
            <a:ext cx="10634472" cy="713232"/>
          </a:xfrm>
          <a:prstGeom prst="roundRect">
            <a:avLst>
              <a:gd name="adj" fmla="val 8974"/>
            </a:avLst>
          </a:prstGeom>
          <a:solidFill>
            <a:srgbClr val="222732"/>
          </a:solidFill>
          <a:ln w="12700">
            <a:solidFill>
              <a:srgbClr val="222732"/>
            </a:solidFill>
            <a:prstDash val="solid"/>
          </a:ln>
        </p:spPr>
      </p:sp>
      <p:sp>
        <p:nvSpPr>
          <p:cNvPr id="5" name="Shape 3"/>
          <p:cNvSpPr/>
          <p:nvPr/>
        </p:nvSpPr>
        <p:spPr>
          <a:xfrm>
            <a:off x="1051560" y="2258568"/>
            <a:ext cx="329184" cy="329184"/>
          </a:xfrm>
          <a:prstGeom prst="ellipse">
            <a:avLst/>
          </a:prstGeom>
          <a:solidFill>
            <a:srgbClr val="3ACFB6"/>
          </a:solidFill>
          <a:ln/>
        </p:spPr>
      </p:sp>
      <p:sp>
        <p:nvSpPr>
          <p:cNvPr id="6" name="Text 4"/>
          <p:cNvSpPr/>
          <p:nvPr/>
        </p:nvSpPr>
        <p:spPr>
          <a:xfrm>
            <a:off x="1051560" y="2258568"/>
            <a:ext cx="329184" cy="329184"/>
          </a:xfrm>
          <a:prstGeom prst="rect">
            <a:avLst/>
          </a:prstGeom>
          <a:noFill/>
          <a:ln/>
        </p:spPr>
        <p:txBody>
          <a:bodyPr wrap="square" lIns="0" tIns="0" rIns="0" bIns="0" rtlCol="0" anchor="ctr"/>
          <a:lstStyle/>
          <a:p>
            <a:pPr algn="ctr" indent="0" marL="0">
              <a:buNone/>
            </a:pPr>
            <a:r>
              <a:rPr lang="en-US" sz="1400" b="1" dirty="0">
                <a:solidFill>
                  <a:srgbClr val="15181F"/>
                </a:solidFill>
                <a:latin typeface="Calibri" pitchFamily="34" charset="0"/>
                <a:ea typeface="Calibri" pitchFamily="34" charset="-122"/>
                <a:cs typeface="Calibri" pitchFamily="34" charset="-120"/>
              </a:rPr>
              <a:t>0</a:t>
            </a:r>
            <a:endParaRPr lang="en-US" sz="1400" dirty="0"/>
          </a:p>
        </p:txBody>
      </p:sp>
      <p:sp>
        <p:nvSpPr>
          <p:cNvPr id="7" name="Text 5"/>
          <p:cNvSpPr/>
          <p:nvPr/>
        </p:nvSpPr>
        <p:spPr>
          <a:xfrm>
            <a:off x="1691640" y="2075688"/>
            <a:ext cx="7680960" cy="67665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Setting up your computer, from nothing</a:t>
            </a:r>
            <a:endParaRPr lang="en-US" sz="1600" dirty="0"/>
          </a:p>
        </p:txBody>
      </p:sp>
      <p:sp>
        <p:nvSpPr>
          <p:cNvPr id="8" name="Text 6"/>
          <p:cNvSpPr/>
          <p:nvPr/>
        </p:nvSpPr>
        <p:spPr>
          <a:xfrm>
            <a:off x="9555480" y="2075688"/>
            <a:ext cx="1737360" cy="676656"/>
          </a:xfrm>
          <a:prstGeom prst="rect">
            <a:avLst/>
          </a:prstGeom>
          <a:noFill/>
          <a:ln/>
        </p:spPr>
        <p:txBody>
          <a:bodyPr wrap="square" lIns="0" tIns="0" rIns="0" bIns="0" rtlCol="0" anchor="ctr"/>
          <a:lstStyle/>
          <a:p>
            <a:pPr algn="r" indent="0" marL="0">
              <a:buNone/>
            </a:pPr>
            <a:r>
              <a:rPr lang="en-US" sz="1250" dirty="0">
                <a:solidFill>
                  <a:srgbClr val="98A0AC"/>
                </a:solidFill>
                <a:latin typeface="Calibri" pitchFamily="34" charset="0"/>
                <a:ea typeface="Calibri" pitchFamily="34" charset="-122"/>
                <a:cs typeface="Calibri" pitchFamily="34" charset="-120"/>
              </a:rPr>
              <a:t>no code</a:t>
            </a:r>
            <a:endParaRPr lang="en-US" sz="1250" dirty="0"/>
          </a:p>
        </p:txBody>
      </p:sp>
      <p:sp>
        <p:nvSpPr>
          <p:cNvPr id="9" name="Shape 7"/>
          <p:cNvSpPr/>
          <p:nvPr/>
        </p:nvSpPr>
        <p:spPr>
          <a:xfrm>
            <a:off x="777240" y="2898648"/>
            <a:ext cx="10634472" cy="713232"/>
          </a:xfrm>
          <a:prstGeom prst="roundRect">
            <a:avLst>
              <a:gd name="adj" fmla="val 8974"/>
            </a:avLst>
          </a:prstGeom>
          <a:solidFill>
            <a:srgbClr val="222732"/>
          </a:solidFill>
          <a:ln w="12700">
            <a:solidFill>
              <a:srgbClr val="222732"/>
            </a:solidFill>
            <a:prstDash val="solid"/>
          </a:ln>
        </p:spPr>
      </p:sp>
      <p:sp>
        <p:nvSpPr>
          <p:cNvPr id="10" name="Shape 8"/>
          <p:cNvSpPr/>
          <p:nvPr/>
        </p:nvSpPr>
        <p:spPr>
          <a:xfrm>
            <a:off x="1051560" y="3099816"/>
            <a:ext cx="329184" cy="329184"/>
          </a:xfrm>
          <a:prstGeom prst="ellipse">
            <a:avLst/>
          </a:prstGeom>
          <a:solidFill>
            <a:srgbClr val="3ACFB6"/>
          </a:solidFill>
          <a:ln/>
        </p:spPr>
      </p:sp>
      <p:sp>
        <p:nvSpPr>
          <p:cNvPr id="11" name="Text 9"/>
          <p:cNvSpPr/>
          <p:nvPr/>
        </p:nvSpPr>
        <p:spPr>
          <a:xfrm>
            <a:off x="1051560" y="3099816"/>
            <a:ext cx="329184" cy="329184"/>
          </a:xfrm>
          <a:prstGeom prst="rect">
            <a:avLst/>
          </a:prstGeom>
          <a:noFill/>
          <a:ln/>
        </p:spPr>
        <p:txBody>
          <a:bodyPr wrap="square" lIns="0" tIns="0" rIns="0" bIns="0" rtlCol="0" anchor="ctr"/>
          <a:lstStyle/>
          <a:p>
            <a:pPr algn="ctr" indent="0" marL="0">
              <a:buNone/>
            </a:pPr>
            <a:r>
              <a:rPr lang="en-US" sz="1400" b="1" dirty="0">
                <a:solidFill>
                  <a:srgbClr val="15181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691640" y="2916936"/>
            <a:ext cx="7680960" cy="67665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What these technologies actually are</a:t>
            </a:r>
            <a:endParaRPr lang="en-US" sz="1600" dirty="0"/>
          </a:p>
        </p:txBody>
      </p:sp>
      <p:sp>
        <p:nvSpPr>
          <p:cNvPr id="13" name="Text 11"/>
          <p:cNvSpPr/>
          <p:nvPr/>
        </p:nvSpPr>
        <p:spPr>
          <a:xfrm>
            <a:off x="9555480" y="2916936"/>
            <a:ext cx="1737360" cy="676656"/>
          </a:xfrm>
          <a:prstGeom prst="rect">
            <a:avLst/>
          </a:prstGeom>
          <a:noFill/>
          <a:ln/>
        </p:spPr>
        <p:txBody>
          <a:bodyPr wrap="square" lIns="0" tIns="0" rIns="0" bIns="0" rtlCol="0" anchor="ctr"/>
          <a:lstStyle/>
          <a:p>
            <a:pPr algn="r" indent="0" marL="0">
              <a:buNone/>
            </a:pPr>
            <a:r>
              <a:rPr lang="en-US" sz="1250" dirty="0">
                <a:solidFill>
                  <a:srgbClr val="98A0AC"/>
                </a:solidFill>
                <a:latin typeface="Calibri" pitchFamily="34" charset="0"/>
                <a:ea typeface="Calibri" pitchFamily="34" charset="-122"/>
                <a:cs typeface="Calibri" pitchFamily="34" charset="-120"/>
              </a:rPr>
              <a:t>no code</a:t>
            </a:r>
            <a:endParaRPr lang="en-US" sz="1250" dirty="0"/>
          </a:p>
        </p:txBody>
      </p:sp>
      <p:sp>
        <p:nvSpPr>
          <p:cNvPr id="14" name="Shape 12"/>
          <p:cNvSpPr/>
          <p:nvPr/>
        </p:nvSpPr>
        <p:spPr>
          <a:xfrm>
            <a:off x="777240" y="3739896"/>
            <a:ext cx="10634472" cy="713232"/>
          </a:xfrm>
          <a:prstGeom prst="roundRect">
            <a:avLst>
              <a:gd name="adj" fmla="val 8974"/>
            </a:avLst>
          </a:prstGeom>
          <a:solidFill>
            <a:srgbClr val="222732"/>
          </a:solidFill>
          <a:ln w="12700">
            <a:solidFill>
              <a:srgbClr val="222732"/>
            </a:solidFill>
            <a:prstDash val="solid"/>
          </a:ln>
        </p:spPr>
      </p:sp>
      <p:sp>
        <p:nvSpPr>
          <p:cNvPr id="15" name="Shape 13"/>
          <p:cNvSpPr/>
          <p:nvPr/>
        </p:nvSpPr>
        <p:spPr>
          <a:xfrm>
            <a:off x="1051560" y="3941064"/>
            <a:ext cx="329184" cy="329184"/>
          </a:xfrm>
          <a:prstGeom prst="ellipse">
            <a:avLst/>
          </a:prstGeom>
          <a:solidFill>
            <a:srgbClr val="3ACFB6"/>
          </a:solidFill>
          <a:ln/>
        </p:spPr>
      </p:sp>
      <p:sp>
        <p:nvSpPr>
          <p:cNvPr id="16" name="Text 14"/>
          <p:cNvSpPr/>
          <p:nvPr/>
        </p:nvSpPr>
        <p:spPr>
          <a:xfrm>
            <a:off x="1051560" y="3941064"/>
            <a:ext cx="329184" cy="329184"/>
          </a:xfrm>
          <a:prstGeom prst="rect">
            <a:avLst/>
          </a:prstGeom>
          <a:noFill/>
          <a:ln/>
        </p:spPr>
        <p:txBody>
          <a:bodyPr wrap="square" lIns="0" tIns="0" rIns="0" bIns="0" rtlCol="0" anchor="ctr"/>
          <a:lstStyle/>
          <a:p>
            <a:pPr algn="ctr" indent="0" marL="0">
              <a:buNone/>
            </a:pPr>
            <a:r>
              <a:rPr lang="en-US" sz="1400" b="1" dirty="0">
                <a:solidFill>
                  <a:srgbClr val="15181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691640" y="3758184"/>
            <a:ext cx="7680960" cy="67665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Build it, in five stages</a:t>
            </a:r>
            <a:endParaRPr lang="en-US" sz="1600" dirty="0"/>
          </a:p>
        </p:txBody>
      </p:sp>
      <p:sp>
        <p:nvSpPr>
          <p:cNvPr id="18" name="Text 16"/>
          <p:cNvSpPr/>
          <p:nvPr/>
        </p:nvSpPr>
        <p:spPr>
          <a:xfrm>
            <a:off x="9555480" y="3758184"/>
            <a:ext cx="1737360" cy="676656"/>
          </a:xfrm>
          <a:prstGeom prst="rect">
            <a:avLst/>
          </a:prstGeom>
          <a:noFill/>
          <a:ln/>
        </p:spPr>
        <p:txBody>
          <a:bodyPr wrap="square" lIns="0" tIns="0" rIns="0" bIns="0" rtlCol="0" anchor="ctr"/>
          <a:lstStyle/>
          <a:p>
            <a:pPr algn="r" indent="0" marL="0">
              <a:buNone/>
            </a:pPr>
            <a:r>
              <a:rPr lang="en-US" sz="1250" dirty="0">
                <a:solidFill>
                  <a:srgbClr val="98A0AC"/>
                </a:solidFill>
                <a:latin typeface="Calibri" pitchFamily="34" charset="0"/>
                <a:ea typeface="Calibri" pitchFamily="34" charset="-122"/>
                <a:cs typeface="Calibri" pitchFamily="34" charset="-120"/>
              </a:rPr>
              <a:t>you type</a:t>
            </a:r>
            <a:endParaRPr lang="en-US" sz="1250" dirty="0"/>
          </a:p>
        </p:txBody>
      </p:sp>
      <p:sp>
        <p:nvSpPr>
          <p:cNvPr id="19" name="Shape 17"/>
          <p:cNvSpPr/>
          <p:nvPr/>
        </p:nvSpPr>
        <p:spPr>
          <a:xfrm>
            <a:off x="777240" y="4581144"/>
            <a:ext cx="10634472" cy="713232"/>
          </a:xfrm>
          <a:prstGeom prst="roundRect">
            <a:avLst>
              <a:gd name="adj" fmla="val 8974"/>
            </a:avLst>
          </a:prstGeom>
          <a:solidFill>
            <a:srgbClr val="222732"/>
          </a:solidFill>
          <a:ln w="12700">
            <a:solidFill>
              <a:srgbClr val="222732"/>
            </a:solidFill>
            <a:prstDash val="solid"/>
          </a:ln>
        </p:spPr>
      </p:sp>
      <p:sp>
        <p:nvSpPr>
          <p:cNvPr id="20" name="Shape 18"/>
          <p:cNvSpPr/>
          <p:nvPr/>
        </p:nvSpPr>
        <p:spPr>
          <a:xfrm>
            <a:off x="1051560" y="4782312"/>
            <a:ext cx="329184" cy="329184"/>
          </a:xfrm>
          <a:prstGeom prst="ellipse">
            <a:avLst/>
          </a:prstGeom>
          <a:solidFill>
            <a:srgbClr val="3ACFB6"/>
          </a:solidFill>
          <a:ln/>
        </p:spPr>
      </p:sp>
      <p:sp>
        <p:nvSpPr>
          <p:cNvPr id="21" name="Text 19"/>
          <p:cNvSpPr/>
          <p:nvPr/>
        </p:nvSpPr>
        <p:spPr>
          <a:xfrm>
            <a:off x="1051560" y="4782312"/>
            <a:ext cx="329184" cy="329184"/>
          </a:xfrm>
          <a:prstGeom prst="rect">
            <a:avLst/>
          </a:prstGeom>
          <a:noFill/>
          <a:ln/>
        </p:spPr>
        <p:txBody>
          <a:bodyPr wrap="square" lIns="0" tIns="0" rIns="0" bIns="0" rtlCol="0" anchor="ctr"/>
          <a:lstStyle/>
          <a:p>
            <a:pPr algn="ctr" indent="0" marL="0">
              <a:buNone/>
            </a:pPr>
            <a:r>
              <a:rPr lang="en-US" sz="1400" b="1" dirty="0">
                <a:solidFill>
                  <a:srgbClr val="15181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691640" y="4599432"/>
            <a:ext cx="7680960" cy="67665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Put it on the internet</a:t>
            </a:r>
            <a:endParaRPr lang="en-US" sz="1600" dirty="0"/>
          </a:p>
        </p:txBody>
      </p:sp>
      <p:sp>
        <p:nvSpPr>
          <p:cNvPr id="23" name="Text 21"/>
          <p:cNvSpPr/>
          <p:nvPr/>
        </p:nvSpPr>
        <p:spPr>
          <a:xfrm>
            <a:off x="9555480" y="4599432"/>
            <a:ext cx="1737360" cy="676656"/>
          </a:xfrm>
          <a:prstGeom prst="rect">
            <a:avLst/>
          </a:prstGeom>
          <a:noFill/>
          <a:ln/>
        </p:spPr>
        <p:txBody>
          <a:bodyPr wrap="square" lIns="0" tIns="0" rIns="0" bIns="0" rtlCol="0" anchor="ctr"/>
          <a:lstStyle/>
          <a:p>
            <a:pPr algn="r" indent="0" marL="0">
              <a:buNone/>
            </a:pPr>
            <a:r>
              <a:rPr lang="en-US" sz="1250" dirty="0">
                <a:solidFill>
                  <a:srgbClr val="98A0AC"/>
                </a:solidFill>
                <a:latin typeface="Calibri" pitchFamily="34" charset="0"/>
                <a:ea typeface="Calibri" pitchFamily="34" charset="-122"/>
                <a:cs typeface="Calibri" pitchFamily="34" charset="-120"/>
              </a:rPr>
              <a:t>you type</a:t>
            </a:r>
            <a:endParaRPr lang="en-US" sz="1250" dirty="0"/>
          </a:p>
        </p:txBody>
      </p:sp>
      <p:sp>
        <p:nvSpPr>
          <p:cNvPr id="24" name="Shape 22"/>
          <p:cNvSpPr/>
          <p:nvPr/>
        </p:nvSpPr>
        <p:spPr>
          <a:xfrm>
            <a:off x="777240" y="5422392"/>
            <a:ext cx="10634472" cy="713232"/>
          </a:xfrm>
          <a:prstGeom prst="roundRect">
            <a:avLst>
              <a:gd name="adj" fmla="val 8974"/>
            </a:avLst>
          </a:prstGeom>
          <a:solidFill>
            <a:srgbClr val="222732"/>
          </a:solidFill>
          <a:ln w="12700">
            <a:solidFill>
              <a:srgbClr val="222732"/>
            </a:solidFill>
            <a:prstDash val="solid"/>
          </a:ln>
        </p:spPr>
      </p:sp>
      <p:sp>
        <p:nvSpPr>
          <p:cNvPr id="25" name="Shape 23"/>
          <p:cNvSpPr/>
          <p:nvPr/>
        </p:nvSpPr>
        <p:spPr>
          <a:xfrm>
            <a:off x="1051560" y="5623560"/>
            <a:ext cx="329184" cy="329184"/>
          </a:xfrm>
          <a:prstGeom prst="ellipse">
            <a:avLst/>
          </a:prstGeom>
          <a:solidFill>
            <a:srgbClr val="3ACFB6"/>
          </a:solidFill>
          <a:ln/>
        </p:spPr>
      </p:sp>
      <p:sp>
        <p:nvSpPr>
          <p:cNvPr id="26" name="Text 24"/>
          <p:cNvSpPr/>
          <p:nvPr/>
        </p:nvSpPr>
        <p:spPr>
          <a:xfrm>
            <a:off x="1051560" y="5623560"/>
            <a:ext cx="329184" cy="329184"/>
          </a:xfrm>
          <a:prstGeom prst="rect">
            <a:avLst/>
          </a:prstGeom>
          <a:noFill/>
          <a:ln/>
        </p:spPr>
        <p:txBody>
          <a:bodyPr wrap="square" lIns="0" tIns="0" rIns="0" bIns="0" rtlCol="0" anchor="ctr"/>
          <a:lstStyle/>
          <a:p>
            <a:pPr algn="ctr" indent="0" marL="0">
              <a:buNone/>
            </a:pPr>
            <a:r>
              <a:rPr lang="en-US" sz="1400" b="1" dirty="0">
                <a:solidFill>
                  <a:srgbClr val="15181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1691640" y="5440680"/>
            <a:ext cx="7680960" cy="67665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Where to go next</a:t>
            </a:r>
            <a:endParaRPr lang="en-US" sz="1600" dirty="0"/>
          </a:p>
        </p:txBody>
      </p:sp>
      <p:sp>
        <p:nvSpPr>
          <p:cNvPr id="28" name="Text 26"/>
          <p:cNvSpPr/>
          <p:nvPr/>
        </p:nvSpPr>
        <p:spPr>
          <a:xfrm>
            <a:off x="9555480" y="5440680"/>
            <a:ext cx="1737360" cy="676656"/>
          </a:xfrm>
          <a:prstGeom prst="rect">
            <a:avLst/>
          </a:prstGeom>
          <a:noFill/>
          <a:ln/>
        </p:spPr>
        <p:txBody>
          <a:bodyPr wrap="square" lIns="0" tIns="0" rIns="0" bIns="0" rtlCol="0" anchor="ctr"/>
          <a:lstStyle/>
          <a:p>
            <a:pPr algn="r" indent="0" marL="0">
              <a:buNone/>
            </a:pPr>
            <a:r>
              <a:rPr lang="en-US" sz="1250" dirty="0">
                <a:solidFill>
                  <a:srgbClr val="98A0AC"/>
                </a:solidFill>
                <a:latin typeface="Calibri" pitchFamily="34" charset="0"/>
                <a:ea typeface="Calibri" pitchFamily="34" charset="-122"/>
                <a:cs typeface="Calibri" pitchFamily="34" charset="-120"/>
              </a:rPr>
              <a:t>reference</a:t>
            </a:r>
            <a:endParaRPr lang="en-US" sz="1250" dirty="0"/>
          </a:p>
        </p:txBody>
      </p:sp>
      <p:sp>
        <p:nvSpPr>
          <p:cNvPr id="29" name="Text 27"/>
          <p:cNvSpPr/>
          <p:nvPr/>
        </p:nvSpPr>
        <p:spPr>
          <a:xfrm>
            <a:off x="777240" y="6355080"/>
            <a:ext cx="10607040" cy="365760"/>
          </a:xfrm>
          <a:prstGeom prst="rect">
            <a:avLst/>
          </a:prstGeom>
          <a:noFill/>
          <a:ln/>
        </p:spPr>
        <p:txBody>
          <a:bodyPr wrap="square" lIns="0" tIns="0" rIns="0" bIns="0" rtlCol="0" anchor="ctr"/>
          <a:lstStyle/>
          <a:p>
            <a:pPr indent="0" marL="0">
              <a:buNone/>
            </a:pPr>
            <a:r>
              <a:rPr lang="en-US" sz="1300" i="1" dirty="0">
                <a:solidFill>
                  <a:srgbClr val="98A0AC"/>
                </a:solidFill>
                <a:latin typeface="Calibri" pitchFamily="34" charset="0"/>
                <a:ea typeface="Calibri" pitchFamily="34" charset="-122"/>
                <a:cs typeface="Calibri" pitchFamily="34" charset="-120"/>
              </a:rPr>
              <a:t>Fallen behind at any point? Every stage has a complete working copy you can copy and carry on from.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0</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Setting up your computer</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Four tools, two free accounts. You only ever do this once.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PART 0</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Four tools, two accounts</a:t>
            </a:r>
            <a:endParaRPr lang="en-US" sz="3100" dirty="0"/>
          </a:p>
        </p:txBody>
      </p:sp>
      <p:sp>
        <p:nvSpPr>
          <p:cNvPr id="4" name="Shape 2"/>
          <p:cNvSpPr/>
          <p:nvPr/>
        </p:nvSpPr>
        <p:spPr>
          <a:xfrm>
            <a:off x="777240" y="1783080"/>
            <a:ext cx="5303520" cy="1051560"/>
          </a:xfrm>
          <a:prstGeom prst="roundRect">
            <a:avLst>
              <a:gd name="adj" fmla="val 7826"/>
            </a:avLst>
          </a:prstGeom>
          <a:solidFill>
            <a:srgbClr val="F5F6F8"/>
          </a:solidFill>
          <a:ln w="12700">
            <a:solidFill>
              <a:srgbClr val="E1E4E9"/>
            </a:solidFill>
            <a:prstDash val="solid"/>
          </a:ln>
        </p:spPr>
      </p:sp>
      <p:sp>
        <p:nvSpPr>
          <p:cNvPr id="5" name="Shape 3"/>
          <p:cNvSpPr/>
          <p:nvPr/>
        </p:nvSpPr>
        <p:spPr>
          <a:xfrm>
            <a:off x="1051560" y="2148840"/>
            <a:ext cx="329184" cy="329184"/>
          </a:xfrm>
          <a:prstGeom prst="ellipse">
            <a:avLst/>
          </a:prstGeom>
          <a:solidFill>
            <a:srgbClr val="00776A"/>
          </a:solidFill>
          <a:ln/>
        </p:spPr>
      </p:sp>
      <p:sp>
        <p:nvSpPr>
          <p:cNvPr id="6" name="Text 4"/>
          <p:cNvSpPr/>
          <p:nvPr/>
        </p:nvSpPr>
        <p:spPr>
          <a:xfrm>
            <a:off x="1554480" y="1911096"/>
            <a:ext cx="4297680" cy="411480"/>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Python 3.10 or newer</a:t>
            </a:r>
            <a:endParaRPr lang="en-US" sz="1600" dirty="0"/>
          </a:p>
        </p:txBody>
      </p:sp>
      <p:sp>
        <p:nvSpPr>
          <p:cNvPr id="7" name="Text 5"/>
          <p:cNvSpPr/>
          <p:nvPr/>
        </p:nvSpPr>
        <p:spPr>
          <a:xfrm>
            <a:off x="1554480" y="2313432"/>
            <a:ext cx="4297680" cy="38404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language we write in</a:t>
            </a:r>
            <a:endParaRPr lang="en-US" sz="1300" dirty="0"/>
          </a:p>
        </p:txBody>
      </p:sp>
      <p:sp>
        <p:nvSpPr>
          <p:cNvPr id="8" name="Shape 6"/>
          <p:cNvSpPr/>
          <p:nvPr/>
        </p:nvSpPr>
        <p:spPr>
          <a:xfrm>
            <a:off x="6355080" y="1783080"/>
            <a:ext cx="5303520" cy="1051560"/>
          </a:xfrm>
          <a:prstGeom prst="roundRect">
            <a:avLst>
              <a:gd name="adj" fmla="val 7826"/>
            </a:avLst>
          </a:prstGeom>
          <a:solidFill>
            <a:srgbClr val="F5F6F8"/>
          </a:solidFill>
          <a:ln w="12700">
            <a:solidFill>
              <a:srgbClr val="E1E4E9"/>
            </a:solidFill>
            <a:prstDash val="solid"/>
          </a:ln>
        </p:spPr>
      </p:sp>
      <p:sp>
        <p:nvSpPr>
          <p:cNvPr id="9" name="Shape 7"/>
          <p:cNvSpPr/>
          <p:nvPr/>
        </p:nvSpPr>
        <p:spPr>
          <a:xfrm>
            <a:off x="6629400" y="2148840"/>
            <a:ext cx="329184" cy="329184"/>
          </a:xfrm>
          <a:prstGeom prst="ellipse">
            <a:avLst/>
          </a:prstGeom>
          <a:solidFill>
            <a:srgbClr val="00776A"/>
          </a:solidFill>
          <a:ln/>
        </p:spPr>
      </p:sp>
      <p:sp>
        <p:nvSpPr>
          <p:cNvPr id="10" name="Text 8"/>
          <p:cNvSpPr/>
          <p:nvPr/>
        </p:nvSpPr>
        <p:spPr>
          <a:xfrm>
            <a:off x="7132320" y="1911096"/>
            <a:ext cx="4297680" cy="411480"/>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VS Code</a:t>
            </a:r>
            <a:endParaRPr lang="en-US" sz="1600" dirty="0"/>
          </a:p>
        </p:txBody>
      </p:sp>
      <p:sp>
        <p:nvSpPr>
          <p:cNvPr id="11" name="Text 9"/>
          <p:cNvSpPr/>
          <p:nvPr/>
        </p:nvSpPr>
        <p:spPr>
          <a:xfrm>
            <a:off x="7132320" y="2313432"/>
            <a:ext cx="4297680" cy="38404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editor</a:t>
            </a:r>
            <a:endParaRPr lang="en-US" sz="1300" dirty="0"/>
          </a:p>
        </p:txBody>
      </p:sp>
      <p:sp>
        <p:nvSpPr>
          <p:cNvPr id="12" name="Shape 10"/>
          <p:cNvSpPr/>
          <p:nvPr/>
        </p:nvSpPr>
        <p:spPr>
          <a:xfrm>
            <a:off x="777240" y="3017520"/>
            <a:ext cx="5303520" cy="1051560"/>
          </a:xfrm>
          <a:prstGeom prst="roundRect">
            <a:avLst>
              <a:gd name="adj" fmla="val 7826"/>
            </a:avLst>
          </a:prstGeom>
          <a:solidFill>
            <a:srgbClr val="F5F6F8"/>
          </a:solidFill>
          <a:ln w="12700">
            <a:solidFill>
              <a:srgbClr val="E1E4E9"/>
            </a:solidFill>
            <a:prstDash val="solid"/>
          </a:ln>
        </p:spPr>
      </p:sp>
      <p:sp>
        <p:nvSpPr>
          <p:cNvPr id="13" name="Shape 11"/>
          <p:cNvSpPr/>
          <p:nvPr/>
        </p:nvSpPr>
        <p:spPr>
          <a:xfrm>
            <a:off x="1051560" y="3383280"/>
            <a:ext cx="329184" cy="329184"/>
          </a:xfrm>
          <a:prstGeom prst="ellipse">
            <a:avLst/>
          </a:prstGeom>
          <a:solidFill>
            <a:srgbClr val="00776A"/>
          </a:solidFill>
          <a:ln/>
        </p:spPr>
      </p:sp>
      <p:sp>
        <p:nvSpPr>
          <p:cNvPr id="14" name="Text 12"/>
          <p:cNvSpPr/>
          <p:nvPr/>
        </p:nvSpPr>
        <p:spPr>
          <a:xfrm>
            <a:off x="1554480" y="3145536"/>
            <a:ext cx="4297680" cy="411480"/>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Git</a:t>
            </a:r>
            <a:endParaRPr lang="en-US" sz="1600" dirty="0"/>
          </a:p>
        </p:txBody>
      </p:sp>
      <p:sp>
        <p:nvSpPr>
          <p:cNvPr id="15" name="Text 13"/>
          <p:cNvSpPr/>
          <p:nvPr/>
        </p:nvSpPr>
        <p:spPr>
          <a:xfrm>
            <a:off x="1554480" y="3547872"/>
            <a:ext cx="4297680" cy="38404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records versions of your code</a:t>
            </a:r>
            <a:endParaRPr lang="en-US" sz="1300" dirty="0"/>
          </a:p>
        </p:txBody>
      </p:sp>
      <p:sp>
        <p:nvSpPr>
          <p:cNvPr id="16" name="Shape 14"/>
          <p:cNvSpPr/>
          <p:nvPr/>
        </p:nvSpPr>
        <p:spPr>
          <a:xfrm>
            <a:off x="6355080" y="3017520"/>
            <a:ext cx="5303520" cy="1051560"/>
          </a:xfrm>
          <a:prstGeom prst="roundRect">
            <a:avLst>
              <a:gd name="adj" fmla="val 7826"/>
            </a:avLst>
          </a:prstGeom>
          <a:solidFill>
            <a:srgbClr val="F5F6F8"/>
          </a:solidFill>
          <a:ln w="12700">
            <a:solidFill>
              <a:srgbClr val="E1E4E9"/>
            </a:solidFill>
            <a:prstDash val="solid"/>
          </a:ln>
        </p:spPr>
      </p:sp>
      <p:sp>
        <p:nvSpPr>
          <p:cNvPr id="17" name="Shape 15"/>
          <p:cNvSpPr/>
          <p:nvPr/>
        </p:nvSpPr>
        <p:spPr>
          <a:xfrm>
            <a:off x="6629400" y="3383280"/>
            <a:ext cx="329184" cy="329184"/>
          </a:xfrm>
          <a:prstGeom prst="ellipse">
            <a:avLst/>
          </a:prstGeom>
          <a:solidFill>
            <a:srgbClr val="00776A"/>
          </a:solidFill>
          <a:ln/>
        </p:spPr>
      </p:sp>
      <p:sp>
        <p:nvSpPr>
          <p:cNvPr id="18" name="Text 16"/>
          <p:cNvSpPr/>
          <p:nvPr/>
        </p:nvSpPr>
        <p:spPr>
          <a:xfrm>
            <a:off x="7132320" y="3145536"/>
            <a:ext cx="4297680" cy="411480"/>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terminal</a:t>
            </a:r>
            <a:endParaRPr lang="en-US" sz="1600" dirty="0"/>
          </a:p>
        </p:txBody>
      </p:sp>
      <p:sp>
        <p:nvSpPr>
          <p:cNvPr id="19" name="Text 17"/>
          <p:cNvSpPr/>
          <p:nvPr/>
        </p:nvSpPr>
        <p:spPr>
          <a:xfrm>
            <a:off x="7132320" y="3547872"/>
            <a:ext cx="4297680" cy="38404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already on your computer</a:t>
            </a:r>
            <a:endParaRPr lang="en-US" sz="1300" dirty="0"/>
          </a:p>
        </p:txBody>
      </p:sp>
      <p:sp>
        <p:nvSpPr>
          <p:cNvPr id="20" name="Shape 18"/>
          <p:cNvSpPr/>
          <p:nvPr/>
        </p:nvSpPr>
        <p:spPr>
          <a:xfrm>
            <a:off x="777240" y="4251960"/>
            <a:ext cx="5303520" cy="1051560"/>
          </a:xfrm>
          <a:prstGeom prst="roundRect">
            <a:avLst>
              <a:gd name="adj" fmla="val 7826"/>
            </a:avLst>
          </a:prstGeom>
          <a:solidFill>
            <a:srgbClr val="F5F6F8"/>
          </a:solidFill>
          <a:ln w="12700">
            <a:solidFill>
              <a:srgbClr val="E1E4E9"/>
            </a:solidFill>
            <a:prstDash val="solid"/>
          </a:ln>
        </p:spPr>
      </p:sp>
      <p:sp>
        <p:nvSpPr>
          <p:cNvPr id="21" name="Shape 19"/>
          <p:cNvSpPr/>
          <p:nvPr/>
        </p:nvSpPr>
        <p:spPr>
          <a:xfrm>
            <a:off x="1051560" y="4617720"/>
            <a:ext cx="329184" cy="329184"/>
          </a:xfrm>
          <a:prstGeom prst="ellipse">
            <a:avLst/>
          </a:prstGeom>
          <a:solidFill>
            <a:srgbClr val="5158BE"/>
          </a:solidFill>
          <a:ln/>
        </p:spPr>
      </p:sp>
      <p:sp>
        <p:nvSpPr>
          <p:cNvPr id="22" name="Text 20"/>
          <p:cNvSpPr/>
          <p:nvPr/>
        </p:nvSpPr>
        <p:spPr>
          <a:xfrm>
            <a:off x="1554480" y="4379976"/>
            <a:ext cx="4297680" cy="411480"/>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GitHub account</a:t>
            </a:r>
            <a:endParaRPr lang="en-US" sz="1600" dirty="0"/>
          </a:p>
        </p:txBody>
      </p:sp>
      <p:sp>
        <p:nvSpPr>
          <p:cNvPr id="23" name="Text 21"/>
          <p:cNvSpPr/>
          <p:nvPr/>
        </p:nvSpPr>
        <p:spPr>
          <a:xfrm>
            <a:off x="1554480" y="4782312"/>
            <a:ext cx="4297680" cy="38404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stores your code online (free)</a:t>
            </a:r>
            <a:endParaRPr lang="en-US" sz="1300" dirty="0"/>
          </a:p>
        </p:txBody>
      </p:sp>
      <p:sp>
        <p:nvSpPr>
          <p:cNvPr id="24" name="Shape 22"/>
          <p:cNvSpPr/>
          <p:nvPr/>
        </p:nvSpPr>
        <p:spPr>
          <a:xfrm>
            <a:off x="6355080" y="4251960"/>
            <a:ext cx="5303520" cy="1051560"/>
          </a:xfrm>
          <a:prstGeom prst="roundRect">
            <a:avLst>
              <a:gd name="adj" fmla="val 7826"/>
            </a:avLst>
          </a:prstGeom>
          <a:solidFill>
            <a:srgbClr val="F5F6F8"/>
          </a:solidFill>
          <a:ln w="12700">
            <a:solidFill>
              <a:srgbClr val="E1E4E9"/>
            </a:solidFill>
            <a:prstDash val="solid"/>
          </a:ln>
        </p:spPr>
      </p:sp>
      <p:sp>
        <p:nvSpPr>
          <p:cNvPr id="25" name="Shape 23"/>
          <p:cNvSpPr/>
          <p:nvPr/>
        </p:nvSpPr>
        <p:spPr>
          <a:xfrm>
            <a:off x="6629400" y="4617720"/>
            <a:ext cx="329184" cy="329184"/>
          </a:xfrm>
          <a:prstGeom prst="ellipse">
            <a:avLst/>
          </a:prstGeom>
          <a:solidFill>
            <a:srgbClr val="5158BE"/>
          </a:solidFill>
          <a:ln/>
        </p:spPr>
      </p:sp>
      <p:sp>
        <p:nvSpPr>
          <p:cNvPr id="26" name="Text 24"/>
          <p:cNvSpPr/>
          <p:nvPr/>
        </p:nvSpPr>
        <p:spPr>
          <a:xfrm>
            <a:off x="7132320" y="4379976"/>
            <a:ext cx="4297680" cy="411480"/>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Render account</a:t>
            </a:r>
            <a:endParaRPr lang="en-US" sz="1600" dirty="0"/>
          </a:p>
        </p:txBody>
      </p:sp>
      <p:sp>
        <p:nvSpPr>
          <p:cNvPr id="27" name="Text 25"/>
          <p:cNvSpPr/>
          <p:nvPr/>
        </p:nvSpPr>
        <p:spPr>
          <a:xfrm>
            <a:off x="7132320" y="4782312"/>
            <a:ext cx="4297680" cy="38404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runs your app online (free, no card)</a:t>
            </a:r>
            <a:endParaRPr lang="en-US" sz="1300" dirty="0"/>
          </a:p>
        </p:txBody>
      </p:sp>
      <p:sp>
        <p:nvSpPr>
          <p:cNvPr id="28" name="Shape 26"/>
          <p:cNvSpPr/>
          <p:nvPr/>
        </p:nvSpPr>
        <p:spPr>
          <a:xfrm>
            <a:off x="777240" y="5532120"/>
            <a:ext cx="10634472" cy="777240"/>
          </a:xfrm>
          <a:prstGeom prst="roundRect">
            <a:avLst>
              <a:gd name="adj" fmla="val 10588"/>
            </a:avLst>
          </a:prstGeom>
          <a:solidFill>
            <a:srgbClr val="EAF6F3"/>
          </a:solidFill>
          <a:ln w="12700">
            <a:solidFill>
              <a:srgbClr val="9CCFC6"/>
            </a:solidFill>
            <a:prstDash val="solid"/>
          </a:ln>
        </p:spPr>
      </p:sp>
      <p:sp>
        <p:nvSpPr>
          <p:cNvPr id="29" name="Text 27"/>
          <p:cNvSpPr/>
          <p:nvPr/>
        </p:nvSpPr>
        <p:spPr>
          <a:xfrm>
            <a:off x="1143000" y="5623560"/>
            <a:ext cx="10241280" cy="594360"/>
          </a:xfrm>
          <a:prstGeom prst="rect">
            <a:avLst/>
          </a:prstGeom>
          <a:noFill/>
          <a:ln/>
        </p:spPr>
        <p:txBody>
          <a:bodyPr wrap="square" lIns="0" tIns="0" rIns="0" bIns="0" rtlCol="0" anchor="ctr"/>
          <a:lstStyle/>
          <a:p>
            <a:pPr indent="0" marL="0">
              <a:buNone/>
            </a:pPr>
            <a:r>
              <a:rPr lang="en-US" sz="1500" b="1" dirty="0">
                <a:solidFill>
                  <a:srgbClr val="00776A"/>
                </a:solidFill>
                <a:latin typeface="Courier New" pitchFamily="34" charset="0"/>
                <a:ea typeface="Courier New" pitchFamily="34" charset="-122"/>
                <a:cs typeface="Courier New" pitchFamily="34" charset="-120"/>
              </a:rPr>
              <a:t>Check all four: python --version   pip --version   git --version   code --version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PART 0  ·  THE FOUR THAT ACTUALLY CATCH PEOPLE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Setup traps</a:t>
            </a:r>
            <a:endParaRPr lang="en-US" sz="3100" dirty="0"/>
          </a:p>
        </p:txBody>
      </p:sp>
      <p:sp>
        <p:nvSpPr>
          <p:cNvPr id="4" name="Shape 2"/>
          <p:cNvSpPr/>
          <p:nvPr/>
        </p:nvSpPr>
        <p:spPr>
          <a:xfrm>
            <a:off x="777240" y="1737360"/>
            <a:ext cx="10634472" cy="960120"/>
          </a:xfrm>
          <a:prstGeom prst="roundRect">
            <a:avLst>
              <a:gd name="adj" fmla="val 8571"/>
            </a:avLst>
          </a:prstGeom>
          <a:solidFill>
            <a:srgbClr val="FBF0EE"/>
          </a:solidFill>
          <a:ln w="12700">
            <a:solidFill>
              <a:srgbClr val="BE3A2B"/>
            </a:solidFill>
            <a:prstDash val="solid"/>
          </a:ln>
        </p:spPr>
      </p:sp>
      <p:sp>
        <p:nvSpPr>
          <p:cNvPr id="5" name="Shape 3"/>
          <p:cNvSpPr/>
          <p:nvPr/>
        </p:nvSpPr>
        <p:spPr>
          <a:xfrm>
            <a:off x="1069848" y="2048256"/>
            <a:ext cx="365760" cy="365760"/>
          </a:xfrm>
          <a:prstGeom prst="ellipse">
            <a:avLst/>
          </a:prstGeom>
          <a:solidFill>
            <a:srgbClr val="BE3A2B"/>
          </a:solidFill>
          <a:ln/>
        </p:spPr>
      </p:sp>
      <p:sp>
        <p:nvSpPr>
          <p:cNvPr id="6" name="Text 4"/>
          <p:cNvSpPr/>
          <p:nvPr/>
        </p:nvSpPr>
        <p:spPr>
          <a:xfrm>
            <a:off x="1069848" y="20482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47088"/>
            <a:ext cx="9418320" cy="384048"/>
          </a:xfrm>
          <a:prstGeom prst="rect">
            <a:avLst/>
          </a:prstGeom>
          <a:noFill/>
          <a:ln/>
        </p:spPr>
        <p:txBody>
          <a:bodyPr wrap="square" lIns="0" tIns="0" rIns="0" bIns="0" rtlCol="0" anchor="ctr"/>
          <a:lstStyle/>
          <a:p>
            <a:pPr indent="0" marL="0">
              <a:buNone/>
            </a:pPr>
            <a:r>
              <a:rPr lang="en-US" sz="1600" b="1" dirty="0">
                <a:solidFill>
                  <a:srgbClr val="BE3A2B"/>
                </a:solidFill>
                <a:latin typeface="Cambria" pitchFamily="34" charset="0"/>
                <a:ea typeface="Cambria" pitchFamily="34" charset="-122"/>
                <a:cs typeface="Cambria" pitchFamily="34" charset="-120"/>
              </a:rPr>
              <a:t>Hidden file extensions (Windows)</a:t>
            </a:r>
            <a:endParaRPr lang="en-US" sz="1600" dirty="0"/>
          </a:p>
        </p:txBody>
      </p:sp>
      <p:sp>
        <p:nvSpPr>
          <p:cNvPr id="8" name="Text 6"/>
          <p:cNvSpPr/>
          <p:nvPr/>
        </p:nvSpPr>
        <p:spPr>
          <a:xfrm>
            <a:off x="1691640" y="2240280"/>
            <a:ext cx="9418320" cy="411480"/>
          </a:xfrm>
          <a:prstGeom prst="rect">
            <a:avLst/>
          </a:prstGeom>
          <a:noFill/>
          <a:ln/>
        </p:spPr>
        <p:txBody>
          <a:bodyPr wrap="square" lIns="0" tIns="0" rIns="0" bIns="0" rtlCol="0" anchor="ctr"/>
          <a:lstStyle/>
          <a:p>
            <a:pPr indent="0" marL="0">
              <a:buNone/>
            </a:pPr>
            <a:r>
              <a:rPr lang="en-US" sz="1350" dirty="0">
                <a:solidFill>
                  <a:srgbClr val="BE3A2B"/>
                </a:solidFill>
                <a:latin typeface="Calibri" pitchFamily="34" charset="0"/>
                <a:ea typeface="Calibri" pitchFamily="34" charset="-122"/>
                <a:cs typeface="Calibri" pitchFamily="34" charset="-120"/>
              </a:rPr>
              <a:t>you create .env and Notepad silently saves .env.txt</a:t>
            </a:r>
            <a:endParaRPr lang="en-US" sz="1350" dirty="0"/>
          </a:p>
        </p:txBody>
      </p:sp>
      <p:sp>
        <p:nvSpPr>
          <p:cNvPr id="9" name="Shape 7"/>
          <p:cNvSpPr/>
          <p:nvPr/>
        </p:nvSpPr>
        <p:spPr>
          <a:xfrm>
            <a:off x="777240" y="2834640"/>
            <a:ext cx="10634472" cy="960120"/>
          </a:xfrm>
          <a:prstGeom prst="roundRect">
            <a:avLst>
              <a:gd name="adj" fmla="val 8571"/>
            </a:avLst>
          </a:prstGeom>
          <a:solidFill>
            <a:srgbClr val="FBF0EE"/>
          </a:solidFill>
          <a:ln w="12700">
            <a:solidFill>
              <a:srgbClr val="BE3A2B"/>
            </a:solidFill>
            <a:prstDash val="solid"/>
          </a:ln>
        </p:spPr>
      </p:sp>
      <p:sp>
        <p:nvSpPr>
          <p:cNvPr id="10" name="Shape 8"/>
          <p:cNvSpPr/>
          <p:nvPr/>
        </p:nvSpPr>
        <p:spPr>
          <a:xfrm>
            <a:off x="1069848" y="3145536"/>
            <a:ext cx="365760" cy="365760"/>
          </a:xfrm>
          <a:prstGeom prst="ellipse">
            <a:avLst/>
          </a:prstGeom>
          <a:solidFill>
            <a:srgbClr val="BE3A2B"/>
          </a:solidFill>
          <a:ln/>
        </p:spPr>
      </p:sp>
      <p:sp>
        <p:nvSpPr>
          <p:cNvPr id="11" name="Text 9"/>
          <p:cNvSpPr/>
          <p:nvPr/>
        </p:nvSpPr>
        <p:spPr>
          <a:xfrm>
            <a:off x="1069848"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44368"/>
            <a:ext cx="9418320" cy="384048"/>
          </a:xfrm>
          <a:prstGeom prst="rect">
            <a:avLst/>
          </a:prstGeom>
          <a:noFill/>
          <a:ln/>
        </p:spPr>
        <p:txBody>
          <a:bodyPr wrap="square" lIns="0" tIns="0" rIns="0" bIns="0" rtlCol="0" anchor="ctr"/>
          <a:lstStyle/>
          <a:p>
            <a:pPr indent="0" marL="0">
              <a:buNone/>
            </a:pPr>
            <a:r>
              <a:rPr lang="en-US" sz="1600" b="1" dirty="0">
                <a:solidFill>
                  <a:srgbClr val="BE3A2B"/>
                </a:solidFill>
                <a:latin typeface="Cambria" pitchFamily="34" charset="0"/>
                <a:ea typeface="Cambria" pitchFamily="34" charset="-122"/>
                <a:cs typeface="Cambria" pitchFamily="34" charset="-120"/>
              </a:rPr>
              <a:t>The "Add python.exe to PATH" checkbox</a:t>
            </a:r>
            <a:endParaRPr lang="en-US" sz="1600" dirty="0"/>
          </a:p>
        </p:txBody>
      </p:sp>
      <p:sp>
        <p:nvSpPr>
          <p:cNvPr id="13" name="Text 11"/>
          <p:cNvSpPr/>
          <p:nvPr/>
        </p:nvSpPr>
        <p:spPr>
          <a:xfrm>
            <a:off x="1691640" y="3337560"/>
            <a:ext cx="9418320" cy="411480"/>
          </a:xfrm>
          <a:prstGeom prst="rect">
            <a:avLst/>
          </a:prstGeom>
          <a:noFill/>
          <a:ln/>
        </p:spPr>
        <p:txBody>
          <a:bodyPr wrap="square" lIns="0" tIns="0" rIns="0" bIns="0" rtlCol="0" anchor="ctr"/>
          <a:lstStyle/>
          <a:p>
            <a:pPr indent="0" marL="0">
              <a:buNone/>
            </a:pPr>
            <a:r>
              <a:rPr lang="en-US" sz="1350" dirty="0">
                <a:solidFill>
                  <a:srgbClr val="BE3A2B"/>
                </a:solidFill>
                <a:latin typeface="Calibri" pitchFamily="34" charset="0"/>
                <a:ea typeface="Calibri" pitchFamily="34" charset="-122"/>
                <a:cs typeface="Calibri" pitchFamily="34" charset="-120"/>
              </a:rPr>
              <a:t>off by default; miss it and every command fails</a:t>
            </a:r>
            <a:endParaRPr lang="en-US" sz="1350" dirty="0"/>
          </a:p>
        </p:txBody>
      </p:sp>
      <p:sp>
        <p:nvSpPr>
          <p:cNvPr id="14" name="Shape 12"/>
          <p:cNvSpPr/>
          <p:nvPr/>
        </p:nvSpPr>
        <p:spPr>
          <a:xfrm>
            <a:off x="777240" y="3931920"/>
            <a:ext cx="10634472" cy="960120"/>
          </a:xfrm>
          <a:prstGeom prst="roundRect">
            <a:avLst>
              <a:gd name="adj" fmla="val 8571"/>
            </a:avLst>
          </a:prstGeom>
          <a:solidFill>
            <a:srgbClr val="FBF0EE"/>
          </a:solidFill>
          <a:ln w="12700">
            <a:solidFill>
              <a:srgbClr val="BE3A2B"/>
            </a:solidFill>
            <a:prstDash val="solid"/>
          </a:ln>
        </p:spPr>
      </p:sp>
      <p:sp>
        <p:nvSpPr>
          <p:cNvPr id="15" name="Shape 13"/>
          <p:cNvSpPr/>
          <p:nvPr/>
        </p:nvSpPr>
        <p:spPr>
          <a:xfrm>
            <a:off x="1069848" y="4242816"/>
            <a:ext cx="365760" cy="365760"/>
          </a:xfrm>
          <a:prstGeom prst="ellipse">
            <a:avLst/>
          </a:prstGeom>
          <a:solidFill>
            <a:srgbClr val="BE3A2B"/>
          </a:solidFill>
          <a:ln/>
        </p:spPr>
      </p:sp>
      <p:sp>
        <p:nvSpPr>
          <p:cNvPr id="16" name="Text 14"/>
          <p:cNvSpPr/>
          <p:nvPr/>
        </p:nvSpPr>
        <p:spPr>
          <a:xfrm>
            <a:off x="1069848" y="42428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41648"/>
            <a:ext cx="9418320" cy="384048"/>
          </a:xfrm>
          <a:prstGeom prst="rect">
            <a:avLst/>
          </a:prstGeom>
          <a:noFill/>
          <a:ln/>
        </p:spPr>
        <p:txBody>
          <a:bodyPr wrap="square" lIns="0" tIns="0" rIns="0" bIns="0" rtlCol="0" anchor="ctr"/>
          <a:lstStyle/>
          <a:p>
            <a:pPr indent="0" marL="0">
              <a:buNone/>
            </a:pPr>
            <a:r>
              <a:rPr lang="en-US" sz="1600" b="1" dirty="0">
                <a:solidFill>
                  <a:srgbClr val="BE3A2B"/>
                </a:solidFill>
                <a:latin typeface="Cambria" pitchFamily="34" charset="0"/>
                <a:ea typeface="Cambria" pitchFamily="34" charset="-122"/>
                <a:cs typeface="Cambria" pitchFamily="34" charset="-120"/>
              </a:rPr>
              <a:t>PowerShell blocks scripts</a:t>
            </a:r>
            <a:endParaRPr lang="en-US" sz="1600" dirty="0"/>
          </a:p>
        </p:txBody>
      </p:sp>
      <p:sp>
        <p:nvSpPr>
          <p:cNvPr id="18" name="Text 16"/>
          <p:cNvSpPr/>
          <p:nvPr/>
        </p:nvSpPr>
        <p:spPr>
          <a:xfrm>
            <a:off x="1691640" y="4434840"/>
            <a:ext cx="9418320" cy="411480"/>
          </a:xfrm>
          <a:prstGeom prst="rect">
            <a:avLst/>
          </a:prstGeom>
          <a:noFill/>
          <a:ln/>
        </p:spPr>
        <p:txBody>
          <a:bodyPr wrap="square" lIns="0" tIns="0" rIns="0" bIns="0" rtlCol="0" anchor="ctr"/>
          <a:lstStyle/>
          <a:p>
            <a:pPr indent="0" marL="0">
              <a:buNone/>
            </a:pPr>
            <a:r>
              <a:rPr lang="en-US" sz="1350" dirty="0">
                <a:solidFill>
                  <a:srgbClr val="BE3A2B"/>
                </a:solidFill>
                <a:latin typeface="Calibri" pitchFamily="34" charset="0"/>
                <a:ea typeface="Calibri" pitchFamily="34" charset="-122"/>
                <a:cs typeface="Calibri" pitchFamily="34" charset="-120"/>
              </a:rPr>
              <a:t>activating the environment fails until you allow it</a:t>
            </a:r>
            <a:endParaRPr lang="en-US" sz="1350" dirty="0"/>
          </a:p>
        </p:txBody>
      </p:sp>
      <p:sp>
        <p:nvSpPr>
          <p:cNvPr id="19" name="Shape 17"/>
          <p:cNvSpPr/>
          <p:nvPr/>
        </p:nvSpPr>
        <p:spPr>
          <a:xfrm>
            <a:off x="777240" y="5029200"/>
            <a:ext cx="10634472" cy="960120"/>
          </a:xfrm>
          <a:prstGeom prst="roundRect">
            <a:avLst>
              <a:gd name="adj" fmla="val 8571"/>
            </a:avLst>
          </a:prstGeom>
          <a:solidFill>
            <a:srgbClr val="FBF0EE"/>
          </a:solidFill>
          <a:ln w="12700">
            <a:solidFill>
              <a:srgbClr val="BE3A2B"/>
            </a:solidFill>
            <a:prstDash val="solid"/>
          </a:ln>
        </p:spPr>
      </p:sp>
      <p:sp>
        <p:nvSpPr>
          <p:cNvPr id="20" name="Shape 18"/>
          <p:cNvSpPr/>
          <p:nvPr/>
        </p:nvSpPr>
        <p:spPr>
          <a:xfrm>
            <a:off x="1069848" y="5340096"/>
            <a:ext cx="365760" cy="365760"/>
          </a:xfrm>
          <a:prstGeom prst="ellipse">
            <a:avLst/>
          </a:prstGeom>
          <a:solidFill>
            <a:srgbClr val="BE3A2B"/>
          </a:solidFill>
          <a:ln/>
        </p:spPr>
      </p:sp>
      <p:sp>
        <p:nvSpPr>
          <p:cNvPr id="21" name="Text 19"/>
          <p:cNvSpPr/>
          <p:nvPr/>
        </p:nvSpPr>
        <p:spPr>
          <a:xfrm>
            <a:off x="1069848" y="53400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38928"/>
            <a:ext cx="9418320" cy="384048"/>
          </a:xfrm>
          <a:prstGeom prst="rect">
            <a:avLst/>
          </a:prstGeom>
          <a:noFill/>
          <a:ln/>
        </p:spPr>
        <p:txBody>
          <a:bodyPr wrap="square" lIns="0" tIns="0" rIns="0" bIns="0" rtlCol="0" anchor="ctr"/>
          <a:lstStyle/>
          <a:p>
            <a:pPr indent="0" marL="0">
              <a:buNone/>
            </a:pPr>
            <a:r>
              <a:rPr lang="en-US" sz="1600" b="1" dirty="0">
                <a:solidFill>
                  <a:srgbClr val="BE3A2B"/>
                </a:solidFill>
                <a:latin typeface="Cambria" pitchFamily="34" charset="0"/>
                <a:ea typeface="Cambria" pitchFamily="34" charset="-122"/>
                <a:cs typeface="Cambria" pitchFamily="34" charset="-120"/>
              </a:rPr>
              <a:t>cd does not change drive letters</a:t>
            </a:r>
            <a:endParaRPr lang="en-US" sz="1600" dirty="0"/>
          </a:p>
        </p:txBody>
      </p:sp>
      <p:sp>
        <p:nvSpPr>
          <p:cNvPr id="23" name="Text 21"/>
          <p:cNvSpPr/>
          <p:nvPr/>
        </p:nvSpPr>
        <p:spPr>
          <a:xfrm>
            <a:off x="1691640" y="5532120"/>
            <a:ext cx="9418320" cy="411480"/>
          </a:xfrm>
          <a:prstGeom prst="rect">
            <a:avLst/>
          </a:prstGeom>
          <a:noFill/>
          <a:ln/>
        </p:spPr>
        <p:txBody>
          <a:bodyPr wrap="square" lIns="0" tIns="0" rIns="0" bIns="0" rtlCol="0" anchor="ctr"/>
          <a:lstStyle/>
          <a:p>
            <a:pPr indent="0" marL="0">
              <a:buNone/>
            </a:pPr>
            <a:r>
              <a:rPr lang="en-US" sz="1350" dirty="0">
                <a:solidFill>
                  <a:srgbClr val="BE3A2B"/>
                </a:solidFill>
                <a:latin typeface="Calibri" pitchFamily="34" charset="0"/>
                <a:ea typeface="Calibri" pitchFamily="34" charset="-122"/>
                <a:cs typeface="Calibri" pitchFamily="34" charset="-120"/>
              </a:rPr>
              <a:t>in Command Prompt, cd to another drive does nothing at all</a:t>
            </a:r>
            <a:endParaRPr lang="en-US" sz="1350" dirty="0"/>
          </a:p>
        </p:txBody>
      </p:sp>
      <p:sp>
        <p:nvSpPr>
          <p:cNvPr id="24" name="Text 22"/>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All four give no useful error message. All four are solved in the guide.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1</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What these technologies actually are</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No code. The ideas everything else is built 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full-stack means</a:t>
            </a:r>
            <a:endParaRPr lang="en-US" sz="3100" dirty="0"/>
          </a:p>
        </p:txBody>
      </p:sp>
      <p:sp>
        <p:nvSpPr>
          <p:cNvPr id="4" name="Shape 2"/>
          <p:cNvSpPr/>
          <p:nvPr/>
        </p:nvSpPr>
        <p:spPr>
          <a:xfrm>
            <a:off x="777240" y="1691640"/>
            <a:ext cx="3337560" cy="2697480"/>
          </a:xfrm>
          <a:prstGeom prst="roundRect">
            <a:avLst>
              <a:gd name="adj" fmla="val 3051"/>
            </a:avLst>
          </a:prstGeom>
          <a:solidFill>
            <a:srgbClr val="F5F6F8"/>
          </a:solidFill>
          <a:ln w="12700">
            <a:solidFill>
              <a:srgbClr val="E1E4E9"/>
            </a:solidFill>
            <a:prstDash val="solid"/>
          </a:ln>
        </p:spPr>
      </p:sp>
      <p:sp>
        <p:nvSpPr>
          <p:cNvPr id="5" name="Text 3"/>
          <p:cNvSpPr/>
          <p:nvPr/>
        </p:nvSpPr>
        <p:spPr>
          <a:xfrm>
            <a:off x="1005840" y="192024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Frontend</a:t>
            </a:r>
            <a:endParaRPr lang="en-US" sz="2200" dirty="0"/>
          </a:p>
        </p:txBody>
      </p:sp>
      <p:sp>
        <p:nvSpPr>
          <p:cNvPr id="6" name="Text 4"/>
          <p:cNvSpPr/>
          <p:nvPr/>
        </p:nvSpPr>
        <p:spPr>
          <a:xfrm>
            <a:off x="1005840" y="2450592"/>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the page in the</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visitor's browser</a:t>
            </a:r>
            <a:endParaRPr lang="en-US" sz="1450" dirty="0"/>
          </a:p>
        </p:txBody>
      </p:sp>
      <p:sp>
        <p:nvSpPr>
          <p:cNvPr id="7" name="Text 5"/>
          <p:cNvSpPr/>
          <p:nvPr/>
        </p:nvSpPr>
        <p:spPr>
          <a:xfrm>
            <a:off x="1005840" y="3840480"/>
            <a:ext cx="2880360" cy="365760"/>
          </a:xfrm>
          <a:prstGeom prst="rect">
            <a:avLst/>
          </a:prstGeom>
          <a:noFill/>
          <a:ln/>
        </p:spPr>
        <p:txBody>
          <a:bodyPr wrap="square" lIns="0" tIns="0" rIns="0" bIns="0" rtlCol="0" anchor="ctr"/>
          <a:lstStyle/>
          <a:p>
            <a:pPr indent="0" marL="0">
              <a:buNone/>
            </a:pPr>
            <a:r>
              <a:rPr lang="en-US" sz="1400" b="1" spc="150" kern="0" dirty="0">
                <a:solidFill>
                  <a:srgbClr val="BE3A2B"/>
                </a:solidFill>
                <a:latin typeface="Calibri" pitchFamily="34" charset="0"/>
                <a:ea typeface="Calibri" pitchFamily="34" charset="-122"/>
                <a:cs typeface="Calibri" pitchFamily="34" charset="-120"/>
              </a:rPr>
              <a:t>PUBLIC</a:t>
            </a:r>
            <a:endParaRPr lang="en-US" sz="1400" dirty="0"/>
          </a:p>
        </p:txBody>
      </p:sp>
      <p:sp>
        <p:nvSpPr>
          <p:cNvPr id="8" name="Shape 6"/>
          <p:cNvSpPr/>
          <p:nvPr/>
        </p:nvSpPr>
        <p:spPr>
          <a:xfrm>
            <a:off x="4434840" y="1691640"/>
            <a:ext cx="3337560" cy="2697480"/>
          </a:xfrm>
          <a:prstGeom prst="roundRect">
            <a:avLst>
              <a:gd name="adj" fmla="val 3051"/>
            </a:avLst>
          </a:prstGeom>
          <a:solidFill>
            <a:srgbClr val="F5F6F8"/>
          </a:solidFill>
          <a:ln w="12700">
            <a:solidFill>
              <a:srgbClr val="E1E4E9"/>
            </a:solidFill>
            <a:prstDash val="solid"/>
          </a:ln>
        </p:spPr>
      </p:sp>
      <p:sp>
        <p:nvSpPr>
          <p:cNvPr id="9" name="Text 7"/>
          <p:cNvSpPr/>
          <p:nvPr/>
        </p:nvSpPr>
        <p:spPr>
          <a:xfrm>
            <a:off x="4663440" y="192024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Backend</a:t>
            </a:r>
            <a:endParaRPr lang="en-US" sz="2200" dirty="0"/>
          </a:p>
        </p:txBody>
      </p:sp>
      <p:sp>
        <p:nvSpPr>
          <p:cNvPr id="10" name="Text 8"/>
          <p:cNvSpPr/>
          <p:nvPr/>
        </p:nvSpPr>
        <p:spPr>
          <a:xfrm>
            <a:off x="4663440" y="2450592"/>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your program,</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running on a server</a:t>
            </a:r>
            <a:endParaRPr lang="en-US" sz="1450" dirty="0"/>
          </a:p>
        </p:txBody>
      </p:sp>
      <p:sp>
        <p:nvSpPr>
          <p:cNvPr id="11" name="Text 9"/>
          <p:cNvSpPr/>
          <p:nvPr/>
        </p:nvSpPr>
        <p:spPr>
          <a:xfrm>
            <a:off x="4663440" y="3840480"/>
            <a:ext cx="2880360" cy="365760"/>
          </a:xfrm>
          <a:prstGeom prst="rect">
            <a:avLst/>
          </a:prstGeom>
          <a:noFill/>
          <a:ln/>
        </p:spPr>
        <p:txBody>
          <a:bodyPr wrap="square" lIns="0" tIns="0" rIns="0" bIns="0" rtlCol="0" anchor="ctr"/>
          <a:lstStyle/>
          <a:p>
            <a:pPr indent="0" marL="0">
              <a:buNone/>
            </a:pPr>
            <a:r>
              <a:rPr lang="en-US" sz="1400" b="1" spc="150" kern="0" dirty="0">
                <a:solidFill>
                  <a:srgbClr val="0A7D28"/>
                </a:solidFill>
                <a:latin typeface="Calibri" pitchFamily="34" charset="0"/>
                <a:ea typeface="Calibri" pitchFamily="34" charset="-122"/>
                <a:cs typeface="Calibri" pitchFamily="34" charset="-120"/>
              </a:rPr>
              <a:t>PRIVATE</a:t>
            </a:r>
            <a:endParaRPr lang="en-US" sz="1400" dirty="0"/>
          </a:p>
        </p:txBody>
      </p:sp>
      <p:sp>
        <p:nvSpPr>
          <p:cNvPr id="12" name="Shape 10"/>
          <p:cNvSpPr/>
          <p:nvPr/>
        </p:nvSpPr>
        <p:spPr>
          <a:xfrm>
            <a:off x="8092440" y="1691640"/>
            <a:ext cx="3337560" cy="2697480"/>
          </a:xfrm>
          <a:prstGeom prst="roundRect">
            <a:avLst>
              <a:gd name="adj" fmla="val 3051"/>
            </a:avLst>
          </a:prstGeom>
          <a:solidFill>
            <a:srgbClr val="F5F6F8"/>
          </a:solidFill>
          <a:ln w="12700">
            <a:solidFill>
              <a:srgbClr val="E1E4E9"/>
            </a:solidFill>
            <a:prstDash val="solid"/>
          </a:ln>
        </p:spPr>
      </p:sp>
      <p:sp>
        <p:nvSpPr>
          <p:cNvPr id="13" name="Text 11"/>
          <p:cNvSpPr/>
          <p:nvPr/>
        </p:nvSpPr>
        <p:spPr>
          <a:xfrm>
            <a:off x="8321040" y="192024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Data</a:t>
            </a:r>
            <a:endParaRPr lang="en-US" sz="2200" dirty="0"/>
          </a:p>
        </p:txBody>
      </p:sp>
      <p:sp>
        <p:nvSpPr>
          <p:cNvPr id="14" name="Text 12"/>
          <p:cNvSpPr/>
          <p:nvPr/>
        </p:nvSpPr>
        <p:spPr>
          <a:xfrm>
            <a:off x="8321040" y="2450592"/>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what is kept</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between visits</a:t>
            </a:r>
            <a:endParaRPr lang="en-US" sz="1450" dirty="0"/>
          </a:p>
        </p:txBody>
      </p:sp>
      <p:sp>
        <p:nvSpPr>
          <p:cNvPr id="15" name="Text 13"/>
          <p:cNvSpPr/>
          <p:nvPr/>
        </p:nvSpPr>
        <p:spPr>
          <a:xfrm>
            <a:off x="8321040" y="3840480"/>
            <a:ext cx="2880360" cy="365760"/>
          </a:xfrm>
          <a:prstGeom prst="rect">
            <a:avLst/>
          </a:prstGeom>
          <a:noFill/>
          <a:ln/>
        </p:spPr>
        <p:txBody>
          <a:bodyPr wrap="square" lIns="0" tIns="0" rIns="0" bIns="0" rtlCol="0" anchor="ctr"/>
          <a:lstStyle/>
          <a:p>
            <a:pPr indent="0" marL="0">
              <a:buNone/>
            </a:pPr>
            <a:r>
              <a:rPr lang="en-US" sz="1400" b="1" spc="150" kern="0" dirty="0">
                <a:solidFill>
                  <a:srgbClr val="0A7D28"/>
                </a:solidFill>
                <a:latin typeface="Calibri" pitchFamily="34" charset="0"/>
                <a:ea typeface="Calibri" pitchFamily="34" charset="-122"/>
                <a:cs typeface="Calibri" pitchFamily="34" charset="-120"/>
              </a:rPr>
              <a:t>PRIVATE</a:t>
            </a:r>
            <a:endParaRPr lang="en-US" sz="1400" dirty="0"/>
          </a:p>
        </p:txBody>
      </p:sp>
      <p:sp>
        <p:nvSpPr>
          <p:cNvPr id="16" name="Shape 14"/>
          <p:cNvSpPr/>
          <p:nvPr/>
        </p:nvSpPr>
        <p:spPr>
          <a:xfrm>
            <a:off x="777240" y="4709160"/>
            <a:ext cx="10634472" cy="1234440"/>
          </a:xfrm>
          <a:prstGeom prst="roundRect">
            <a:avLst>
              <a:gd name="adj" fmla="val 6667"/>
            </a:avLst>
          </a:prstGeom>
          <a:solidFill>
            <a:srgbClr val="FBF0EE"/>
          </a:solidFill>
          <a:ln w="12700">
            <a:solidFill>
              <a:srgbClr val="BE3A2B"/>
            </a:solidFill>
            <a:prstDash val="solid"/>
          </a:ln>
        </p:spPr>
      </p:sp>
      <p:sp>
        <p:nvSpPr>
          <p:cNvPr id="17" name="Text 15"/>
          <p:cNvSpPr/>
          <p:nvPr/>
        </p:nvSpPr>
        <p:spPr>
          <a:xfrm>
            <a:off x="1143000" y="4892040"/>
            <a:ext cx="10241280" cy="411480"/>
          </a:xfrm>
          <a:prstGeom prst="rect">
            <a:avLst/>
          </a:prstGeom>
          <a:noFill/>
          <a:ln/>
        </p:spPr>
        <p:txBody>
          <a:bodyPr wrap="square" lIns="0" tIns="0" rIns="0" bIns="0" rtlCol="0" anchor="ctr"/>
          <a:lstStyle/>
          <a:p>
            <a:pPr indent="0" marL="0">
              <a:buNone/>
            </a:pPr>
            <a:r>
              <a:rPr lang="en-US" sz="1700" b="1" dirty="0">
                <a:solidFill>
                  <a:srgbClr val="BE3A2B"/>
                </a:solidFill>
                <a:latin typeface="Cambria" pitchFamily="34" charset="0"/>
                <a:ea typeface="Cambria" pitchFamily="34" charset="-122"/>
                <a:cs typeface="Cambria" pitchFamily="34" charset="-120"/>
              </a:rPr>
              <a:t>Everything the frontend receives has been handed to the visitor to keep.</a:t>
            </a:r>
            <a:endParaRPr lang="en-US" sz="1700" dirty="0"/>
          </a:p>
        </p:txBody>
      </p:sp>
      <p:sp>
        <p:nvSpPr>
          <p:cNvPr id="18" name="Text 16"/>
          <p:cNvSpPr/>
          <p:nvPr/>
        </p:nvSpPr>
        <p:spPr>
          <a:xfrm>
            <a:off x="1143000" y="5321808"/>
            <a:ext cx="10241280" cy="457200"/>
          </a:xfrm>
          <a:prstGeom prst="rect">
            <a:avLst/>
          </a:prstGeom>
          <a:noFill/>
          <a:ln/>
        </p:spPr>
        <p:txBody>
          <a:bodyPr wrap="square" lIns="0" tIns="0" rIns="0" bIns="0" rtlCol="0" anchor="ctr"/>
          <a:lstStyle/>
          <a:p>
            <a:pPr indent="0" marL="0">
              <a:buNone/>
            </a:pPr>
            <a:r>
              <a:rPr lang="en-US" sz="1450" dirty="0">
                <a:solidFill>
                  <a:srgbClr val="BE3A2B"/>
                </a:solidFill>
                <a:latin typeface="Calibri" pitchFamily="34" charset="0"/>
                <a:ea typeface="Calibri" pitchFamily="34" charset="-122"/>
                <a:cs typeface="Calibri" pitchFamily="34" charset="-120"/>
              </a:rPr>
              <a:t>When someone opens your page you are not showing it to them. You are giving them a copy.</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1.1  ·  PROVE IT NOW</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Press F12 on any website</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sp>
      <p:sp>
        <p:nvSpPr>
          <p:cNvPr id="5" name="Text 3"/>
          <p:cNvSpPr/>
          <p:nvPr/>
        </p:nvSpPr>
        <p:spPr>
          <a:xfrm>
            <a:off x="1097280" y="196596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F12        or        right-click -&gt; Inspect</a:t>
            </a:r>
            <a:endParaRPr lang="en-US" sz="1600" dirty="0"/>
          </a:p>
        </p:txBody>
      </p:sp>
      <p:sp>
        <p:nvSpPr>
          <p:cNvPr id="6" name="Shape 4"/>
          <p:cNvSpPr/>
          <p:nvPr/>
        </p:nvSpPr>
        <p:spPr>
          <a:xfrm>
            <a:off x="777240" y="2880360"/>
            <a:ext cx="10634472" cy="1554480"/>
          </a:xfrm>
          <a:prstGeom prst="roundRect">
            <a:avLst>
              <a:gd name="adj" fmla="val 5294"/>
            </a:avLst>
          </a:prstGeom>
          <a:solidFill>
            <a:srgbClr val="F5F6F8"/>
          </a:solidFill>
          <a:ln w="12700">
            <a:solidFill>
              <a:srgbClr val="E1E4E9"/>
            </a:solidFill>
            <a:prstDash val="solid"/>
          </a:ln>
        </p:spPr>
      </p:sp>
      <p:sp>
        <p:nvSpPr>
          <p:cNvPr id="7" name="Text 5"/>
          <p:cNvSpPr/>
          <p:nvPr/>
        </p:nvSpPr>
        <p:spPr>
          <a:xfrm>
            <a:off x="1143000" y="3063240"/>
            <a:ext cx="10241280" cy="411480"/>
          </a:xfrm>
          <a:prstGeom prst="rect">
            <a:avLst/>
          </a:prstGeom>
          <a:noFill/>
          <a:ln/>
        </p:spPr>
        <p:txBody>
          <a:bodyPr wrap="square" lIns="0" tIns="0" rIns="0" bIns="0" rtlCol="0" anchor="ctr"/>
          <a:lstStyle/>
          <a:p>
            <a:pPr indent="0" marL="0">
              <a:buNone/>
            </a:pPr>
            <a:r>
              <a:rPr lang="en-US" sz="1800" b="1" dirty="0">
                <a:solidFill>
                  <a:srgbClr val="15181F"/>
                </a:solidFill>
                <a:latin typeface="Cambria" pitchFamily="34" charset="0"/>
                <a:ea typeface="Cambria" pitchFamily="34" charset="-122"/>
                <a:cs typeface="Cambria" pitchFamily="34" charset="-120"/>
              </a:rPr>
              <a:t>That panel lists every file the page sent you, and you can read all of them.</a:t>
            </a:r>
            <a:endParaRPr lang="en-US" sz="1800" dirty="0"/>
          </a:p>
        </p:txBody>
      </p:sp>
      <p:sp>
        <p:nvSpPr>
          <p:cNvPr id="8" name="Text 6"/>
          <p:cNvSpPr/>
          <p:nvPr/>
        </p:nvSpPr>
        <p:spPr>
          <a:xfrm>
            <a:off x="1143000" y="3520440"/>
            <a:ext cx="10241280" cy="73152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Text, styling, code, and anything you accidentally left inside. There is no setting that prevents this. It is how browsers work.</a:t>
            </a:r>
            <a:endParaRPr lang="en-US" sz="1500" dirty="0"/>
          </a:p>
        </p:txBody>
      </p:sp>
      <p:sp>
        <p:nvSpPr>
          <p:cNvPr id="9" name="Shape 7"/>
          <p:cNvSpPr/>
          <p:nvPr/>
        </p:nvSpPr>
        <p:spPr>
          <a:xfrm>
            <a:off x="777240" y="4800600"/>
            <a:ext cx="10634472" cy="1051560"/>
          </a:xfrm>
          <a:prstGeom prst="roundRect">
            <a:avLst>
              <a:gd name="adj" fmla="val 7826"/>
            </a:avLst>
          </a:prstGeom>
          <a:solidFill>
            <a:srgbClr val="FBF0EE"/>
          </a:solidFill>
          <a:ln w="12700">
            <a:solidFill>
              <a:srgbClr val="BE3A2B"/>
            </a:solidFill>
            <a:prstDash val="solid"/>
          </a:ln>
        </p:spPr>
      </p:sp>
      <p:sp>
        <p:nvSpPr>
          <p:cNvPr id="10" name="Text 8"/>
          <p:cNvSpPr/>
          <p:nvPr/>
        </p:nvSpPr>
        <p:spPr>
          <a:xfrm>
            <a:off x="1143000" y="4937760"/>
            <a:ext cx="10241280" cy="777240"/>
          </a:xfrm>
          <a:prstGeom prst="rect">
            <a:avLst/>
          </a:prstGeom>
          <a:noFill/>
          <a:ln/>
        </p:spPr>
        <p:txBody>
          <a:bodyPr wrap="square" lIns="0" tIns="0" rIns="0" bIns="0" rtlCol="0" anchor="ctr"/>
          <a:lstStyle/>
          <a:p>
            <a:pPr indent="0" marL="0">
              <a:buNone/>
            </a:pPr>
            <a:r>
              <a:rPr lang="en-US" sz="1600" b="1" dirty="0">
                <a:solidFill>
                  <a:srgbClr val="BE3A2B"/>
                </a:solidFill>
                <a:latin typeface="Calibri" pitchFamily="34" charset="0"/>
                <a:ea typeface="Calibri" pitchFamily="34" charset="-122"/>
                <a:cs typeface="Calibri" pitchFamily="34" charset="-120"/>
              </a:rPr>
              <a:t>In Part 2 this becomes the reason a project gets broken into.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Every action on the web is two steps</a:t>
            </a:r>
            <a:endParaRPr lang="en-US" sz="3100" dirty="0"/>
          </a:p>
        </p:txBody>
      </p:sp>
      <p:sp>
        <p:nvSpPr>
          <p:cNvPr id="4" name="Shape 2"/>
          <p:cNvSpPr/>
          <p:nvPr/>
        </p:nvSpPr>
        <p:spPr>
          <a:xfrm>
            <a:off x="1325880" y="2103120"/>
            <a:ext cx="3566160" cy="1417320"/>
          </a:xfrm>
          <a:prstGeom prst="roundRect">
            <a:avLst>
              <a:gd name="adj" fmla="val 5806"/>
            </a:avLst>
          </a:prstGeom>
          <a:solidFill>
            <a:srgbClr val="F5F6F8"/>
          </a:solidFill>
          <a:ln w="12700">
            <a:solidFill>
              <a:srgbClr val="F5F6F8"/>
            </a:solidFill>
            <a:prstDash val="solid"/>
          </a:ln>
        </p:spPr>
      </p:sp>
      <p:sp>
        <p:nvSpPr>
          <p:cNvPr id="5" name="Text 3"/>
          <p:cNvSpPr/>
          <p:nvPr/>
        </p:nvSpPr>
        <p:spPr>
          <a:xfrm>
            <a:off x="1417320" y="2304288"/>
            <a:ext cx="338328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Browser</a:t>
            </a:r>
            <a:endParaRPr lang="en-US" sz="1600" dirty="0"/>
          </a:p>
        </p:txBody>
      </p:sp>
      <p:sp>
        <p:nvSpPr>
          <p:cNvPr id="6" name="Shape 4"/>
          <p:cNvSpPr/>
          <p:nvPr/>
        </p:nvSpPr>
        <p:spPr>
          <a:xfrm>
            <a:off x="7543800" y="2103120"/>
            <a:ext cx="3566160" cy="1417320"/>
          </a:xfrm>
          <a:prstGeom prst="roundRect">
            <a:avLst>
              <a:gd name="adj" fmla="val 5806"/>
            </a:avLst>
          </a:prstGeom>
          <a:solidFill>
            <a:srgbClr val="00776A"/>
          </a:solidFill>
          <a:ln w="12700">
            <a:solidFill>
              <a:srgbClr val="00776A"/>
            </a:solidFill>
            <a:prstDash val="solid"/>
          </a:ln>
        </p:spPr>
      </p:sp>
      <p:sp>
        <p:nvSpPr>
          <p:cNvPr id="7" name="Text 5"/>
          <p:cNvSpPr/>
          <p:nvPr/>
        </p:nvSpPr>
        <p:spPr>
          <a:xfrm>
            <a:off x="7635240" y="2304288"/>
            <a:ext cx="33832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Server</a:t>
            </a:r>
            <a:endParaRPr lang="en-US" sz="1600" dirty="0"/>
          </a:p>
        </p:txBody>
      </p:sp>
      <p:sp>
        <p:nvSpPr>
          <p:cNvPr id="8" name="Shape 6"/>
          <p:cNvSpPr/>
          <p:nvPr/>
        </p:nvSpPr>
        <p:spPr>
          <a:xfrm>
            <a:off x="5074920" y="2423160"/>
            <a:ext cx="2286000" cy="219456"/>
          </a:xfrm>
          <a:prstGeom prst="rightArrow">
            <a:avLst/>
          </a:prstGeom>
          <a:solidFill>
            <a:srgbClr val="A9B0BB"/>
          </a:solidFill>
          <a:ln/>
        </p:spPr>
      </p:sp>
      <p:sp>
        <p:nvSpPr>
          <p:cNvPr id="9" name="Text 7"/>
          <p:cNvSpPr/>
          <p:nvPr/>
        </p:nvSpPr>
        <p:spPr>
          <a:xfrm>
            <a:off x="4663440" y="2039112"/>
            <a:ext cx="310896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1.  request</a:t>
            </a:r>
            <a:endParaRPr lang="en-US" sz="1050" dirty="0"/>
          </a:p>
        </p:txBody>
      </p:sp>
      <p:sp>
        <p:nvSpPr>
          <p:cNvPr id="10" name="Shape 8"/>
          <p:cNvSpPr/>
          <p:nvPr/>
        </p:nvSpPr>
        <p:spPr>
          <a:xfrm>
            <a:off x="5074920" y="3017520"/>
            <a:ext cx="2286000" cy="219456"/>
          </a:xfrm>
          <a:prstGeom prst="leftArrow">
            <a:avLst/>
          </a:prstGeom>
          <a:solidFill>
            <a:srgbClr val="A9B0BB"/>
          </a:solidFill>
          <a:ln/>
        </p:spPr>
      </p:sp>
      <p:sp>
        <p:nvSpPr>
          <p:cNvPr id="11" name="Text 9"/>
          <p:cNvSpPr/>
          <p:nvPr/>
        </p:nvSpPr>
        <p:spPr>
          <a:xfrm>
            <a:off x="4709160" y="3310128"/>
            <a:ext cx="301752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2.  response</a:t>
            </a:r>
            <a:endParaRPr lang="en-US" sz="1050" dirty="0"/>
          </a:p>
        </p:txBody>
      </p:sp>
      <p:sp>
        <p:nvSpPr>
          <p:cNvPr id="12" name="Shape 10"/>
          <p:cNvSpPr/>
          <p:nvPr/>
        </p:nvSpPr>
        <p:spPr>
          <a:xfrm>
            <a:off x="777240" y="4069080"/>
            <a:ext cx="10634472" cy="1005840"/>
          </a:xfrm>
          <a:prstGeom prst="roundRect">
            <a:avLst>
              <a:gd name="adj" fmla="val 8182"/>
            </a:avLst>
          </a:prstGeom>
          <a:solidFill>
            <a:srgbClr val="F5F6F8"/>
          </a:solidFill>
          <a:ln w="12700">
            <a:solidFill>
              <a:srgbClr val="E1E4E9"/>
            </a:solidFill>
            <a:prstDash val="solid"/>
          </a:ln>
        </p:spPr>
      </p:sp>
      <p:sp>
        <p:nvSpPr>
          <p:cNvPr id="13" name="Text 11"/>
          <p:cNvSpPr/>
          <p:nvPr/>
        </p:nvSpPr>
        <p:spPr>
          <a:xfrm>
            <a:off x="1143000" y="4251960"/>
            <a:ext cx="10241280" cy="548640"/>
          </a:xfrm>
          <a:prstGeom prst="rect">
            <a:avLst/>
          </a:prstGeom>
          <a:noFill/>
          <a:ln/>
        </p:spPr>
        <p:txBody>
          <a:bodyPr wrap="square" lIns="0" tIns="0" rIns="0" bIns="0" rtlCol="0" anchor="ctr"/>
          <a:lstStyle/>
          <a:p>
            <a:pPr indent="0" marL="0">
              <a:buNone/>
            </a:pPr>
            <a:r>
              <a:rPr lang="en-US" sz="1600" dirty="0">
                <a:solidFill>
                  <a:srgbClr val="15181F"/>
                </a:solidFill>
                <a:latin typeface="Calibri" pitchFamily="34" charset="0"/>
                <a:ea typeface="Calibri" pitchFamily="34" charset="-122"/>
                <a:cs typeface="Calibri" pitchFamily="34" charset="-120"/>
              </a:rPr>
              <a:t>Loading a page. Pressing a button. Sending a message. All the same shape.</a:t>
            </a:r>
            <a:endParaRPr lang="en-US" sz="1600" dirty="0"/>
          </a:p>
        </p:txBody>
      </p:sp>
      <p:sp>
        <p:nvSpPr>
          <p:cNvPr id="14" name="Text 12"/>
          <p:cNvSpPr/>
          <p:nvPr/>
        </p:nvSpPr>
        <p:spPr>
          <a:xfrm>
            <a:off x="777240" y="5349240"/>
            <a:ext cx="10634472" cy="82296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Your job is to write the code that decides what goes in the response.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Learn to read four numbers</a:t>
            </a:r>
            <a:endParaRPr lang="en-US" sz="3100" dirty="0"/>
          </a:p>
        </p:txBody>
      </p:sp>
      <p:sp>
        <p:nvSpPr>
          <p:cNvPr id="4" name="Shape 2"/>
          <p:cNvSpPr/>
          <p:nvPr/>
        </p:nvSpPr>
        <p:spPr>
          <a:xfrm>
            <a:off x="777240" y="1783080"/>
            <a:ext cx="10634472" cy="914400"/>
          </a:xfrm>
          <a:prstGeom prst="roundRect">
            <a:avLst>
              <a:gd name="adj" fmla="val 9000"/>
            </a:avLst>
          </a:prstGeom>
          <a:solidFill>
            <a:srgbClr val="F5F6F8"/>
          </a:solidFill>
          <a:ln w="12700">
            <a:solidFill>
              <a:srgbClr val="E1E4E9"/>
            </a:solidFill>
            <a:prstDash val="solid"/>
          </a:ln>
        </p:spPr>
      </p:sp>
      <p:sp>
        <p:nvSpPr>
          <p:cNvPr id="5" name="Text 3"/>
          <p:cNvSpPr/>
          <p:nvPr/>
        </p:nvSpPr>
        <p:spPr>
          <a:xfrm>
            <a:off x="1143000" y="1801368"/>
            <a:ext cx="1371600" cy="877824"/>
          </a:xfrm>
          <a:prstGeom prst="rect">
            <a:avLst/>
          </a:prstGeom>
          <a:noFill/>
          <a:ln/>
        </p:spPr>
        <p:txBody>
          <a:bodyPr wrap="square" lIns="0" tIns="0" rIns="0" bIns="0" rtlCol="0" anchor="ctr"/>
          <a:lstStyle/>
          <a:p>
            <a:pPr indent="0" marL="0">
              <a:buNone/>
            </a:pPr>
            <a:r>
              <a:rPr lang="en-US" sz="3000" b="1" dirty="0">
                <a:solidFill>
                  <a:srgbClr val="0A7D28"/>
                </a:solidFill>
                <a:latin typeface="Cambria" pitchFamily="34" charset="0"/>
                <a:ea typeface="Cambria" pitchFamily="34" charset="-122"/>
                <a:cs typeface="Cambria" pitchFamily="34" charset="-120"/>
              </a:rPr>
              <a:t>200</a:t>
            </a:r>
            <a:endParaRPr lang="en-US" sz="3000" dirty="0"/>
          </a:p>
        </p:txBody>
      </p:sp>
      <p:sp>
        <p:nvSpPr>
          <p:cNvPr id="6" name="Text 4"/>
          <p:cNvSpPr/>
          <p:nvPr/>
        </p:nvSpPr>
        <p:spPr>
          <a:xfrm>
            <a:off x="2788920" y="1801368"/>
            <a:ext cx="8503920" cy="877824"/>
          </a:xfrm>
          <a:prstGeom prst="rect">
            <a:avLst/>
          </a:prstGeom>
          <a:noFill/>
          <a:ln/>
        </p:spPr>
        <p:txBody>
          <a:bodyPr wrap="square" lIns="0" tIns="0" rIns="0" bIns="0" rtlCol="0" anchor="ctr"/>
          <a:lstStyle/>
          <a:p>
            <a:pPr indent="0" marL="0">
              <a:buNone/>
            </a:pPr>
            <a:r>
              <a:rPr lang="en-US" sz="1700" dirty="0">
                <a:solidFill>
                  <a:srgbClr val="15181F"/>
                </a:solidFill>
                <a:latin typeface="Calibri" pitchFamily="34" charset="0"/>
                <a:ea typeface="Calibri" pitchFamily="34" charset="-122"/>
                <a:cs typeface="Calibri" pitchFamily="34" charset="-120"/>
              </a:rPr>
              <a:t>fine</a:t>
            </a:r>
            <a:endParaRPr lang="en-US" sz="1700" dirty="0"/>
          </a:p>
        </p:txBody>
      </p:sp>
      <p:sp>
        <p:nvSpPr>
          <p:cNvPr id="7" name="Shape 5"/>
          <p:cNvSpPr/>
          <p:nvPr/>
        </p:nvSpPr>
        <p:spPr>
          <a:xfrm>
            <a:off x="777240" y="2834640"/>
            <a:ext cx="10634472" cy="914400"/>
          </a:xfrm>
          <a:prstGeom prst="roundRect">
            <a:avLst>
              <a:gd name="adj" fmla="val 9000"/>
            </a:avLst>
          </a:prstGeom>
          <a:solidFill>
            <a:srgbClr val="F5F6F8"/>
          </a:solidFill>
          <a:ln w="12700">
            <a:solidFill>
              <a:srgbClr val="E1E4E9"/>
            </a:solidFill>
            <a:prstDash val="solid"/>
          </a:ln>
        </p:spPr>
      </p:sp>
      <p:sp>
        <p:nvSpPr>
          <p:cNvPr id="8" name="Text 6"/>
          <p:cNvSpPr/>
          <p:nvPr/>
        </p:nvSpPr>
        <p:spPr>
          <a:xfrm>
            <a:off x="1143000" y="2852928"/>
            <a:ext cx="1371600" cy="877824"/>
          </a:xfrm>
          <a:prstGeom prst="rect">
            <a:avLst/>
          </a:prstGeom>
          <a:noFill/>
          <a:ln/>
        </p:spPr>
        <p:txBody>
          <a:bodyPr wrap="square" lIns="0" tIns="0" rIns="0" bIns="0" rtlCol="0" anchor="ctr"/>
          <a:lstStyle/>
          <a:p>
            <a:pPr indent="0" marL="0">
              <a:buNone/>
            </a:pPr>
            <a:r>
              <a:rPr lang="en-US" sz="3000" b="1" dirty="0">
                <a:solidFill>
                  <a:srgbClr val="A85F00"/>
                </a:solidFill>
                <a:latin typeface="Cambria" pitchFamily="34" charset="0"/>
                <a:ea typeface="Cambria" pitchFamily="34" charset="-122"/>
                <a:cs typeface="Cambria" pitchFamily="34" charset="-120"/>
              </a:rPr>
              <a:t>404</a:t>
            </a:r>
            <a:endParaRPr lang="en-US" sz="3000" dirty="0"/>
          </a:p>
        </p:txBody>
      </p:sp>
      <p:sp>
        <p:nvSpPr>
          <p:cNvPr id="9" name="Text 7"/>
          <p:cNvSpPr/>
          <p:nvPr/>
        </p:nvSpPr>
        <p:spPr>
          <a:xfrm>
            <a:off x="2788920" y="2852928"/>
            <a:ext cx="8503920" cy="877824"/>
          </a:xfrm>
          <a:prstGeom prst="rect">
            <a:avLst/>
          </a:prstGeom>
          <a:noFill/>
          <a:ln/>
        </p:spPr>
        <p:txBody>
          <a:bodyPr wrap="square" lIns="0" tIns="0" rIns="0" bIns="0" rtlCol="0" anchor="ctr"/>
          <a:lstStyle/>
          <a:p>
            <a:pPr indent="0" marL="0">
              <a:buNone/>
            </a:pPr>
            <a:r>
              <a:rPr lang="en-US" sz="1700" dirty="0">
                <a:solidFill>
                  <a:srgbClr val="15181F"/>
                </a:solidFill>
                <a:latin typeface="Calibri" pitchFamily="34" charset="0"/>
                <a:ea typeface="Calibri" pitchFamily="34" charset="-122"/>
                <a:cs typeface="Calibri" pitchFamily="34" charset="-120"/>
              </a:rPr>
              <a:t>there is nothing at that address</a:t>
            </a:r>
            <a:endParaRPr lang="en-US" sz="1700" dirty="0"/>
          </a:p>
        </p:txBody>
      </p:sp>
      <p:sp>
        <p:nvSpPr>
          <p:cNvPr id="10" name="Shape 8"/>
          <p:cNvSpPr/>
          <p:nvPr/>
        </p:nvSpPr>
        <p:spPr>
          <a:xfrm>
            <a:off x="777240" y="3886200"/>
            <a:ext cx="10634472" cy="914400"/>
          </a:xfrm>
          <a:prstGeom prst="roundRect">
            <a:avLst>
              <a:gd name="adj" fmla="val 9000"/>
            </a:avLst>
          </a:prstGeom>
          <a:solidFill>
            <a:srgbClr val="F5F6F8"/>
          </a:solidFill>
          <a:ln w="12700">
            <a:solidFill>
              <a:srgbClr val="E1E4E9"/>
            </a:solidFill>
            <a:prstDash val="solid"/>
          </a:ln>
        </p:spPr>
      </p:sp>
      <p:sp>
        <p:nvSpPr>
          <p:cNvPr id="11" name="Text 9"/>
          <p:cNvSpPr/>
          <p:nvPr/>
        </p:nvSpPr>
        <p:spPr>
          <a:xfrm>
            <a:off x="1143000" y="3904488"/>
            <a:ext cx="1371600" cy="877824"/>
          </a:xfrm>
          <a:prstGeom prst="rect">
            <a:avLst/>
          </a:prstGeom>
          <a:noFill/>
          <a:ln/>
        </p:spPr>
        <p:txBody>
          <a:bodyPr wrap="square" lIns="0" tIns="0" rIns="0" bIns="0" rtlCol="0" anchor="ctr"/>
          <a:lstStyle/>
          <a:p>
            <a:pPr indent="0" marL="0">
              <a:buNone/>
            </a:pPr>
            <a:r>
              <a:rPr lang="en-US" sz="3000" b="1" dirty="0">
                <a:solidFill>
                  <a:srgbClr val="A85F00"/>
                </a:solidFill>
                <a:latin typeface="Cambria" pitchFamily="34" charset="0"/>
                <a:ea typeface="Cambria" pitchFamily="34" charset="-122"/>
                <a:cs typeface="Cambria" pitchFamily="34" charset="-120"/>
              </a:rPr>
              <a:t>422</a:t>
            </a:r>
            <a:endParaRPr lang="en-US" sz="3000" dirty="0"/>
          </a:p>
        </p:txBody>
      </p:sp>
      <p:sp>
        <p:nvSpPr>
          <p:cNvPr id="12" name="Text 10"/>
          <p:cNvSpPr/>
          <p:nvPr/>
        </p:nvSpPr>
        <p:spPr>
          <a:xfrm>
            <a:off x="2788920" y="3904488"/>
            <a:ext cx="8503920" cy="877824"/>
          </a:xfrm>
          <a:prstGeom prst="rect">
            <a:avLst/>
          </a:prstGeom>
          <a:noFill/>
          <a:ln/>
        </p:spPr>
        <p:txBody>
          <a:bodyPr wrap="square" lIns="0" tIns="0" rIns="0" bIns="0" rtlCol="0" anchor="ctr"/>
          <a:lstStyle/>
          <a:p>
            <a:pPr indent="0" marL="0">
              <a:buNone/>
            </a:pPr>
            <a:r>
              <a:rPr lang="en-US" sz="1700" dirty="0">
                <a:solidFill>
                  <a:srgbClr val="15181F"/>
                </a:solidFill>
                <a:latin typeface="Calibri" pitchFamily="34" charset="0"/>
                <a:ea typeface="Calibri" pitchFamily="34" charset="-122"/>
                <a:cs typeface="Calibri" pitchFamily="34" charset="-120"/>
              </a:rPr>
              <a:t>you sent something, but it was the wrong shape</a:t>
            </a:r>
            <a:endParaRPr lang="en-US" sz="1700" dirty="0"/>
          </a:p>
        </p:txBody>
      </p:sp>
      <p:sp>
        <p:nvSpPr>
          <p:cNvPr id="13" name="Shape 11"/>
          <p:cNvSpPr/>
          <p:nvPr/>
        </p:nvSpPr>
        <p:spPr>
          <a:xfrm>
            <a:off x="777240" y="4937760"/>
            <a:ext cx="10634472" cy="914400"/>
          </a:xfrm>
          <a:prstGeom prst="roundRect">
            <a:avLst>
              <a:gd name="adj" fmla="val 9000"/>
            </a:avLst>
          </a:prstGeom>
          <a:solidFill>
            <a:srgbClr val="F5F6F8"/>
          </a:solidFill>
          <a:ln w="12700">
            <a:solidFill>
              <a:srgbClr val="E1E4E9"/>
            </a:solidFill>
            <a:prstDash val="solid"/>
          </a:ln>
        </p:spPr>
      </p:sp>
      <p:sp>
        <p:nvSpPr>
          <p:cNvPr id="14" name="Text 12"/>
          <p:cNvSpPr/>
          <p:nvPr/>
        </p:nvSpPr>
        <p:spPr>
          <a:xfrm>
            <a:off x="1143000" y="4956048"/>
            <a:ext cx="1371600" cy="877824"/>
          </a:xfrm>
          <a:prstGeom prst="rect">
            <a:avLst/>
          </a:prstGeom>
          <a:noFill/>
          <a:ln/>
        </p:spPr>
        <p:txBody>
          <a:bodyPr wrap="square" lIns="0" tIns="0" rIns="0" bIns="0" rtlCol="0" anchor="ctr"/>
          <a:lstStyle/>
          <a:p>
            <a:pPr indent="0" marL="0">
              <a:buNone/>
            </a:pPr>
            <a:r>
              <a:rPr lang="en-US" sz="3000" b="1" dirty="0">
                <a:solidFill>
                  <a:srgbClr val="BE3A2B"/>
                </a:solidFill>
                <a:latin typeface="Cambria" pitchFamily="34" charset="0"/>
                <a:ea typeface="Cambria" pitchFamily="34" charset="-122"/>
                <a:cs typeface="Cambria" pitchFamily="34" charset="-120"/>
              </a:rPr>
              <a:t>500</a:t>
            </a:r>
            <a:endParaRPr lang="en-US" sz="3000" dirty="0"/>
          </a:p>
        </p:txBody>
      </p:sp>
      <p:sp>
        <p:nvSpPr>
          <p:cNvPr id="15" name="Text 13"/>
          <p:cNvSpPr/>
          <p:nvPr/>
        </p:nvSpPr>
        <p:spPr>
          <a:xfrm>
            <a:off x="2788920" y="4956048"/>
            <a:ext cx="8503920" cy="877824"/>
          </a:xfrm>
          <a:prstGeom prst="rect">
            <a:avLst/>
          </a:prstGeom>
          <a:noFill/>
          <a:ln/>
        </p:spPr>
        <p:txBody>
          <a:bodyPr wrap="square" lIns="0" tIns="0" rIns="0" bIns="0" rtlCol="0" anchor="ctr"/>
          <a:lstStyle/>
          <a:p>
            <a:pPr indent="0" marL="0">
              <a:buNone/>
            </a:pPr>
            <a:r>
              <a:rPr lang="en-US" sz="1700" dirty="0">
                <a:solidFill>
                  <a:srgbClr val="15181F"/>
                </a:solidFill>
                <a:latin typeface="Calibri" pitchFamily="34" charset="0"/>
                <a:ea typeface="Calibri" pitchFamily="34" charset="-122"/>
                <a:cs typeface="Calibri" pitchFamily="34" charset="-120"/>
              </a:rPr>
              <a:t>your code crashed</a:t>
            </a:r>
            <a:endParaRPr lang="en-US" sz="1700" dirty="0"/>
          </a:p>
        </p:txBody>
      </p:sp>
      <p:sp>
        <p:nvSpPr>
          <p:cNvPr id="16" name="Text 14"/>
          <p:cNvSpPr/>
          <p:nvPr/>
        </p:nvSpPr>
        <p:spPr>
          <a:xfrm>
            <a:off x="777240" y="5989320"/>
            <a:ext cx="10634472" cy="822960"/>
          </a:xfrm>
          <a:prstGeom prst="rect">
            <a:avLst/>
          </a:prstGeom>
          <a:noFill/>
          <a:ln/>
        </p:spPr>
        <p:txBody>
          <a:bodyPr wrap="square" lIns="0" tIns="0" rIns="0" bIns="0" rtlCol="0" anchor="ctr"/>
          <a:lstStyle/>
          <a:p>
            <a:pPr indent="0" marL="0">
              <a:buNone/>
            </a:pPr>
            <a:r>
              <a:rPr lang="en-US" sz="1800" b="1" dirty="0">
                <a:solidFill>
                  <a:srgbClr val="00776A"/>
                </a:solidFill>
                <a:latin typeface="Cambria" pitchFamily="34" charset="0"/>
                <a:ea typeface="Cambria" pitchFamily="34" charset="-122"/>
                <a:cs typeface="Cambria" pitchFamily="34" charset="-120"/>
              </a:rPr>
              <a:t>404 and 500 are completely different problems.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a server is</a:t>
            </a:r>
            <a:endParaRPr lang="en-US" sz="3100" dirty="0"/>
          </a:p>
        </p:txBody>
      </p:sp>
      <p:sp>
        <p:nvSpPr>
          <p:cNvPr id="4" name="Shape 2"/>
          <p:cNvSpPr/>
          <p:nvPr/>
        </p:nvSpPr>
        <p:spPr>
          <a:xfrm>
            <a:off x="777240" y="1691640"/>
            <a:ext cx="5120640" cy="1691640"/>
          </a:xfrm>
          <a:prstGeom prst="roundRect">
            <a:avLst>
              <a:gd name="adj" fmla="val 4865"/>
            </a:avLst>
          </a:prstGeom>
          <a:solidFill>
            <a:srgbClr val="F5F6F8"/>
          </a:solidFill>
          <a:ln w="12700">
            <a:solidFill>
              <a:srgbClr val="F5F6F8"/>
            </a:solidFill>
            <a:prstDash val="solid"/>
          </a:ln>
        </p:spPr>
      </p:sp>
      <p:sp>
        <p:nvSpPr>
          <p:cNvPr id="5" name="Text 3"/>
          <p:cNvSpPr/>
          <p:nvPr/>
        </p:nvSpPr>
        <p:spPr>
          <a:xfrm>
            <a:off x="868680" y="1892808"/>
            <a:ext cx="493776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Your laptop</a:t>
            </a:r>
            <a:endParaRPr lang="en-US" sz="1600" dirty="0"/>
          </a:p>
        </p:txBody>
      </p:sp>
      <p:sp>
        <p:nvSpPr>
          <p:cNvPr id="6" name="Text 4"/>
          <p:cNvSpPr/>
          <p:nvPr/>
        </p:nvSpPr>
        <p:spPr>
          <a:xfrm>
            <a:off x="886968" y="2331720"/>
            <a:ext cx="4901184" cy="914400"/>
          </a:xfrm>
          <a:prstGeom prst="rect">
            <a:avLst/>
          </a:prstGeom>
          <a:noFill/>
          <a:ln/>
        </p:spPr>
        <p:txBody>
          <a:bodyPr wrap="square" lIns="0" tIns="0" rIns="0" bIns="0" rtlCol="0" anchor="ctr"/>
          <a:lstStyle/>
          <a:p>
            <a:pPr algn="ctr" indent="0" marL="0">
              <a:buNone/>
            </a:pPr>
            <a:r>
              <a:rPr lang="en-US" sz="1200" dirty="0">
                <a:solidFill>
                  <a:srgbClr val="5C6470"/>
                </a:solidFill>
                <a:latin typeface="Calibri" pitchFamily="34" charset="0"/>
                <a:ea typeface="Calibri" pitchFamily="34" charset="-122"/>
                <a:cs typeface="Calibri" pitchFamily="34" charset="-120"/>
              </a:rPr>
              <a:t>on when you open it</a:t>
            </a:r>
            <a:endParaRPr lang="en-US" sz="1200" dirty="0"/>
          </a:p>
          <a:p>
            <a:pPr algn="ctr" indent="0" marL="0">
              <a:buNone/>
            </a:pPr>
            <a:r>
              <a:rPr lang="en-US" sz="1200" dirty="0">
                <a:solidFill>
                  <a:srgbClr val="5C6470"/>
                </a:solidFill>
                <a:latin typeface="Calibri" pitchFamily="34" charset="0"/>
                <a:ea typeface="Calibri" pitchFamily="34" charset="-122"/>
                <a:cs typeface="Calibri" pitchFamily="34" charset="-120"/>
              </a:rPr>
              <a:t>off when you close it</a:t>
            </a:r>
            <a:endParaRPr lang="en-US" sz="1200" dirty="0"/>
          </a:p>
        </p:txBody>
      </p:sp>
      <p:sp>
        <p:nvSpPr>
          <p:cNvPr id="7" name="Shape 5"/>
          <p:cNvSpPr/>
          <p:nvPr/>
        </p:nvSpPr>
        <p:spPr>
          <a:xfrm>
            <a:off x="6446520" y="1691640"/>
            <a:ext cx="5120640" cy="1691640"/>
          </a:xfrm>
          <a:prstGeom prst="roundRect">
            <a:avLst>
              <a:gd name="adj" fmla="val 4865"/>
            </a:avLst>
          </a:prstGeom>
          <a:solidFill>
            <a:srgbClr val="00776A"/>
          </a:solidFill>
          <a:ln w="12700">
            <a:solidFill>
              <a:srgbClr val="00776A"/>
            </a:solidFill>
            <a:prstDash val="solid"/>
          </a:ln>
        </p:spPr>
      </p:sp>
      <p:sp>
        <p:nvSpPr>
          <p:cNvPr id="8" name="Text 6"/>
          <p:cNvSpPr/>
          <p:nvPr/>
        </p:nvSpPr>
        <p:spPr>
          <a:xfrm>
            <a:off x="6537960" y="1892808"/>
            <a:ext cx="49377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 server</a:t>
            </a:r>
            <a:endParaRPr lang="en-US" sz="1600" dirty="0"/>
          </a:p>
        </p:txBody>
      </p:sp>
      <p:sp>
        <p:nvSpPr>
          <p:cNvPr id="9" name="Text 7"/>
          <p:cNvSpPr/>
          <p:nvPr/>
        </p:nvSpPr>
        <p:spPr>
          <a:xfrm>
            <a:off x="6556248" y="2331720"/>
            <a:ext cx="4901184" cy="914400"/>
          </a:xfrm>
          <a:prstGeom prst="rect">
            <a:avLst/>
          </a:prstGeom>
          <a:noFill/>
          <a:ln/>
        </p:spPr>
        <p:txBody>
          <a:bodyPr wrap="square" lIns="0" tIns="0" rIns="0" bIns="0" rtlCol="0" anchor="ctr"/>
          <a:lstStyle/>
          <a:p>
            <a:pPr algn="ctr" indent="0" marL="0">
              <a:buNone/>
            </a:pPr>
            <a:r>
              <a:rPr lang="en-US" sz="1200" dirty="0">
                <a:solidFill>
                  <a:srgbClr val="C9D0DC"/>
                </a:solidFill>
                <a:latin typeface="Calibri" pitchFamily="34" charset="0"/>
                <a:ea typeface="Calibri" pitchFamily="34" charset="-122"/>
                <a:cs typeface="Calibri" pitchFamily="34" charset="-120"/>
              </a:rPr>
              <a:t>on all the time</a:t>
            </a:r>
            <a:endParaRPr lang="en-US" sz="1200" dirty="0"/>
          </a:p>
          <a:p>
            <a:pPr algn="ctr" indent="0" marL="0">
              <a:buNone/>
            </a:pPr>
            <a:r>
              <a:rPr lang="en-US" sz="1200" dirty="0">
                <a:solidFill>
                  <a:srgbClr val="C9D0DC"/>
                </a:solidFill>
                <a:latin typeface="Calibri" pitchFamily="34" charset="0"/>
                <a:ea typeface="Calibri" pitchFamily="34" charset="-122"/>
                <a:cs typeface="Calibri" pitchFamily="34" charset="-120"/>
              </a:rPr>
              <a:t>waiting for requests</a:t>
            </a:r>
            <a:endParaRPr lang="en-US" sz="1200" dirty="0"/>
          </a:p>
        </p:txBody>
      </p:sp>
      <p:sp>
        <p:nvSpPr>
          <p:cNvPr id="10" name="Text 8"/>
          <p:cNvSpPr/>
          <p:nvPr/>
        </p:nvSpPr>
        <p:spPr>
          <a:xfrm>
            <a:off x="777240" y="3611880"/>
            <a:ext cx="10634472" cy="73152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A server is a computer that stays switched on. That is the whole idea. For Parts 2 and most of 3, the server is your own laptop.</a:t>
            </a:r>
            <a:endParaRPr lang="en-US" sz="1600" dirty="0"/>
          </a:p>
        </p:txBody>
      </p:sp>
      <p:sp>
        <p:nvSpPr>
          <p:cNvPr id="11" name="Shape 9"/>
          <p:cNvSpPr/>
          <p:nvPr/>
        </p:nvSpPr>
        <p:spPr>
          <a:xfrm>
            <a:off x="777240" y="4526280"/>
            <a:ext cx="10634472" cy="594360"/>
          </a:xfrm>
          <a:prstGeom prst="roundRect">
            <a:avLst>
              <a:gd name="adj" fmla="val 13846"/>
            </a:avLst>
          </a:prstGeom>
          <a:solidFill>
            <a:srgbClr val="FFF8E8"/>
          </a:solidFill>
          <a:ln w="12700">
            <a:solidFill>
              <a:srgbClr val="E5BC64"/>
            </a:solidFill>
            <a:prstDash val="solid"/>
          </a:ln>
        </p:spPr>
      </p:sp>
      <p:sp>
        <p:nvSpPr>
          <p:cNvPr id="12" name="Text 10"/>
          <p:cNvSpPr/>
          <p:nvPr/>
        </p:nvSpPr>
        <p:spPr>
          <a:xfrm>
            <a:off x="1051560" y="454456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port</a:t>
            </a:r>
            <a:endParaRPr lang="en-US" sz="1400" dirty="0"/>
          </a:p>
        </p:txBody>
      </p:sp>
      <p:sp>
        <p:nvSpPr>
          <p:cNvPr id="13" name="Text 11"/>
          <p:cNvSpPr/>
          <p:nvPr/>
        </p:nvSpPr>
        <p:spPr>
          <a:xfrm>
            <a:off x="4251960" y="454456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the :8000 in 127.0.0.1:8000 - which program on that computer</a:t>
            </a:r>
            <a:endParaRPr lang="en-US" sz="1350" dirty="0"/>
          </a:p>
        </p:txBody>
      </p:sp>
      <p:sp>
        <p:nvSpPr>
          <p:cNvPr id="14" name="Shape 12"/>
          <p:cNvSpPr/>
          <p:nvPr/>
        </p:nvSpPr>
        <p:spPr>
          <a:xfrm>
            <a:off x="777240" y="5212080"/>
            <a:ext cx="10634472" cy="594360"/>
          </a:xfrm>
          <a:prstGeom prst="roundRect">
            <a:avLst>
              <a:gd name="adj" fmla="val 13846"/>
            </a:avLst>
          </a:prstGeom>
          <a:solidFill>
            <a:srgbClr val="FFF8E8"/>
          </a:solidFill>
          <a:ln w="12700">
            <a:solidFill>
              <a:srgbClr val="E5BC64"/>
            </a:solidFill>
            <a:prstDash val="solid"/>
          </a:ln>
        </p:spPr>
      </p:sp>
      <p:sp>
        <p:nvSpPr>
          <p:cNvPr id="15" name="Text 13"/>
          <p:cNvSpPr/>
          <p:nvPr/>
        </p:nvSpPr>
        <p:spPr>
          <a:xfrm>
            <a:off x="1051560" y="523036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localhost</a:t>
            </a:r>
            <a:endParaRPr lang="en-US" sz="1400" dirty="0"/>
          </a:p>
        </p:txBody>
      </p:sp>
      <p:sp>
        <p:nvSpPr>
          <p:cNvPr id="16" name="Text 14"/>
          <p:cNvSpPr/>
          <p:nvPr/>
        </p:nvSpPr>
        <p:spPr>
          <a:xfrm>
            <a:off x="4251960" y="523036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'this computer, right here' - and which computer that is, changes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1463040"/>
            <a:ext cx="100584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cloud"</a:t>
            </a:r>
            <a:endParaRPr lang="en-US" sz="3400" dirty="0"/>
          </a:p>
        </p:txBody>
      </p:sp>
      <p:sp>
        <p:nvSpPr>
          <p:cNvPr id="3" name="Text 1"/>
          <p:cNvSpPr/>
          <p:nvPr/>
        </p:nvSpPr>
        <p:spPr>
          <a:xfrm>
            <a:off x="777240" y="2377440"/>
            <a:ext cx="10424160" cy="1280160"/>
          </a:xfrm>
          <a:prstGeom prst="rect">
            <a:avLst/>
          </a:prstGeom>
          <a:noFill/>
          <a:ln/>
        </p:spPr>
        <p:txBody>
          <a:bodyPr wrap="square" lIns="0" tIns="0" rIns="0" bIns="0" rtlCol="0" anchor="ctr"/>
          <a:lstStyle/>
          <a:p>
            <a:pPr indent="0" marL="0">
              <a:lnSpc>
                <a:spcPts val="3600"/>
              </a:lnSpc>
              <a:buNone/>
            </a:pPr>
            <a:r>
              <a:rPr lang="en-US" sz="2800" b="1" dirty="0">
                <a:solidFill>
                  <a:srgbClr val="3ACFB6"/>
                </a:solidFill>
                <a:latin typeface="Cambria" pitchFamily="34" charset="0"/>
                <a:ea typeface="Cambria" pitchFamily="34" charset="-122"/>
                <a:cs typeface="Cambria" pitchFamily="34" charset="-120"/>
              </a:rPr>
              <a:t>Someone else's computer, in a building somewhere,</a:t>
            </a:r>
            <a:endParaRPr lang="en-US" sz="2800" dirty="0"/>
          </a:p>
          <a:p>
            <a:pPr indent="0" marL="0">
              <a:lnSpc>
                <a:spcPts val="3600"/>
              </a:lnSpc>
              <a:buNone/>
            </a:pPr>
            <a:r>
              <a:rPr lang="en-US" sz="2800" b="1" dirty="0">
                <a:solidFill>
                  <a:srgbClr val="3ACFB6"/>
                </a:solidFill>
                <a:latin typeface="Cambria" pitchFamily="34" charset="0"/>
                <a:ea typeface="Cambria" pitchFamily="34" charset="-122"/>
                <a:cs typeface="Cambria" pitchFamily="34" charset="-120"/>
              </a:rPr>
              <a:t>rented to you by the hour.</a:t>
            </a:r>
            <a:endParaRPr lang="en-US" sz="2800" dirty="0"/>
          </a:p>
        </p:txBody>
      </p:sp>
      <p:sp>
        <p:nvSpPr>
          <p:cNvPr id="4" name="Text 2"/>
          <p:cNvSpPr/>
          <p:nvPr/>
        </p:nvSpPr>
        <p:spPr>
          <a:xfrm>
            <a:off x="777240" y="3977640"/>
            <a:ext cx="10241280" cy="822960"/>
          </a:xfrm>
          <a:prstGeom prst="rect">
            <a:avLst/>
          </a:prstGeom>
          <a:noFill/>
          <a:ln/>
        </p:spPr>
        <p:txBody>
          <a:bodyPr wrap="square" lIns="0" tIns="0" rIns="0" bIns="0" rtlCol="0" anchor="ctr"/>
          <a:lstStyle/>
          <a:p>
            <a:pPr indent="0" marL="0">
              <a:buNone/>
            </a:pPr>
            <a:r>
              <a:rPr lang="en-US" sz="1500" dirty="0">
                <a:solidFill>
                  <a:srgbClr val="98A0AC"/>
                </a:solidFill>
                <a:latin typeface="Calibri" pitchFamily="34" charset="0"/>
                <a:ea typeface="Calibri" pitchFamily="34" charset="-122"/>
                <a:cs typeface="Calibri" pitchFamily="34" charset="-120"/>
              </a:rPr>
              <a:t>That is not a joke or a simplification. The word makes it sound weightless. It is a building with air conditioning and a large electricity bill.</a:t>
            </a:r>
            <a:endParaRPr lang="en-US" sz="1500" dirty="0"/>
          </a:p>
        </p:txBody>
      </p:sp>
      <p:sp>
        <p:nvSpPr>
          <p:cNvPr id="5" name="Text 3"/>
          <p:cNvSpPr/>
          <p:nvPr/>
        </p:nvSpPr>
        <p:spPr>
          <a:xfrm>
            <a:off x="777240" y="5120640"/>
            <a:ext cx="1042416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What you are actually renting:  uptime  ·  a permanent address  ·  maintenance  ·  more capacity when you need it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1.5  ·  THE SECTION THAT TRANSFERS TO EVERY PROJECT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There are four ways to host code</a:t>
            </a:r>
            <a:endParaRPr lang="en-US" sz="3100" dirty="0"/>
          </a:p>
        </p:txBody>
      </p:sp>
      <p:sp>
        <p:nvSpPr>
          <p:cNvPr id="4" name="Text 2"/>
          <p:cNvSpPr/>
          <p:nvPr/>
        </p:nvSpPr>
        <p:spPr>
          <a:xfrm>
            <a:off x="777240" y="1371600"/>
            <a:ext cx="10634472" cy="365760"/>
          </a:xfrm>
          <a:prstGeom prst="rect">
            <a:avLst/>
          </a:prstGeom>
          <a:noFill/>
          <a:ln/>
        </p:spPr>
        <p:txBody>
          <a:bodyPr wrap="square" lIns="0" tIns="0" rIns="0" bIns="0" rtlCol="0" anchor="ctr"/>
          <a:lstStyle/>
          <a:p>
            <a:pPr indent="0" marL="0">
              <a:buNone/>
            </a:pPr>
            <a:r>
              <a:rPr lang="en-US" sz="1700" dirty="0">
                <a:solidFill>
                  <a:srgbClr val="5C6470"/>
                </a:solidFill>
                <a:latin typeface="Calibri" pitchFamily="34" charset="0"/>
                <a:ea typeface="Calibri" pitchFamily="34" charset="-122"/>
                <a:cs typeface="Calibri" pitchFamily="34" charset="-120"/>
              </a:rPr>
              <a:t>They differ in one thing: how much you hand over.</a:t>
            </a:r>
            <a:endParaRPr lang="en-US" sz="1700" dirty="0"/>
          </a:p>
        </p:txBody>
      </p:sp>
      <p:sp>
        <p:nvSpPr>
          <p:cNvPr id="5" name="Shape 3"/>
          <p:cNvSpPr/>
          <p:nvPr/>
        </p:nvSpPr>
        <p:spPr>
          <a:xfrm>
            <a:off x="777240" y="1920240"/>
            <a:ext cx="10634472" cy="932688"/>
          </a:xfrm>
          <a:prstGeom prst="roundRect">
            <a:avLst>
              <a:gd name="adj" fmla="val 8824"/>
            </a:avLst>
          </a:prstGeom>
          <a:solidFill>
            <a:srgbClr val="F5F6F8"/>
          </a:solidFill>
          <a:ln w="12700">
            <a:solidFill>
              <a:srgbClr val="E1E4E9"/>
            </a:solidFill>
            <a:prstDash val="solid"/>
          </a:ln>
        </p:spPr>
      </p:sp>
      <p:sp>
        <p:nvSpPr>
          <p:cNvPr id="6" name="Text 4"/>
          <p:cNvSpPr/>
          <p:nvPr/>
        </p:nvSpPr>
        <p:spPr>
          <a:xfrm>
            <a:off x="1097280" y="1938528"/>
            <a:ext cx="2194560" cy="896112"/>
          </a:xfrm>
          <a:prstGeom prst="rect">
            <a:avLst/>
          </a:prstGeom>
          <a:noFill/>
          <a:ln/>
        </p:spPr>
        <p:txBody>
          <a:bodyPr wrap="square" lIns="0" tIns="0" rIns="0" bIns="0" rtlCol="0" anchor="ctr"/>
          <a:lstStyle/>
          <a:p>
            <a:pPr indent="0" marL="0">
              <a:buNone/>
            </a:pPr>
            <a:r>
              <a:rPr lang="en-US" sz="1900" b="1" dirty="0">
                <a:solidFill>
                  <a:srgbClr val="15181F"/>
                </a:solidFill>
                <a:latin typeface="Cambria" pitchFamily="34" charset="0"/>
                <a:ea typeface="Cambria" pitchFamily="34" charset="-122"/>
                <a:cs typeface="Cambria" pitchFamily="34" charset="-120"/>
              </a:rPr>
              <a:t>Static</a:t>
            </a:r>
            <a:endParaRPr lang="en-US" sz="1900" dirty="0"/>
          </a:p>
        </p:txBody>
      </p:sp>
      <p:sp>
        <p:nvSpPr>
          <p:cNvPr id="7" name="Text 5"/>
          <p:cNvSpPr/>
          <p:nvPr/>
        </p:nvSpPr>
        <p:spPr>
          <a:xfrm>
            <a:off x="3429000" y="1938528"/>
            <a:ext cx="3931920" cy="896112"/>
          </a:xfrm>
          <a:prstGeom prst="rect">
            <a:avLst/>
          </a:prstGeom>
          <a:noFill/>
          <a:ln/>
        </p:spPr>
        <p:txBody>
          <a:bodyPr wrap="square" lIns="0" tIns="0" rIns="0" bIns="0" rtlCol="0" anchor="ctr"/>
          <a:lstStyle/>
          <a:p>
            <a:pPr indent="0" marL="0">
              <a:buNone/>
            </a:pPr>
            <a:r>
              <a:rPr lang="en-US" sz="1400" dirty="0">
                <a:solidFill>
                  <a:srgbClr val="15181F"/>
                </a:solidFill>
                <a:latin typeface="Calibri" pitchFamily="34" charset="0"/>
                <a:ea typeface="Calibri" pitchFamily="34" charset="-122"/>
                <a:cs typeface="Calibri" pitchFamily="34" charset="-120"/>
              </a:rPr>
              <a:t>you give finished files</a:t>
            </a:r>
            <a:endParaRPr lang="en-US" sz="1400" dirty="0"/>
          </a:p>
        </p:txBody>
      </p:sp>
      <p:sp>
        <p:nvSpPr>
          <p:cNvPr id="8" name="Text 6"/>
          <p:cNvSpPr/>
          <p:nvPr/>
        </p:nvSpPr>
        <p:spPr>
          <a:xfrm>
            <a:off x="7543800" y="1938528"/>
            <a:ext cx="3749040" cy="896112"/>
          </a:xfrm>
          <a:prstGeom prst="rect">
            <a:avLst/>
          </a:prstGeom>
          <a:noFill/>
          <a:ln/>
        </p:spPr>
        <p:txBody>
          <a:bodyPr wrap="square" lIns="0" tIns="0" rIns="0" bIns="0" rtlCol="0" anchor="ctr"/>
          <a:lstStyle/>
          <a:p>
            <a:pPr indent="0" marL="0">
              <a:buNone/>
            </a:pPr>
            <a:r>
              <a:rPr lang="en-US" sz="1250" i="1" dirty="0">
                <a:solidFill>
                  <a:srgbClr val="5C6470"/>
                </a:solidFill>
                <a:latin typeface="Calibri" pitchFamily="34" charset="0"/>
                <a:ea typeface="Calibri" pitchFamily="34" charset="-122"/>
                <a:cs typeface="Calibri" pitchFamily="34" charset="-120"/>
              </a:rPr>
              <a:t>GitHub Pages, Netlify, Vercel</a:t>
            </a:r>
            <a:endParaRPr lang="en-US" sz="1250" dirty="0"/>
          </a:p>
        </p:txBody>
      </p:sp>
      <p:sp>
        <p:nvSpPr>
          <p:cNvPr id="9" name="Shape 7"/>
          <p:cNvSpPr/>
          <p:nvPr/>
        </p:nvSpPr>
        <p:spPr>
          <a:xfrm>
            <a:off x="777240" y="2999232"/>
            <a:ext cx="10634472" cy="932688"/>
          </a:xfrm>
          <a:prstGeom prst="roundRect">
            <a:avLst>
              <a:gd name="adj" fmla="val 8824"/>
            </a:avLst>
          </a:prstGeom>
          <a:solidFill>
            <a:srgbClr val="EAF6F3"/>
          </a:solidFill>
          <a:ln w="12700">
            <a:solidFill>
              <a:srgbClr val="9CCFC6"/>
            </a:solidFill>
            <a:prstDash val="solid"/>
          </a:ln>
        </p:spPr>
      </p:sp>
      <p:sp>
        <p:nvSpPr>
          <p:cNvPr id="10" name="Text 8"/>
          <p:cNvSpPr/>
          <p:nvPr/>
        </p:nvSpPr>
        <p:spPr>
          <a:xfrm>
            <a:off x="1097280" y="3017520"/>
            <a:ext cx="2194560" cy="896112"/>
          </a:xfrm>
          <a:prstGeom prst="rect">
            <a:avLst/>
          </a:prstGeom>
          <a:noFill/>
          <a:ln/>
        </p:spPr>
        <p:txBody>
          <a:bodyPr wrap="square" lIns="0" tIns="0" rIns="0" bIns="0" rtlCol="0" anchor="ctr"/>
          <a:lstStyle/>
          <a:p>
            <a:pPr indent="0" marL="0">
              <a:buNone/>
            </a:pPr>
            <a:r>
              <a:rPr lang="en-US" sz="1900" b="1" dirty="0">
                <a:solidFill>
                  <a:srgbClr val="00776A"/>
                </a:solidFill>
                <a:latin typeface="Cambria" pitchFamily="34" charset="0"/>
                <a:ea typeface="Cambria" pitchFamily="34" charset="-122"/>
                <a:cs typeface="Cambria" pitchFamily="34" charset="-120"/>
              </a:rPr>
              <a:t>Platform</a:t>
            </a:r>
            <a:endParaRPr lang="en-US" sz="1900" dirty="0"/>
          </a:p>
        </p:txBody>
      </p:sp>
      <p:sp>
        <p:nvSpPr>
          <p:cNvPr id="11" name="Text 9"/>
          <p:cNvSpPr/>
          <p:nvPr/>
        </p:nvSpPr>
        <p:spPr>
          <a:xfrm>
            <a:off x="3429000" y="3017520"/>
            <a:ext cx="3931920" cy="896112"/>
          </a:xfrm>
          <a:prstGeom prst="rect">
            <a:avLst/>
          </a:prstGeom>
          <a:noFill/>
          <a:ln/>
        </p:spPr>
        <p:txBody>
          <a:bodyPr wrap="square" lIns="0" tIns="0" rIns="0" bIns="0" rtlCol="0" anchor="ctr"/>
          <a:lstStyle/>
          <a:p>
            <a:pPr indent="0" marL="0">
              <a:buNone/>
            </a:pPr>
            <a:r>
              <a:rPr lang="en-US" sz="1400" dirty="0">
                <a:solidFill>
                  <a:srgbClr val="15181F"/>
                </a:solidFill>
                <a:latin typeface="Calibri" pitchFamily="34" charset="0"/>
                <a:ea typeface="Calibri" pitchFamily="34" charset="-122"/>
                <a:cs typeface="Calibri" pitchFamily="34" charset="-120"/>
              </a:rPr>
              <a:t>you give code and a start command</a:t>
            </a:r>
            <a:endParaRPr lang="en-US" sz="1400" dirty="0"/>
          </a:p>
        </p:txBody>
      </p:sp>
      <p:sp>
        <p:nvSpPr>
          <p:cNvPr id="12" name="Text 10"/>
          <p:cNvSpPr/>
          <p:nvPr/>
        </p:nvSpPr>
        <p:spPr>
          <a:xfrm>
            <a:off x="7543800" y="3017520"/>
            <a:ext cx="3749040" cy="896112"/>
          </a:xfrm>
          <a:prstGeom prst="rect">
            <a:avLst/>
          </a:prstGeom>
          <a:noFill/>
          <a:ln/>
        </p:spPr>
        <p:txBody>
          <a:bodyPr wrap="square" lIns="0" tIns="0" rIns="0" bIns="0" rtlCol="0" anchor="ctr"/>
          <a:lstStyle/>
          <a:p>
            <a:pPr indent="0" marL="0">
              <a:buNone/>
            </a:pPr>
            <a:r>
              <a:rPr lang="en-US" sz="1250" i="1" dirty="0">
                <a:solidFill>
                  <a:srgbClr val="5C6470"/>
                </a:solidFill>
                <a:latin typeface="Calibri" pitchFamily="34" charset="0"/>
                <a:ea typeface="Calibri" pitchFamily="34" charset="-122"/>
                <a:cs typeface="Calibri" pitchFamily="34" charset="-120"/>
              </a:rPr>
              <a:t>Render, Railway, Heroku, Fly.io</a:t>
            </a:r>
            <a:endParaRPr lang="en-US" sz="1250" dirty="0"/>
          </a:p>
        </p:txBody>
      </p:sp>
      <p:sp>
        <p:nvSpPr>
          <p:cNvPr id="13" name="Shape 11"/>
          <p:cNvSpPr/>
          <p:nvPr/>
        </p:nvSpPr>
        <p:spPr>
          <a:xfrm>
            <a:off x="777240" y="4078224"/>
            <a:ext cx="10634472" cy="932688"/>
          </a:xfrm>
          <a:prstGeom prst="roundRect">
            <a:avLst>
              <a:gd name="adj" fmla="val 8824"/>
            </a:avLst>
          </a:prstGeom>
          <a:solidFill>
            <a:srgbClr val="F5F6F8"/>
          </a:solidFill>
          <a:ln w="12700">
            <a:solidFill>
              <a:srgbClr val="E1E4E9"/>
            </a:solidFill>
            <a:prstDash val="solid"/>
          </a:ln>
        </p:spPr>
      </p:sp>
      <p:sp>
        <p:nvSpPr>
          <p:cNvPr id="14" name="Text 12"/>
          <p:cNvSpPr/>
          <p:nvPr/>
        </p:nvSpPr>
        <p:spPr>
          <a:xfrm>
            <a:off x="1097280" y="4096512"/>
            <a:ext cx="2194560" cy="896112"/>
          </a:xfrm>
          <a:prstGeom prst="rect">
            <a:avLst/>
          </a:prstGeom>
          <a:noFill/>
          <a:ln/>
        </p:spPr>
        <p:txBody>
          <a:bodyPr wrap="square" lIns="0" tIns="0" rIns="0" bIns="0" rtlCol="0" anchor="ctr"/>
          <a:lstStyle/>
          <a:p>
            <a:pPr indent="0" marL="0">
              <a:buNone/>
            </a:pPr>
            <a:r>
              <a:rPr lang="en-US" sz="1900" b="1" dirty="0">
                <a:solidFill>
                  <a:srgbClr val="15181F"/>
                </a:solidFill>
                <a:latin typeface="Cambria" pitchFamily="34" charset="0"/>
                <a:ea typeface="Cambria" pitchFamily="34" charset="-122"/>
                <a:cs typeface="Cambria" pitchFamily="34" charset="-120"/>
              </a:rPr>
              <a:t>Server</a:t>
            </a:r>
            <a:endParaRPr lang="en-US" sz="1900" dirty="0"/>
          </a:p>
        </p:txBody>
      </p:sp>
      <p:sp>
        <p:nvSpPr>
          <p:cNvPr id="15" name="Text 13"/>
          <p:cNvSpPr/>
          <p:nvPr/>
        </p:nvSpPr>
        <p:spPr>
          <a:xfrm>
            <a:off x="3429000" y="4096512"/>
            <a:ext cx="3931920" cy="896112"/>
          </a:xfrm>
          <a:prstGeom prst="rect">
            <a:avLst/>
          </a:prstGeom>
          <a:noFill/>
          <a:ln/>
        </p:spPr>
        <p:txBody>
          <a:bodyPr wrap="square" lIns="0" tIns="0" rIns="0" bIns="0" rtlCol="0" anchor="ctr"/>
          <a:lstStyle/>
          <a:p>
            <a:pPr indent="0" marL="0">
              <a:buNone/>
            </a:pPr>
            <a:r>
              <a:rPr lang="en-US" sz="1400" dirty="0">
                <a:solidFill>
                  <a:srgbClr val="15181F"/>
                </a:solidFill>
                <a:latin typeface="Calibri" pitchFamily="34" charset="0"/>
                <a:ea typeface="Calibri" pitchFamily="34" charset="-122"/>
                <a:cs typeface="Calibri" pitchFamily="34" charset="-120"/>
              </a:rPr>
              <a:t>you rent an empty machine</a:t>
            </a:r>
            <a:endParaRPr lang="en-US" sz="1400" dirty="0"/>
          </a:p>
        </p:txBody>
      </p:sp>
      <p:sp>
        <p:nvSpPr>
          <p:cNvPr id="16" name="Text 14"/>
          <p:cNvSpPr/>
          <p:nvPr/>
        </p:nvSpPr>
        <p:spPr>
          <a:xfrm>
            <a:off x="7543800" y="4096512"/>
            <a:ext cx="3749040" cy="896112"/>
          </a:xfrm>
          <a:prstGeom prst="rect">
            <a:avLst/>
          </a:prstGeom>
          <a:noFill/>
          <a:ln/>
        </p:spPr>
        <p:txBody>
          <a:bodyPr wrap="square" lIns="0" tIns="0" rIns="0" bIns="0" rtlCol="0" anchor="ctr"/>
          <a:lstStyle/>
          <a:p>
            <a:pPr indent="0" marL="0">
              <a:buNone/>
            </a:pPr>
            <a:r>
              <a:rPr lang="en-US" sz="1250" i="1" dirty="0">
                <a:solidFill>
                  <a:srgbClr val="5C6470"/>
                </a:solidFill>
                <a:latin typeface="Calibri" pitchFamily="34" charset="0"/>
                <a:ea typeface="Calibri" pitchFamily="34" charset="-122"/>
                <a:cs typeface="Calibri" pitchFamily="34" charset="-120"/>
              </a:rPr>
              <a:t>AWS EC2, DigitalOcean, Hetzner</a:t>
            </a:r>
            <a:endParaRPr lang="en-US" sz="1250" dirty="0"/>
          </a:p>
        </p:txBody>
      </p:sp>
      <p:sp>
        <p:nvSpPr>
          <p:cNvPr id="17" name="Shape 15"/>
          <p:cNvSpPr/>
          <p:nvPr/>
        </p:nvSpPr>
        <p:spPr>
          <a:xfrm>
            <a:off x="777240" y="5157216"/>
            <a:ext cx="10634472" cy="932688"/>
          </a:xfrm>
          <a:prstGeom prst="roundRect">
            <a:avLst>
              <a:gd name="adj" fmla="val 8824"/>
            </a:avLst>
          </a:prstGeom>
          <a:solidFill>
            <a:srgbClr val="F5F6F8"/>
          </a:solidFill>
          <a:ln w="12700">
            <a:solidFill>
              <a:srgbClr val="E1E4E9"/>
            </a:solidFill>
            <a:prstDash val="solid"/>
          </a:ln>
        </p:spPr>
      </p:sp>
      <p:sp>
        <p:nvSpPr>
          <p:cNvPr id="18" name="Text 16"/>
          <p:cNvSpPr/>
          <p:nvPr/>
        </p:nvSpPr>
        <p:spPr>
          <a:xfrm>
            <a:off x="1097280" y="5175504"/>
            <a:ext cx="2194560" cy="896112"/>
          </a:xfrm>
          <a:prstGeom prst="rect">
            <a:avLst/>
          </a:prstGeom>
          <a:noFill/>
          <a:ln/>
        </p:spPr>
        <p:txBody>
          <a:bodyPr wrap="square" lIns="0" tIns="0" rIns="0" bIns="0" rtlCol="0" anchor="ctr"/>
          <a:lstStyle/>
          <a:p>
            <a:pPr indent="0" marL="0">
              <a:buNone/>
            </a:pPr>
            <a:r>
              <a:rPr lang="en-US" sz="1900" b="1" dirty="0">
                <a:solidFill>
                  <a:srgbClr val="15181F"/>
                </a:solidFill>
                <a:latin typeface="Cambria" pitchFamily="34" charset="0"/>
                <a:ea typeface="Cambria" pitchFamily="34" charset="-122"/>
                <a:cs typeface="Cambria" pitchFamily="34" charset="-120"/>
              </a:rPr>
              <a:t>Serverless</a:t>
            </a:r>
            <a:endParaRPr lang="en-US" sz="1900" dirty="0"/>
          </a:p>
        </p:txBody>
      </p:sp>
      <p:sp>
        <p:nvSpPr>
          <p:cNvPr id="19" name="Text 17"/>
          <p:cNvSpPr/>
          <p:nvPr/>
        </p:nvSpPr>
        <p:spPr>
          <a:xfrm>
            <a:off x="3429000" y="5175504"/>
            <a:ext cx="3931920" cy="896112"/>
          </a:xfrm>
          <a:prstGeom prst="rect">
            <a:avLst/>
          </a:prstGeom>
          <a:noFill/>
          <a:ln/>
        </p:spPr>
        <p:txBody>
          <a:bodyPr wrap="square" lIns="0" tIns="0" rIns="0" bIns="0" rtlCol="0" anchor="ctr"/>
          <a:lstStyle/>
          <a:p>
            <a:pPr indent="0" marL="0">
              <a:buNone/>
            </a:pPr>
            <a:r>
              <a:rPr lang="en-US" sz="1400" dirty="0">
                <a:solidFill>
                  <a:srgbClr val="15181F"/>
                </a:solidFill>
                <a:latin typeface="Calibri" pitchFamily="34" charset="0"/>
                <a:ea typeface="Calibri" pitchFamily="34" charset="-122"/>
                <a:cs typeface="Calibri" pitchFamily="34" charset="-120"/>
              </a:rPr>
              <a:t>you give a single function</a:t>
            </a:r>
            <a:endParaRPr lang="en-US" sz="1400" dirty="0"/>
          </a:p>
        </p:txBody>
      </p:sp>
      <p:sp>
        <p:nvSpPr>
          <p:cNvPr id="20" name="Text 18"/>
          <p:cNvSpPr/>
          <p:nvPr/>
        </p:nvSpPr>
        <p:spPr>
          <a:xfrm>
            <a:off x="7543800" y="5175504"/>
            <a:ext cx="3749040" cy="896112"/>
          </a:xfrm>
          <a:prstGeom prst="rect">
            <a:avLst/>
          </a:prstGeom>
          <a:noFill/>
          <a:ln/>
        </p:spPr>
        <p:txBody>
          <a:bodyPr wrap="square" lIns="0" tIns="0" rIns="0" bIns="0" rtlCol="0" anchor="ctr"/>
          <a:lstStyle/>
          <a:p>
            <a:pPr indent="0" marL="0">
              <a:buNone/>
            </a:pPr>
            <a:r>
              <a:rPr lang="en-US" sz="1250" i="1" dirty="0">
                <a:solidFill>
                  <a:srgbClr val="5C6470"/>
                </a:solidFill>
                <a:latin typeface="Calibri" pitchFamily="34" charset="0"/>
                <a:ea typeface="Calibri" pitchFamily="34" charset="-122"/>
                <a:cs typeface="Calibri" pitchFamily="34" charset="-120"/>
              </a:rPr>
              <a:t>AWS Lambda, Cloudflare Workers</a:t>
            </a:r>
            <a:endParaRPr lang="en-US" sz="1250" dirty="0"/>
          </a:p>
        </p:txBody>
      </p:sp>
      <p:sp>
        <p:nvSpPr>
          <p:cNvPr id="21" name="Text 19"/>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We will use platform hosting. The next slide says why, by elimination.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Side by side</a:t>
            </a:r>
            <a:endParaRPr lang="en-US" sz="3100" dirty="0"/>
          </a:p>
        </p:txBody>
      </p:sp>
      <p:sp>
        <p:nvSpPr>
          <p:cNvPr id="4" name="Text 2"/>
          <p:cNvSpPr/>
          <p:nvPr/>
        </p:nvSpPr>
        <p:spPr>
          <a:xfrm>
            <a:off x="1051560" y="1691640"/>
            <a:ext cx="2103120" cy="3200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3264408" y="1691640"/>
            <a:ext cx="2103120" cy="320040"/>
          </a:xfrm>
          <a:prstGeom prst="rect">
            <a:avLst/>
          </a:prstGeom>
          <a:noFill/>
          <a:ln/>
        </p:spPr>
        <p:txBody>
          <a:bodyPr wrap="square" lIns="0" tIns="0" rIns="0" bIns="0" rtlCol="0" anchor="ctr"/>
          <a:lstStyle/>
          <a:p>
            <a:pPr indent="0" marL="0">
              <a:buNone/>
            </a:pPr>
            <a:r>
              <a:rPr lang="en-US" sz="1300" spc="50" kern="0" dirty="0">
                <a:solidFill>
                  <a:srgbClr val="5C6470"/>
                </a:solidFill>
                <a:latin typeface="Calibri" pitchFamily="34" charset="0"/>
                <a:ea typeface="Calibri" pitchFamily="34" charset="-122"/>
                <a:cs typeface="Calibri" pitchFamily="34" charset="-120"/>
              </a:rPr>
              <a:t>Static</a:t>
            </a:r>
            <a:endParaRPr lang="en-US" sz="1300" dirty="0"/>
          </a:p>
        </p:txBody>
      </p:sp>
      <p:sp>
        <p:nvSpPr>
          <p:cNvPr id="6" name="Text 4"/>
          <p:cNvSpPr/>
          <p:nvPr/>
        </p:nvSpPr>
        <p:spPr>
          <a:xfrm>
            <a:off x="5477256" y="1691640"/>
            <a:ext cx="2103120" cy="320040"/>
          </a:xfrm>
          <a:prstGeom prst="rect">
            <a:avLst/>
          </a:prstGeom>
          <a:noFill/>
          <a:ln/>
        </p:spPr>
        <p:txBody>
          <a:bodyPr wrap="square" lIns="0" tIns="0" rIns="0" bIns="0" rtlCol="0" anchor="ctr"/>
          <a:lstStyle/>
          <a:p>
            <a:pPr indent="0" marL="0">
              <a:buNone/>
            </a:pPr>
            <a:r>
              <a:rPr lang="en-US" sz="1300" b="1" spc="50" kern="0" dirty="0">
                <a:solidFill>
                  <a:srgbClr val="00776A"/>
                </a:solidFill>
                <a:latin typeface="Calibri" pitchFamily="34" charset="0"/>
                <a:ea typeface="Calibri" pitchFamily="34" charset="-122"/>
                <a:cs typeface="Calibri" pitchFamily="34" charset="-120"/>
              </a:rPr>
              <a:t>Platform</a:t>
            </a:r>
            <a:endParaRPr lang="en-US" sz="1300" dirty="0"/>
          </a:p>
        </p:txBody>
      </p:sp>
      <p:sp>
        <p:nvSpPr>
          <p:cNvPr id="7" name="Text 5"/>
          <p:cNvSpPr/>
          <p:nvPr/>
        </p:nvSpPr>
        <p:spPr>
          <a:xfrm>
            <a:off x="7690104" y="1691640"/>
            <a:ext cx="2103120" cy="320040"/>
          </a:xfrm>
          <a:prstGeom prst="rect">
            <a:avLst/>
          </a:prstGeom>
          <a:noFill/>
          <a:ln/>
        </p:spPr>
        <p:txBody>
          <a:bodyPr wrap="square" lIns="0" tIns="0" rIns="0" bIns="0" rtlCol="0" anchor="ctr"/>
          <a:lstStyle/>
          <a:p>
            <a:pPr indent="0" marL="0">
              <a:buNone/>
            </a:pPr>
            <a:r>
              <a:rPr lang="en-US" sz="1300" spc="50" kern="0" dirty="0">
                <a:solidFill>
                  <a:srgbClr val="5C6470"/>
                </a:solidFill>
                <a:latin typeface="Calibri" pitchFamily="34" charset="0"/>
                <a:ea typeface="Calibri" pitchFamily="34" charset="-122"/>
                <a:cs typeface="Calibri" pitchFamily="34" charset="-120"/>
              </a:rPr>
              <a:t>Server</a:t>
            </a:r>
            <a:endParaRPr lang="en-US" sz="1300" dirty="0"/>
          </a:p>
        </p:txBody>
      </p:sp>
      <p:sp>
        <p:nvSpPr>
          <p:cNvPr id="8" name="Text 6"/>
          <p:cNvSpPr/>
          <p:nvPr/>
        </p:nvSpPr>
        <p:spPr>
          <a:xfrm>
            <a:off x="9902952" y="1691640"/>
            <a:ext cx="2103120" cy="320040"/>
          </a:xfrm>
          <a:prstGeom prst="rect">
            <a:avLst/>
          </a:prstGeom>
          <a:noFill/>
          <a:ln/>
        </p:spPr>
        <p:txBody>
          <a:bodyPr wrap="square" lIns="0" tIns="0" rIns="0" bIns="0" rtlCol="0" anchor="ctr"/>
          <a:lstStyle/>
          <a:p>
            <a:pPr indent="0" marL="0">
              <a:buNone/>
            </a:pPr>
            <a:r>
              <a:rPr lang="en-US" sz="1300" spc="50" kern="0" dirty="0">
                <a:solidFill>
                  <a:srgbClr val="5C6470"/>
                </a:solidFill>
                <a:latin typeface="Calibri" pitchFamily="34" charset="0"/>
                <a:ea typeface="Calibri" pitchFamily="34" charset="-122"/>
                <a:cs typeface="Calibri" pitchFamily="34" charset="-120"/>
              </a:rPr>
              <a:t>Serverless</a:t>
            </a:r>
            <a:endParaRPr lang="en-US" sz="1300" dirty="0"/>
          </a:p>
        </p:txBody>
      </p:sp>
      <p:sp>
        <p:nvSpPr>
          <p:cNvPr id="9" name="Shape 7"/>
          <p:cNvSpPr/>
          <p:nvPr/>
        </p:nvSpPr>
        <p:spPr>
          <a:xfrm>
            <a:off x="777240" y="2103120"/>
            <a:ext cx="10634472" cy="512064"/>
          </a:xfrm>
          <a:prstGeom prst="roundRect">
            <a:avLst>
              <a:gd name="adj" fmla="val 16071"/>
            </a:avLst>
          </a:prstGeom>
          <a:solidFill>
            <a:srgbClr val="F5F6F8"/>
          </a:solidFill>
          <a:ln w="12700">
            <a:solidFill>
              <a:srgbClr val="E1E4E9"/>
            </a:solidFill>
            <a:prstDash val="solid"/>
          </a:ln>
        </p:spPr>
      </p:sp>
      <p:sp>
        <p:nvSpPr>
          <p:cNvPr id="10" name="Text 8"/>
          <p:cNvSpPr/>
          <p:nvPr/>
        </p:nvSpPr>
        <p:spPr>
          <a:xfrm>
            <a:off x="1051560" y="2112264"/>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You provide</a:t>
            </a:r>
            <a:endParaRPr lang="en-US" sz="1350" dirty="0"/>
          </a:p>
        </p:txBody>
      </p:sp>
      <p:sp>
        <p:nvSpPr>
          <p:cNvPr id="11" name="Text 9"/>
          <p:cNvSpPr/>
          <p:nvPr/>
        </p:nvSpPr>
        <p:spPr>
          <a:xfrm>
            <a:off x="3264408" y="2112264"/>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files</a:t>
            </a:r>
            <a:endParaRPr lang="en-US" sz="1350" dirty="0"/>
          </a:p>
        </p:txBody>
      </p:sp>
      <p:sp>
        <p:nvSpPr>
          <p:cNvPr id="12" name="Text 10"/>
          <p:cNvSpPr/>
          <p:nvPr/>
        </p:nvSpPr>
        <p:spPr>
          <a:xfrm>
            <a:off x="5477256" y="2112264"/>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code</a:t>
            </a:r>
            <a:endParaRPr lang="en-US" sz="1350" dirty="0"/>
          </a:p>
        </p:txBody>
      </p:sp>
      <p:sp>
        <p:nvSpPr>
          <p:cNvPr id="13" name="Text 11"/>
          <p:cNvSpPr/>
          <p:nvPr/>
        </p:nvSpPr>
        <p:spPr>
          <a:xfrm>
            <a:off x="7690104" y="2112264"/>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nothing</a:t>
            </a:r>
            <a:endParaRPr lang="en-US" sz="1350" dirty="0"/>
          </a:p>
        </p:txBody>
      </p:sp>
      <p:sp>
        <p:nvSpPr>
          <p:cNvPr id="14" name="Text 12"/>
          <p:cNvSpPr/>
          <p:nvPr/>
        </p:nvSpPr>
        <p:spPr>
          <a:xfrm>
            <a:off x="9902952" y="2112264"/>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 function</a:t>
            </a:r>
            <a:endParaRPr lang="en-US" sz="1350" dirty="0"/>
          </a:p>
        </p:txBody>
      </p:sp>
      <p:sp>
        <p:nvSpPr>
          <p:cNvPr id="15" name="Text 13"/>
          <p:cNvSpPr/>
          <p:nvPr/>
        </p:nvSpPr>
        <p:spPr>
          <a:xfrm>
            <a:off x="1051560" y="2679192"/>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Runs your Python</a:t>
            </a:r>
            <a:endParaRPr lang="en-US" sz="1350" dirty="0"/>
          </a:p>
        </p:txBody>
      </p:sp>
      <p:sp>
        <p:nvSpPr>
          <p:cNvPr id="16" name="Text 14"/>
          <p:cNvSpPr/>
          <p:nvPr/>
        </p:nvSpPr>
        <p:spPr>
          <a:xfrm>
            <a:off x="3264408" y="2679192"/>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17" name="Text 15"/>
          <p:cNvSpPr/>
          <p:nvPr/>
        </p:nvSpPr>
        <p:spPr>
          <a:xfrm>
            <a:off x="5477256" y="2679192"/>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18" name="Text 16"/>
          <p:cNvSpPr/>
          <p:nvPr/>
        </p:nvSpPr>
        <p:spPr>
          <a:xfrm>
            <a:off x="7690104" y="2679192"/>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19" name="Text 17"/>
          <p:cNvSpPr/>
          <p:nvPr/>
        </p:nvSpPr>
        <p:spPr>
          <a:xfrm>
            <a:off x="9902952" y="2679192"/>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20" name="Shape 18"/>
          <p:cNvSpPr/>
          <p:nvPr/>
        </p:nvSpPr>
        <p:spPr>
          <a:xfrm>
            <a:off x="777240" y="3236976"/>
            <a:ext cx="10634472" cy="512064"/>
          </a:xfrm>
          <a:prstGeom prst="roundRect">
            <a:avLst>
              <a:gd name="adj" fmla="val 16071"/>
            </a:avLst>
          </a:prstGeom>
          <a:solidFill>
            <a:srgbClr val="F5F6F8"/>
          </a:solidFill>
          <a:ln w="12700">
            <a:solidFill>
              <a:srgbClr val="E1E4E9"/>
            </a:solidFill>
            <a:prstDash val="solid"/>
          </a:ln>
        </p:spPr>
      </p:sp>
      <p:sp>
        <p:nvSpPr>
          <p:cNvPr id="21" name="Text 19"/>
          <p:cNvSpPr/>
          <p:nvPr/>
        </p:nvSpPr>
        <p:spPr>
          <a:xfrm>
            <a:off x="1051560" y="3246120"/>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You manage the OS</a:t>
            </a:r>
            <a:endParaRPr lang="en-US" sz="1350" dirty="0"/>
          </a:p>
        </p:txBody>
      </p:sp>
      <p:sp>
        <p:nvSpPr>
          <p:cNvPr id="22" name="Text 20"/>
          <p:cNvSpPr/>
          <p:nvPr/>
        </p:nvSpPr>
        <p:spPr>
          <a:xfrm>
            <a:off x="3264408" y="3246120"/>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23" name="Text 21"/>
          <p:cNvSpPr/>
          <p:nvPr/>
        </p:nvSpPr>
        <p:spPr>
          <a:xfrm>
            <a:off x="5477256" y="3246120"/>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no</a:t>
            </a:r>
            <a:endParaRPr lang="en-US" sz="1350" dirty="0"/>
          </a:p>
        </p:txBody>
      </p:sp>
      <p:sp>
        <p:nvSpPr>
          <p:cNvPr id="24" name="Text 22"/>
          <p:cNvSpPr/>
          <p:nvPr/>
        </p:nvSpPr>
        <p:spPr>
          <a:xfrm>
            <a:off x="7690104" y="3246120"/>
            <a:ext cx="2103120" cy="493776"/>
          </a:xfrm>
          <a:prstGeom prst="rect">
            <a:avLst/>
          </a:prstGeom>
          <a:noFill/>
          <a:ln/>
        </p:spPr>
        <p:txBody>
          <a:bodyPr wrap="square" lIns="0" tIns="0" rIns="0" bIns="0" rtlCol="0" anchor="ctr"/>
          <a:lstStyle/>
          <a:p>
            <a:pPr indent="0" marL="0">
              <a:buNone/>
            </a:pPr>
            <a:r>
              <a:rPr lang="en-US" sz="1350" b="1" dirty="0">
                <a:solidFill>
                  <a:srgbClr val="BE3A2B"/>
                </a:solidFill>
                <a:latin typeface="Calibri" pitchFamily="34" charset="0"/>
                <a:ea typeface="Calibri" pitchFamily="34" charset="-122"/>
                <a:cs typeface="Calibri" pitchFamily="34" charset="-120"/>
              </a:rPr>
              <a:t>YES</a:t>
            </a:r>
            <a:endParaRPr lang="en-US" sz="1350" dirty="0"/>
          </a:p>
        </p:txBody>
      </p:sp>
      <p:sp>
        <p:nvSpPr>
          <p:cNvPr id="25" name="Text 23"/>
          <p:cNvSpPr/>
          <p:nvPr/>
        </p:nvSpPr>
        <p:spPr>
          <a:xfrm>
            <a:off x="9902952" y="3246120"/>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26" name="Text 24"/>
          <p:cNvSpPr/>
          <p:nvPr/>
        </p:nvSpPr>
        <p:spPr>
          <a:xfrm>
            <a:off x="1051560" y="3813048"/>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Can hold a secret</a:t>
            </a:r>
            <a:endParaRPr lang="en-US" sz="1350" dirty="0"/>
          </a:p>
        </p:txBody>
      </p:sp>
      <p:sp>
        <p:nvSpPr>
          <p:cNvPr id="27" name="Text 25"/>
          <p:cNvSpPr/>
          <p:nvPr/>
        </p:nvSpPr>
        <p:spPr>
          <a:xfrm>
            <a:off x="3264408" y="3813048"/>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28" name="Text 26"/>
          <p:cNvSpPr/>
          <p:nvPr/>
        </p:nvSpPr>
        <p:spPr>
          <a:xfrm>
            <a:off x="5477256" y="3813048"/>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29" name="Text 27"/>
          <p:cNvSpPr/>
          <p:nvPr/>
        </p:nvSpPr>
        <p:spPr>
          <a:xfrm>
            <a:off x="7690104" y="3813048"/>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0" name="Text 28"/>
          <p:cNvSpPr/>
          <p:nvPr/>
        </p:nvSpPr>
        <p:spPr>
          <a:xfrm>
            <a:off x="9902952" y="3813048"/>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1" name="Shape 29"/>
          <p:cNvSpPr/>
          <p:nvPr/>
        </p:nvSpPr>
        <p:spPr>
          <a:xfrm>
            <a:off x="777240" y="4370832"/>
            <a:ext cx="10634472" cy="512064"/>
          </a:xfrm>
          <a:prstGeom prst="roundRect">
            <a:avLst>
              <a:gd name="adj" fmla="val 16071"/>
            </a:avLst>
          </a:prstGeom>
          <a:solidFill>
            <a:srgbClr val="F5F6F8"/>
          </a:solidFill>
          <a:ln w="12700">
            <a:solidFill>
              <a:srgbClr val="E1E4E9"/>
            </a:solidFill>
            <a:prstDash val="solid"/>
          </a:ln>
        </p:spPr>
      </p:sp>
      <p:sp>
        <p:nvSpPr>
          <p:cNvPr id="32" name="Text 30"/>
          <p:cNvSpPr/>
          <p:nvPr/>
        </p:nvSpPr>
        <p:spPr>
          <a:xfrm>
            <a:off x="1051560" y="4379976"/>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Free tier</a:t>
            </a:r>
            <a:endParaRPr lang="en-US" sz="1350" dirty="0"/>
          </a:p>
        </p:txBody>
      </p:sp>
      <p:sp>
        <p:nvSpPr>
          <p:cNvPr id="33" name="Text 31"/>
          <p:cNvSpPr/>
          <p:nvPr/>
        </p:nvSpPr>
        <p:spPr>
          <a:xfrm>
            <a:off x="3264408" y="4379976"/>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4" name="Text 32"/>
          <p:cNvSpPr/>
          <p:nvPr/>
        </p:nvSpPr>
        <p:spPr>
          <a:xfrm>
            <a:off x="5477256" y="4379976"/>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35" name="Text 33"/>
          <p:cNvSpPr/>
          <p:nvPr/>
        </p:nvSpPr>
        <p:spPr>
          <a:xfrm>
            <a:off x="7690104" y="4379976"/>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rarely</a:t>
            </a:r>
            <a:endParaRPr lang="en-US" sz="1350" dirty="0"/>
          </a:p>
        </p:txBody>
      </p:sp>
      <p:sp>
        <p:nvSpPr>
          <p:cNvPr id="36" name="Text 34"/>
          <p:cNvSpPr/>
          <p:nvPr/>
        </p:nvSpPr>
        <p:spPr>
          <a:xfrm>
            <a:off x="9902952" y="4379976"/>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7" name="Text 35"/>
          <p:cNvSpPr/>
          <p:nvPr/>
        </p:nvSpPr>
        <p:spPr>
          <a:xfrm>
            <a:off x="1051560" y="4946904"/>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Sleeps when idle</a:t>
            </a:r>
            <a:endParaRPr lang="en-US" sz="1350" dirty="0"/>
          </a:p>
        </p:txBody>
      </p:sp>
      <p:sp>
        <p:nvSpPr>
          <p:cNvPr id="38" name="Text 36"/>
          <p:cNvSpPr/>
          <p:nvPr/>
        </p:nvSpPr>
        <p:spPr>
          <a:xfrm>
            <a:off x="3264408" y="4946904"/>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39" name="Text 37"/>
          <p:cNvSpPr/>
          <p:nvPr/>
        </p:nvSpPr>
        <p:spPr>
          <a:xfrm>
            <a:off x="5477256" y="4946904"/>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40" name="Text 38"/>
          <p:cNvSpPr/>
          <p:nvPr/>
        </p:nvSpPr>
        <p:spPr>
          <a:xfrm>
            <a:off x="7690104" y="4946904"/>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41" name="Text 39"/>
          <p:cNvSpPr/>
          <p:nvPr/>
        </p:nvSpPr>
        <p:spPr>
          <a:xfrm>
            <a:off x="9902952" y="4946904"/>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42" name="Shape 40"/>
          <p:cNvSpPr/>
          <p:nvPr/>
        </p:nvSpPr>
        <p:spPr>
          <a:xfrm>
            <a:off x="777240" y="5504688"/>
            <a:ext cx="10634472" cy="512064"/>
          </a:xfrm>
          <a:prstGeom prst="roundRect">
            <a:avLst>
              <a:gd name="adj" fmla="val 16071"/>
            </a:avLst>
          </a:prstGeom>
          <a:solidFill>
            <a:srgbClr val="F5F6F8"/>
          </a:solidFill>
          <a:ln w="12700">
            <a:solidFill>
              <a:srgbClr val="E1E4E9"/>
            </a:solidFill>
            <a:prstDash val="solid"/>
          </a:ln>
        </p:spPr>
      </p:sp>
      <p:sp>
        <p:nvSpPr>
          <p:cNvPr id="43" name="Text 41"/>
          <p:cNvSpPr/>
          <p:nvPr/>
        </p:nvSpPr>
        <p:spPr>
          <a:xfrm>
            <a:off x="1051560" y="5513832"/>
            <a:ext cx="210312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Setup effort</a:t>
            </a:r>
            <a:endParaRPr lang="en-US" sz="1350" dirty="0"/>
          </a:p>
        </p:txBody>
      </p:sp>
      <p:sp>
        <p:nvSpPr>
          <p:cNvPr id="44" name="Text 42"/>
          <p:cNvSpPr/>
          <p:nvPr/>
        </p:nvSpPr>
        <p:spPr>
          <a:xfrm>
            <a:off x="3264408" y="5513832"/>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minutes</a:t>
            </a:r>
            <a:endParaRPr lang="en-US" sz="1350" dirty="0"/>
          </a:p>
        </p:txBody>
      </p:sp>
      <p:sp>
        <p:nvSpPr>
          <p:cNvPr id="45" name="Text 43"/>
          <p:cNvSpPr/>
          <p:nvPr/>
        </p:nvSpPr>
        <p:spPr>
          <a:xfrm>
            <a:off x="5477256" y="5513832"/>
            <a:ext cx="2103120" cy="493776"/>
          </a:xfrm>
          <a:prstGeom prst="rect">
            <a:avLst/>
          </a:prstGeom>
          <a:noFill/>
          <a:ln/>
        </p:spPr>
        <p:txBody>
          <a:bodyPr wrap="square" lIns="0" tIns="0" rIns="0" bIns="0" rtlCol="0" anchor="ctr"/>
          <a:lstStyle/>
          <a:p>
            <a:pPr indent="0" marL="0">
              <a:buNone/>
            </a:pPr>
            <a:r>
              <a:rPr lang="en-US" sz="1350" b="1" dirty="0">
                <a:solidFill>
                  <a:srgbClr val="00776A"/>
                </a:solidFill>
                <a:latin typeface="Calibri" pitchFamily="34" charset="0"/>
                <a:ea typeface="Calibri" pitchFamily="34" charset="-122"/>
                <a:cs typeface="Calibri" pitchFamily="34" charset="-120"/>
              </a:rPr>
              <a:t>minutes</a:t>
            </a:r>
            <a:endParaRPr lang="en-US" sz="1350" dirty="0"/>
          </a:p>
        </p:txBody>
      </p:sp>
      <p:sp>
        <p:nvSpPr>
          <p:cNvPr id="46" name="Text 44"/>
          <p:cNvSpPr/>
          <p:nvPr/>
        </p:nvSpPr>
        <p:spPr>
          <a:xfrm>
            <a:off x="7690104" y="5513832"/>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hours</a:t>
            </a:r>
            <a:endParaRPr lang="en-US" sz="1350" dirty="0"/>
          </a:p>
        </p:txBody>
      </p:sp>
      <p:sp>
        <p:nvSpPr>
          <p:cNvPr id="47" name="Text 45"/>
          <p:cNvSpPr/>
          <p:nvPr/>
        </p:nvSpPr>
        <p:spPr>
          <a:xfrm>
            <a:off x="9902952" y="5513832"/>
            <a:ext cx="21031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moderate</a:t>
            </a:r>
            <a:endParaRPr lang="en-US" sz="1350" dirty="0"/>
          </a:p>
        </p:txBody>
      </p:sp>
      <p:sp>
        <p:nvSpPr>
          <p:cNvPr id="48" name="Shape 46"/>
          <p:cNvSpPr/>
          <p:nvPr/>
        </p:nvSpPr>
        <p:spPr>
          <a:xfrm>
            <a:off x="777240" y="6172200"/>
            <a:ext cx="10634472" cy="0"/>
          </a:xfrm>
          <a:prstGeom prst="roundRect">
            <a:avLst>
              <a:gd name="adj" fmla="val Infinity"/>
            </a:avLst>
          </a:prstGeom>
          <a:solidFill>
            <a:srgbClr val="F5F6F8"/>
          </a:solidFill>
          <a:ln w="12700">
            <a:solidFill>
              <a:srgbClr val="F5F6F8"/>
            </a:solidFill>
            <a:prstDash val="solid"/>
          </a:ln>
        </p:spPr>
      </p:sp>
      <p:sp>
        <p:nvSpPr>
          <p:cNvPr id="49" name="Text 47"/>
          <p:cNvSpPr/>
          <p:nvPr/>
        </p:nvSpPr>
        <p:spPr>
          <a:xfrm>
            <a:off x="777240" y="6126480"/>
            <a:ext cx="10607040" cy="457200"/>
          </a:xfrm>
          <a:prstGeom prst="rect">
            <a:avLst/>
          </a:prstGeom>
          <a:noFill/>
          <a:ln/>
        </p:spPr>
        <p:txBody>
          <a:bodyPr wrap="square" lIns="0" tIns="0" rIns="0" bIns="0" rtlCol="0" anchor="ctr"/>
          <a:lstStyle/>
          <a:p>
            <a:pPr indent="0" marL="0">
              <a:buNone/>
            </a:pPr>
            <a:r>
              <a:rPr lang="en-US" sz="1400" dirty="0">
                <a:solidFill>
                  <a:srgbClr val="15181F"/>
                </a:solidFill>
                <a:latin typeface="Calibri" pitchFamily="34" charset="0"/>
                <a:ea typeface="Calibri" pitchFamily="34" charset="-122"/>
                <a:cs typeface="Calibri" pitchFamily="34" charset="-120"/>
              </a:rPr>
              <a:t>Platform hosting: we need Python to run and a secret to stay hidden. Static cannot. A bare server means administering Linux instead of building.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1.7</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an API is</a:t>
            </a:r>
            <a:endParaRPr lang="en-US" sz="3100" dirty="0"/>
          </a:p>
        </p:txBody>
      </p:sp>
      <p:sp>
        <p:nvSpPr>
          <p:cNvPr id="4" name="Shape 2"/>
          <p:cNvSpPr/>
          <p:nvPr/>
        </p:nvSpPr>
        <p:spPr>
          <a:xfrm>
            <a:off x="777240" y="1600200"/>
            <a:ext cx="10634472" cy="594360"/>
          </a:xfrm>
          <a:prstGeom prst="roundRect">
            <a:avLst>
              <a:gd name="adj" fmla="val 13846"/>
            </a:avLst>
          </a:prstGeom>
          <a:solidFill>
            <a:srgbClr val="FFF8E8"/>
          </a:solidFill>
          <a:ln w="12700">
            <a:solidFill>
              <a:srgbClr val="E5BC64"/>
            </a:solidFill>
            <a:prstDash val="solid"/>
          </a:ln>
        </p:spPr>
      </p:sp>
      <p:sp>
        <p:nvSpPr>
          <p:cNvPr id="5" name="Text 3"/>
          <p:cNvSpPr/>
          <p:nvPr/>
        </p:nvSpPr>
        <p:spPr>
          <a:xfrm>
            <a:off x="1051560" y="161848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API</a:t>
            </a:r>
            <a:endParaRPr lang="en-US" sz="1400" dirty="0"/>
          </a:p>
        </p:txBody>
      </p:sp>
      <p:sp>
        <p:nvSpPr>
          <p:cNvPr id="6" name="Text 4"/>
          <p:cNvSpPr/>
          <p:nvPr/>
        </p:nvSpPr>
        <p:spPr>
          <a:xfrm>
            <a:off x="4251960" y="161848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your program asking another program a question over the internet</a:t>
            </a:r>
            <a:endParaRPr lang="en-US" sz="1350" dirty="0"/>
          </a:p>
        </p:txBody>
      </p:sp>
      <p:sp>
        <p:nvSpPr>
          <p:cNvPr id="7" name="Text 5"/>
          <p:cNvSpPr/>
          <p:nvPr/>
        </p:nvSpPr>
        <p:spPr>
          <a:xfrm>
            <a:off x="777240" y="2468880"/>
            <a:ext cx="10634472" cy="45720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That is all. No more mysterious than a request and a response, because that is exactly what it is.</a:t>
            </a:r>
            <a:endParaRPr lang="en-US" sz="1600" dirty="0"/>
          </a:p>
        </p:txBody>
      </p:sp>
      <p:sp>
        <p:nvSpPr>
          <p:cNvPr id="8" name="Shape 6"/>
          <p:cNvSpPr/>
          <p:nvPr/>
        </p:nvSpPr>
        <p:spPr>
          <a:xfrm>
            <a:off x="777240" y="3063240"/>
            <a:ext cx="3566160" cy="1463040"/>
          </a:xfrm>
          <a:prstGeom prst="roundRect">
            <a:avLst>
              <a:gd name="adj" fmla="val 5625"/>
            </a:avLst>
          </a:prstGeom>
          <a:solidFill>
            <a:srgbClr val="F5F6F8"/>
          </a:solidFill>
          <a:ln w="12700">
            <a:solidFill>
              <a:srgbClr val="F5F6F8"/>
            </a:solidFill>
            <a:prstDash val="solid"/>
          </a:ln>
        </p:spPr>
      </p:sp>
      <p:sp>
        <p:nvSpPr>
          <p:cNvPr id="9" name="Text 7"/>
          <p:cNvSpPr/>
          <p:nvPr/>
        </p:nvSpPr>
        <p:spPr>
          <a:xfrm>
            <a:off x="868680" y="3264408"/>
            <a:ext cx="338328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Your program</a:t>
            </a:r>
            <a:endParaRPr lang="en-US" sz="1600" dirty="0"/>
          </a:p>
        </p:txBody>
      </p:sp>
      <p:sp>
        <p:nvSpPr>
          <p:cNvPr id="10" name="Text 8"/>
          <p:cNvSpPr/>
          <p:nvPr/>
        </p:nvSpPr>
        <p:spPr>
          <a:xfrm>
            <a:off x="886968" y="3703320"/>
            <a:ext cx="3346704" cy="685800"/>
          </a:xfrm>
          <a:prstGeom prst="rect">
            <a:avLst/>
          </a:prstGeom>
          <a:noFill/>
          <a:ln/>
        </p:spPr>
        <p:txBody>
          <a:bodyPr wrap="square" lIns="0" tIns="0" rIns="0" bIns="0" rtlCol="0" anchor="ctr"/>
          <a:lstStyle/>
          <a:p>
            <a:pPr algn="ctr" indent="0" marL="0">
              <a:buNone/>
            </a:pPr>
            <a:r>
              <a:rPr lang="en-US" sz="1200" dirty="0">
                <a:solidFill>
                  <a:srgbClr val="5C6470"/>
                </a:solidFill>
                <a:latin typeface="Calibri" pitchFamily="34" charset="0"/>
                <a:ea typeface="Calibri" pitchFamily="34" charset="-122"/>
                <a:cs typeface="Calibri" pitchFamily="34" charset="-120"/>
              </a:rPr>
              <a:t>sends the question</a:t>
            </a:r>
            <a:endParaRPr lang="en-US" sz="1200" dirty="0"/>
          </a:p>
        </p:txBody>
      </p:sp>
      <p:sp>
        <p:nvSpPr>
          <p:cNvPr id="11" name="Shape 9"/>
          <p:cNvSpPr/>
          <p:nvPr/>
        </p:nvSpPr>
        <p:spPr>
          <a:xfrm>
            <a:off x="4526280" y="3703320"/>
            <a:ext cx="1188720" cy="219456"/>
          </a:xfrm>
          <a:prstGeom prst="rightArrow">
            <a:avLst/>
          </a:prstGeom>
          <a:solidFill>
            <a:srgbClr val="A9B0BB"/>
          </a:solidFill>
          <a:ln/>
        </p:spPr>
      </p:sp>
      <p:sp>
        <p:nvSpPr>
          <p:cNvPr id="12" name="Text 10"/>
          <p:cNvSpPr/>
          <p:nvPr/>
        </p:nvSpPr>
        <p:spPr>
          <a:xfrm>
            <a:off x="4114800" y="3319272"/>
            <a:ext cx="201168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over the internet</a:t>
            </a:r>
            <a:endParaRPr lang="en-US" sz="1050" dirty="0"/>
          </a:p>
        </p:txBody>
      </p:sp>
      <p:sp>
        <p:nvSpPr>
          <p:cNvPr id="13" name="Shape 11"/>
          <p:cNvSpPr/>
          <p:nvPr/>
        </p:nvSpPr>
        <p:spPr>
          <a:xfrm>
            <a:off x="5897880" y="3063240"/>
            <a:ext cx="3566160" cy="1463040"/>
          </a:xfrm>
          <a:prstGeom prst="roundRect">
            <a:avLst>
              <a:gd name="adj" fmla="val 5625"/>
            </a:avLst>
          </a:prstGeom>
          <a:solidFill>
            <a:srgbClr val="5158BE"/>
          </a:solidFill>
          <a:ln w="12700">
            <a:solidFill>
              <a:srgbClr val="5158BE"/>
            </a:solidFill>
            <a:prstDash val="solid"/>
          </a:ln>
        </p:spPr>
      </p:sp>
      <p:sp>
        <p:nvSpPr>
          <p:cNvPr id="14" name="Text 12"/>
          <p:cNvSpPr/>
          <p:nvPr/>
        </p:nvSpPr>
        <p:spPr>
          <a:xfrm>
            <a:off x="5989320" y="3264408"/>
            <a:ext cx="33832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 very large computer</a:t>
            </a:r>
            <a:endParaRPr lang="en-US" sz="1600" dirty="0"/>
          </a:p>
        </p:txBody>
      </p:sp>
      <p:sp>
        <p:nvSpPr>
          <p:cNvPr id="15" name="Text 13"/>
          <p:cNvSpPr/>
          <p:nvPr/>
        </p:nvSpPr>
        <p:spPr>
          <a:xfrm>
            <a:off x="6007608" y="3703320"/>
            <a:ext cx="3346704" cy="685800"/>
          </a:xfrm>
          <a:prstGeom prst="rect">
            <a:avLst/>
          </a:prstGeom>
          <a:noFill/>
          <a:ln/>
        </p:spPr>
        <p:txBody>
          <a:bodyPr wrap="square" lIns="0" tIns="0" rIns="0" bIns="0" rtlCol="0" anchor="ctr"/>
          <a:lstStyle/>
          <a:p>
            <a:pPr algn="ctr" indent="0" marL="0">
              <a:buNone/>
            </a:pPr>
            <a:r>
              <a:rPr lang="en-US" sz="1200" dirty="0">
                <a:solidFill>
                  <a:srgbClr val="C9D0DC"/>
                </a:solidFill>
                <a:latin typeface="Calibri" pitchFamily="34" charset="0"/>
                <a:ea typeface="Calibri" pitchFamily="34" charset="-122"/>
                <a:cs typeface="Calibri" pitchFamily="34" charset="-120"/>
              </a:rPr>
              <a:t>running the AI model</a:t>
            </a:r>
            <a:endParaRPr lang="en-US" sz="1200" dirty="0"/>
          </a:p>
        </p:txBody>
      </p:sp>
      <p:sp>
        <p:nvSpPr>
          <p:cNvPr id="16" name="Shape 14"/>
          <p:cNvSpPr/>
          <p:nvPr/>
        </p:nvSpPr>
        <p:spPr>
          <a:xfrm>
            <a:off x="9646920" y="3703320"/>
            <a:ext cx="914400" cy="219456"/>
          </a:xfrm>
          <a:prstGeom prst="rightArrow">
            <a:avLst/>
          </a:prstGeom>
          <a:solidFill>
            <a:srgbClr val="A9B0BB"/>
          </a:solidFill>
          <a:ln/>
        </p:spPr>
      </p:sp>
      <p:sp>
        <p:nvSpPr>
          <p:cNvPr id="17" name="Shape 15"/>
          <p:cNvSpPr/>
          <p:nvPr/>
        </p:nvSpPr>
        <p:spPr>
          <a:xfrm>
            <a:off x="10744200" y="3063240"/>
            <a:ext cx="868680" cy="1463040"/>
          </a:xfrm>
          <a:prstGeom prst="roundRect">
            <a:avLst>
              <a:gd name="adj" fmla="val 9474"/>
            </a:avLst>
          </a:prstGeom>
          <a:solidFill>
            <a:srgbClr val="F5F6F8"/>
          </a:solidFill>
          <a:ln w="12700">
            <a:solidFill>
              <a:srgbClr val="F5F6F8"/>
            </a:solidFill>
            <a:prstDash val="solid"/>
          </a:ln>
        </p:spPr>
      </p:sp>
      <p:sp>
        <p:nvSpPr>
          <p:cNvPr id="18" name="Text 16"/>
          <p:cNvSpPr/>
          <p:nvPr/>
        </p:nvSpPr>
        <p:spPr>
          <a:xfrm>
            <a:off x="10835640" y="3264408"/>
            <a:ext cx="685800" cy="411480"/>
          </a:xfrm>
          <a:prstGeom prst="rect">
            <a:avLst/>
          </a:prstGeom>
          <a:noFill/>
          <a:ln/>
        </p:spPr>
        <p:txBody>
          <a:bodyPr wrap="square" lIns="0" tIns="0" rIns="0" bIns="0" rtlCol="0" anchor="ctr"/>
          <a:lstStyle/>
          <a:p>
            <a:pPr algn="ctr" indent="0" marL="0">
              <a:buNone/>
            </a:pPr>
            <a:endParaRPr lang="en-US" sz="1600" dirty="0"/>
          </a:p>
        </p:txBody>
      </p:sp>
      <p:sp>
        <p:nvSpPr>
          <p:cNvPr id="19" name="Text 17"/>
          <p:cNvSpPr/>
          <p:nvPr/>
        </p:nvSpPr>
        <p:spPr>
          <a:xfrm>
            <a:off x="10744200" y="3657600"/>
            <a:ext cx="868680" cy="365760"/>
          </a:xfrm>
          <a:prstGeom prst="rect">
            <a:avLst/>
          </a:prstGeom>
          <a:noFill/>
          <a:ln/>
        </p:spPr>
        <p:txBody>
          <a:bodyPr wrap="square" lIns="0" tIns="0" rIns="0" bIns="0" rtlCol="0" anchor="ctr"/>
          <a:lstStyle/>
          <a:p>
            <a:pPr algn="ctr" indent="0" marL="0">
              <a:buNone/>
            </a:pPr>
            <a:r>
              <a:rPr lang="en-US" sz="1100" b="1" dirty="0">
                <a:solidFill>
                  <a:srgbClr val="15181F"/>
                </a:solidFill>
                <a:latin typeface="Calibri" pitchFamily="34" charset="0"/>
                <a:ea typeface="Calibri" pitchFamily="34" charset="-122"/>
                <a:cs typeface="Calibri" pitchFamily="34" charset="-120"/>
              </a:rPr>
              <a:t>answer</a:t>
            </a:r>
            <a:endParaRPr lang="en-US" sz="1100" dirty="0"/>
          </a:p>
        </p:txBody>
      </p:sp>
      <p:sp>
        <p:nvSpPr>
          <p:cNvPr id="20" name="Text 18"/>
          <p:cNvSpPr/>
          <p:nvPr/>
        </p:nvSpPr>
        <p:spPr>
          <a:xfrm>
            <a:off x="777240" y="4800600"/>
            <a:ext cx="10634472" cy="45720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You have used APIs already: a weather app, a payment button, a map, signing in "with Google".</a:t>
            </a:r>
            <a:endParaRPr lang="en-US" sz="1500" dirty="0"/>
          </a:p>
        </p:txBody>
      </p:sp>
      <p:sp>
        <p:nvSpPr>
          <p:cNvPr id="21" name="Text 19"/>
          <p:cNvSpPr/>
          <p:nvPr/>
        </p:nvSpPr>
        <p:spPr>
          <a:xfrm>
            <a:off x="777240" y="5394960"/>
            <a:ext cx="10634472" cy="822960"/>
          </a:xfrm>
          <a:prstGeom prst="rect">
            <a:avLst/>
          </a:prstGeom>
          <a:noFill/>
          <a:ln/>
        </p:spPr>
        <p:txBody>
          <a:bodyPr wrap="square" lIns="0" tIns="0" rIns="0" bIns="0" rtlCol="0" anchor="ctr"/>
          <a:lstStyle/>
          <a:p>
            <a:pPr indent="0" marL="0">
              <a:buNone/>
            </a:pPr>
            <a:r>
              <a:rPr lang="en-US" sz="1900" b="1" dirty="0">
                <a:solidFill>
                  <a:srgbClr val="00776A"/>
                </a:solidFill>
                <a:latin typeface="Cambria" pitchFamily="34" charset="0"/>
                <a:ea typeface="Cambria" pitchFamily="34" charset="-122"/>
                <a:cs typeface="Cambria" pitchFamily="34" charset="-120"/>
              </a:rPr>
              <a:t>Today you use one, and you also build one.</a:t>
            </a:r>
            <a:endParaRPr lang="en-US" sz="1900" dirty="0"/>
          </a:p>
        </p:txBody>
      </p:sp>
      <p:sp>
        <p:nvSpPr>
          <p:cNvPr id="22" name="Text 20"/>
          <p:cNvSpPr/>
          <p:nvPr/>
        </p:nvSpPr>
        <p:spPr>
          <a:xfrm>
            <a:off x="777240" y="5897880"/>
            <a:ext cx="10634472" cy="457200"/>
          </a:xfrm>
          <a:prstGeom prst="rect">
            <a:avLst/>
          </a:prstGeom>
          <a:noFill/>
          <a:ln/>
        </p:spPr>
        <p:txBody>
          <a:bodyPr wrap="square" lIns="0" tIns="0" rIns="0" bIns="0" rtlCol="0" anchor="ctr"/>
          <a:lstStyle/>
          <a:p>
            <a:pPr indent="0" marL="0">
              <a:buNone/>
            </a:pPr>
            <a:r>
              <a:rPr lang="en-US" sz="1400" dirty="0">
                <a:solidFill>
                  <a:srgbClr val="5C6470"/>
                </a:solidFill>
                <a:latin typeface="Calibri" pitchFamily="34" charset="0"/>
                <a:ea typeface="Calibri" pitchFamily="34" charset="-122"/>
                <a:cs typeface="Calibri" pitchFamily="34" charset="-120"/>
              </a:rPr>
              <a:t>Your /readings endpoint is an API. In Part 4 a microcontroller calls it exactly as you call the AI service.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an API key is</a:t>
            </a:r>
            <a:endParaRPr lang="en-US" sz="3100" dirty="0"/>
          </a:p>
        </p:txBody>
      </p:sp>
      <p:sp>
        <p:nvSpPr>
          <p:cNvPr id="4" name="Shape 2"/>
          <p:cNvSpPr/>
          <p:nvPr/>
        </p:nvSpPr>
        <p:spPr>
          <a:xfrm>
            <a:off x="777240" y="1600200"/>
            <a:ext cx="10634472" cy="594360"/>
          </a:xfrm>
          <a:prstGeom prst="roundRect">
            <a:avLst>
              <a:gd name="adj" fmla="val 13846"/>
            </a:avLst>
          </a:prstGeom>
          <a:solidFill>
            <a:srgbClr val="FFF8E8"/>
          </a:solidFill>
          <a:ln w="12700">
            <a:solidFill>
              <a:srgbClr val="E5BC64"/>
            </a:solidFill>
            <a:prstDash val="solid"/>
          </a:ln>
        </p:spPr>
      </p:sp>
      <p:sp>
        <p:nvSpPr>
          <p:cNvPr id="5" name="Text 3"/>
          <p:cNvSpPr/>
          <p:nvPr/>
        </p:nvSpPr>
        <p:spPr>
          <a:xfrm>
            <a:off x="1051560" y="161848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API key</a:t>
            </a:r>
            <a:endParaRPr lang="en-US" sz="1400" dirty="0"/>
          </a:p>
        </p:txBody>
      </p:sp>
      <p:sp>
        <p:nvSpPr>
          <p:cNvPr id="6" name="Text 4"/>
          <p:cNvSpPr/>
          <p:nvPr/>
        </p:nvSpPr>
        <p:spPr>
          <a:xfrm>
            <a:off x="4251960" y="161848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secret string identifying your account with a service</a:t>
            </a:r>
            <a:endParaRPr lang="en-US" sz="1350" dirty="0"/>
          </a:p>
        </p:txBody>
      </p:sp>
      <p:sp>
        <p:nvSpPr>
          <p:cNvPr id="7" name="Shape 5"/>
          <p:cNvSpPr/>
          <p:nvPr/>
        </p:nvSpPr>
        <p:spPr>
          <a:xfrm>
            <a:off x="777240" y="2514600"/>
            <a:ext cx="10634472" cy="1371600"/>
          </a:xfrm>
          <a:prstGeom prst="roundRect">
            <a:avLst>
              <a:gd name="adj" fmla="val 6000"/>
            </a:avLst>
          </a:prstGeom>
          <a:solidFill>
            <a:srgbClr val="FBF0EE"/>
          </a:solidFill>
          <a:ln w="12700">
            <a:solidFill>
              <a:srgbClr val="BE3A2B"/>
            </a:solidFill>
            <a:prstDash val="solid"/>
          </a:ln>
        </p:spPr>
      </p:sp>
      <p:sp>
        <p:nvSpPr>
          <p:cNvPr id="8" name="Text 6"/>
          <p:cNvSpPr/>
          <p:nvPr/>
        </p:nvSpPr>
        <p:spPr>
          <a:xfrm>
            <a:off x="1143000" y="2697480"/>
            <a:ext cx="10241280" cy="411480"/>
          </a:xfrm>
          <a:prstGeom prst="rect">
            <a:avLst/>
          </a:prstGeom>
          <a:noFill/>
          <a:ln/>
        </p:spPr>
        <p:txBody>
          <a:bodyPr wrap="square" lIns="0" tIns="0" rIns="0" bIns="0" rtlCol="0" anchor="ctr"/>
          <a:lstStyle/>
          <a:p>
            <a:pPr indent="0" marL="0">
              <a:buNone/>
            </a:pPr>
            <a:r>
              <a:rPr lang="en-US" sz="2000" b="1" dirty="0">
                <a:solidFill>
                  <a:srgbClr val="BE3A2B"/>
                </a:solidFill>
                <a:latin typeface="Cambria" pitchFamily="34" charset="0"/>
                <a:ea typeface="Cambria" pitchFamily="34" charset="-122"/>
                <a:cs typeface="Cambria" pitchFamily="34" charset="-120"/>
              </a:rPr>
              <a:t>It behaves like a bank card with no PIN.</a:t>
            </a:r>
            <a:endParaRPr lang="en-US" sz="2000" dirty="0"/>
          </a:p>
        </p:txBody>
      </p:sp>
      <p:sp>
        <p:nvSpPr>
          <p:cNvPr id="9" name="Text 7"/>
          <p:cNvSpPr/>
          <p:nvPr/>
        </p:nvSpPr>
        <p:spPr>
          <a:xfrm>
            <a:off x="1143000" y="3154680"/>
            <a:ext cx="10241280" cy="640080"/>
          </a:xfrm>
          <a:prstGeom prst="rect">
            <a:avLst/>
          </a:prstGeom>
          <a:noFill/>
          <a:ln/>
        </p:spPr>
        <p:txBody>
          <a:bodyPr wrap="square" lIns="0" tIns="0" rIns="0" bIns="0" rtlCol="0" anchor="ctr"/>
          <a:lstStyle/>
          <a:p>
            <a:pPr indent="0" marL="0">
              <a:buNone/>
            </a:pPr>
            <a:r>
              <a:rPr lang="en-US" sz="1500" dirty="0">
                <a:solidFill>
                  <a:srgbClr val="BE3A2B"/>
                </a:solidFill>
                <a:latin typeface="Calibri" pitchFamily="34" charset="0"/>
                <a:ea typeface="Calibri" pitchFamily="34" charset="-122"/>
                <a:cs typeface="Calibri" pitchFamily="34" charset="-120"/>
              </a:rPr>
              <a:t>No second step. No confirmation. No 'are you sure'. Whoever holds it can use your account and spend your money. Possession is the whole security model.</a:t>
            </a:r>
            <a:endParaRPr lang="en-US" sz="1500" dirty="0"/>
          </a:p>
        </p:txBody>
      </p:sp>
      <p:sp>
        <p:nvSpPr>
          <p:cNvPr id="10" name="Text 8"/>
          <p:cNvSpPr/>
          <p:nvPr/>
        </p:nvSpPr>
        <p:spPr>
          <a:xfrm>
            <a:off x="777240" y="4114800"/>
            <a:ext cx="10058400" cy="365760"/>
          </a:xfrm>
          <a:prstGeom prst="rect">
            <a:avLst/>
          </a:prstGeom>
          <a:noFill/>
          <a:ln/>
        </p:spPr>
        <p:txBody>
          <a:bodyPr wrap="square" lIns="0" tIns="0" rIns="0" bIns="0" rtlCol="0" anchor="ctr"/>
          <a:lstStyle/>
          <a:p>
            <a:pPr indent="0" marL="0">
              <a:buNone/>
            </a:pPr>
            <a:r>
              <a:rPr lang="en-US" sz="1500" b="1" dirty="0">
                <a:solidFill>
                  <a:srgbClr val="15181F"/>
                </a:solidFill>
                <a:latin typeface="Calibri" pitchFamily="34" charset="0"/>
                <a:ea typeface="Calibri" pitchFamily="34" charset="-122"/>
                <a:cs typeface="Calibri" pitchFamily="34" charset="-120"/>
              </a:rPr>
              <a:t>So it must never appear in:</a:t>
            </a:r>
            <a:endParaRPr lang="en-US" sz="1500" dirty="0"/>
          </a:p>
        </p:txBody>
      </p:sp>
      <p:sp>
        <p:nvSpPr>
          <p:cNvPr id="11" name="Shape 9"/>
          <p:cNvSpPr/>
          <p:nvPr/>
        </p:nvSpPr>
        <p:spPr>
          <a:xfrm>
            <a:off x="868680" y="4636008"/>
            <a:ext cx="256032" cy="256032"/>
          </a:xfrm>
          <a:prstGeom prst="ellipse">
            <a:avLst/>
          </a:prstGeom>
          <a:solidFill>
            <a:srgbClr val="BE3A2B"/>
          </a:solidFill>
          <a:ln/>
        </p:spPr>
      </p:sp>
      <p:sp>
        <p:nvSpPr>
          <p:cNvPr id="12" name="Text 10"/>
          <p:cNvSpPr/>
          <p:nvPr/>
        </p:nvSpPr>
        <p:spPr>
          <a:xfrm>
            <a:off x="1325880" y="4526280"/>
            <a:ext cx="4754880" cy="457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your code</a:t>
            </a:r>
            <a:endParaRPr lang="en-US" sz="1450" dirty="0"/>
          </a:p>
        </p:txBody>
      </p:sp>
      <p:sp>
        <p:nvSpPr>
          <p:cNvPr id="13" name="Shape 11"/>
          <p:cNvSpPr/>
          <p:nvPr/>
        </p:nvSpPr>
        <p:spPr>
          <a:xfrm>
            <a:off x="6446520" y="4636008"/>
            <a:ext cx="256032" cy="256032"/>
          </a:xfrm>
          <a:prstGeom prst="ellipse">
            <a:avLst/>
          </a:prstGeom>
          <a:solidFill>
            <a:srgbClr val="BE3A2B"/>
          </a:solidFill>
          <a:ln/>
        </p:spPr>
      </p:sp>
      <p:sp>
        <p:nvSpPr>
          <p:cNvPr id="14" name="Text 12"/>
          <p:cNvSpPr/>
          <p:nvPr/>
        </p:nvSpPr>
        <p:spPr>
          <a:xfrm>
            <a:off x="6903720" y="4526280"/>
            <a:ext cx="4754880" cy="457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page sent to a browser</a:t>
            </a:r>
            <a:endParaRPr lang="en-US" sz="1450" dirty="0"/>
          </a:p>
        </p:txBody>
      </p:sp>
      <p:sp>
        <p:nvSpPr>
          <p:cNvPr id="15" name="Shape 13"/>
          <p:cNvSpPr/>
          <p:nvPr/>
        </p:nvSpPr>
        <p:spPr>
          <a:xfrm>
            <a:off x="868680" y="5294376"/>
            <a:ext cx="256032" cy="256032"/>
          </a:xfrm>
          <a:prstGeom prst="ellipse">
            <a:avLst/>
          </a:prstGeom>
          <a:solidFill>
            <a:srgbClr val="BE3A2B"/>
          </a:solidFill>
          <a:ln/>
        </p:spPr>
      </p:sp>
      <p:sp>
        <p:nvSpPr>
          <p:cNvPr id="16" name="Text 14"/>
          <p:cNvSpPr/>
          <p:nvPr/>
        </p:nvSpPr>
        <p:spPr>
          <a:xfrm>
            <a:off x="1325880" y="5184648"/>
            <a:ext cx="4754880" cy="457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anything uploaded to GitHub</a:t>
            </a:r>
            <a:endParaRPr lang="en-US" sz="1450" dirty="0"/>
          </a:p>
        </p:txBody>
      </p:sp>
      <p:sp>
        <p:nvSpPr>
          <p:cNvPr id="17" name="Shape 15"/>
          <p:cNvSpPr/>
          <p:nvPr/>
        </p:nvSpPr>
        <p:spPr>
          <a:xfrm>
            <a:off x="6446520" y="5294376"/>
            <a:ext cx="256032" cy="256032"/>
          </a:xfrm>
          <a:prstGeom prst="ellipse">
            <a:avLst/>
          </a:prstGeom>
          <a:solidFill>
            <a:srgbClr val="BE3A2B"/>
          </a:solidFill>
          <a:ln/>
        </p:spPr>
      </p:sp>
      <p:sp>
        <p:nvSpPr>
          <p:cNvPr id="18" name="Text 16"/>
          <p:cNvSpPr/>
          <p:nvPr/>
        </p:nvSpPr>
        <p:spPr>
          <a:xfrm>
            <a:off x="6903720" y="5184648"/>
            <a:ext cx="4754880" cy="457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screenshot, a video, or a group chat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1.8  ·  THE MOST IMPORTANT IDEA IN PART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So where does the key go?</a:t>
            </a:r>
            <a:endParaRPr lang="en-US" sz="3100" dirty="0"/>
          </a:p>
        </p:txBody>
      </p:sp>
      <p:sp>
        <p:nvSpPr>
          <p:cNvPr id="4" name="Shape 2"/>
          <p:cNvSpPr/>
          <p:nvPr/>
        </p:nvSpPr>
        <p:spPr>
          <a:xfrm>
            <a:off x="777240" y="1600200"/>
            <a:ext cx="10634472" cy="1051560"/>
          </a:xfrm>
          <a:prstGeom prst="roundRect">
            <a:avLst>
              <a:gd name="adj" fmla="val 7826"/>
            </a:avLst>
          </a:prstGeom>
          <a:solidFill>
            <a:srgbClr val="F5F6F8"/>
          </a:solidFill>
          <a:ln w="12700">
            <a:solidFill>
              <a:srgbClr val="E1E4E9"/>
            </a:solidFill>
            <a:prstDash val="solid"/>
          </a:ln>
        </p:spPr>
      </p:sp>
      <p:sp>
        <p:nvSpPr>
          <p:cNvPr id="5" name="Text 3"/>
          <p:cNvSpPr/>
          <p:nvPr/>
        </p:nvSpPr>
        <p:spPr>
          <a:xfrm>
            <a:off x="1143000" y="1737360"/>
            <a:ext cx="10241280" cy="36576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The frontend is public (1.1).    An API key must stay secret (1.8).</a:t>
            </a:r>
            <a:endParaRPr lang="en-US" sz="1600" dirty="0"/>
          </a:p>
        </p:txBody>
      </p:sp>
      <p:sp>
        <p:nvSpPr>
          <p:cNvPr id="6" name="Text 4"/>
          <p:cNvSpPr/>
          <p:nvPr/>
        </p:nvSpPr>
        <p:spPr>
          <a:xfrm>
            <a:off x="1143000" y="2121408"/>
            <a:ext cx="10241280" cy="411480"/>
          </a:xfrm>
          <a:prstGeom prst="rect">
            <a:avLst/>
          </a:prstGeom>
          <a:noFill/>
          <a:ln/>
        </p:spPr>
        <p:txBody>
          <a:bodyPr wrap="square" lIns="0" tIns="0" rIns="0" bIns="0" rtlCol="0" anchor="ctr"/>
          <a:lstStyle/>
          <a:p>
            <a:pPr indent="0" marL="0">
              <a:buNone/>
            </a:pPr>
            <a:r>
              <a:rPr lang="en-US" sz="1800" b="1" dirty="0">
                <a:solidFill>
                  <a:srgbClr val="15181F"/>
                </a:solidFill>
                <a:latin typeface="Cambria" pitchFamily="34" charset="0"/>
                <a:ea typeface="Cambria" pitchFamily="34" charset="-122"/>
                <a:cs typeface="Cambria" pitchFamily="34" charset="-120"/>
              </a:rPr>
              <a:t>Therefore the key cannot live in the frontend.</a:t>
            </a:r>
            <a:endParaRPr lang="en-US" sz="1800" dirty="0"/>
          </a:p>
        </p:txBody>
      </p:sp>
      <p:sp>
        <p:nvSpPr>
          <p:cNvPr id="7" name="Shape 5"/>
          <p:cNvSpPr/>
          <p:nvPr/>
        </p:nvSpPr>
        <p:spPr>
          <a:xfrm>
            <a:off x="777240" y="2880360"/>
            <a:ext cx="3291840" cy="1371600"/>
          </a:xfrm>
          <a:prstGeom prst="roundRect">
            <a:avLst>
              <a:gd name="adj" fmla="val 6000"/>
            </a:avLst>
          </a:prstGeom>
          <a:solidFill>
            <a:srgbClr val="F5F6F8"/>
          </a:solidFill>
          <a:ln w="12700">
            <a:solidFill>
              <a:srgbClr val="F5F6F8"/>
            </a:solidFill>
            <a:prstDash val="solid"/>
          </a:ln>
        </p:spPr>
      </p:sp>
      <p:sp>
        <p:nvSpPr>
          <p:cNvPr id="8" name="Text 6"/>
          <p:cNvSpPr/>
          <p:nvPr/>
        </p:nvSpPr>
        <p:spPr>
          <a:xfrm>
            <a:off x="868680" y="3081528"/>
            <a:ext cx="310896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Browser</a:t>
            </a:r>
            <a:endParaRPr lang="en-US" sz="1600" dirty="0"/>
          </a:p>
        </p:txBody>
      </p:sp>
      <p:sp>
        <p:nvSpPr>
          <p:cNvPr id="9" name="Text 7"/>
          <p:cNvSpPr/>
          <p:nvPr/>
        </p:nvSpPr>
        <p:spPr>
          <a:xfrm>
            <a:off x="886968" y="3520440"/>
            <a:ext cx="3072384" cy="594360"/>
          </a:xfrm>
          <a:prstGeom prst="rect">
            <a:avLst/>
          </a:prstGeom>
          <a:noFill/>
          <a:ln/>
        </p:spPr>
        <p:txBody>
          <a:bodyPr wrap="square" lIns="0" tIns="0" rIns="0" bIns="0" rtlCol="0" anchor="ctr"/>
          <a:lstStyle/>
          <a:p>
            <a:pPr algn="ctr" indent="0" marL="0">
              <a:buNone/>
            </a:pPr>
            <a:r>
              <a:rPr lang="en-US" sz="1200" dirty="0">
                <a:solidFill>
                  <a:srgbClr val="5C6470"/>
                </a:solidFill>
                <a:latin typeface="Calibri" pitchFamily="34" charset="0"/>
                <a:ea typeface="Calibri" pitchFamily="34" charset="-122"/>
                <a:cs typeface="Calibri" pitchFamily="34" charset="-120"/>
              </a:rPr>
              <a:t>no key here</a:t>
            </a:r>
            <a:endParaRPr lang="en-US" sz="1200" dirty="0"/>
          </a:p>
        </p:txBody>
      </p:sp>
      <p:sp>
        <p:nvSpPr>
          <p:cNvPr id="10" name="Shape 8"/>
          <p:cNvSpPr/>
          <p:nvPr/>
        </p:nvSpPr>
        <p:spPr>
          <a:xfrm>
            <a:off x="4251960" y="3429000"/>
            <a:ext cx="1051560" cy="219456"/>
          </a:xfrm>
          <a:prstGeom prst="rightArrow">
            <a:avLst/>
          </a:prstGeom>
          <a:solidFill>
            <a:srgbClr val="A9B0BB"/>
          </a:solidFill>
          <a:ln/>
        </p:spPr>
      </p:sp>
      <p:sp>
        <p:nvSpPr>
          <p:cNvPr id="11" name="Text 9"/>
          <p:cNvSpPr/>
          <p:nvPr/>
        </p:nvSpPr>
        <p:spPr>
          <a:xfrm>
            <a:off x="3840480" y="3044952"/>
            <a:ext cx="187452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the data</a:t>
            </a:r>
            <a:endParaRPr lang="en-US" sz="1050" dirty="0"/>
          </a:p>
        </p:txBody>
      </p:sp>
      <p:sp>
        <p:nvSpPr>
          <p:cNvPr id="12" name="Shape 10"/>
          <p:cNvSpPr/>
          <p:nvPr/>
        </p:nvSpPr>
        <p:spPr>
          <a:xfrm>
            <a:off x="5486400" y="2880360"/>
            <a:ext cx="3291840" cy="1371600"/>
          </a:xfrm>
          <a:prstGeom prst="roundRect">
            <a:avLst>
              <a:gd name="adj" fmla="val 6000"/>
            </a:avLst>
          </a:prstGeom>
          <a:solidFill>
            <a:srgbClr val="00776A"/>
          </a:solidFill>
          <a:ln w="12700">
            <a:solidFill>
              <a:srgbClr val="00776A"/>
            </a:solidFill>
            <a:prstDash val="solid"/>
          </a:ln>
        </p:spPr>
      </p:sp>
      <p:sp>
        <p:nvSpPr>
          <p:cNvPr id="13" name="Text 11"/>
          <p:cNvSpPr/>
          <p:nvPr/>
        </p:nvSpPr>
        <p:spPr>
          <a:xfrm>
            <a:off x="5577840" y="3081528"/>
            <a:ext cx="31089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Your server</a:t>
            </a:r>
            <a:endParaRPr lang="en-US" sz="1600" dirty="0"/>
          </a:p>
        </p:txBody>
      </p:sp>
      <p:sp>
        <p:nvSpPr>
          <p:cNvPr id="14" name="Text 12"/>
          <p:cNvSpPr/>
          <p:nvPr/>
        </p:nvSpPr>
        <p:spPr>
          <a:xfrm>
            <a:off x="5596128" y="3520440"/>
            <a:ext cx="3072384" cy="594360"/>
          </a:xfrm>
          <a:prstGeom prst="rect">
            <a:avLst/>
          </a:prstGeom>
          <a:noFill/>
          <a:ln/>
        </p:spPr>
        <p:txBody>
          <a:bodyPr wrap="square" lIns="0" tIns="0" rIns="0" bIns="0" rtlCol="0" anchor="ctr"/>
          <a:lstStyle/>
          <a:p>
            <a:pPr algn="ctr" indent="0" marL="0">
              <a:buNone/>
            </a:pPr>
            <a:r>
              <a:rPr lang="en-US" sz="1200" dirty="0">
                <a:solidFill>
                  <a:srgbClr val="C9D0DC"/>
                </a:solidFill>
                <a:latin typeface="Calibri" pitchFamily="34" charset="0"/>
                <a:ea typeface="Calibri" pitchFamily="34" charset="-122"/>
                <a:cs typeface="Calibri" pitchFamily="34" charset="-120"/>
              </a:rPr>
              <a:t>the key lives here</a:t>
            </a:r>
            <a:endParaRPr lang="en-US" sz="1200" dirty="0"/>
          </a:p>
        </p:txBody>
      </p:sp>
      <p:sp>
        <p:nvSpPr>
          <p:cNvPr id="15" name="Shape 13"/>
          <p:cNvSpPr/>
          <p:nvPr/>
        </p:nvSpPr>
        <p:spPr>
          <a:xfrm>
            <a:off x="8961120" y="3429000"/>
            <a:ext cx="1051560" cy="219456"/>
          </a:xfrm>
          <a:prstGeom prst="rightArrow">
            <a:avLst/>
          </a:prstGeom>
          <a:solidFill>
            <a:srgbClr val="A9B0BB"/>
          </a:solidFill>
          <a:ln/>
        </p:spPr>
      </p:sp>
      <p:sp>
        <p:nvSpPr>
          <p:cNvPr id="16" name="Text 14"/>
          <p:cNvSpPr/>
          <p:nvPr/>
        </p:nvSpPr>
        <p:spPr>
          <a:xfrm>
            <a:off x="8549640" y="3044952"/>
            <a:ext cx="187452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data + key</a:t>
            </a:r>
            <a:endParaRPr lang="en-US" sz="1050" dirty="0"/>
          </a:p>
        </p:txBody>
      </p:sp>
      <p:sp>
        <p:nvSpPr>
          <p:cNvPr id="17" name="Shape 15"/>
          <p:cNvSpPr/>
          <p:nvPr/>
        </p:nvSpPr>
        <p:spPr>
          <a:xfrm>
            <a:off x="10195560" y="2880360"/>
            <a:ext cx="1371600" cy="1371600"/>
          </a:xfrm>
          <a:prstGeom prst="roundRect">
            <a:avLst>
              <a:gd name="adj" fmla="val 6000"/>
            </a:avLst>
          </a:prstGeom>
          <a:solidFill>
            <a:srgbClr val="F5F6F8"/>
          </a:solidFill>
          <a:ln w="12700">
            <a:solidFill>
              <a:srgbClr val="F5F6F8"/>
            </a:solidFill>
            <a:prstDash val="solid"/>
          </a:ln>
        </p:spPr>
      </p:sp>
      <p:sp>
        <p:nvSpPr>
          <p:cNvPr id="18" name="Text 16"/>
          <p:cNvSpPr/>
          <p:nvPr/>
        </p:nvSpPr>
        <p:spPr>
          <a:xfrm>
            <a:off x="10287000" y="3081528"/>
            <a:ext cx="118872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the API</a:t>
            </a:r>
            <a:endParaRPr lang="en-US" sz="1600" dirty="0"/>
          </a:p>
        </p:txBody>
      </p:sp>
      <p:sp>
        <p:nvSpPr>
          <p:cNvPr id="19" name="Text 17"/>
          <p:cNvSpPr/>
          <p:nvPr/>
        </p:nvSpPr>
        <p:spPr>
          <a:xfrm>
            <a:off x="777240" y="4572000"/>
            <a:ext cx="10634472" cy="822960"/>
          </a:xfrm>
          <a:prstGeom prst="rect">
            <a:avLst/>
          </a:prstGeom>
          <a:noFill/>
          <a:ln/>
        </p:spPr>
        <p:txBody>
          <a:bodyPr wrap="square" lIns="0" tIns="0" rIns="0" bIns="0" rtlCol="0" anchor="ctr"/>
          <a:lstStyle/>
          <a:p>
            <a:pPr indent="0" marL="0">
              <a:buNone/>
            </a:pPr>
            <a:r>
              <a:rPr lang="en-US" sz="2200" b="1" dirty="0">
                <a:solidFill>
                  <a:srgbClr val="00776A"/>
                </a:solidFill>
                <a:latin typeface="Cambria" pitchFamily="34" charset="0"/>
                <a:ea typeface="Cambria" pitchFamily="34" charset="-122"/>
                <a:cs typeface="Cambria" pitchFamily="34" charset="-120"/>
              </a:rPr>
              <a:t>That is what the backend is for.</a:t>
            </a:r>
            <a:endParaRPr lang="en-US" sz="2200" dirty="0"/>
          </a:p>
        </p:txBody>
      </p:sp>
      <p:sp>
        <p:nvSpPr>
          <p:cNvPr id="20" name="Text 18"/>
          <p:cNvSpPr/>
          <p:nvPr/>
        </p:nvSpPr>
        <p:spPr>
          <a:xfrm>
            <a:off x="777240" y="5120640"/>
            <a:ext cx="10634472" cy="73152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If you only had a static page, you would have nowhere safe to put it. The key never reaches the visitor, so it can never be taken.</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1.9</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Where data lives</a:t>
            </a:r>
            <a:endParaRPr lang="en-US" sz="3100" dirty="0"/>
          </a:p>
        </p:txBody>
      </p:sp>
      <p:sp>
        <p:nvSpPr>
          <p:cNvPr id="4" name="Shape 2"/>
          <p:cNvSpPr/>
          <p:nvPr/>
        </p:nvSpPr>
        <p:spPr>
          <a:xfrm>
            <a:off x="777240" y="1691640"/>
            <a:ext cx="5257800" cy="2651760"/>
          </a:xfrm>
          <a:prstGeom prst="roundRect">
            <a:avLst>
              <a:gd name="adj" fmla="val 3103"/>
            </a:avLst>
          </a:prstGeom>
          <a:solidFill>
            <a:srgbClr val="F5F6F8"/>
          </a:solidFill>
          <a:ln w="12700">
            <a:solidFill>
              <a:srgbClr val="E1E4E9"/>
            </a:solidFill>
            <a:prstDash val="solid"/>
          </a:ln>
        </p:spPr>
      </p:sp>
      <p:sp>
        <p:nvSpPr>
          <p:cNvPr id="5" name="Text 3"/>
          <p:cNvSpPr/>
          <p:nvPr/>
        </p:nvSpPr>
        <p:spPr>
          <a:xfrm>
            <a:off x="1097280" y="1874520"/>
            <a:ext cx="4572000" cy="41148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A file</a:t>
            </a:r>
            <a:endParaRPr lang="en-US" sz="2000" dirty="0"/>
          </a:p>
        </p:txBody>
      </p:sp>
      <p:sp>
        <p:nvSpPr>
          <p:cNvPr id="6" name="Text 4"/>
          <p:cNvSpPr/>
          <p:nvPr/>
        </p:nvSpPr>
        <p:spPr>
          <a:xfrm>
            <a:off x="1097280" y="2377440"/>
            <a:ext cx="4617720" cy="182880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SQLite - a whole database inside one file.</a:t>
            </a:r>
            <a:endParaRPr lang="en-US" sz="1450" dirty="0"/>
          </a:p>
          <a:p>
            <a:pPr indent="0" marL="0">
              <a:buNone/>
            </a:pP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Nothing to install, no server, no password. Right for a prototype, and used in plenty of production software.</a:t>
            </a:r>
            <a:endParaRPr lang="en-US" sz="1450" dirty="0"/>
          </a:p>
        </p:txBody>
      </p:sp>
      <p:sp>
        <p:nvSpPr>
          <p:cNvPr id="7" name="Shape 5"/>
          <p:cNvSpPr/>
          <p:nvPr/>
        </p:nvSpPr>
        <p:spPr>
          <a:xfrm>
            <a:off x="6309360" y="1691640"/>
            <a:ext cx="5257800" cy="2651760"/>
          </a:xfrm>
          <a:prstGeom prst="roundRect">
            <a:avLst>
              <a:gd name="adj" fmla="val 3103"/>
            </a:avLst>
          </a:prstGeom>
          <a:solidFill>
            <a:srgbClr val="F5F6F8"/>
          </a:solidFill>
          <a:ln w="12700">
            <a:solidFill>
              <a:srgbClr val="E1E4E9"/>
            </a:solidFill>
            <a:prstDash val="solid"/>
          </a:ln>
        </p:spPr>
      </p:sp>
      <p:sp>
        <p:nvSpPr>
          <p:cNvPr id="8" name="Text 6"/>
          <p:cNvSpPr/>
          <p:nvPr/>
        </p:nvSpPr>
        <p:spPr>
          <a:xfrm>
            <a:off x="6629400" y="1874520"/>
            <a:ext cx="4572000" cy="411480"/>
          </a:xfrm>
          <a:prstGeom prst="rect">
            <a:avLst/>
          </a:prstGeom>
          <a:noFill/>
          <a:ln/>
        </p:spPr>
        <p:txBody>
          <a:bodyPr wrap="square" lIns="0" tIns="0" rIns="0" bIns="0" rtlCol="0" anchor="ctr"/>
          <a:lstStyle/>
          <a:p>
            <a:pPr indent="0" marL="0">
              <a:buNone/>
            </a:pPr>
            <a:r>
              <a:rPr lang="en-US" sz="2000" b="1" dirty="0">
                <a:solidFill>
                  <a:srgbClr val="5158BE"/>
                </a:solidFill>
                <a:latin typeface="Cambria" pitchFamily="34" charset="0"/>
                <a:ea typeface="Cambria" pitchFamily="34" charset="-122"/>
                <a:cs typeface="Cambria" pitchFamily="34" charset="-120"/>
              </a:rPr>
              <a:t>A managed database</a:t>
            </a:r>
            <a:endParaRPr lang="en-US" sz="2000" dirty="0"/>
          </a:p>
        </p:txBody>
      </p:sp>
      <p:sp>
        <p:nvSpPr>
          <p:cNvPr id="9" name="Text 7"/>
          <p:cNvSpPr/>
          <p:nvPr/>
        </p:nvSpPr>
        <p:spPr>
          <a:xfrm>
            <a:off x="6629400" y="2377440"/>
            <a:ext cx="4617720" cy="182880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Postgres or MySQL - runs as its own service.</a:t>
            </a:r>
            <a:endParaRPr lang="en-US" sz="1450" dirty="0"/>
          </a:p>
          <a:p>
            <a:pPr indent="0" marL="0">
              <a:buNone/>
            </a:pP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Designed for many programs at once. Rented monthly, often with a small free tier.</a:t>
            </a:r>
            <a:endParaRPr lang="en-US" sz="1450" dirty="0"/>
          </a:p>
        </p:txBody>
      </p:sp>
      <p:sp>
        <p:nvSpPr>
          <p:cNvPr id="10" name="Shape 8"/>
          <p:cNvSpPr/>
          <p:nvPr/>
        </p:nvSpPr>
        <p:spPr>
          <a:xfrm>
            <a:off x="777240" y="4617720"/>
            <a:ext cx="10634472" cy="1371600"/>
          </a:xfrm>
          <a:prstGeom prst="roundRect">
            <a:avLst>
              <a:gd name="adj" fmla="val 6000"/>
            </a:avLst>
          </a:prstGeom>
          <a:solidFill>
            <a:srgbClr val="FFF8E8"/>
          </a:solidFill>
          <a:ln w="12700">
            <a:solidFill>
              <a:srgbClr val="E5BC64"/>
            </a:solidFill>
            <a:prstDash val="solid"/>
          </a:ln>
        </p:spPr>
      </p:sp>
      <p:sp>
        <p:nvSpPr>
          <p:cNvPr id="11" name="Text 9"/>
          <p:cNvSpPr/>
          <p:nvPr/>
        </p:nvSpPr>
        <p:spPr>
          <a:xfrm>
            <a:off x="1143000" y="4754880"/>
            <a:ext cx="10241280" cy="384048"/>
          </a:xfrm>
          <a:prstGeom prst="rect">
            <a:avLst/>
          </a:prstGeom>
          <a:noFill/>
          <a:ln/>
        </p:spPr>
        <p:txBody>
          <a:bodyPr wrap="square" lIns="0" tIns="0" rIns="0" bIns="0" rtlCol="0" anchor="ctr"/>
          <a:lstStyle/>
          <a:p>
            <a:pPr indent="0" marL="0">
              <a:buNone/>
            </a:pPr>
            <a:r>
              <a:rPr lang="en-US" sz="1700" b="1" dirty="0">
                <a:solidFill>
                  <a:srgbClr val="7A5200"/>
                </a:solidFill>
                <a:latin typeface="Cambria" pitchFamily="34" charset="0"/>
                <a:ea typeface="Cambria" pitchFamily="34" charset="-122"/>
                <a:cs typeface="Cambria" pitchFamily="34" charset="-120"/>
              </a:rPr>
              <a:t>Free hosting wipes the disk on every deploy.</a:t>
            </a:r>
            <a:endParaRPr lang="en-US" sz="1700" dirty="0"/>
          </a:p>
        </p:txBody>
      </p:sp>
      <p:sp>
        <p:nvSpPr>
          <p:cNvPr id="12" name="Text 10"/>
          <p:cNvSpPr/>
          <p:nvPr/>
        </p:nvSpPr>
        <p:spPr>
          <a:xfrm>
            <a:off x="1143000" y="5166360"/>
            <a:ext cx="10241280" cy="731520"/>
          </a:xfrm>
          <a:prstGeom prst="rect">
            <a:avLst/>
          </a:prstGeom>
          <a:noFill/>
          <a:ln/>
        </p:spPr>
        <p:txBody>
          <a:bodyPr wrap="square" lIns="0" tIns="0" rIns="0" bIns="0" rtlCol="0" anchor="ctr"/>
          <a:lstStyle/>
          <a:p>
            <a:pPr indent="0" marL="0">
              <a:buNone/>
            </a:pPr>
            <a:r>
              <a:rPr lang="en-US" sz="1450" dirty="0">
                <a:solidFill>
                  <a:srgbClr val="7A5200"/>
                </a:solidFill>
                <a:latin typeface="Calibri" pitchFamily="34" charset="0"/>
                <a:ea typeface="Calibri" pitchFamily="34" charset="-122"/>
                <a:cs typeface="Calibri" pitchFamily="34" charset="-120"/>
              </a:rPr>
              <a:t>Your database file is part of that disk, so everything in it disappears when you push an update. The application still works; the history is empty. Fine for today. Not fine if the data matters.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1.10  ·  THE WIDER LANDSCAPE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Everything here is one choice out of several</a:t>
            </a:r>
            <a:endParaRPr lang="en-US" sz="3100" dirty="0"/>
          </a:p>
        </p:txBody>
      </p:sp>
      <p:sp>
        <p:nvSpPr>
          <p:cNvPr id="4" name="Text 2"/>
          <p:cNvSpPr/>
          <p:nvPr/>
        </p:nvSpPr>
        <p:spPr>
          <a:xfrm>
            <a:off x="777240" y="1371600"/>
            <a:ext cx="10634472" cy="3200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What could run your server code:</a:t>
            </a:r>
            <a:endParaRPr lang="en-US" sz="1500" dirty="0"/>
          </a:p>
        </p:txBody>
      </p:sp>
      <p:sp>
        <p:nvSpPr>
          <p:cNvPr id="5" name="Shape 3"/>
          <p:cNvSpPr/>
          <p:nvPr/>
        </p:nvSpPr>
        <p:spPr>
          <a:xfrm>
            <a:off x="777240" y="1783080"/>
            <a:ext cx="10634472" cy="521208"/>
          </a:xfrm>
          <a:prstGeom prst="roundRect">
            <a:avLst>
              <a:gd name="adj" fmla="val 15789"/>
            </a:avLst>
          </a:prstGeom>
          <a:solidFill>
            <a:srgbClr val="EAF6F3"/>
          </a:solidFill>
          <a:ln w="12700">
            <a:solidFill>
              <a:srgbClr val="9CCFC6"/>
            </a:solidFill>
            <a:prstDash val="solid"/>
          </a:ln>
        </p:spPr>
      </p:sp>
      <p:sp>
        <p:nvSpPr>
          <p:cNvPr id="6" name="Text 4"/>
          <p:cNvSpPr/>
          <p:nvPr/>
        </p:nvSpPr>
        <p:spPr>
          <a:xfrm>
            <a:off x="1051560" y="1792224"/>
            <a:ext cx="2377440" cy="502920"/>
          </a:xfrm>
          <a:prstGeom prst="rect">
            <a:avLst/>
          </a:prstGeom>
          <a:noFill/>
          <a:ln/>
        </p:spPr>
        <p:txBody>
          <a:bodyPr wrap="square" lIns="0" tIns="0" rIns="0" bIns="0" rtlCol="0" anchor="ctr"/>
          <a:lstStyle/>
          <a:p>
            <a:pPr indent="0" marL="0">
              <a:buNone/>
            </a:pPr>
            <a:r>
              <a:rPr lang="en-US" sz="1350" b="1" dirty="0">
                <a:solidFill>
                  <a:srgbClr val="00776A"/>
                </a:solidFill>
                <a:latin typeface="Courier New" pitchFamily="34" charset="0"/>
                <a:ea typeface="Courier New" pitchFamily="34" charset="-122"/>
                <a:cs typeface="Courier New" pitchFamily="34" charset="-120"/>
              </a:rPr>
              <a:t>FastAPI</a:t>
            </a:r>
            <a:endParaRPr lang="en-US" sz="1350" dirty="0"/>
          </a:p>
        </p:txBody>
      </p:sp>
      <p:sp>
        <p:nvSpPr>
          <p:cNvPr id="7" name="Text 5"/>
          <p:cNvSpPr/>
          <p:nvPr/>
        </p:nvSpPr>
        <p:spPr>
          <a:xfrm>
            <a:off x="3611880" y="1792224"/>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Python</a:t>
            </a:r>
            <a:endParaRPr lang="en-US" sz="1300" dirty="0"/>
          </a:p>
        </p:txBody>
      </p:sp>
      <p:sp>
        <p:nvSpPr>
          <p:cNvPr id="8" name="Text 6"/>
          <p:cNvSpPr/>
          <p:nvPr/>
        </p:nvSpPr>
        <p:spPr>
          <a:xfrm>
            <a:off x="5623560" y="1792224"/>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automatic validation and a free test page</a:t>
            </a:r>
            <a:endParaRPr lang="en-US" sz="1300" dirty="0"/>
          </a:p>
        </p:txBody>
      </p:sp>
      <p:sp>
        <p:nvSpPr>
          <p:cNvPr id="9" name="Shape 7"/>
          <p:cNvSpPr/>
          <p:nvPr/>
        </p:nvSpPr>
        <p:spPr>
          <a:xfrm>
            <a:off x="777240" y="2359152"/>
            <a:ext cx="10634472" cy="521208"/>
          </a:xfrm>
          <a:prstGeom prst="roundRect">
            <a:avLst>
              <a:gd name="adj" fmla="val 15789"/>
            </a:avLst>
          </a:prstGeom>
          <a:solidFill>
            <a:srgbClr val="F5F6F8"/>
          </a:solidFill>
          <a:ln w="12700">
            <a:solidFill>
              <a:srgbClr val="E1E4E9"/>
            </a:solidFill>
            <a:prstDash val="solid"/>
          </a:ln>
        </p:spPr>
      </p:sp>
      <p:sp>
        <p:nvSpPr>
          <p:cNvPr id="10" name="Text 8"/>
          <p:cNvSpPr/>
          <p:nvPr/>
        </p:nvSpPr>
        <p:spPr>
          <a:xfrm>
            <a:off x="1051560" y="2368296"/>
            <a:ext cx="2377440" cy="502920"/>
          </a:xfrm>
          <a:prstGeom prst="rect">
            <a:avLst/>
          </a:prstGeom>
          <a:noFill/>
          <a:ln/>
        </p:spPr>
        <p:txBody>
          <a:bodyPr wrap="square" lIns="0" tIns="0" rIns="0" bIns="0" rtlCol="0" anchor="ctr"/>
          <a:lstStyle/>
          <a:p>
            <a:pPr indent="0" marL="0">
              <a:buNone/>
            </a:pPr>
            <a:r>
              <a:rPr lang="en-US" sz="1350" dirty="0">
                <a:solidFill>
                  <a:srgbClr val="15181F"/>
                </a:solidFill>
                <a:latin typeface="Courier New" pitchFamily="34" charset="0"/>
                <a:ea typeface="Courier New" pitchFamily="34" charset="-122"/>
                <a:cs typeface="Courier New" pitchFamily="34" charset="-120"/>
              </a:rPr>
              <a:t>Flask</a:t>
            </a:r>
            <a:endParaRPr lang="en-US" sz="1350" dirty="0"/>
          </a:p>
        </p:txBody>
      </p:sp>
      <p:sp>
        <p:nvSpPr>
          <p:cNvPr id="11" name="Text 9"/>
          <p:cNvSpPr/>
          <p:nvPr/>
        </p:nvSpPr>
        <p:spPr>
          <a:xfrm>
            <a:off x="3611880" y="2368296"/>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Python</a:t>
            </a:r>
            <a:endParaRPr lang="en-US" sz="1300" dirty="0"/>
          </a:p>
        </p:txBody>
      </p:sp>
      <p:sp>
        <p:nvSpPr>
          <p:cNvPr id="12" name="Text 10"/>
          <p:cNvSpPr/>
          <p:nvPr/>
        </p:nvSpPr>
        <p:spPr>
          <a:xfrm>
            <a:off x="5623560" y="2368296"/>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older and simpler; no validation or docs</a:t>
            </a:r>
            <a:endParaRPr lang="en-US" sz="1300" dirty="0"/>
          </a:p>
        </p:txBody>
      </p:sp>
      <p:sp>
        <p:nvSpPr>
          <p:cNvPr id="13" name="Shape 11"/>
          <p:cNvSpPr/>
          <p:nvPr/>
        </p:nvSpPr>
        <p:spPr>
          <a:xfrm>
            <a:off x="777240" y="2935224"/>
            <a:ext cx="10634472" cy="521208"/>
          </a:xfrm>
          <a:prstGeom prst="roundRect">
            <a:avLst>
              <a:gd name="adj" fmla="val 15789"/>
            </a:avLst>
          </a:prstGeom>
          <a:solidFill>
            <a:srgbClr val="F5F6F8"/>
          </a:solidFill>
          <a:ln w="12700">
            <a:solidFill>
              <a:srgbClr val="E1E4E9"/>
            </a:solidFill>
            <a:prstDash val="solid"/>
          </a:ln>
        </p:spPr>
      </p:sp>
      <p:sp>
        <p:nvSpPr>
          <p:cNvPr id="14" name="Text 12"/>
          <p:cNvSpPr/>
          <p:nvPr/>
        </p:nvSpPr>
        <p:spPr>
          <a:xfrm>
            <a:off x="1051560" y="2944368"/>
            <a:ext cx="2377440" cy="502920"/>
          </a:xfrm>
          <a:prstGeom prst="rect">
            <a:avLst/>
          </a:prstGeom>
          <a:noFill/>
          <a:ln/>
        </p:spPr>
        <p:txBody>
          <a:bodyPr wrap="square" lIns="0" tIns="0" rIns="0" bIns="0" rtlCol="0" anchor="ctr"/>
          <a:lstStyle/>
          <a:p>
            <a:pPr indent="0" marL="0">
              <a:buNone/>
            </a:pPr>
            <a:r>
              <a:rPr lang="en-US" sz="1350" dirty="0">
                <a:solidFill>
                  <a:srgbClr val="15181F"/>
                </a:solidFill>
                <a:latin typeface="Courier New" pitchFamily="34" charset="0"/>
                <a:ea typeface="Courier New" pitchFamily="34" charset="-122"/>
                <a:cs typeface="Courier New" pitchFamily="34" charset="-120"/>
              </a:rPr>
              <a:t>Django</a:t>
            </a:r>
            <a:endParaRPr lang="en-US" sz="1350" dirty="0"/>
          </a:p>
        </p:txBody>
      </p:sp>
      <p:sp>
        <p:nvSpPr>
          <p:cNvPr id="15" name="Text 13"/>
          <p:cNvSpPr/>
          <p:nvPr/>
        </p:nvSpPr>
        <p:spPr>
          <a:xfrm>
            <a:off x="3611880" y="2944368"/>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Python</a:t>
            </a:r>
            <a:endParaRPr lang="en-US" sz="1300" dirty="0"/>
          </a:p>
        </p:txBody>
      </p:sp>
      <p:sp>
        <p:nvSpPr>
          <p:cNvPr id="16" name="Text 14"/>
          <p:cNvSpPr/>
          <p:nvPr/>
        </p:nvSpPr>
        <p:spPr>
          <a:xfrm>
            <a:off x="5623560" y="2944368"/>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batteries included: admin, accounts, database</a:t>
            </a:r>
            <a:endParaRPr lang="en-US" sz="1300" dirty="0"/>
          </a:p>
        </p:txBody>
      </p:sp>
      <p:sp>
        <p:nvSpPr>
          <p:cNvPr id="17" name="Shape 15"/>
          <p:cNvSpPr/>
          <p:nvPr/>
        </p:nvSpPr>
        <p:spPr>
          <a:xfrm>
            <a:off x="777240" y="3511296"/>
            <a:ext cx="10634472" cy="521208"/>
          </a:xfrm>
          <a:prstGeom prst="roundRect">
            <a:avLst>
              <a:gd name="adj" fmla="val 15789"/>
            </a:avLst>
          </a:prstGeom>
          <a:solidFill>
            <a:srgbClr val="F5F6F8"/>
          </a:solidFill>
          <a:ln w="12700">
            <a:solidFill>
              <a:srgbClr val="E1E4E9"/>
            </a:solidFill>
            <a:prstDash val="solid"/>
          </a:ln>
        </p:spPr>
      </p:sp>
      <p:sp>
        <p:nvSpPr>
          <p:cNvPr id="18" name="Text 16"/>
          <p:cNvSpPr/>
          <p:nvPr/>
        </p:nvSpPr>
        <p:spPr>
          <a:xfrm>
            <a:off x="1051560" y="3520440"/>
            <a:ext cx="2377440" cy="502920"/>
          </a:xfrm>
          <a:prstGeom prst="rect">
            <a:avLst/>
          </a:prstGeom>
          <a:noFill/>
          <a:ln/>
        </p:spPr>
        <p:txBody>
          <a:bodyPr wrap="square" lIns="0" tIns="0" rIns="0" bIns="0" rtlCol="0" anchor="ctr"/>
          <a:lstStyle/>
          <a:p>
            <a:pPr indent="0" marL="0">
              <a:buNone/>
            </a:pPr>
            <a:r>
              <a:rPr lang="en-US" sz="1350" dirty="0">
                <a:solidFill>
                  <a:srgbClr val="15181F"/>
                </a:solidFill>
                <a:latin typeface="Courier New" pitchFamily="34" charset="0"/>
                <a:ea typeface="Courier New" pitchFamily="34" charset="-122"/>
                <a:cs typeface="Courier New" pitchFamily="34" charset="-120"/>
              </a:rPr>
              <a:t>Express</a:t>
            </a:r>
            <a:endParaRPr lang="en-US" sz="1350" dirty="0"/>
          </a:p>
        </p:txBody>
      </p:sp>
      <p:sp>
        <p:nvSpPr>
          <p:cNvPr id="19" name="Text 17"/>
          <p:cNvSpPr/>
          <p:nvPr/>
        </p:nvSpPr>
        <p:spPr>
          <a:xfrm>
            <a:off x="3611880" y="3520440"/>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JavaScript</a:t>
            </a:r>
            <a:endParaRPr lang="en-US" sz="1300" dirty="0"/>
          </a:p>
        </p:txBody>
      </p:sp>
      <p:sp>
        <p:nvSpPr>
          <p:cNvPr id="20" name="Text 18"/>
          <p:cNvSpPr/>
          <p:nvPr/>
        </p:nvSpPr>
        <p:spPr>
          <a:xfrm>
            <a:off x="5623560" y="3520440"/>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default in the Node world</a:t>
            </a:r>
            <a:endParaRPr lang="en-US" sz="1300" dirty="0"/>
          </a:p>
        </p:txBody>
      </p:sp>
      <p:sp>
        <p:nvSpPr>
          <p:cNvPr id="21" name="Shape 19"/>
          <p:cNvSpPr/>
          <p:nvPr/>
        </p:nvSpPr>
        <p:spPr>
          <a:xfrm>
            <a:off x="777240" y="4087368"/>
            <a:ext cx="10634472" cy="521208"/>
          </a:xfrm>
          <a:prstGeom prst="roundRect">
            <a:avLst>
              <a:gd name="adj" fmla="val 15789"/>
            </a:avLst>
          </a:prstGeom>
          <a:solidFill>
            <a:srgbClr val="F5F6F8"/>
          </a:solidFill>
          <a:ln w="12700">
            <a:solidFill>
              <a:srgbClr val="E1E4E9"/>
            </a:solidFill>
            <a:prstDash val="solid"/>
          </a:ln>
        </p:spPr>
      </p:sp>
      <p:sp>
        <p:nvSpPr>
          <p:cNvPr id="22" name="Text 20"/>
          <p:cNvSpPr/>
          <p:nvPr/>
        </p:nvSpPr>
        <p:spPr>
          <a:xfrm>
            <a:off x="1051560" y="4096512"/>
            <a:ext cx="2377440" cy="502920"/>
          </a:xfrm>
          <a:prstGeom prst="rect">
            <a:avLst/>
          </a:prstGeom>
          <a:noFill/>
          <a:ln/>
        </p:spPr>
        <p:txBody>
          <a:bodyPr wrap="square" lIns="0" tIns="0" rIns="0" bIns="0" rtlCol="0" anchor="ctr"/>
          <a:lstStyle/>
          <a:p>
            <a:pPr indent="0" marL="0">
              <a:buNone/>
            </a:pPr>
            <a:r>
              <a:rPr lang="en-US" sz="1350" dirty="0">
                <a:solidFill>
                  <a:srgbClr val="15181F"/>
                </a:solidFill>
                <a:latin typeface="Courier New" pitchFamily="34" charset="0"/>
                <a:ea typeface="Courier New" pitchFamily="34" charset="-122"/>
                <a:cs typeface="Courier New" pitchFamily="34" charset="-120"/>
              </a:rPr>
              <a:t>Spring Boot</a:t>
            </a:r>
            <a:endParaRPr lang="en-US" sz="1350" dirty="0"/>
          </a:p>
        </p:txBody>
      </p:sp>
      <p:sp>
        <p:nvSpPr>
          <p:cNvPr id="23" name="Text 21"/>
          <p:cNvSpPr/>
          <p:nvPr/>
        </p:nvSpPr>
        <p:spPr>
          <a:xfrm>
            <a:off x="3611880" y="4096512"/>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Java</a:t>
            </a:r>
            <a:endParaRPr lang="en-US" sz="1300" dirty="0"/>
          </a:p>
        </p:txBody>
      </p:sp>
      <p:sp>
        <p:nvSpPr>
          <p:cNvPr id="24" name="Text 22"/>
          <p:cNvSpPr/>
          <p:nvPr/>
        </p:nvSpPr>
        <p:spPr>
          <a:xfrm>
            <a:off x="5623560" y="4096512"/>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enterprise standard</a:t>
            </a:r>
            <a:endParaRPr lang="en-US" sz="1300" dirty="0"/>
          </a:p>
        </p:txBody>
      </p:sp>
      <p:sp>
        <p:nvSpPr>
          <p:cNvPr id="25" name="Shape 23"/>
          <p:cNvSpPr/>
          <p:nvPr/>
        </p:nvSpPr>
        <p:spPr>
          <a:xfrm>
            <a:off x="777240" y="4663440"/>
            <a:ext cx="10634472" cy="521208"/>
          </a:xfrm>
          <a:prstGeom prst="roundRect">
            <a:avLst>
              <a:gd name="adj" fmla="val 15789"/>
            </a:avLst>
          </a:prstGeom>
          <a:solidFill>
            <a:srgbClr val="F5F6F8"/>
          </a:solidFill>
          <a:ln w="12700">
            <a:solidFill>
              <a:srgbClr val="E1E4E9"/>
            </a:solidFill>
            <a:prstDash val="solid"/>
          </a:ln>
        </p:spPr>
      </p:sp>
      <p:sp>
        <p:nvSpPr>
          <p:cNvPr id="26" name="Text 24"/>
          <p:cNvSpPr/>
          <p:nvPr/>
        </p:nvSpPr>
        <p:spPr>
          <a:xfrm>
            <a:off x="1051560" y="4672584"/>
            <a:ext cx="2377440" cy="502920"/>
          </a:xfrm>
          <a:prstGeom prst="rect">
            <a:avLst/>
          </a:prstGeom>
          <a:noFill/>
          <a:ln/>
        </p:spPr>
        <p:txBody>
          <a:bodyPr wrap="square" lIns="0" tIns="0" rIns="0" bIns="0" rtlCol="0" anchor="ctr"/>
          <a:lstStyle/>
          <a:p>
            <a:pPr indent="0" marL="0">
              <a:buNone/>
            </a:pPr>
            <a:r>
              <a:rPr lang="en-US" sz="1350" dirty="0">
                <a:solidFill>
                  <a:srgbClr val="15181F"/>
                </a:solidFill>
                <a:latin typeface="Courier New" pitchFamily="34" charset="0"/>
                <a:ea typeface="Courier New" pitchFamily="34" charset="-122"/>
                <a:cs typeface="Courier New" pitchFamily="34" charset="-120"/>
              </a:rPr>
              <a:t>Gin / net-http</a:t>
            </a:r>
            <a:endParaRPr lang="en-US" sz="1350" dirty="0"/>
          </a:p>
        </p:txBody>
      </p:sp>
      <p:sp>
        <p:nvSpPr>
          <p:cNvPr id="27" name="Text 25"/>
          <p:cNvSpPr/>
          <p:nvPr/>
        </p:nvSpPr>
        <p:spPr>
          <a:xfrm>
            <a:off x="3611880" y="4672584"/>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Go</a:t>
            </a:r>
            <a:endParaRPr lang="en-US" sz="1300" dirty="0"/>
          </a:p>
        </p:txBody>
      </p:sp>
      <p:sp>
        <p:nvSpPr>
          <p:cNvPr id="28" name="Text 26"/>
          <p:cNvSpPr/>
          <p:nvPr/>
        </p:nvSpPr>
        <p:spPr>
          <a:xfrm>
            <a:off x="5623560" y="4672584"/>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compiled and very fast</a:t>
            </a:r>
            <a:endParaRPr lang="en-US" sz="1300" dirty="0"/>
          </a:p>
        </p:txBody>
      </p:sp>
      <p:sp>
        <p:nvSpPr>
          <p:cNvPr id="29" name="Shape 27"/>
          <p:cNvSpPr/>
          <p:nvPr/>
        </p:nvSpPr>
        <p:spPr>
          <a:xfrm>
            <a:off x="777240" y="5239512"/>
            <a:ext cx="10634472" cy="521208"/>
          </a:xfrm>
          <a:prstGeom prst="roundRect">
            <a:avLst>
              <a:gd name="adj" fmla="val 15789"/>
            </a:avLst>
          </a:prstGeom>
          <a:solidFill>
            <a:srgbClr val="F5F6F8"/>
          </a:solidFill>
          <a:ln w="12700">
            <a:solidFill>
              <a:srgbClr val="E1E4E9"/>
            </a:solidFill>
            <a:prstDash val="solid"/>
          </a:ln>
        </p:spPr>
      </p:sp>
      <p:sp>
        <p:nvSpPr>
          <p:cNvPr id="30" name="Text 28"/>
          <p:cNvSpPr/>
          <p:nvPr/>
        </p:nvSpPr>
        <p:spPr>
          <a:xfrm>
            <a:off x="1051560" y="5248656"/>
            <a:ext cx="2377440" cy="502920"/>
          </a:xfrm>
          <a:prstGeom prst="rect">
            <a:avLst/>
          </a:prstGeom>
          <a:noFill/>
          <a:ln/>
        </p:spPr>
        <p:txBody>
          <a:bodyPr wrap="square" lIns="0" tIns="0" rIns="0" bIns="0" rtlCol="0" anchor="ctr"/>
          <a:lstStyle/>
          <a:p>
            <a:pPr indent="0" marL="0">
              <a:buNone/>
            </a:pPr>
            <a:r>
              <a:rPr lang="en-US" sz="1350" dirty="0">
                <a:solidFill>
                  <a:srgbClr val="15181F"/>
                </a:solidFill>
                <a:latin typeface="Courier New" pitchFamily="34" charset="0"/>
                <a:ea typeface="Courier New" pitchFamily="34" charset="-122"/>
                <a:cs typeface="Courier New" pitchFamily="34" charset="-120"/>
              </a:rPr>
              <a:t>Rails / Laravel</a:t>
            </a:r>
            <a:endParaRPr lang="en-US" sz="1350" dirty="0"/>
          </a:p>
        </p:txBody>
      </p:sp>
      <p:sp>
        <p:nvSpPr>
          <p:cNvPr id="31" name="Text 29"/>
          <p:cNvSpPr/>
          <p:nvPr/>
        </p:nvSpPr>
        <p:spPr>
          <a:xfrm>
            <a:off x="3611880" y="5248656"/>
            <a:ext cx="182880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Ruby, PHP</a:t>
            </a:r>
            <a:endParaRPr lang="en-US" sz="1300" dirty="0"/>
          </a:p>
        </p:txBody>
      </p:sp>
      <p:sp>
        <p:nvSpPr>
          <p:cNvPr id="32" name="Text 30"/>
          <p:cNvSpPr/>
          <p:nvPr/>
        </p:nvSpPr>
        <p:spPr>
          <a:xfrm>
            <a:off x="5623560" y="5248656"/>
            <a:ext cx="5669280" cy="50292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mature and highly opinionated</a:t>
            </a:r>
            <a:endParaRPr lang="en-US" sz="1300" dirty="0"/>
          </a:p>
        </p:txBody>
      </p:sp>
      <p:sp>
        <p:nvSpPr>
          <p:cNvPr id="33" name="Text 31"/>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Why FastAPI: you already write Python, and the validation and /docs page do real work for you.</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1.10  ·  THE WIDER LANDSCAPE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could draw the page</a:t>
            </a:r>
            <a:endParaRPr lang="en-US" sz="3100" dirty="0"/>
          </a:p>
        </p:txBody>
      </p:sp>
      <p:sp>
        <p:nvSpPr>
          <p:cNvPr id="4" name="Shape 2"/>
          <p:cNvSpPr/>
          <p:nvPr/>
        </p:nvSpPr>
        <p:spPr>
          <a:xfrm>
            <a:off x="777240" y="1737360"/>
            <a:ext cx="10634472" cy="566928"/>
          </a:xfrm>
          <a:prstGeom prst="roundRect">
            <a:avLst>
              <a:gd name="adj" fmla="val 14516"/>
            </a:avLst>
          </a:prstGeom>
          <a:solidFill>
            <a:srgbClr val="EAF6F3"/>
          </a:solidFill>
          <a:ln w="12700">
            <a:solidFill>
              <a:srgbClr val="9CCFC6"/>
            </a:solidFill>
            <a:prstDash val="solid"/>
          </a:ln>
        </p:spPr>
      </p:sp>
      <p:sp>
        <p:nvSpPr>
          <p:cNvPr id="5" name="Text 3"/>
          <p:cNvSpPr/>
          <p:nvPr/>
        </p:nvSpPr>
        <p:spPr>
          <a:xfrm>
            <a:off x="1051560" y="1746504"/>
            <a:ext cx="3931920" cy="548640"/>
          </a:xfrm>
          <a:prstGeom prst="rect">
            <a:avLst/>
          </a:prstGeom>
          <a:noFill/>
          <a:ln/>
        </p:spPr>
        <p:txBody>
          <a:bodyPr wrap="square" lIns="0" tIns="0" rIns="0" bIns="0" rtlCol="0" anchor="ctr"/>
          <a:lstStyle/>
          <a:p>
            <a:pPr indent="0" marL="0">
              <a:buNone/>
            </a:pPr>
            <a:r>
              <a:rPr lang="en-US" sz="1400" b="1" dirty="0">
                <a:solidFill>
                  <a:srgbClr val="00776A"/>
                </a:solidFill>
                <a:latin typeface="Cambria" pitchFamily="34" charset="0"/>
                <a:ea typeface="Cambria" pitchFamily="34" charset="-122"/>
                <a:cs typeface="Cambria" pitchFamily="34" charset="-120"/>
              </a:rPr>
              <a:t>Plain HTML + JavaScript</a:t>
            </a:r>
            <a:endParaRPr lang="en-US" sz="1400" dirty="0"/>
          </a:p>
        </p:txBody>
      </p:sp>
      <p:sp>
        <p:nvSpPr>
          <p:cNvPr id="6" name="Text 4"/>
          <p:cNvSpPr/>
          <p:nvPr/>
        </p:nvSpPr>
        <p:spPr>
          <a:xfrm>
            <a:off x="5166360" y="1746504"/>
            <a:ext cx="6126480" cy="54864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no build step, nothing to install, works everywhere</a:t>
            </a:r>
            <a:endParaRPr lang="en-US" sz="1300" dirty="0"/>
          </a:p>
        </p:txBody>
      </p:sp>
      <p:sp>
        <p:nvSpPr>
          <p:cNvPr id="7" name="Shape 5"/>
          <p:cNvSpPr/>
          <p:nvPr/>
        </p:nvSpPr>
        <p:spPr>
          <a:xfrm>
            <a:off x="777240" y="2395728"/>
            <a:ext cx="10634472" cy="566928"/>
          </a:xfrm>
          <a:prstGeom prst="roundRect">
            <a:avLst>
              <a:gd name="adj" fmla="val 14516"/>
            </a:avLst>
          </a:prstGeom>
          <a:solidFill>
            <a:srgbClr val="F5F6F8"/>
          </a:solidFill>
          <a:ln w="12700">
            <a:solidFill>
              <a:srgbClr val="E1E4E9"/>
            </a:solidFill>
            <a:prstDash val="solid"/>
          </a:ln>
        </p:spPr>
      </p:sp>
      <p:sp>
        <p:nvSpPr>
          <p:cNvPr id="8" name="Text 6"/>
          <p:cNvSpPr/>
          <p:nvPr/>
        </p:nvSpPr>
        <p:spPr>
          <a:xfrm>
            <a:off x="1051560" y="2404872"/>
            <a:ext cx="3931920" cy="548640"/>
          </a:xfrm>
          <a:prstGeom prst="rect">
            <a:avLst/>
          </a:prstGeom>
          <a:noFill/>
          <a:ln/>
        </p:spPr>
        <p:txBody>
          <a:bodyPr wrap="square" lIns="0" tIns="0" rIns="0" bIns="0" rtlCol="0" anchor="ctr"/>
          <a:lstStyle/>
          <a:p>
            <a:pPr indent="0" marL="0">
              <a:buNone/>
            </a:pPr>
            <a:r>
              <a:rPr lang="en-US" sz="1400" dirty="0">
                <a:solidFill>
                  <a:srgbClr val="15181F"/>
                </a:solidFill>
                <a:latin typeface="Cambria" pitchFamily="34" charset="0"/>
                <a:ea typeface="Cambria" pitchFamily="34" charset="-122"/>
                <a:cs typeface="Cambria" pitchFamily="34" charset="-120"/>
              </a:rPr>
              <a:t>React / Vue / Svelte</a:t>
            </a:r>
            <a:endParaRPr lang="en-US" sz="1400" dirty="0"/>
          </a:p>
        </p:txBody>
      </p:sp>
      <p:sp>
        <p:nvSpPr>
          <p:cNvPr id="9" name="Text 7"/>
          <p:cNvSpPr/>
          <p:nvPr/>
        </p:nvSpPr>
        <p:spPr>
          <a:xfrm>
            <a:off x="5166360" y="2404872"/>
            <a:ext cx="6126480" cy="54864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component frameworks for large interfaces; need a build step</a:t>
            </a:r>
            <a:endParaRPr lang="en-US" sz="1300" dirty="0"/>
          </a:p>
        </p:txBody>
      </p:sp>
      <p:sp>
        <p:nvSpPr>
          <p:cNvPr id="10" name="Shape 8"/>
          <p:cNvSpPr/>
          <p:nvPr/>
        </p:nvSpPr>
        <p:spPr>
          <a:xfrm>
            <a:off x="777240" y="3054096"/>
            <a:ext cx="10634472" cy="566928"/>
          </a:xfrm>
          <a:prstGeom prst="roundRect">
            <a:avLst>
              <a:gd name="adj" fmla="val 14516"/>
            </a:avLst>
          </a:prstGeom>
          <a:solidFill>
            <a:srgbClr val="F5F6F8"/>
          </a:solidFill>
          <a:ln w="12700">
            <a:solidFill>
              <a:srgbClr val="E1E4E9"/>
            </a:solidFill>
            <a:prstDash val="solid"/>
          </a:ln>
        </p:spPr>
      </p:sp>
      <p:sp>
        <p:nvSpPr>
          <p:cNvPr id="11" name="Text 9"/>
          <p:cNvSpPr/>
          <p:nvPr/>
        </p:nvSpPr>
        <p:spPr>
          <a:xfrm>
            <a:off x="1051560" y="3063240"/>
            <a:ext cx="3931920" cy="548640"/>
          </a:xfrm>
          <a:prstGeom prst="rect">
            <a:avLst/>
          </a:prstGeom>
          <a:noFill/>
          <a:ln/>
        </p:spPr>
        <p:txBody>
          <a:bodyPr wrap="square" lIns="0" tIns="0" rIns="0" bIns="0" rtlCol="0" anchor="ctr"/>
          <a:lstStyle/>
          <a:p>
            <a:pPr indent="0" marL="0">
              <a:buNone/>
            </a:pPr>
            <a:r>
              <a:rPr lang="en-US" sz="1400" dirty="0">
                <a:solidFill>
                  <a:srgbClr val="15181F"/>
                </a:solidFill>
                <a:latin typeface="Cambria" pitchFamily="34" charset="0"/>
                <a:ea typeface="Cambria" pitchFamily="34" charset="-122"/>
                <a:cs typeface="Cambria" pitchFamily="34" charset="-120"/>
              </a:rPr>
              <a:t>Streamlit / Gradio</a:t>
            </a:r>
            <a:endParaRPr lang="en-US" sz="1400" dirty="0"/>
          </a:p>
        </p:txBody>
      </p:sp>
      <p:sp>
        <p:nvSpPr>
          <p:cNvPr id="12" name="Text 10"/>
          <p:cNvSpPr/>
          <p:nvPr/>
        </p:nvSpPr>
        <p:spPr>
          <a:xfrm>
            <a:off x="5166360" y="3063240"/>
            <a:ext cx="6126480" cy="54864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pure Python, no HTML at all; extremely fast for a dashboard</a:t>
            </a:r>
            <a:endParaRPr lang="en-US" sz="1300" dirty="0"/>
          </a:p>
        </p:txBody>
      </p:sp>
      <p:sp>
        <p:nvSpPr>
          <p:cNvPr id="13" name="Shape 11"/>
          <p:cNvSpPr/>
          <p:nvPr/>
        </p:nvSpPr>
        <p:spPr>
          <a:xfrm>
            <a:off x="777240" y="3712464"/>
            <a:ext cx="10634472" cy="566928"/>
          </a:xfrm>
          <a:prstGeom prst="roundRect">
            <a:avLst>
              <a:gd name="adj" fmla="val 14516"/>
            </a:avLst>
          </a:prstGeom>
          <a:solidFill>
            <a:srgbClr val="F5F6F8"/>
          </a:solidFill>
          <a:ln w="12700">
            <a:solidFill>
              <a:srgbClr val="E1E4E9"/>
            </a:solidFill>
            <a:prstDash val="solid"/>
          </a:ln>
        </p:spPr>
      </p:sp>
      <p:sp>
        <p:nvSpPr>
          <p:cNvPr id="14" name="Text 12"/>
          <p:cNvSpPr/>
          <p:nvPr/>
        </p:nvSpPr>
        <p:spPr>
          <a:xfrm>
            <a:off x="1051560" y="3721608"/>
            <a:ext cx="3931920" cy="548640"/>
          </a:xfrm>
          <a:prstGeom prst="rect">
            <a:avLst/>
          </a:prstGeom>
          <a:noFill/>
          <a:ln/>
        </p:spPr>
        <p:txBody>
          <a:bodyPr wrap="square" lIns="0" tIns="0" rIns="0" bIns="0" rtlCol="0" anchor="ctr"/>
          <a:lstStyle/>
          <a:p>
            <a:pPr indent="0" marL="0">
              <a:buNone/>
            </a:pPr>
            <a:r>
              <a:rPr lang="en-US" sz="1400" dirty="0">
                <a:solidFill>
                  <a:srgbClr val="15181F"/>
                </a:solidFill>
                <a:latin typeface="Cambria" pitchFamily="34" charset="0"/>
                <a:ea typeface="Cambria" pitchFamily="34" charset="-122"/>
                <a:cs typeface="Cambria" pitchFamily="34" charset="-120"/>
              </a:rPr>
              <a:t>Flutter / React Native</a:t>
            </a:r>
            <a:endParaRPr lang="en-US" sz="1400" dirty="0"/>
          </a:p>
        </p:txBody>
      </p:sp>
      <p:sp>
        <p:nvSpPr>
          <p:cNvPr id="15" name="Text 13"/>
          <p:cNvSpPr/>
          <p:nvPr/>
        </p:nvSpPr>
        <p:spPr>
          <a:xfrm>
            <a:off x="5166360" y="3721608"/>
            <a:ext cx="6126480" cy="54864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mobile applications</a:t>
            </a:r>
            <a:endParaRPr lang="en-US" sz="1300" dirty="0"/>
          </a:p>
        </p:txBody>
      </p:sp>
      <p:sp>
        <p:nvSpPr>
          <p:cNvPr id="16" name="Shape 14"/>
          <p:cNvSpPr/>
          <p:nvPr/>
        </p:nvSpPr>
        <p:spPr>
          <a:xfrm>
            <a:off x="777240" y="4370832"/>
            <a:ext cx="10634472" cy="566928"/>
          </a:xfrm>
          <a:prstGeom prst="roundRect">
            <a:avLst>
              <a:gd name="adj" fmla="val 14516"/>
            </a:avLst>
          </a:prstGeom>
          <a:solidFill>
            <a:srgbClr val="F5F6F8"/>
          </a:solidFill>
          <a:ln w="12700">
            <a:solidFill>
              <a:srgbClr val="E1E4E9"/>
            </a:solidFill>
            <a:prstDash val="solid"/>
          </a:ln>
        </p:spPr>
      </p:sp>
      <p:sp>
        <p:nvSpPr>
          <p:cNvPr id="17" name="Text 15"/>
          <p:cNvSpPr/>
          <p:nvPr/>
        </p:nvSpPr>
        <p:spPr>
          <a:xfrm>
            <a:off x="1051560" y="4379976"/>
            <a:ext cx="3931920" cy="548640"/>
          </a:xfrm>
          <a:prstGeom prst="rect">
            <a:avLst/>
          </a:prstGeom>
          <a:noFill/>
          <a:ln/>
        </p:spPr>
        <p:txBody>
          <a:bodyPr wrap="square" lIns="0" tIns="0" rIns="0" bIns="0" rtlCol="0" anchor="ctr"/>
          <a:lstStyle/>
          <a:p>
            <a:pPr indent="0" marL="0">
              <a:buNone/>
            </a:pPr>
            <a:r>
              <a:rPr lang="en-US" sz="1400" dirty="0">
                <a:solidFill>
                  <a:srgbClr val="15181F"/>
                </a:solidFill>
                <a:latin typeface="Cambria" pitchFamily="34" charset="0"/>
                <a:ea typeface="Cambria" pitchFamily="34" charset="-122"/>
                <a:cs typeface="Cambria" pitchFamily="34" charset="-120"/>
              </a:rPr>
              <a:t>Native iOS / Android</a:t>
            </a:r>
            <a:endParaRPr lang="en-US" sz="1400" dirty="0"/>
          </a:p>
        </p:txBody>
      </p:sp>
      <p:sp>
        <p:nvSpPr>
          <p:cNvPr id="18" name="Text 16"/>
          <p:cNvSpPr/>
          <p:nvPr/>
        </p:nvSpPr>
        <p:spPr>
          <a:xfrm>
            <a:off x="5166360" y="4379976"/>
            <a:ext cx="6126480" cy="54864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full platform access</a:t>
            </a:r>
            <a:endParaRPr lang="en-US" sz="1300" dirty="0"/>
          </a:p>
        </p:txBody>
      </p:sp>
      <p:sp>
        <p:nvSpPr>
          <p:cNvPr id="19" name="Shape 17"/>
          <p:cNvSpPr/>
          <p:nvPr/>
        </p:nvSpPr>
        <p:spPr>
          <a:xfrm>
            <a:off x="777240" y="5120640"/>
            <a:ext cx="10634472" cy="1371600"/>
          </a:xfrm>
          <a:prstGeom prst="roundRect">
            <a:avLst>
              <a:gd name="adj" fmla="val 6000"/>
            </a:avLst>
          </a:prstGeom>
          <a:solidFill>
            <a:srgbClr val="EAF6F3"/>
          </a:solidFill>
          <a:ln w="12700">
            <a:solidFill>
              <a:srgbClr val="9CCFC6"/>
            </a:solidFill>
            <a:prstDash val="solid"/>
          </a:ln>
        </p:spPr>
      </p:sp>
      <p:sp>
        <p:nvSpPr>
          <p:cNvPr id="20" name="Text 18"/>
          <p:cNvSpPr/>
          <p:nvPr/>
        </p:nvSpPr>
        <p:spPr>
          <a:xfrm>
            <a:off x="1143000" y="5257800"/>
            <a:ext cx="10241280" cy="411480"/>
          </a:xfrm>
          <a:prstGeom prst="rect">
            <a:avLst/>
          </a:prstGeom>
          <a:noFill/>
          <a:ln/>
        </p:spPr>
        <p:txBody>
          <a:bodyPr wrap="square" lIns="0" tIns="0" rIns="0" bIns="0" rtlCol="0" anchor="ctr"/>
          <a:lstStyle/>
          <a:p>
            <a:pPr indent="0" marL="0">
              <a:buNone/>
            </a:pPr>
            <a:r>
              <a:rPr lang="en-US" sz="1700" b="1" dirty="0">
                <a:solidFill>
                  <a:srgbClr val="00776A"/>
                </a:solidFill>
                <a:latin typeface="Cambria" pitchFamily="34" charset="0"/>
                <a:ea typeface="Cambria" pitchFamily="34" charset="-122"/>
                <a:cs typeface="Cambria" pitchFamily="34" charset="-120"/>
              </a:rPr>
              <a:t>Every one of those talks to the same backend, in the same way.</a:t>
            </a:r>
            <a:endParaRPr lang="en-US" sz="1700" dirty="0"/>
          </a:p>
        </p:txBody>
      </p:sp>
      <p:sp>
        <p:nvSpPr>
          <p:cNvPr id="21" name="Text 19"/>
          <p:cNvSpPr/>
          <p:nvPr/>
        </p:nvSpPr>
        <p:spPr>
          <a:xfrm>
            <a:off x="1143000" y="5669280"/>
            <a:ext cx="10241280" cy="731520"/>
          </a:xfrm>
          <a:prstGeom prst="rect">
            <a:avLst/>
          </a:prstGeom>
          <a:noFill/>
          <a:ln/>
        </p:spPr>
        <p:txBody>
          <a:bodyPr wrap="square" lIns="0" tIns="0" rIns="0" bIns="0" rtlCol="0" anchor="ctr"/>
          <a:lstStyle/>
          <a:p>
            <a:pPr indent="0" marL="0">
              <a:buNone/>
            </a:pPr>
            <a:r>
              <a:rPr lang="en-US" sz="1400" dirty="0">
                <a:solidFill>
                  <a:srgbClr val="00776A"/>
                </a:solidFill>
                <a:latin typeface="Calibri" pitchFamily="34" charset="0"/>
                <a:ea typeface="Calibri" pitchFamily="34" charset="-122"/>
                <a:cs typeface="Calibri" pitchFamily="34" charset="-120"/>
              </a:rPr>
              <a:t>Your /readings endpoint does not know whether the request came from plain JavaScript, a React app, a phone, or a microcontroller. Build the backend once and every kind of client can use 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1.10  ·  THE WIDER LANDSCAPE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Databases, and AI providers</a:t>
            </a:r>
            <a:endParaRPr lang="en-US" sz="3100" dirty="0"/>
          </a:p>
        </p:txBody>
      </p:sp>
      <p:sp>
        <p:nvSpPr>
          <p:cNvPr id="4" name="Text 2"/>
          <p:cNvSpPr/>
          <p:nvPr/>
        </p:nvSpPr>
        <p:spPr>
          <a:xfrm>
            <a:off x="777240" y="1371600"/>
            <a:ext cx="5029200" cy="32004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Where data lives</a:t>
            </a:r>
            <a:endParaRPr lang="en-US" sz="1400" dirty="0"/>
          </a:p>
        </p:txBody>
      </p:sp>
      <p:sp>
        <p:nvSpPr>
          <p:cNvPr id="5" name="Shape 3"/>
          <p:cNvSpPr/>
          <p:nvPr/>
        </p:nvSpPr>
        <p:spPr>
          <a:xfrm>
            <a:off x="777240" y="1737360"/>
            <a:ext cx="5257800" cy="475488"/>
          </a:xfrm>
          <a:prstGeom prst="roundRect">
            <a:avLst>
              <a:gd name="adj" fmla="val 17308"/>
            </a:avLst>
          </a:prstGeom>
          <a:solidFill>
            <a:srgbClr val="EAF6F3"/>
          </a:solidFill>
          <a:ln w="12700">
            <a:solidFill>
              <a:srgbClr val="9CCFC6"/>
            </a:solidFill>
            <a:prstDash val="solid"/>
          </a:ln>
        </p:spPr>
      </p:sp>
      <p:sp>
        <p:nvSpPr>
          <p:cNvPr id="6" name="Text 4"/>
          <p:cNvSpPr/>
          <p:nvPr/>
        </p:nvSpPr>
        <p:spPr>
          <a:xfrm>
            <a:off x="1005840" y="1746504"/>
            <a:ext cx="2103120" cy="457200"/>
          </a:xfrm>
          <a:prstGeom prst="rect">
            <a:avLst/>
          </a:prstGeom>
          <a:noFill/>
          <a:ln/>
        </p:spPr>
        <p:txBody>
          <a:bodyPr wrap="square" lIns="0" tIns="0" rIns="0" bIns="0" rtlCol="0" anchor="ctr"/>
          <a:lstStyle/>
          <a:p>
            <a:pPr indent="0" marL="0">
              <a:buNone/>
            </a:pPr>
            <a:r>
              <a:rPr lang="en-US" sz="1250" b="1" dirty="0">
                <a:solidFill>
                  <a:srgbClr val="00776A"/>
                </a:solidFill>
                <a:latin typeface="Courier New" pitchFamily="34" charset="0"/>
                <a:ea typeface="Courier New" pitchFamily="34" charset="-122"/>
                <a:cs typeface="Courier New" pitchFamily="34" charset="-120"/>
              </a:rPr>
              <a:t>SQLite</a:t>
            </a:r>
            <a:endParaRPr lang="en-US" sz="1250" dirty="0"/>
          </a:p>
        </p:txBody>
      </p:sp>
      <p:sp>
        <p:nvSpPr>
          <p:cNvPr id="7" name="Text 5"/>
          <p:cNvSpPr/>
          <p:nvPr/>
        </p:nvSpPr>
        <p:spPr>
          <a:xfrm>
            <a:off x="3154680" y="1746504"/>
            <a:ext cx="1463040" cy="457200"/>
          </a:xfrm>
          <a:prstGeom prst="rect">
            <a:avLst/>
          </a:prstGeom>
          <a:noFill/>
          <a:ln/>
        </p:spPr>
        <p:txBody>
          <a:bodyPr wrap="square" lIns="0" tIns="0" rIns="0" bIns="0" rtlCol="0" anchor="ctr"/>
          <a:lstStyle/>
          <a:p>
            <a:pPr indent="0" marL="0">
              <a:buNone/>
            </a:pPr>
            <a:r>
              <a:rPr lang="en-US" sz="1150" i="1" dirty="0">
                <a:solidFill>
                  <a:srgbClr val="5C6470"/>
                </a:solidFill>
                <a:latin typeface="Calibri" pitchFamily="34" charset="0"/>
                <a:ea typeface="Calibri" pitchFamily="34" charset="-122"/>
                <a:cs typeface="Calibri" pitchFamily="34" charset="-120"/>
              </a:rPr>
              <a:t>relational</a:t>
            </a:r>
            <a:endParaRPr lang="en-US" sz="1150" dirty="0"/>
          </a:p>
        </p:txBody>
      </p:sp>
      <p:sp>
        <p:nvSpPr>
          <p:cNvPr id="8" name="Text 6"/>
          <p:cNvSpPr/>
          <p:nvPr/>
        </p:nvSpPr>
        <p:spPr>
          <a:xfrm>
            <a:off x="4617720" y="1746504"/>
            <a:ext cx="128016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one file</a:t>
            </a:r>
            <a:endParaRPr lang="en-US" sz="1150" dirty="0"/>
          </a:p>
        </p:txBody>
      </p:sp>
      <p:sp>
        <p:nvSpPr>
          <p:cNvPr id="9" name="Shape 7"/>
          <p:cNvSpPr/>
          <p:nvPr/>
        </p:nvSpPr>
        <p:spPr>
          <a:xfrm>
            <a:off x="777240" y="2286000"/>
            <a:ext cx="5257800" cy="475488"/>
          </a:xfrm>
          <a:prstGeom prst="roundRect">
            <a:avLst>
              <a:gd name="adj" fmla="val 17308"/>
            </a:avLst>
          </a:prstGeom>
          <a:solidFill>
            <a:srgbClr val="F5F6F8"/>
          </a:solidFill>
          <a:ln w="12700">
            <a:solidFill>
              <a:srgbClr val="E1E4E9"/>
            </a:solidFill>
            <a:prstDash val="solid"/>
          </a:ln>
        </p:spPr>
      </p:sp>
      <p:sp>
        <p:nvSpPr>
          <p:cNvPr id="10" name="Text 8"/>
          <p:cNvSpPr/>
          <p:nvPr/>
        </p:nvSpPr>
        <p:spPr>
          <a:xfrm>
            <a:off x="1005840" y="2295144"/>
            <a:ext cx="210312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PostgreSQL</a:t>
            </a:r>
            <a:endParaRPr lang="en-US" sz="1250" dirty="0"/>
          </a:p>
        </p:txBody>
      </p:sp>
      <p:sp>
        <p:nvSpPr>
          <p:cNvPr id="11" name="Text 9"/>
          <p:cNvSpPr/>
          <p:nvPr/>
        </p:nvSpPr>
        <p:spPr>
          <a:xfrm>
            <a:off x="3154680" y="2295144"/>
            <a:ext cx="1463040" cy="457200"/>
          </a:xfrm>
          <a:prstGeom prst="rect">
            <a:avLst/>
          </a:prstGeom>
          <a:noFill/>
          <a:ln/>
        </p:spPr>
        <p:txBody>
          <a:bodyPr wrap="square" lIns="0" tIns="0" rIns="0" bIns="0" rtlCol="0" anchor="ctr"/>
          <a:lstStyle/>
          <a:p>
            <a:pPr indent="0" marL="0">
              <a:buNone/>
            </a:pPr>
            <a:r>
              <a:rPr lang="en-US" sz="1150" i="1" dirty="0">
                <a:solidFill>
                  <a:srgbClr val="5C6470"/>
                </a:solidFill>
                <a:latin typeface="Calibri" pitchFamily="34" charset="0"/>
                <a:ea typeface="Calibri" pitchFamily="34" charset="-122"/>
                <a:cs typeface="Calibri" pitchFamily="34" charset="-120"/>
              </a:rPr>
              <a:t>relational</a:t>
            </a:r>
            <a:endParaRPr lang="en-US" sz="1150" dirty="0"/>
          </a:p>
        </p:txBody>
      </p:sp>
      <p:sp>
        <p:nvSpPr>
          <p:cNvPr id="12" name="Text 10"/>
          <p:cNvSpPr/>
          <p:nvPr/>
        </p:nvSpPr>
        <p:spPr>
          <a:xfrm>
            <a:off x="4617720" y="2295144"/>
            <a:ext cx="128016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the usual next step</a:t>
            </a:r>
            <a:endParaRPr lang="en-US" sz="1150" dirty="0"/>
          </a:p>
        </p:txBody>
      </p:sp>
      <p:sp>
        <p:nvSpPr>
          <p:cNvPr id="13" name="Shape 11"/>
          <p:cNvSpPr/>
          <p:nvPr/>
        </p:nvSpPr>
        <p:spPr>
          <a:xfrm>
            <a:off x="777240" y="2834640"/>
            <a:ext cx="5257800" cy="475488"/>
          </a:xfrm>
          <a:prstGeom prst="roundRect">
            <a:avLst>
              <a:gd name="adj" fmla="val 17308"/>
            </a:avLst>
          </a:prstGeom>
          <a:solidFill>
            <a:srgbClr val="F5F6F8"/>
          </a:solidFill>
          <a:ln w="12700">
            <a:solidFill>
              <a:srgbClr val="E1E4E9"/>
            </a:solidFill>
            <a:prstDash val="solid"/>
          </a:ln>
        </p:spPr>
      </p:sp>
      <p:sp>
        <p:nvSpPr>
          <p:cNvPr id="14" name="Text 12"/>
          <p:cNvSpPr/>
          <p:nvPr/>
        </p:nvSpPr>
        <p:spPr>
          <a:xfrm>
            <a:off x="1005840" y="2843784"/>
            <a:ext cx="210312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MySQL / MariaDB</a:t>
            </a:r>
            <a:endParaRPr lang="en-US" sz="1250" dirty="0"/>
          </a:p>
        </p:txBody>
      </p:sp>
      <p:sp>
        <p:nvSpPr>
          <p:cNvPr id="15" name="Text 13"/>
          <p:cNvSpPr/>
          <p:nvPr/>
        </p:nvSpPr>
        <p:spPr>
          <a:xfrm>
            <a:off x="3154680" y="2843784"/>
            <a:ext cx="1463040" cy="457200"/>
          </a:xfrm>
          <a:prstGeom prst="rect">
            <a:avLst/>
          </a:prstGeom>
          <a:noFill/>
          <a:ln/>
        </p:spPr>
        <p:txBody>
          <a:bodyPr wrap="square" lIns="0" tIns="0" rIns="0" bIns="0" rtlCol="0" anchor="ctr"/>
          <a:lstStyle/>
          <a:p>
            <a:pPr indent="0" marL="0">
              <a:buNone/>
            </a:pPr>
            <a:r>
              <a:rPr lang="en-US" sz="1150" i="1" dirty="0">
                <a:solidFill>
                  <a:srgbClr val="5C6470"/>
                </a:solidFill>
                <a:latin typeface="Calibri" pitchFamily="34" charset="0"/>
                <a:ea typeface="Calibri" pitchFamily="34" charset="-122"/>
                <a:cs typeface="Calibri" pitchFamily="34" charset="-120"/>
              </a:rPr>
              <a:t>relational</a:t>
            </a:r>
            <a:endParaRPr lang="en-US" sz="1150" dirty="0"/>
          </a:p>
        </p:txBody>
      </p:sp>
      <p:sp>
        <p:nvSpPr>
          <p:cNvPr id="16" name="Text 14"/>
          <p:cNvSpPr/>
          <p:nvPr/>
        </p:nvSpPr>
        <p:spPr>
          <a:xfrm>
            <a:off x="4617720" y="2843784"/>
            <a:ext cx="128016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very widely deployed</a:t>
            </a:r>
            <a:endParaRPr lang="en-US" sz="1150" dirty="0"/>
          </a:p>
        </p:txBody>
      </p:sp>
      <p:sp>
        <p:nvSpPr>
          <p:cNvPr id="17" name="Shape 15"/>
          <p:cNvSpPr/>
          <p:nvPr/>
        </p:nvSpPr>
        <p:spPr>
          <a:xfrm>
            <a:off x="777240" y="3383280"/>
            <a:ext cx="5257800" cy="475488"/>
          </a:xfrm>
          <a:prstGeom prst="roundRect">
            <a:avLst>
              <a:gd name="adj" fmla="val 17308"/>
            </a:avLst>
          </a:prstGeom>
          <a:solidFill>
            <a:srgbClr val="F5F6F8"/>
          </a:solidFill>
          <a:ln w="12700">
            <a:solidFill>
              <a:srgbClr val="E1E4E9"/>
            </a:solidFill>
            <a:prstDash val="solid"/>
          </a:ln>
        </p:spPr>
      </p:sp>
      <p:sp>
        <p:nvSpPr>
          <p:cNvPr id="18" name="Text 16"/>
          <p:cNvSpPr/>
          <p:nvPr/>
        </p:nvSpPr>
        <p:spPr>
          <a:xfrm>
            <a:off x="1005840" y="3392424"/>
            <a:ext cx="210312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MongoDB</a:t>
            </a:r>
            <a:endParaRPr lang="en-US" sz="1250" dirty="0"/>
          </a:p>
        </p:txBody>
      </p:sp>
      <p:sp>
        <p:nvSpPr>
          <p:cNvPr id="19" name="Text 17"/>
          <p:cNvSpPr/>
          <p:nvPr/>
        </p:nvSpPr>
        <p:spPr>
          <a:xfrm>
            <a:off x="3154680" y="3392424"/>
            <a:ext cx="1463040" cy="457200"/>
          </a:xfrm>
          <a:prstGeom prst="rect">
            <a:avLst/>
          </a:prstGeom>
          <a:noFill/>
          <a:ln/>
        </p:spPr>
        <p:txBody>
          <a:bodyPr wrap="square" lIns="0" tIns="0" rIns="0" bIns="0" rtlCol="0" anchor="ctr"/>
          <a:lstStyle/>
          <a:p>
            <a:pPr indent="0" marL="0">
              <a:buNone/>
            </a:pPr>
            <a:r>
              <a:rPr lang="en-US" sz="1150" i="1" dirty="0">
                <a:solidFill>
                  <a:srgbClr val="5C6470"/>
                </a:solidFill>
                <a:latin typeface="Calibri" pitchFamily="34" charset="0"/>
                <a:ea typeface="Calibri" pitchFamily="34" charset="-122"/>
                <a:cs typeface="Calibri" pitchFamily="34" charset="-120"/>
              </a:rPr>
              <a:t>document</a:t>
            </a:r>
            <a:endParaRPr lang="en-US" sz="1150" dirty="0"/>
          </a:p>
        </p:txBody>
      </p:sp>
      <p:sp>
        <p:nvSpPr>
          <p:cNvPr id="20" name="Text 18"/>
          <p:cNvSpPr/>
          <p:nvPr/>
        </p:nvSpPr>
        <p:spPr>
          <a:xfrm>
            <a:off x="4617720" y="3392424"/>
            <a:ext cx="128016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JSON-shaped records</a:t>
            </a:r>
            <a:endParaRPr lang="en-US" sz="1150" dirty="0"/>
          </a:p>
        </p:txBody>
      </p:sp>
      <p:sp>
        <p:nvSpPr>
          <p:cNvPr id="21" name="Shape 19"/>
          <p:cNvSpPr/>
          <p:nvPr/>
        </p:nvSpPr>
        <p:spPr>
          <a:xfrm>
            <a:off x="777240" y="3931920"/>
            <a:ext cx="5257800" cy="475488"/>
          </a:xfrm>
          <a:prstGeom prst="roundRect">
            <a:avLst>
              <a:gd name="adj" fmla="val 17308"/>
            </a:avLst>
          </a:prstGeom>
          <a:solidFill>
            <a:srgbClr val="F5F6F8"/>
          </a:solidFill>
          <a:ln w="12700">
            <a:solidFill>
              <a:srgbClr val="E1E4E9"/>
            </a:solidFill>
            <a:prstDash val="solid"/>
          </a:ln>
        </p:spPr>
      </p:sp>
      <p:sp>
        <p:nvSpPr>
          <p:cNvPr id="22" name="Text 20"/>
          <p:cNvSpPr/>
          <p:nvPr/>
        </p:nvSpPr>
        <p:spPr>
          <a:xfrm>
            <a:off x="1005840" y="3941064"/>
            <a:ext cx="210312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Redis</a:t>
            </a:r>
            <a:endParaRPr lang="en-US" sz="1250" dirty="0"/>
          </a:p>
        </p:txBody>
      </p:sp>
      <p:sp>
        <p:nvSpPr>
          <p:cNvPr id="23" name="Text 21"/>
          <p:cNvSpPr/>
          <p:nvPr/>
        </p:nvSpPr>
        <p:spPr>
          <a:xfrm>
            <a:off x="3154680" y="3941064"/>
            <a:ext cx="1463040" cy="457200"/>
          </a:xfrm>
          <a:prstGeom prst="rect">
            <a:avLst/>
          </a:prstGeom>
          <a:noFill/>
          <a:ln/>
        </p:spPr>
        <p:txBody>
          <a:bodyPr wrap="square" lIns="0" tIns="0" rIns="0" bIns="0" rtlCol="0" anchor="ctr"/>
          <a:lstStyle/>
          <a:p>
            <a:pPr indent="0" marL="0">
              <a:buNone/>
            </a:pPr>
            <a:r>
              <a:rPr lang="en-US" sz="1150" i="1" dirty="0">
                <a:solidFill>
                  <a:srgbClr val="5C6470"/>
                </a:solidFill>
                <a:latin typeface="Calibri" pitchFamily="34" charset="0"/>
                <a:ea typeface="Calibri" pitchFamily="34" charset="-122"/>
                <a:cs typeface="Calibri" pitchFamily="34" charset="-120"/>
              </a:rPr>
              <a:t>key-value</a:t>
            </a:r>
            <a:endParaRPr lang="en-US" sz="1150" dirty="0"/>
          </a:p>
        </p:txBody>
      </p:sp>
      <p:sp>
        <p:nvSpPr>
          <p:cNvPr id="24" name="Text 22"/>
          <p:cNvSpPr/>
          <p:nvPr/>
        </p:nvSpPr>
        <p:spPr>
          <a:xfrm>
            <a:off x="4617720" y="3941064"/>
            <a:ext cx="128016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in-memory, caching</a:t>
            </a:r>
            <a:endParaRPr lang="en-US" sz="1150" dirty="0"/>
          </a:p>
        </p:txBody>
      </p:sp>
      <p:sp>
        <p:nvSpPr>
          <p:cNvPr id="25" name="Text 23"/>
          <p:cNvSpPr/>
          <p:nvPr/>
        </p:nvSpPr>
        <p:spPr>
          <a:xfrm>
            <a:off x="6309360" y="1371600"/>
            <a:ext cx="5029200" cy="32004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Which AI service</a:t>
            </a:r>
            <a:endParaRPr lang="en-US" sz="1400" dirty="0"/>
          </a:p>
        </p:txBody>
      </p:sp>
      <p:sp>
        <p:nvSpPr>
          <p:cNvPr id="26" name="Shape 24"/>
          <p:cNvSpPr/>
          <p:nvPr/>
        </p:nvSpPr>
        <p:spPr>
          <a:xfrm>
            <a:off x="6309360" y="1737360"/>
            <a:ext cx="5257800" cy="475488"/>
          </a:xfrm>
          <a:prstGeom prst="roundRect">
            <a:avLst>
              <a:gd name="adj" fmla="val 17308"/>
            </a:avLst>
          </a:prstGeom>
          <a:solidFill>
            <a:srgbClr val="EEF0FC"/>
          </a:solidFill>
          <a:ln w="12700">
            <a:solidFill>
              <a:srgbClr val="B6BAE8"/>
            </a:solidFill>
            <a:prstDash val="solid"/>
          </a:ln>
        </p:spPr>
      </p:sp>
      <p:sp>
        <p:nvSpPr>
          <p:cNvPr id="27" name="Text 25"/>
          <p:cNvSpPr/>
          <p:nvPr/>
        </p:nvSpPr>
        <p:spPr>
          <a:xfrm>
            <a:off x="6537960" y="1746504"/>
            <a:ext cx="2651760" cy="457200"/>
          </a:xfrm>
          <a:prstGeom prst="rect">
            <a:avLst/>
          </a:prstGeom>
          <a:noFill/>
          <a:ln/>
        </p:spPr>
        <p:txBody>
          <a:bodyPr wrap="square" lIns="0" tIns="0" rIns="0" bIns="0" rtlCol="0" anchor="ctr"/>
          <a:lstStyle/>
          <a:p>
            <a:pPr indent="0" marL="0">
              <a:buNone/>
            </a:pPr>
            <a:r>
              <a:rPr lang="en-US" sz="1250" b="1" dirty="0">
                <a:solidFill>
                  <a:srgbClr val="5158BE"/>
                </a:solidFill>
                <a:latin typeface="Courier New" pitchFamily="34" charset="0"/>
                <a:ea typeface="Courier New" pitchFamily="34" charset="-122"/>
                <a:cs typeface="Courier New" pitchFamily="34" charset="-120"/>
              </a:rPr>
              <a:t>Anthropic (Claude)</a:t>
            </a:r>
            <a:endParaRPr lang="en-US" sz="1250" dirty="0"/>
          </a:p>
        </p:txBody>
      </p:sp>
      <p:sp>
        <p:nvSpPr>
          <p:cNvPr id="28" name="Text 26"/>
          <p:cNvSpPr/>
          <p:nvPr/>
        </p:nvSpPr>
        <p:spPr>
          <a:xfrm>
            <a:off x="9281160" y="1746504"/>
            <a:ext cx="210312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what we use</a:t>
            </a:r>
            <a:endParaRPr lang="en-US" sz="1150" dirty="0"/>
          </a:p>
        </p:txBody>
      </p:sp>
      <p:sp>
        <p:nvSpPr>
          <p:cNvPr id="29" name="Shape 27"/>
          <p:cNvSpPr/>
          <p:nvPr/>
        </p:nvSpPr>
        <p:spPr>
          <a:xfrm>
            <a:off x="6309360" y="2286000"/>
            <a:ext cx="5257800" cy="475488"/>
          </a:xfrm>
          <a:prstGeom prst="roundRect">
            <a:avLst>
              <a:gd name="adj" fmla="val 17308"/>
            </a:avLst>
          </a:prstGeom>
          <a:solidFill>
            <a:srgbClr val="F5F6F8"/>
          </a:solidFill>
          <a:ln w="12700">
            <a:solidFill>
              <a:srgbClr val="E1E4E9"/>
            </a:solidFill>
            <a:prstDash val="solid"/>
          </a:ln>
        </p:spPr>
      </p:sp>
      <p:sp>
        <p:nvSpPr>
          <p:cNvPr id="30" name="Text 28"/>
          <p:cNvSpPr/>
          <p:nvPr/>
        </p:nvSpPr>
        <p:spPr>
          <a:xfrm>
            <a:off x="6537960" y="2295144"/>
            <a:ext cx="265176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OpenAI</a:t>
            </a:r>
            <a:endParaRPr lang="en-US" sz="1250" dirty="0"/>
          </a:p>
        </p:txBody>
      </p:sp>
      <p:sp>
        <p:nvSpPr>
          <p:cNvPr id="31" name="Text 29"/>
          <p:cNvSpPr/>
          <p:nvPr/>
        </p:nvSpPr>
        <p:spPr>
          <a:xfrm>
            <a:off x="9281160" y="2295144"/>
            <a:ext cx="210312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same shape</a:t>
            </a:r>
            <a:endParaRPr lang="en-US" sz="1150" dirty="0"/>
          </a:p>
        </p:txBody>
      </p:sp>
      <p:sp>
        <p:nvSpPr>
          <p:cNvPr id="32" name="Shape 30"/>
          <p:cNvSpPr/>
          <p:nvPr/>
        </p:nvSpPr>
        <p:spPr>
          <a:xfrm>
            <a:off x="6309360" y="2834640"/>
            <a:ext cx="5257800" cy="475488"/>
          </a:xfrm>
          <a:prstGeom prst="roundRect">
            <a:avLst>
              <a:gd name="adj" fmla="val 17308"/>
            </a:avLst>
          </a:prstGeom>
          <a:solidFill>
            <a:srgbClr val="F5F6F8"/>
          </a:solidFill>
          <a:ln w="12700">
            <a:solidFill>
              <a:srgbClr val="E1E4E9"/>
            </a:solidFill>
            <a:prstDash val="solid"/>
          </a:ln>
        </p:spPr>
      </p:sp>
      <p:sp>
        <p:nvSpPr>
          <p:cNvPr id="33" name="Text 31"/>
          <p:cNvSpPr/>
          <p:nvPr/>
        </p:nvSpPr>
        <p:spPr>
          <a:xfrm>
            <a:off x="6537960" y="2843784"/>
            <a:ext cx="265176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Google Gemini</a:t>
            </a:r>
            <a:endParaRPr lang="en-US" sz="1250" dirty="0"/>
          </a:p>
        </p:txBody>
      </p:sp>
      <p:sp>
        <p:nvSpPr>
          <p:cNvPr id="34" name="Text 32"/>
          <p:cNvSpPr/>
          <p:nvPr/>
        </p:nvSpPr>
        <p:spPr>
          <a:xfrm>
            <a:off x="9281160" y="2843784"/>
            <a:ext cx="210312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often a free tier</a:t>
            </a:r>
            <a:endParaRPr lang="en-US" sz="1150" dirty="0"/>
          </a:p>
        </p:txBody>
      </p:sp>
      <p:sp>
        <p:nvSpPr>
          <p:cNvPr id="35" name="Shape 33"/>
          <p:cNvSpPr/>
          <p:nvPr/>
        </p:nvSpPr>
        <p:spPr>
          <a:xfrm>
            <a:off x="6309360" y="3383280"/>
            <a:ext cx="5257800" cy="475488"/>
          </a:xfrm>
          <a:prstGeom prst="roundRect">
            <a:avLst>
              <a:gd name="adj" fmla="val 17308"/>
            </a:avLst>
          </a:prstGeom>
          <a:solidFill>
            <a:srgbClr val="F5F6F8"/>
          </a:solidFill>
          <a:ln w="12700">
            <a:solidFill>
              <a:srgbClr val="E1E4E9"/>
            </a:solidFill>
            <a:prstDash val="solid"/>
          </a:ln>
        </p:spPr>
      </p:sp>
      <p:sp>
        <p:nvSpPr>
          <p:cNvPr id="36" name="Text 34"/>
          <p:cNvSpPr/>
          <p:nvPr/>
        </p:nvSpPr>
        <p:spPr>
          <a:xfrm>
            <a:off x="6537960" y="3392424"/>
            <a:ext cx="265176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Ollama / vLLM</a:t>
            </a:r>
            <a:endParaRPr lang="en-US" sz="1250" dirty="0"/>
          </a:p>
        </p:txBody>
      </p:sp>
      <p:sp>
        <p:nvSpPr>
          <p:cNvPr id="37" name="Text 35"/>
          <p:cNvSpPr/>
          <p:nvPr/>
        </p:nvSpPr>
        <p:spPr>
          <a:xfrm>
            <a:off x="9281160" y="3392424"/>
            <a:ext cx="210312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run open models yourself</a:t>
            </a:r>
            <a:endParaRPr lang="en-US" sz="1150" dirty="0"/>
          </a:p>
        </p:txBody>
      </p:sp>
      <p:sp>
        <p:nvSpPr>
          <p:cNvPr id="38" name="Shape 36"/>
          <p:cNvSpPr/>
          <p:nvPr/>
        </p:nvSpPr>
        <p:spPr>
          <a:xfrm>
            <a:off x="6309360" y="3931920"/>
            <a:ext cx="5257800" cy="475488"/>
          </a:xfrm>
          <a:prstGeom prst="roundRect">
            <a:avLst>
              <a:gd name="adj" fmla="val 17308"/>
            </a:avLst>
          </a:prstGeom>
          <a:solidFill>
            <a:srgbClr val="F5F6F8"/>
          </a:solidFill>
          <a:ln w="12700">
            <a:solidFill>
              <a:srgbClr val="E1E4E9"/>
            </a:solidFill>
            <a:prstDash val="solid"/>
          </a:ln>
        </p:spPr>
      </p:sp>
      <p:sp>
        <p:nvSpPr>
          <p:cNvPr id="39" name="Text 37"/>
          <p:cNvSpPr/>
          <p:nvPr/>
        </p:nvSpPr>
        <p:spPr>
          <a:xfrm>
            <a:off x="6537960" y="3941064"/>
            <a:ext cx="2651760" cy="457200"/>
          </a:xfrm>
          <a:prstGeom prst="rect">
            <a:avLst/>
          </a:prstGeom>
          <a:noFill/>
          <a:ln/>
        </p:spPr>
        <p:txBody>
          <a:bodyPr wrap="square" lIns="0" tIns="0" rIns="0" bIns="0" rtlCol="0" anchor="ctr"/>
          <a:lstStyle/>
          <a:p>
            <a:pPr indent="0" marL="0">
              <a:buNone/>
            </a:pPr>
            <a:r>
              <a:rPr lang="en-US" sz="1250" dirty="0">
                <a:solidFill>
                  <a:srgbClr val="15181F"/>
                </a:solidFill>
                <a:latin typeface="Courier New" pitchFamily="34" charset="0"/>
                <a:ea typeface="Courier New" pitchFamily="34" charset="-122"/>
                <a:cs typeface="Courier New" pitchFamily="34" charset="-120"/>
              </a:rPr>
              <a:t>Bedrock / Vertex</a:t>
            </a:r>
            <a:endParaRPr lang="en-US" sz="1250" dirty="0"/>
          </a:p>
        </p:txBody>
      </p:sp>
      <p:sp>
        <p:nvSpPr>
          <p:cNvPr id="40" name="Text 38"/>
          <p:cNvSpPr/>
          <p:nvPr/>
        </p:nvSpPr>
        <p:spPr>
          <a:xfrm>
            <a:off x="9281160" y="3941064"/>
            <a:ext cx="2103120" cy="45720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same models, cloud billing</a:t>
            </a:r>
            <a:endParaRPr lang="en-US" sz="1150" dirty="0"/>
          </a:p>
        </p:txBody>
      </p:sp>
      <p:sp>
        <p:nvSpPr>
          <p:cNvPr id="41" name="Shape 39"/>
          <p:cNvSpPr/>
          <p:nvPr/>
        </p:nvSpPr>
        <p:spPr>
          <a:xfrm>
            <a:off x="777240" y="4663440"/>
            <a:ext cx="10634472" cy="1691640"/>
          </a:xfrm>
          <a:prstGeom prst="roundRect">
            <a:avLst>
              <a:gd name="adj" fmla="val 4865"/>
            </a:avLst>
          </a:prstGeom>
          <a:solidFill>
            <a:srgbClr val="F5F6F8"/>
          </a:solidFill>
          <a:ln w="12700">
            <a:solidFill>
              <a:srgbClr val="E1E4E9"/>
            </a:solidFill>
            <a:prstDash val="solid"/>
          </a:ln>
        </p:spPr>
      </p:sp>
      <p:sp>
        <p:nvSpPr>
          <p:cNvPr id="42" name="Text 40"/>
          <p:cNvSpPr/>
          <p:nvPr/>
        </p:nvSpPr>
        <p:spPr>
          <a:xfrm>
            <a:off x="1143000" y="4800600"/>
            <a:ext cx="10241280" cy="411480"/>
          </a:xfrm>
          <a:prstGeom prst="rect">
            <a:avLst/>
          </a:prstGeom>
          <a:noFill/>
          <a:ln/>
        </p:spPr>
        <p:txBody>
          <a:bodyPr wrap="square" lIns="0" tIns="0" rIns="0" bIns="0" rtlCol="0" anchor="ctr"/>
          <a:lstStyle/>
          <a:p>
            <a:pPr indent="0" marL="0">
              <a:buNone/>
            </a:pPr>
            <a:r>
              <a:rPr lang="en-US" sz="1700" b="1" dirty="0">
                <a:solidFill>
                  <a:srgbClr val="15181F"/>
                </a:solidFill>
                <a:latin typeface="Cambria" pitchFamily="34" charset="0"/>
                <a:ea typeface="Cambria" pitchFamily="34" charset="-122"/>
                <a:cs typeface="Cambria" pitchFamily="34" charset="-120"/>
              </a:rPr>
              <a:t>They nearly all follow the same shape: send text plus a key, get text back.</a:t>
            </a:r>
            <a:endParaRPr lang="en-US" sz="1700" dirty="0"/>
          </a:p>
        </p:txBody>
      </p:sp>
      <p:sp>
        <p:nvSpPr>
          <p:cNvPr id="43" name="Text 41"/>
          <p:cNvSpPr/>
          <p:nvPr/>
        </p:nvSpPr>
        <p:spPr>
          <a:xfrm>
            <a:off x="1143000" y="5230368"/>
            <a:ext cx="10241280" cy="914400"/>
          </a:xfrm>
          <a:prstGeom prst="rect">
            <a:avLst/>
          </a:prstGeom>
          <a:noFill/>
          <a:ln/>
        </p:spPr>
        <p:txBody>
          <a:bodyPr wrap="square" lIns="0" tIns="0" rIns="0" bIns="0" rtlCol="0" anchor="ctr"/>
          <a:lstStyle/>
          <a:p>
            <a:pPr indent="0" marL="0">
              <a:buNone/>
            </a:pPr>
            <a:r>
              <a:rPr lang="en-US" sz="1400" dirty="0">
                <a:solidFill>
                  <a:srgbClr val="5C6470"/>
                </a:solidFill>
                <a:latin typeface="Calibri" pitchFamily="34" charset="0"/>
                <a:ea typeface="Calibri" pitchFamily="34" charset="-122"/>
                <a:cs typeface="Calibri" pitchFamily="34" charset="-120"/>
              </a:rPr>
              <a:t>The library differs, the endpoint differs, the parameter names differ slightly. The idea does not. That is exactly why our AI call lives alone in ai.py - changing provider means editing one file, and nothing else in the application notices.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1.10</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How to choose, on your next project</a:t>
            </a:r>
            <a:endParaRPr lang="en-US" sz="3100" dirty="0"/>
          </a:p>
        </p:txBody>
      </p:sp>
      <p:sp>
        <p:nvSpPr>
          <p:cNvPr id="4" name="Text 2"/>
          <p:cNvSpPr/>
          <p:nvPr/>
        </p:nvSpPr>
        <p:spPr>
          <a:xfrm>
            <a:off x="777240" y="1371600"/>
            <a:ext cx="10634472" cy="32004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Four questions, in this order:</a:t>
            </a:r>
            <a:endParaRPr lang="en-US" sz="1600" dirty="0"/>
          </a:p>
        </p:txBody>
      </p:sp>
      <p:sp>
        <p:nvSpPr>
          <p:cNvPr id="5" name="Shape 3"/>
          <p:cNvSpPr/>
          <p:nvPr/>
        </p:nvSpPr>
        <p:spPr>
          <a:xfrm>
            <a:off x="777240" y="1783080"/>
            <a:ext cx="10634472" cy="932688"/>
          </a:xfrm>
          <a:prstGeom prst="roundRect">
            <a:avLst>
              <a:gd name="adj" fmla="val 8824"/>
            </a:avLst>
          </a:prstGeom>
          <a:solidFill>
            <a:srgbClr val="F5F6F8"/>
          </a:solidFill>
          <a:ln w="12700">
            <a:solidFill>
              <a:srgbClr val="E1E4E9"/>
            </a:solidFill>
            <a:prstDash val="solid"/>
          </a:ln>
        </p:spPr>
      </p:sp>
      <p:sp>
        <p:nvSpPr>
          <p:cNvPr id="6" name="Shape 4"/>
          <p:cNvSpPr/>
          <p:nvPr/>
        </p:nvSpPr>
        <p:spPr>
          <a:xfrm>
            <a:off x="1069848" y="2084832"/>
            <a:ext cx="365760" cy="365760"/>
          </a:xfrm>
          <a:prstGeom prst="ellipse">
            <a:avLst/>
          </a:prstGeom>
          <a:solidFill>
            <a:srgbClr val="00776A"/>
          </a:solidFill>
          <a:ln/>
        </p:spPr>
      </p:sp>
      <p:sp>
        <p:nvSpPr>
          <p:cNvPr id="7" name="Text 5"/>
          <p:cNvSpPr/>
          <p:nvPr/>
        </p:nvSpPr>
        <p:spPr>
          <a:xfrm>
            <a:off x="1069848" y="20848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91640" y="1874520"/>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Does anything need to send data to it?</a:t>
            </a:r>
            <a:endParaRPr lang="en-US" sz="1600" dirty="0"/>
          </a:p>
        </p:txBody>
      </p:sp>
      <p:sp>
        <p:nvSpPr>
          <p:cNvPr id="9" name="Text 7"/>
          <p:cNvSpPr/>
          <p:nvPr/>
        </p:nvSpPr>
        <p:spPr>
          <a:xfrm>
            <a:off x="1691640" y="2267712"/>
            <a:ext cx="9418320" cy="41148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if yes, you need a real backend - that rules out static hosting, Streamlit and Gradio</a:t>
            </a:r>
            <a:endParaRPr lang="en-US" sz="1300" dirty="0"/>
          </a:p>
        </p:txBody>
      </p:sp>
      <p:sp>
        <p:nvSpPr>
          <p:cNvPr id="10" name="Shape 8"/>
          <p:cNvSpPr/>
          <p:nvPr/>
        </p:nvSpPr>
        <p:spPr>
          <a:xfrm>
            <a:off x="777240" y="2862072"/>
            <a:ext cx="10634472" cy="932688"/>
          </a:xfrm>
          <a:prstGeom prst="roundRect">
            <a:avLst>
              <a:gd name="adj" fmla="val 8824"/>
            </a:avLst>
          </a:prstGeom>
          <a:solidFill>
            <a:srgbClr val="F5F6F8"/>
          </a:solidFill>
          <a:ln w="12700">
            <a:solidFill>
              <a:srgbClr val="E1E4E9"/>
            </a:solidFill>
            <a:prstDash val="solid"/>
          </a:ln>
        </p:spPr>
      </p:sp>
      <p:sp>
        <p:nvSpPr>
          <p:cNvPr id="11" name="Shape 9"/>
          <p:cNvSpPr/>
          <p:nvPr/>
        </p:nvSpPr>
        <p:spPr>
          <a:xfrm>
            <a:off x="1069848" y="3163824"/>
            <a:ext cx="365760" cy="365760"/>
          </a:xfrm>
          <a:prstGeom prst="ellipse">
            <a:avLst/>
          </a:prstGeom>
          <a:solidFill>
            <a:srgbClr val="00776A"/>
          </a:solidFill>
          <a:ln/>
        </p:spPr>
      </p:sp>
      <p:sp>
        <p:nvSpPr>
          <p:cNvPr id="12" name="Text 10"/>
          <p:cNvSpPr/>
          <p:nvPr/>
        </p:nvSpPr>
        <p:spPr>
          <a:xfrm>
            <a:off x="1069848" y="31638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691640" y="2953512"/>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Do you have a secret to protect?</a:t>
            </a:r>
            <a:endParaRPr lang="en-US" sz="1600" dirty="0"/>
          </a:p>
        </p:txBody>
      </p:sp>
      <p:sp>
        <p:nvSpPr>
          <p:cNvPr id="14" name="Text 12"/>
          <p:cNvSpPr/>
          <p:nvPr/>
        </p:nvSpPr>
        <p:spPr>
          <a:xfrm>
            <a:off x="1691640" y="3346704"/>
            <a:ext cx="9418320" cy="41148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if yes, you need a backend. Same conclusion</a:t>
            </a:r>
            <a:endParaRPr lang="en-US" sz="1300" dirty="0"/>
          </a:p>
        </p:txBody>
      </p:sp>
      <p:sp>
        <p:nvSpPr>
          <p:cNvPr id="15" name="Shape 13"/>
          <p:cNvSpPr/>
          <p:nvPr/>
        </p:nvSpPr>
        <p:spPr>
          <a:xfrm>
            <a:off x="777240" y="3941064"/>
            <a:ext cx="10634472" cy="932688"/>
          </a:xfrm>
          <a:prstGeom prst="roundRect">
            <a:avLst>
              <a:gd name="adj" fmla="val 8824"/>
            </a:avLst>
          </a:prstGeom>
          <a:solidFill>
            <a:srgbClr val="F5F6F8"/>
          </a:solidFill>
          <a:ln w="12700">
            <a:solidFill>
              <a:srgbClr val="E1E4E9"/>
            </a:solidFill>
            <a:prstDash val="solid"/>
          </a:ln>
        </p:spPr>
      </p:sp>
      <p:sp>
        <p:nvSpPr>
          <p:cNvPr id="16" name="Shape 14"/>
          <p:cNvSpPr/>
          <p:nvPr/>
        </p:nvSpPr>
        <p:spPr>
          <a:xfrm>
            <a:off x="1069848" y="4242816"/>
            <a:ext cx="365760" cy="365760"/>
          </a:xfrm>
          <a:prstGeom prst="ellipse">
            <a:avLst/>
          </a:prstGeom>
          <a:solidFill>
            <a:srgbClr val="00776A"/>
          </a:solidFill>
          <a:ln/>
        </p:spPr>
      </p:sp>
      <p:sp>
        <p:nvSpPr>
          <p:cNvPr id="17" name="Text 15"/>
          <p:cNvSpPr/>
          <p:nvPr/>
        </p:nvSpPr>
        <p:spPr>
          <a:xfrm>
            <a:off x="1069848" y="42428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91640" y="4032504"/>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What language do you already write?</a:t>
            </a:r>
            <a:endParaRPr lang="en-US" sz="1600" dirty="0"/>
          </a:p>
        </p:txBody>
      </p:sp>
      <p:sp>
        <p:nvSpPr>
          <p:cNvPr id="19" name="Text 17"/>
          <p:cNvSpPr/>
          <p:nvPr/>
        </p:nvSpPr>
        <p:spPr>
          <a:xfrm>
            <a:off x="1691640" y="4425696"/>
            <a:ext cx="9418320" cy="41148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use it. Learning a framework is quick; learning a language while learning deployment is not</a:t>
            </a:r>
            <a:endParaRPr lang="en-US" sz="1300" dirty="0"/>
          </a:p>
        </p:txBody>
      </p:sp>
      <p:sp>
        <p:nvSpPr>
          <p:cNvPr id="20" name="Shape 18"/>
          <p:cNvSpPr/>
          <p:nvPr/>
        </p:nvSpPr>
        <p:spPr>
          <a:xfrm>
            <a:off x="777240" y="5020056"/>
            <a:ext cx="10634472" cy="932688"/>
          </a:xfrm>
          <a:prstGeom prst="roundRect">
            <a:avLst>
              <a:gd name="adj" fmla="val 8824"/>
            </a:avLst>
          </a:prstGeom>
          <a:solidFill>
            <a:srgbClr val="F5F6F8"/>
          </a:solidFill>
          <a:ln w="12700">
            <a:solidFill>
              <a:srgbClr val="E1E4E9"/>
            </a:solidFill>
            <a:prstDash val="solid"/>
          </a:ln>
        </p:spPr>
      </p:sp>
      <p:sp>
        <p:nvSpPr>
          <p:cNvPr id="21" name="Shape 19"/>
          <p:cNvSpPr/>
          <p:nvPr/>
        </p:nvSpPr>
        <p:spPr>
          <a:xfrm>
            <a:off x="1069848" y="5321808"/>
            <a:ext cx="365760" cy="365760"/>
          </a:xfrm>
          <a:prstGeom prst="ellipse">
            <a:avLst/>
          </a:prstGeom>
          <a:solidFill>
            <a:srgbClr val="00776A"/>
          </a:solidFill>
          <a:ln/>
        </p:spPr>
      </p:sp>
      <p:sp>
        <p:nvSpPr>
          <p:cNvPr id="22" name="Text 20"/>
          <p:cNvSpPr/>
          <p:nvPr/>
        </p:nvSpPr>
        <p:spPr>
          <a:xfrm>
            <a:off x="1069848" y="5321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691640" y="5111496"/>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How long does it need to live?</a:t>
            </a:r>
            <a:endParaRPr lang="en-US" sz="1600" dirty="0"/>
          </a:p>
        </p:txBody>
      </p:sp>
      <p:sp>
        <p:nvSpPr>
          <p:cNvPr id="24" name="Text 22"/>
          <p:cNvSpPr/>
          <p:nvPr/>
        </p:nvSpPr>
        <p:spPr>
          <a:xfrm>
            <a:off x="1691640" y="5504688"/>
            <a:ext cx="9418320" cy="41148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 demo, a term project and a product have very different answers</a:t>
            </a:r>
            <a:endParaRPr lang="en-US" sz="1300" dirty="0"/>
          </a:p>
        </p:txBody>
      </p:sp>
      <p:sp>
        <p:nvSpPr>
          <p:cNvPr id="25" name="Text 23"/>
          <p:cNvSpPr/>
          <p:nvPr/>
        </p:nvSpPr>
        <p:spPr>
          <a:xfrm>
            <a:off x="777240" y="6035040"/>
            <a:ext cx="10634472" cy="822960"/>
          </a:xfrm>
          <a:prstGeom prst="rect">
            <a:avLst/>
          </a:prstGeom>
          <a:noFill/>
          <a:ln/>
        </p:spPr>
        <p:txBody>
          <a:bodyPr wrap="square" lIns="0" tIns="0" rIns="0" bIns="0" rtlCol="0" anchor="ctr"/>
          <a:lstStyle/>
          <a:p>
            <a:pPr indent="0" marL="0">
              <a:buNone/>
            </a:pPr>
            <a:r>
              <a:rPr lang="en-US" sz="1700" b="1" dirty="0">
                <a:solidFill>
                  <a:srgbClr val="00776A"/>
                </a:solidFill>
                <a:latin typeface="Cambria" pitchFamily="34" charset="0"/>
                <a:ea typeface="Cambria" pitchFamily="34" charset="-122"/>
                <a:cs typeface="Cambria" pitchFamily="34" charset="-120"/>
              </a:rPr>
              <a:t>Almost every question about which technology to use is answered by one of those four.</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1.10</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we are building</a:t>
            </a:r>
            <a:endParaRPr lang="en-US" sz="3100" dirty="0"/>
          </a:p>
        </p:txBody>
      </p:sp>
      <p:sp>
        <p:nvSpPr>
          <p:cNvPr id="4" name="Text 2"/>
          <p:cNvSpPr/>
          <p:nvPr/>
        </p:nvSpPr>
        <p:spPr>
          <a:xfrm>
            <a:off x="777240" y="1371600"/>
            <a:ext cx="10634472" cy="45720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A sensor triage service. Something sends a reading, your code decides if it is safe, an AI explains what it means.</a:t>
            </a:r>
            <a:endParaRPr lang="en-US" sz="1600" dirty="0"/>
          </a:p>
        </p:txBody>
      </p:sp>
      <p:sp>
        <p:nvSpPr>
          <p:cNvPr id="5" name="Shape 3"/>
          <p:cNvSpPr/>
          <p:nvPr/>
        </p:nvSpPr>
        <p:spPr>
          <a:xfrm>
            <a:off x="777240" y="2057400"/>
            <a:ext cx="3337560" cy="2103120"/>
          </a:xfrm>
          <a:prstGeom prst="roundRect">
            <a:avLst>
              <a:gd name="adj" fmla="val 3913"/>
            </a:avLst>
          </a:prstGeom>
          <a:solidFill>
            <a:srgbClr val="F5F6F8"/>
          </a:solidFill>
          <a:ln w="12700">
            <a:solidFill>
              <a:srgbClr val="E1E4E9"/>
            </a:solidFill>
            <a:prstDash val="solid"/>
          </a:ln>
        </p:spPr>
      </p:sp>
      <p:sp>
        <p:nvSpPr>
          <p:cNvPr id="6" name="Text 4"/>
          <p:cNvSpPr/>
          <p:nvPr/>
        </p:nvSpPr>
        <p:spPr>
          <a:xfrm>
            <a:off x="1033272" y="2240280"/>
            <a:ext cx="2834640" cy="548640"/>
          </a:xfrm>
          <a:prstGeom prst="rect">
            <a:avLst/>
          </a:prstGeom>
          <a:noFill/>
          <a:ln/>
        </p:spPr>
        <p:txBody>
          <a:bodyPr wrap="square" lIns="0" tIns="0" rIns="0" bIns="0" rtlCol="0" anchor="ctr"/>
          <a:lstStyle/>
          <a:p>
            <a:pPr indent="0" marL="0">
              <a:buNone/>
            </a:pPr>
            <a:r>
              <a:rPr lang="en-US" sz="1450" b="1" dirty="0">
                <a:solidFill>
                  <a:srgbClr val="5158BE"/>
                </a:solidFill>
                <a:latin typeface="Cambria" pitchFamily="34" charset="0"/>
                <a:ea typeface="Cambria" pitchFamily="34" charset="-122"/>
                <a:cs typeface="Cambria" pitchFamily="34" charset="-120"/>
              </a:rPr>
              <a:t>Healthcare</a:t>
            </a:r>
            <a:endParaRPr lang="en-US" sz="1450" dirty="0"/>
          </a:p>
        </p:txBody>
      </p:sp>
      <p:sp>
        <p:nvSpPr>
          <p:cNvPr id="7" name="Text 5"/>
          <p:cNvSpPr/>
          <p:nvPr/>
        </p:nvSpPr>
        <p:spPr>
          <a:xfrm>
            <a:off x="1033272" y="283464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body temperature   36.1-37.2 C</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blood oxygen       95-100 %</a:t>
            </a:r>
            <a:endParaRPr lang="en-US" sz="1050" dirty="0"/>
          </a:p>
        </p:txBody>
      </p:sp>
      <p:sp>
        <p:nvSpPr>
          <p:cNvPr id="8" name="Shape 6"/>
          <p:cNvSpPr/>
          <p:nvPr/>
        </p:nvSpPr>
        <p:spPr>
          <a:xfrm>
            <a:off x="4434840" y="2057400"/>
            <a:ext cx="3337560" cy="2103120"/>
          </a:xfrm>
          <a:prstGeom prst="roundRect">
            <a:avLst>
              <a:gd name="adj" fmla="val 3913"/>
            </a:avLst>
          </a:prstGeom>
          <a:solidFill>
            <a:srgbClr val="F5F6F8"/>
          </a:solidFill>
          <a:ln w="12700">
            <a:solidFill>
              <a:srgbClr val="E1E4E9"/>
            </a:solidFill>
            <a:prstDash val="solid"/>
          </a:ln>
        </p:spPr>
      </p:sp>
      <p:sp>
        <p:nvSpPr>
          <p:cNvPr id="9" name="Text 7"/>
          <p:cNvSpPr/>
          <p:nvPr/>
        </p:nvSpPr>
        <p:spPr>
          <a:xfrm>
            <a:off x="4690872" y="2240280"/>
            <a:ext cx="2834640" cy="548640"/>
          </a:xfrm>
          <a:prstGeom prst="rect">
            <a:avLst/>
          </a:prstGeom>
          <a:noFill/>
          <a:ln/>
        </p:spPr>
        <p:txBody>
          <a:bodyPr wrap="square" lIns="0" tIns="0" rIns="0" bIns="0" rtlCol="0" anchor="ctr"/>
          <a:lstStyle/>
          <a:p>
            <a:pPr indent="0" marL="0">
              <a:buNone/>
            </a:pPr>
            <a:r>
              <a:rPr lang="en-US" sz="1450" b="1" dirty="0">
                <a:solidFill>
                  <a:srgbClr val="0A7D28"/>
                </a:solidFill>
                <a:latin typeface="Cambria" pitchFamily="34" charset="0"/>
                <a:ea typeface="Cambria" pitchFamily="34" charset="-122"/>
                <a:cs typeface="Cambria" pitchFamily="34" charset="-120"/>
              </a:rPr>
              <a:t>Sustainable Solutions</a:t>
            </a:r>
            <a:endParaRPr lang="en-US" sz="1450" dirty="0"/>
          </a:p>
        </p:txBody>
      </p:sp>
      <p:sp>
        <p:nvSpPr>
          <p:cNvPr id="10" name="Text 8"/>
          <p:cNvSpPr/>
          <p:nvPr/>
        </p:nvSpPr>
        <p:spPr>
          <a:xfrm>
            <a:off x="4690872" y="283464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indoor CO2         400-1000 ppm</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power draw         0-3500 W</a:t>
            </a:r>
            <a:endParaRPr lang="en-US" sz="1050" dirty="0"/>
          </a:p>
        </p:txBody>
      </p:sp>
      <p:sp>
        <p:nvSpPr>
          <p:cNvPr id="11" name="Shape 9"/>
          <p:cNvSpPr/>
          <p:nvPr/>
        </p:nvSpPr>
        <p:spPr>
          <a:xfrm>
            <a:off x="8092440" y="2057400"/>
            <a:ext cx="3337560" cy="2103120"/>
          </a:xfrm>
          <a:prstGeom prst="roundRect">
            <a:avLst>
              <a:gd name="adj" fmla="val 3913"/>
            </a:avLst>
          </a:prstGeom>
          <a:solidFill>
            <a:srgbClr val="F5F6F8"/>
          </a:solidFill>
          <a:ln w="12700">
            <a:solidFill>
              <a:srgbClr val="E1E4E9"/>
            </a:solidFill>
            <a:prstDash val="solid"/>
          </a:ln>
        </p:spPr>
      </p:sp>
      <p:sp>
        <p:nvSpPr>
          <p:cNvPr id="12" name="Text 10"/>
          <p:cNvSpPr/>
          <p:nvPr/>
        </p:nvSpPr>
        <p:spPr>
          <a:xfrm>
            <a:off x="8348472" y="2240280"/>
            <a:ext cx="2834640" cy="548640"/>
          </a:xfrm>
          <a:prstGeom prst="rect">
            <a:avLst/>
          </a:prstGeom>
          <a:noFill/>
          <a:ln/>
        </p:spPr>
        <p:txBody>
          <a:bodyPr wrap="square" lIns="0" tIns="0" rIns="0" bIns="0" rtlCol="0" anchor="ctr"/>
          <a:lstStyle/>
          <a:p>
            <a:pPr indent="0" marL="0">
              <a:buNone/>
            </a:pPr>
            <a:r>
              <a:rPr lang="en-US" sz="1450" b="1" dirty="0">
                <a:solidFill>
                  <a:srgbClr val="A85F00"/>
                </a:solidFill>
                <a:latin typeface="Cambria" pitchFamily="34" charset="0"/>
                <a:ea typeface="Cambria" pitchFamily="34" charset="-122"/>
                <a:cs typeface="Cambria" pitchFamily="34" charset="-120"/>
              </a:rPr>
              <a:t>Global Impact</a:t>
            </a:r>
            <a:endParaRPr lang="en-US" sz="1450" dirty="0"/>
          </a:p>
        </p:txBody>
      </p:sp>
      <p:sp>
        <p:nvSpPr>
          <p:cNvPr id="13" name="Text 11"/>
          <p:cNvSpPr/>
          <p:nvPr/>
        </p:nvSpPr>
        <p:spPr>
          <a:xfrm>
            <a:off x="8348472" y="283464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soil moisture      30-70 %</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motor temperature  20-60 C</a:t>
            </a:r>
            <a:endParaRPr lang="en-US" sz="1050" dirty="0"/>
          </a:p>
        </p:txBody>
      </p:sp>
      <p:sp>
        <p:nvSpPr>
          <p:cNvPr id="14" name="Text 12"/>
          <p:cNvSpPr/>
          <p:nvPr/>
        </p:nvSpPr>
        <p:spPr>
          <a:xfrm>
            <a:off x="777240" y="452628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Every track measures a number that has a safe range.</a:t>
            </a:r>
            <a:endParaRPr lang="en-US" sz="2100" dirty="0"/>
          </a:p>
        </p:txBody>
      </p:sp>
      <p:sp>
        <p:nvSpPr>
          <p:cNvPr id="15" name="Text 13"/>
          <p:cNvSpPr/>
          <p:nvPr/>
        </p:nvSpPr>
        <p:spPr>
          <a:xfrm>
            <a:off x="777240" y="5120640"/>
            <a:ext cx="10634472" cy="73152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Identical code for all of them. Only the numbers change. Whatever your project measures, it fits.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2</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Build it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Five stages. Each one ends with something you can see.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PART 2  ·  SET UP</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the project</a:t>
            </a:r>
            <a:endParaRPr lang="en-US" sz="3100" dirty="0"/>
          </a:p>
        </p:txBody>
      </p:sp>
      <p:sp>
        <p:nvSpPr>
          <p:cNvPr id="4" name="Shape 2"/>
          <p:cNvSpPr/>
          <p:nvPr/>
        </p:nvSpPr>
        <p:spPr>
          <a:xfrm>
            <a:off x="777240" y="1691640"/>
            <a:ext cx="10634472" cy="1335024"/>
          </a:xfrm>
          <a:prstGeom prst="roundRect">
            <a:avLst>
              <a:gd name="adj" fmla="val 5479"/>
            </a:avLst>
          </a:prstGeom>
          <a:solidFill>
            <a:srgbClr val="1B1F2A"/>
          </a:solidFill>
          <a:ln w="12700">
            <a:solidFill>
              <a:srgbClr val="1B1F2A"/>
            </a:solidFill>
            <a:prstDash val="solid"/>
          </a:ln>
        </p:spPr>
      </p:sp>
      <p:sp>
        <p:nvSpPr>
          <p:cNvPr id="5" name="Text 3"/>
          <p:cNvSpPr/>
          <p:nvPr/>
        </p:nvSpPr>
        <p:spPr>
          <a:xfrm>
            <a:off x="1097280" y="1920240"/>
            <a:ext cx="9994392" cy="877824"/>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mkdir sensor-triage</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cd sensor-triage</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python -m venv .venv</a:t>
            </a:r>
            <a:endParaRPr lang="en-US" sz="1600" dirty="0"/>
          </a:p>
        </p:txBody>
      </p:sp>
      <p:sp>
        <p:nvSpPr>
          <p:cNvPr id="6" name="Text 4"/>
          <p:cNvSpPr/>
          <p:nvPr/>
        </p:nvSpPr>
        <p:spPr>
          <a:xfrm>
            <a:off x="777240" y="3063240"/>
            <a:ext cx="10634472" cy="3200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Activate it  (Windows / macOS-Linux):</a:t>
            </a:r>
            <a:endParaRPr lang="en-US" sz="1450" dirty="0"/>
          </a:p>
        </p:txBody>
      </p:sp>
      <p:sp>
        <p:nvSpPr>
          <p:cNvPr id="7" name="Shape 5"/>
          <p:cNvSpPr/>
          <p:nvPr/>
        </p:nvSpPr>
        <p:spPr>
          <a:xfrm>
            <a:off x="777240" y="3474720"/>
            <a:ext cx="10634472" cy="1042416"/>
          </a:xfrm>
          <a:prstGeom prst="roundRect">
            <a:avLst>
              <a:gd name="adj" fmla="val 7018"/>
            </a:avLst>
          </a:prstGeom>
          <a:solidFill>
            <a:srgbClr val="1B1F2A"/>
          </a:solidFill>
          <a:ln w="12700">
            <a:solidFill>
              <a:srgbClr val="1B1F2A"/>
            </a:solidFill>
            <a:prstDash val="solid"/>
          </a:ln>
        </p:spPr>
      </p:sp>
      <p:sp>
        <p:nvSpPr>
          <p:cNvPr id="8" name="Text 6"/>
          <p:cNvSpPr/>
          <p:nvPr/>
        </p:nvSpPr>
        <p:spPr>
          <a:xfrm>
            <a:off x="1097280" y="3703320"/>
            <a:ext cx="9994392" cy="585216"/>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.venv\Scripts\activate</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source .venv/bin/activate</a:t>
            </a:r>
            <a:endParaRPr lang="en-US" sz="1600" dirty="0"/>
          </a:p>
        </p:txBody>
      </p:sp>
      <p:sp>
        <p:nvSpPr>
          <p:cNvPr id="9" name="Shape 7"/>
          <p:cNvSpPr/>
          <p:nvPr/>
        </p:nvSpPr>
        <p:spPr>
          <a:xfrm>
            <a:off x="777240" y="4892040"/>
            <a:ext cx="10634472" cy="749808"/>
          </a:xfrm>
          <a:prstGeom prst="roundRect">
            <a:avLst>
              <a:gd name="adj" fmla="val 9756"/>
            </a:avLst>
          </a:prstGeom>
          <a:solidFill>
            <a:srgbClr val="1B1F2A"/>
          </a:solidFill>
          <a:ln w="12700">
            <a:solidFill>
              <a:srgbClr val="1B1F2A"/>
            </a:solidFill>
            <a:prstDash val="solid"/>
          </a:ln>
        </p:spPr>
      </p:sp>
      <p:sp>
        <p:nvSpPr>
          <p:cNvPr id="10" name="Text 8"/>
          <p:cNvSpPr/>
          <p:nvPr/>
        </p:nvSpPr>
        <p:spPr>
          <a:xfrm>
            <a:off x="1097280" y="512064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pip install "fastapi[standard]" uvicorn python-dotenv anthropic</a:t>
            </a:r>
            <a:endParaRPr lang="en-US" sz="1600" dirty="0"/>
          </a:p>
        </p:txBody>
      </p:sp>
      <p:sp>
        <p:nvSpPr>
          <p:cNvPr id="11" name="Text 9"/>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Your prompt now starts with (.venv). You must activate it again in every new terminal.</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A server that answers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main.py</a:t>
            </a:r>
            <a:endParaRPr lang="en-US" sz="1450" dirty="0"/>
          </a:p>
          <a:p>
            <a:pPr indent="0" marL="0">
              <a:buNone/>
            </a:pP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Six lines: import FastAPI, create the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app, and one function that returns</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 status.</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{"status":"ok"} in your browser,</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and an interactive test page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you did not have to build.</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main.py</a:t>
            </a:r>
            <a:endParaRPr lang="en-US" sz="3100" dirty="0"/>
          </a:p>
        </p:txBody>
      </p:sp>
      <p:sp>
        <p:nvSpPr>
          <p:cNvPr id="4" name="Shape 2"/>
          <p:cNvSpPr/>
          <p:nvPr/>
        </p:nvSpPr>
        <p:spPr>
          <a:xfrm>
            <a:off x="777240" y="1737360"/>
            <a:ext cx="10634472" cy="2382520"/>
          </a:xfrm>
          <a:prstGeom prst="roundRect">
            <a:avLst>
              <a:gd name="adj" fmla="val 3070"/>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18338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from fastapi import FastAPI</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 = FastAPI()</a:t>
            </a:r>
            <a:endParaRPr lang="en-US" sz="1500" dirty="0"/>
          </a:p>
          <a:p>
            <a:pPr indent="0" marL="0">
              <a:lnSpc>
                <a:spcPts val="1850"/>
              </a:lnSpc>
              <a:buNone/>
            </a:pP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@app.get("/health")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def health():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{"status": "ok"}</a:t>
            </a:r>
            <a:endParaRPr lang="en-US" sz="1500" dirty="0"/>
          </a:p>
        </p:txBody>
      </p:sp>
      <p:sp>
        <p:nvSpPr>
          <p:cNvPr id="7" name="Shape 5"/>
          <p:cNvSpPr/>
          <p:nvPr/>
        </p:nvSpPr>
        <p:spPr>
          <a:xfrm>
            <a:off x="777240" y="4617720"/>
            <a:ext cx="10634472" cy="749808"/>
          </a:xfrm>
          <a:prstGeom prst="roundRect">
            <a:avLst>
              <a:gd name="adj" fmla="val 9756"/>
            </a:avLst>
          </a:prstGeom>
          <a:solidFill>
            <a:srgbClr val="1B1F2A"/>
          </a:solidFill>
          <a:ln w="12700">
            <a:solidFill>
              <a:srgbClr val="1B1F2A"/>
            </a:solidFill>
            <a:prstDash val="solid"/>
          </a:ln>
        </p:spPr>
      </p:sp>
      <p:sp>
        <p:nvSpPr>
          <p:cNvPr id="8" name="Text 6"/>
          <p:cNvSpPr/>
          <p:nvPr/>
        </p:nvSpPr>
        <p:spPr>
          <a:xfrm>
            <a:off x="1097280" y="484632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uvicorn main:app --reload</a:t>
            </a:r>
            <a:endParaRPr lang="en-US" sz="1600" dirty="0"/>
          </a:p>
        </p:txBody>
      </p:sp>
      <p:sp>
        <p:nvSpPr>
          <p:cNvPr id="9" name="Text 7"/>
          <p:cNvSpPr/>
          <p:nvPr/>
        </p:nvSpPr>
        <p:spPr>
          <a:xfrm>
            <a:off x="777240" y="5669280"/>
            <a:ext cx="10634472" cy="82296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That is a web server. Six lines.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Two addresses to open</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sp>
      <p:sp>
        <p:nvSpPr>
          <p:cNvPr id="5" name="Text 3"/>
          <p:cNvSpPr/>
          <p:nvPr/>
        </p:nvSpPr>
        <p:spPr>
          <a:xfrm>
            <a:off x="1097280" y="196596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http://127.0.0.1:8000/health</a:t>
            </a:r>
            <a:endParaRPr lang="en-US" sz="1600" dirty="0"/>
          </a:p>
        </p:txBody>
      </p:sp>
      <p:sp>
        <p:nvSpPr>
          <p:cNvPr id="6" name="Shape 4"/>
          <p:cNvSpPr/>
          <p:nvPr/>
        </p:nvSpPr>
        <p:spPr>
          <a:xfrm>
            <a:off x="777240" y="2743200"/>
            <a:ext cx="10634472" cy="731520"/>
          </a:xfrm>
          <a:prstGeom prst="roundRect">
            <a:avLst>
              <a:gd name="adj" fmla="val 10000"/>
            </a:avLst>
          </a:prstGeom>
          <a:solidFill>
            <a:srgbClr val="1B1F2A"/>
          </a:solidFill>
          <a:ln w="12700">
            <a:solidFill>
              <a:srgbClr val="1B1F2A"/>
            </a:solidFill>
            <a:prstDash val="solid"/>
          </a:ln>
        </p:spPr>
      </p:sp>
      <p:sp>
        <p:nvSpPr>
          <p:cNvPr id="7" name="Text 5"/>
          <p:cNvSpPr/>
          <p:nvPr/>
        </p:nvSpPr>
        <p:spPr>
          <a:xfrm>
            <a:off x="1069848" y="2971800"/>
            <a:ext cx="10085832" cy="3657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{"status":"ok"}</a:t>
            </a:r>
            <a:endParaRPr lang="en-US" sz="1500" dirty="0"/>
          </a:p>
        </p:txBody>
      </p:sp>
      <p:sp>
        <p:nvSpPr>
          <p:cNvPr id="8" name="Shape 6"/>
          <p:cNvSpPr/>
          <p:nvPr/>
        </p:nvSpPr>
        <p:spPr>
          <a:xfrm>
            <a:off x="777240" y="3794760"/>
            <a:ext cx="10634472" cy="749808"/>
          </a:xfrm>
          <a:prstGeom prst="roundRect">
            <a:avLst>
              <a:gd name="adj" fmla="val 9756"/>
            </a:avLst>
          </a:prstGeom>
          <a:solidFill>
            <a:srgbClr val="1B1F2A"/>
          </a:solidFill>
          <a:ln w="12700">
            <a:solidFill>
              <a:srgbClr val="1B1F2A"/>
            </a:solidFill>
            <a:prstDash val="solid"/>
          </a:ln>
        </p:spPr>
      </p:sp>
      <p:sp>
        <p:nvSpPr>
          <p:cNvPr id="9" name="Text 7"/>
          <p:cNvSpPr/>
          <p:nvPr/>
        </p:nvSpPr>
        <p:spPr>
          <a:xfrm>
            <a:off x="1097280" y="402336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http://127.0.0.1:8000/docs</a:t>
            </a:r>
            <a:endParaRPr lang="en-US" sz="1600" dirty="0"/>
          </a:p>
        </p:txBody>
      </p:sp>
      <p:sp>
        <p:nvSpPr>
          <p:cNvPr id="10" name="Shape 8"/>
          <p:cNvSpPr/>
          <p:nvPr/>
        </p:nvSpPr>
        <p:spPr>
          <a:xfrm>
            <a:off x="777240" y="4800600"/>
            <a:ext cx="10634472" cy="1280160"/>
          </a:xfrm>
          <a:prstGeom prst="roundRect">
            <a:avLst>
              <a:gd name="adj" fmla="val 6429"/>
            </a:avLst>
          </a:prstGeom>
          <a:solidFill>
            <a:srgbClr val="EAF6F3"/>
          </a:solidFill>
          <a:ln w="12700">
            <a:solidFill>
              <a:srgbClr val="9CCFC6"/>
            </a:solidFill>
            <a:prstDash val="solid"/>
          </a:ln>
        </p:spPr>
      </p:sp>
      <p:sp>
        <p:nvSpPr>
          <p:cNvPr id="11" name="Text 9"/>
          <p:cNvSpPr/>
          <p:nvPr/>
        </p:nvSpPr>
        <p:spPr>
          <a:xfrm>
            <a:off x="1143000" y="4937760"/>
            <a:ext cx="10241280" cy="411480"/>
          </a:xfrm>
          <a:prstGeom prst="rect">
            <a:avLst/>
          </a:prstGeom>
          <a:noFill/>
          <a:ln/>
        </p:spPr>
        <p:txBody>
          <a:bodyPr wrap="square" lIns="0" tIns="0" rIns="0" bIns="0" rtlCol="0" anchor="ctr"/>
          <a:lstStyle/>
          <a:p>
            <a:pPr indent="0" marL="0">
              <a:buNone/>
            </a:pPr>
            <a:r>
              <a:rPr lang="en-US" sz="1600" b="1" dirty="0">
                <a:solidFill>
                  <a:srgbClr val="00776A"/>
                </a:solidFill>
                <a:latin typeface="Calibri" pitchFamily="34" charset="0"/>
                <a:ea typeface="Calibri" pitchFamily="34" charset="-122"/>
                <a:cs typeface="Calibri" pitchFamily="34" charset="-120"/>
              </a:rPr>
              <a:t>FastAPI generated an interactive test page for your API, automatically, from your code.</a:t>
            </a:r>
            <a:endParaRPr lang="en-US" sz="1600" dirty="0"/>
          </a:p>
        </p:txBody>
      </p:sp>
      <p:sp>
        <p:nvSpPr>
          <p:cNvPr id="12" name="Text 10"/>
          <p:cNvSpPr/>
          <p:nvPr/>
        </p:nvSpPr>
        <p:spPr>
          <a:xfrm>
            <a:off x="1143000" y="5349240"/>
            <a:ext cx="10241280" cy="548640"/>
          </a:xfrm>
          <a:prstGeom prst="rect">
            <a:avLst/>
          </a:prstGeom>
          <a:noFill/>
          <a:ln/>
        </p:spPr>
        <p:txBody>
          <a:bodyPr wrap="square" lIns="0" tIns="0" rIns="0" bIns="0" rtlCol="0" anchor="ctr"/>
          <a:lstStyle/>
          <a:p>
            <a:pPr indent="0" marL="0">
              <a:buNone/>
            </a:pPr>
            <a:r>
              <a:rPr lang="en-US" sz="1400" dirty="0">
                <a:solidFill>
                  <a:srgbClr val="00776A"/>
                </a:solidFill>
                <a:latin typeface="Calibri" pitchFamily="34" charset="0"/>
                <a:ea typeface="Calibri" pitchFamily="34" charset="-122"/>
                <a:cs typeface="Calibri" pitchFamily="34" charset="-120"/>
              </a:rPr>
              <a:t>You will use it for the next two stages, which means you can test the backend before writing any frontend at all.</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page appears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static folder with index.html</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(copy it), and one line in main.py</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to serve it.</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real web page that says</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"Connected to your server."</a:t>
            </a:r>
            <a:endParaRPr lang="en-US" sz="1450" dirty="0"/>
          </a:p>
          <a:p>
            <a:pPr indent="0" marL="0">
              <a:buNone/>
            </a:pP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Your first visible result.</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page calls your server</a:t>
            </a:r>
            <a:endParaRPr lang="en-US" sz="3100" dirty="0"/>
          </a:p>
        </p:txBody>
      </p:sp>
      <p:sp>
        <p:nvSpPr>
          <p:cNvPr id="4" name="Shape 2"/>
          <p:cNvSpPr/>
          <p:nvPr/>
        </p:nvSpPr>
        <p:spPr>
          <a:xfrm>
            <a:off x="777240" y="1691640"/>
            <a:ext cx="10634472" cy="1783080"/>
          </a:xfrm>
          <a:prstGeom prst="roundRect">
            <a:avLst>
              <a:gd name="adj" fmla="val 4103"/>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static/index.html</a:t>
            </a:r>
            <a:endParaRPr lang="en-US" sz="1050" dirty="0"/>
          </a:p>
        </p:txBody>
      </p:sp>
      <p:sp>
        <p:nvSpPr>
          <p:cNvPr id="6" name="Text 4"/>
          <p:cNvSpPr/>
          <p:nvPr/>
        </p:nvSpPr>
        <p:spPr>
          <a:xfrm>
            <a:off x="1069848" y="2103120"/>
            <a:ext cx="10085832" cy="12344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async function checkServer()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const res  = await fetch("/health");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const data = await res.json();</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box.textContent = "Connected to your server. It replied: " + data.status;</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checkServer();</a:t>
            </a:r>
            <a:endParaRPr lang="en-US" sz="1500" dirty="0"/>
          </a:p>
        </p:txBody>
      </p:sp>
      <p:sp>
        <p:nvSpPr>
          <p:cNvPr id="7" name="Text 5"/>
          <p:cNvSpPr/>
          <p:nvPr/>
        </p:nvSpPr>
        <p:spPr>
          <a:xfrm>
            <a:off x="777240" y="3703320"/>
            <a:ext cx="10634472" cy="36576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Then serve it. Add the import, and this at the very bottom of main.py:</a:t>
            </a:r>
            <a:endParaRPr lang="en-US" sz="1450" dirty="0"/>
          </a:p>
        </p:txBody>
      </p:sp>
      <p:sp>
        <p:nvSpPr>
          <p:cNvPr id="8" name="Shape 6"/>
          <p:cNvSpPr/>
          <p:nvPr/>
        </p:nvSpPr>
        <p:spPr>
          <a:xfrm>
            <a:off x="777240" y="4160520"/>
            <a:ext cx="10634472" cy="1280160"/>
          </a:xfrm>
          <a:prstGeom prst="roundRect">
            <a:avLst>
              <a:gd name="adj" fmla="val 5714"/>
            </a:avLst>
          </a:prstGeom>
          <a:solidFill>
            <a:srgbClr val="1B1F2A"/>
          </a:solidFill>
          <a:ln w="12700">
            <a:solidFill>
              <a:srgbClr val="1B1F2A"/>
            </a:solidFill>
            <a:prstDash val="solid"/>
          </a:ln>
        </p:spPr>
      </p:sp>
      <p:sp>
        <p:nvSpPr>
          <p:cNvPr id="9" name="Text 7"/>
          <p:cNvSpPr/>
          <p:nvPr/>
        </p:nvSpPr>
        <p:spPr>
          <a:xfrm>
            <a:off x="1069848" y="425196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10" name="Text 8"/>
          <p:cNvSpPr/>
          <p:nvPr/>
        </p:nvSpPr>
        <p:spPr>
          <a:xfrm>
            <a:off x="1069848" y="4572000"/>
            <a:ext cx="10085832" cy="73152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This line must always be LAST, after every endpoint above it.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app.mount("/", StaticFiles(directory="static", html=True), name="static")</a:t>
            </a:r>
            <a:endParaRPr lang="en-US" sz="1500" dirty="0"/>
          </a:p>
        </p:txBody>
      </p:sp>
      <p:sp>
        <p:nvSpPr>
          <p:cNvPr id="11" name="Shape 9"/>
          <p:cNvSpPr/>
          <p:nvPr/>
        </p:nvSpPr>
        <p:spPr>
          <a:xfrm>
            <a:off x="777240" y="5623560"/>
            <a:ext cx="10634472" cy="777240"/>
          </a:xfrm>
          <a:prstGeom prst="roundRect">
            <a:avLst>
              <a:gd name="adj" fmla="val 10588"/>
            </a:avLst>
          </a:prstGeom>
          <a:solidFill>
            <a:srgbClr val="FBF0EE"/>
          </a:solidFill>
          <a:ln w="12700">
            <a:solidFill>
              <a:srgbClr val="BE3A2B"/>
            </a:solidFill>
            <a:prstDash val="solid"/>
          </a:ln>
        </p:spPr>
      </p:sp>
      <p:sp>
        <p:nvSpPr>
          <p:cNvPr id="12" name="Text 10"/>
          <p:cNvSpPr/>
          <p:nvPr/>
        </p:nvSpPr>
        <p:spPr>
          <a:xfrm>
            <a:off x="1143000" y="5715000"/>
            <a:ext cx="10241280" cy="594360"/>
          </a:xfrm>
          <a:prstGeom prst="rect">
            <a:avLst/>
          </a:prstGeom>
          <a:noFill/>
          <a:ln/>
        </p:spPr>
        <p:txBody>
          <a:bodyPr wrap="square" lIns="0" tIns="0" rIns="0" bIns="0" rtlCol="0" anchor="ctr"/>
          <a:lstStyle/>
          <a:p>
            <a:pPr indent="0" marL="0">
              <a:buNone/>
            </a:pPr>
            <a:r>
              <a:rPr lang="en-US" sz="1450" b="1" dirty="0">
                <a:solidFill>
                  <a:srgbClr val="BE3A2B"/>
                </a:solidFill>
                <a:latin typeface="Calibri" pitchFamily="34" charset="0"/>
                <a:ea typeface="Calibri" pitchFamily="34" charset="-122"/>
                <a:cs typeface="Calibri" pitchFamily="34" charset="-120"/>
              </a:rPr>
              <a:t>app.mount("/") claims every address not already claimed. Above your endpoints, it swallows them.</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Your first page</a:t>
            </a:r>
            <a:endParaRPr lang="en-US" sz="3100" dirty="0"/>
          </a:p>
        </p:txBody>
      </p:sp>
      <p:sp>
        <p:nvSpPr>
          <p:cNvPr id="4" name="Shape 2"/>
          <p:cNvSpPr/>
          <p:nvPr/>
        </p:nvSpPr>
        <p:spPr>
          <a:xfrm>
            <a:off x="777240" y="1737360"/>
            <a:ext cx="10634472" cy="2011680"/>
          </a:xfrm>
          <a:prstGeom prst="roundRect">
            <a:avLst>
              <a:gd name="adj" fmla="val 4091"/>
            </a:avLst>
          </a:prstGeom>
          <a:solidFill>
            <a:srgbClr val="F5F6F8"/>
          </a:solidFill>
          <a:ln w="12700">
            <a:solidFill>
              <a:srgbClr val="E1E4E9"/>
            </a:solidFill>
            <a:prstDash val="solid"/>
          </a:ln>
        </p:spPr>
      </p:sp>
      <p:sp>
        <p:nvSpPr>
          <p:cNvPr id="5" name="Text 3"/>
          <p:cNvSpPr/>
          <p:nvPr/>
        </p:nvSpPr>
        <p:spPr>
          <a:xfrm>
            <a:off x="1234440" y="1965960"/>
            <a:ext cx="9144000" cy="457200"/>
          </a:xfrm>
          <a:prstGeom prst="rect">
            <a:avLst/>
          </a:prstGeom>
          <a:noFill/>
          <a:ln/>
        </p:spPr>
        <p:txBody>
          <a:bodyPr wrap="square" lIns="0" tIns="0" rIns="0" bIns="0" rtlCol="0" anchor="ctr"/>
          <a:lstStyle/>
          <a:p>
            <a:pPr indent="0" marL="0">
              <a:buNone/>
            </a:pPr>
            <a:r>
              <a:rPr lang="en-US" sz="2400" b="1" dirty="0">
                <a:solidFill>
                  <a:srgbClr val="15181F"/>
                </a:solidFill>
                <a:latin typeface="Cambria" pitchFamily="34" charset="0"/>
                <a:ea typeface="Cambria" pitchFamily="34" charset="-122"/>
                <a:cs typeface="Cambria" pitchFamily="34" charset="-120"/>
              </a:rPr>
              <a:t>Sensor Triage</a:t>
            </a:r>
            <a:endParaRPr lang="en-US" sz="2400" dirty="0"/>
          </a:p>
        </p:txBody>
      </p:sp>
      <p:sp>
        <p:nvSpPr>
          <p:cNvPr id="6" name="Text 4"/>
          <p:cNvSpPr/>
          <p:nvPr/>
        </p:nvSpPr>
        <p:spPr>
          <a:xfrm>
            <a:off x="1234440" y="2450592"/>
            <a:ext cx="9144000" cy="365760"/>
          </a:xfrm>
          <a:prstGeom prst="rect">
            <a:avLst/>
          </a:prstGeom>
          <a:noFill/>
          <a:ln/>
        </p:spPr>
        <p:txBody>
          <a:bodyPr wrap="square" lIns="0" tIns="0" rIns="0" bIns="0" rtlCol="0" anchor="ctr"/>
          <a:lstStyle/>
          <a:p>
            <a:pPr indent="0" marL="0">
              <a:buNone/>
            </a:pPr>
            <a:r>
              <a:rPr lang="en-US" sz="1400" dirty="0">
                <a:solidFill>
                  <a:srgbClr val="5C6470"/>
                </a:solidFill>
                <a:latin typeface="Calibri" pitchFamily="34" charset="0"/>
                <a:ea typeface="Calibri" pitchFamily="34" charset="-122"/>
                <a:cs typeface="Calibri" pitchFamily="34" charset="-120"/>
              </a:rPr>
              <a:t>Stage 2 - the page can now talk to your server.</a:t>
            </a:r>
            <a:endParaRPr lang="en-US" sz="1400" dirty="0"/>
          </a:p>
        </p:txBody>
      </p:sp>
      <p:sp>
        <p:nvSpPr>
          <p:cNvPr id="7" name="Shape 5"/>
          <p:cNvSpPr/>
          <p:nvPr/>
        </p:nvSpPr>
        <p:spPr>
          <a:xfrm>
            <a:off x="1234440" y="2926080"/>
            <a:ext cx="9601200" cy="594360"/>
          </a:xfrm>
          <a:prstGeom prst="roundRect">
            <a:avLst>
              <a:gd name="adj" fmla="val 9231"/>
            </a:avLst>
          </a:prstGeom>
          <a:solidFill>
            <a:srgbClr val="EAF6F3"/>
          </a:solidFill>
          <a:ln w="12700">
            <a:solidFill>
              <a:srgbClr val="9CCFC6"/>
            </a:solidFill>
            <a:prstDash val="solid"/>
          </a:ln>
        </p:spPr>
      </p:sp>
      <p:sp>
        <p:nvSpPr>
          <p:cNvPr id="8" name="Text 6"/>
          <p:cNvSpPr/>
          <p:nvPr/>
        </p:nvSpPr>
        <p:spPr>
          <a:xfrm>
            <a:off x="1508760" y="2926080"/>
            <a:ext cx="9144000" cy="594360"/>
          </a:xfrm>
          <a:prstGeom prst="rect">
            <a:avLst/>
          </a:prstGeom>
          <a:noFill/>
          <a:ln/>
        </p:spPr>
        <p:txBody>
          <a:bodyPr wrap="square" lIns="0" tIns="0" rIns="0" bIns="0" rtlCol="0" anchor="ctr"/>
          <a:lstStyle/>
          <a:p>
            <a:pPr indent="0" marL="0">
              <a:buNone/>
            </a:pPr>
            <a:r>
              <a:rPr lang="en-US" sz="1600" b="1" dirty="0">
                <a:solidFill>
                  <a:srgbClr val="0A7D28"/>
                </a:solidFill>
                <a:latin typeface="Calibri" pitchFamily="34" charset="0"/>
                <a:ea typeface="Calibri" pitchFamily="34" charset="-122"/>
                <a:cs typeface="Calibri" pitchFamily="34" charset="-120"/>
              </a:rPr>
              <a:t>Connected to your server. It replied: ok</a:t>
            </a:r>
            <a:endParaRPr lang="en-US" sz="1600" dirty="0"/>
          </a:p>
        </p:txBody>
      </p:sp>
      <p:sp>
        <p:nvSpPr>
          <p:cNvPr id="9" name="Text 7"/>
          <p:cNvSpPr/>
          <p:nvPr/>
        </p:nvSpPr>
        <p:spPr>
          <a:xfrm>
            <a:off x="777240" y="4114800"/>
            <a:ext cx="10634472" cy="82296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That sentence is the whole model, proven on their own screen.</a:t>
            </a:r>
            <a:endParaRPr lang="en-US" sz="2000" dirty="0"/>
          </a:p>
        </p:txBody>
      </p:sp>
      <p:sp>
        <p:nvSpPr>
          <p:cNvPr id="10" name="Text 8"/>
          <p:cNvSpPr/>
          <p:nvPr/>
        </p:nvSpPr>
        <p:spPr>
          <a:xfrm>
            <a:off x="777240" y="4709160"/>
            <a:ext cx="10634472" cy="8229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Your browser made a request. Your Python code produced a response. The page displayed it. Three things you wrote, working together.</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Your code decides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Reading class describing valid</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input, a classify() function doing</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the arithmetic, and POST /readings.</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Press Send and get a colour-coded</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verdict, with the rule that</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produced it shown underneath.</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  1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Describe what valid input looks like</a:t>
            </a:r>
            <a:endParaRPr lang="en-US" sz="3100" dirty="0"/>
          </a:p>
        </p:txBody>
      </p:sp>
      <p:sp>
        <p:nvSpPr>
          <p:cNvPr id="4" name="Shape 2"/>
          <p:cNvSpPr/>
          <p:nvPr/>
        </p:nvSpPr>
        <p:spPr>
          <a:xfrm>
            <a:off x="777240" y="1737360"/>
            <a:ext cx="10634472" cy="3322320"/>
          </a:xfrm>
          <a:prstGeom prst="roundRect">
            <a:avLst>
              <a:gd name="adj" fmla="val 2202"/>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7736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from pydantic import BaseModel</a:t>
            </a:r>
            <a:endParaRPr lang="en-US" sz="1500" dirty="0"/>
          </a:p>
          <a:p>
            <a:pPr indent="0" marL="0">
              <a:lnSpc>
                <a:spcPts val="1850"/>
              </a:lnSpc>
              <a:buNone/>
            </a:pP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class Reading(BaseModel):</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"""FastAPI checks every incoming request against this.</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If a field is missing or the wrong type, the request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is rejected before your code runs."""</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str</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value: float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unit: str</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low: float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high: float</a:t>
            </a:r>
            <a:endParaRPr lang="en-US" sz="1500" dirty="0"/>
          </a:p>
        </p:txBody>
      </p:sp>
      <p:sp>
        <p:nvSpPr>
          <p:cNvPr id="7" name="Text 5"/>
          <p:cNvSpPr/>
          <p:nvPr/>
        </p:nvSpPr>
        <p:spPr>
          <a:xfrm>
            <a:off x="777240" y="5120640"/>
            <a:ext cx="10634472" cy="45720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This is a description, not code that runs. You are telling FastAPI the shape you expect.</a:t>
            </a:r>
            <a:endParaRPr lang="en-US" sz="1600" dirty="0"/>
          </a:p>
        </p:txBody>
      </p:sp>
      <p:sp>
        <p:nvSpPr>
          <p:cNvPr id="8" name="Text 6"/>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value: float means a number. Send text there and the request never reaches your function.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  2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rule that decides severity</a:t>
            </a:r>
            <a:endParaRPr lang="en-US" sz="3100" dirty="0"/>
          </a:p>
        </p:txBody>
      </p:sp>
      <p:sp>
        <p:nvSpPr>
          <p:cNvPr id="4" name="Shape 2"/>
          <p:cNvSpPr/>
          <p:nvPr/>
        </p:nvSpPr>
        <p:spPr>
          <a:xfrm>
            <a:off x="777240" y="1737360"/>
            <a:ext cx="10634472" cy="2852420"/>
          </a:xfrm>
          <a:prstGeom prst="roundRect">
            <a:avLst>
              <a:gd name="adj" fmla="val 2565"/>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3037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def classify(value: float, low: float, high: float) -&gt; str:</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"""Decide how serious a reading is. Plain arithmetic, no AI."""</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if low &lt;= value &lt;= high: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"normal"</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margin = (high - low) / 2 or 1      # how far outside counts as "a lot"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if value &lt; low - margin or value &gt; high + margin:</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"critical"</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"warning"</a:t>
            </a:r>
            <a:endParaRPr lang="en-US" sz="1500" dirty="0"/>
          </a:p>
        </p:txBody>
      </p:sp>
      <p:sp>
        <p:nvSpPr>
          <p:cNvPr id="7" name="Shape 5"/>
          <p:cNvSpPr/>
          <p:nvPr/>
        </p:nvSpPr>
        <p:spPr>
          <a:xfrm>
            <a:off x="777240" y="4206240"/>
            <a:ext cx="10634472" cy="1051560"/>
          </a:xfrm>
          <a:prstGeom prst="roundRect">
            <a:avLst>
              <a:gd name="adj" fmla="val 7826"/>
            </a:avLst>
          </a:prstGeom>
          <a:solidFill>
            <a:srgbClr val="EAF6F3"/>
          </a:solidFill>
          <a:ln w="12700">
            <a:solidFill>
              <a:srgbClr val="9CCFC6"/>
            </a:solidFill>
            <a:prstDash val="solid"/>
          </a:ln>
        </p:spPr>
      </p:sp>
      <p:sp>
        <p:nvSpPr>
          <p:cNvPr id="8" name="Text 6"/>
          <p:cNvSpPr/>
          <p:nvPr/>
        </p:nvSpPr>
        <p:spPr>
          <a:xfrm>
            <a:off x="1143000" y="4343400"/>
            <a:ext cx="10241280" cy="777240"/>
          </a:xfrm>
          <a:prstGeom prst="rect">
            <a:avLst/>
          </a:prstGeom>
          <a:noFill/>
          <a:ln/>
        </p:spPr>
        <p:txBody>
          <a:bodyPr wrap="square" lIns="0" tIns="0" rIns="0" bIns="0" rtlCol="0" anchor="ctr"/>
          <a:lstStyle/>
          <a:p>
            <a:pPr indent="0" marL="0">
              <a:buNone/>
            </a:pPr>
            <a:r>
              <a:rPr lang="en-US" sz="1550" dirty="0">
                <a:solidFill>
                  <a:srgbClr val="00776A"/>
                </a:solidFill>
                <a:latin typeface="Calibri" pitchFamily="34" charset="0"/>
                <a:ea typeface="Calibri" pitchFamily="34" charset="-122"/>
                <a:cs typeface="Calibri" pitchFamily="34" charset="-120"/>
              </a:rPr>
              <a:t>Ordinary arithmetic. No AI. Remember this function - in Stage 5 we explain why it stays that way.</a:t>
            </a:r>
            <a:endParaRPr lang="en-US" sz="1550" dirty="0"/>
          </a:p>
        </p:txBody>
      </p:sp>
      <p:sp>
        <p:nvSpPr>
          <p:cNvPr id="9" name="Text 7"/>
          <p:cNvSpPr/>
          <p:nvPr/>
        </p:nvSpPr>
        <p:spPr>
          <a:xfrm>
            <a:off x="777240" y="5486400"/>
            <a:ext cx="10634472" cy="73152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The margin line scales the rule to whatever is being measured: half a degree for a body temperature range, twenty degrees for a motor.</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  3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endpoint that receives it</a:t>
            </a:r>
            <a:endParaRPr lang="en-US" sz="3100" dirty="0"/>
          </a:p>
        </p:txBody>
      </p:sp>
      <p:sp>
        <p:nvSpPr>
          <p:cNvPr id="4" name="Shape 2"/>
          <p:cNvSpPr/>
          <p:nvPr/>
        </p:nvSpPr>
        <p:spPr>
          <a:xfrm>
            <a:off x="777240" y="1737360"/>
            <a:ext cx="10634472" cy="2617470"/>
          </a:xfrm>
          <a:prstGeom prst="roundRect">
            <a:avLst>
              <a:gd name="adj" fmla="val 2795"/>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06883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@app.post("/readings")</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def create_reading(reading: Reading):</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 classify(reading.value, reading.low, reading.high)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reading.sensor,</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"value": reading.value,</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"unit": reading.unit,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severity,</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a:t>
            </a:r>
            <a:endParaRPr lang="en-US" sz="1500" dirty="0"/>
          </a:p>
        </p:txBody>
      </p:sp>
      <p:sp>
        <p:nvSpPr>
          <p:cNvPr id="7" name="Text 5"/>
          <p:cNvSpPr/>
          <p:nvPr/>
        </p:nvSpPr>
        <p:spPr>
          <a:xfrm>
            <a:off x="777240" y="4206240"/>
            <a:ext cx="10634472" cy="3200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Two things are new:</a:t>
            </a:r>
            <a:endParaRPr lang="en-US" sz="1500" dirty="0"/>
          </a:p>
        </p:txBody>
      </p:sp>
      <p:sp>
        <p:nvSpPr>
          <p:cNvPr id="8" name="Shape 6"/>
          <p:cNvSpPr/>
          <p:nvPr/>
        </p:nvSpPr>
        <p:spPr>
          <a:xfrm>
            <a:off x="777240" y="4617720"/>
            <a:ext cx="10634472" cy="658368"/>
          </a:xfrm>
          <a:prstGeom prst="roundRect">
            <a:avLst>
              <a:gd name="adj" fmla="val 12500"/>
            </a:avLst>
          </a:prstGeom>
          <a:solidFill>
            <a:srgbClr val="F5F6F8"/>
          </a:solidFill>
          <a:ln w="12700">
            <a:solidFill>
              <a:srgbClr val="E1E4E9"/>
            </a:solidFill>
            <a:prstDash val="solid"/>
          </a:ln>
        </p:spPr>
      </p:sp>
      <p:sp>
        <p:nvSpPr>
          <p:cNvPr id="9" name="Text 7"/>
          <p:cNvSpPr/>
          <p:nvPr/>
        </p:nvSpPr>
        <p:spPr>
          <a:xfrm>
            <a:off x="1097280" y="4636008"/>
            <a:ext cx="4023360" cy="62179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@app.post, not @app.get</a:t>
            </a:r>
            <a:endParaRPr lang="en-US" sz="1400" dirty="0"/>
          </a:p>
        </p:txBody>
      </p:sp>
      <p:sp>
        <p:nvSpPr>
          <p:cNvPr id="10" name="Text 8"/>
          <p:cNvSpPr/>
          <p:nvPr/>
        </p:nvSpPr>
        <p:spPr>
          <a:xfrm>
            <a:off x="5349240" y="4636008"/>
            <a:ext cx="5943600" cy="621792"/>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because this request carries data</a:t>
            </a:r>
            <a:endParaRPr lang="en-US" sz="1300" dirty="0"/>
          </a:p>
        </p:txBody>
      </p:sp>
      <p:sp>
        <p:nvSpPr>
          <p:cNvPr id="11" name="Shape 9"/>
          <p:cNvSpPr/>
          <p:nvPr/>
        </p:nvSpPr>
        <p:spPr>
          <a:xfrm>
            <a:off x="777240" y="5394960"/>
            <a:ext cx="10634472" cy="658368"/>
          </a:xfrm>
          <a:prstGeom prst="roundRect">
            <a:avLst>
              <a:gd name="adj" fmla="val 12500"/>
            </a:avLst>
          </a:prstGeom>
          <a:solidFill>
            <a:srgbClr val="F5F6F8"/>
          </a:solidFill>
          <a:ln w="12700">
            <a:solidFill>
              <a:srgbClr val="E1E4E9"/>
            </a:solidFill>
            <a:prstDash val="solid"/>
          </a:ln>
        </p:spPr>
      </p:sp>
      <p:sp>
        <p:nvSpPr>
          <p:cNvPr id="12" name="Text 10"/>
          <p:cNvSpPr/>
          <p:nvPr/>
        </p:nvSpPr>
        <p:spPr>
          <a:xfrm>
            <a:off x="1097280" y="5413248"/>
            <a:ext cx="4023360" cy="62179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reading: Reading in the signature</a:t>
            </a:r>
            <a:endParaRPr lang="en-US" sz="1400" dirty="0"/>
          </a:p>
        </p:txBody>
      </p:sp>
      <p:sp>
        <p:nvSpPr>
          <p:cNvPr id="13" name="Text 11"/>
          <p:cNvSpPr/>
          <p:nvPr/>
        </p:nvSpPr>
        <p:spPr>
          <a:xfrm>
            <a:off x="5349240" y="5413248"/>
            <a:ext cx="5943600" cy="621792"/>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that annotation is what tells FastAPI to read the body, check it, and hand you a finished object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Press Send</a:t>
            </a:r>
            <a:endParaRPr lang="en-US" sz="3100" dirty="0"/>
          </a:p>
        </p:txBody>
      </p:sp>
      <p:sp>
        <p:nvSpPr>
          <p:cNvPr id="4" name="Shape 2"/>
          <p:cNvSpPr/>
          <p:nvPr/>
        </p:nvSpPr>
        <p:spPr>
          <a:xfrm>
            <a:off x="777240" y="1691640"/>
            <a:ext cx="10634472" cy="1371600"/>
          </a:xfrm>
          <a:prstGeom prst="roundRect">
            <a:avLst>
              <a:gd name="adj" fmla="val 6000"/>
            </a:avLst>
          </a:prstGeom>
          <a:solidFill>
            <a:srgbClr val="F5F6F8"/>
          </a:solidFill>
          <a:ln w="12700">
            <a:solidFill>
              <a:srgbClr val="E1E4E9"/>
            </a:solidFill>
            <a:prstDash val="solid"/>
          </a:ln>
        </p:spPr>
      </p:sp>
      <p:sp>
        <p:nvSpPr>
          <p:cNvPr id="5" name="Text 3"/>
          <p:cNvSpPr/>
          <p:nvPr/>
        </p:nvSpPr>
        <p:spPr>
          <a:xfrm>
            <a:off x="1234440" y="1828800"/>
            <a:ext cx="5486400" cy="594360"/>
          </a:xfrm>
          <a:prstGeom prst="rect">
            <a:avLst/>
          </a:prstGeom>
          <a:noFill/>
          <a:ln/>
        </p:spPr>
        <p:txBody>
          <a:bodyPr wrap="square" lIns="0" tIns="0" rIns="0" bIns="0" rtlCol="0" anchor="ctr"/>
          <a:lstStyle/>
          <a:p>
            <a:pPr indent="0" marL="0">
              <a:buNone/>
            </a:pPr>
            <a:r>
              <a:rPr lang="en-US" sz="3000" b="1" dirty="0">
                <a:solidFill>
                  <a:srgbClr val="BE3A2B"/>
                </a:solidFill>
                <a:latin typeface="Cambria" pitchFamily="34" charset="0"/>
                <a:ea typeface="Cambria" pitchFamily="34" charset="-122"/>
                <a:cs typeface="Cambria" pitchFamily="34" charset="-120"/>
              </a:rPr>
              <a:t>CRITICAL</a:t>
            </a:r>
            <a:endParaRPr lang="en-US" sz="3000" dirty="0"/>
          </a:p>
        </p:txBody>
      </p:sp>
      <p:sp>
        <p:nvSpPr>
          <p:cNvPr id="6" name="Text 4"/>
          <p:cNvSpPr/>
          <p:nvPr/>
        </p:nvSpPr>
        <p:spPr>
          <a:xfrm>
            <a:off x="1234440" y="2450592"/>
            <a:ext cx="7315200" cy="365760"/>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your code checked:  36.1 &lt;= 39.4 &lt;= 37.2</a:t>
            </a:r>
            <a:endParaRPr lang="en-US" sz="1400" dirty="0"/>
          </a:p>
        </p:txBody>
      </p:sp>
      <p:sp>
        <p:nvSpPr>
          <p:cNvPr id="7" name="Shape 5"/>
          <p:cNvSpPr/>
          <p:nvPr/>
        </p:nvSpPr>
        <p:spPr>
          <a:xfrm>
            <a:off x="777240" y="3291840"/>
            <a:ext cx="10634472" cy="548640"/>
          </a:xfrm>
          <a:prstGeom prst="roundRect">
            <a:avLst>
              <a:gd name="adj" fmla="val 15000"/>
            </a:avLst>
          </a:prstGeom>
          <a:solidFill>
            <a:srgbClr val="F5F6F8"/>
          </a:solidFill>
          <a:ln w="12700">
            <a:solidFill>
              <a:srgbClr val="E1E4E9"/>
            </a:solidFill>
            <a:prstDash val="solid"/>
          </a:ln>
        </p:spPr>
      </p:sp>
      <p:sp>
        <p:nvSpPr>
          <p:cNvPr id="8" name="Text 6"/>
          <p:cNvSpPr/>
          <p:nvPr/>
        </p:nvSpPr>
        <p:spPr>
          <a:xfrm>
            <a:off x="1143000" y="3300984"/>
            <a:ext cx="292608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36.8 C</a:t>
            </a:r>
            <a:endParaRPr lang="en-US" sz="1400" dirty="0"/>
          </a:p>
        </p:txBody>
      </p:sp>
      <p:sp>
        <p:nvSpPr>
          <p:cNvPr id="9" name="Text 7"/>
          <p:cNvSpPr/>
          <p:nvPr/>
        </p:nvSpPr>
        <p:spPr>
          <a:xfrm>
            <a:off x="4343400" y="3300984"/>
            <a:ext cx="310896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safe 36.1 - 37.2</a:t>
            </a:r>
            <a:endParaRPr lang="en-US" sz="1400" dirty="0"/>
          </a:p>
        </p:txBody>
      </p:sp>
      <p:sp>
        <p:nvSpPr>
          <p:cNvPr id="10" name="Text 8"/>
          <p:cNvSpPr/>
          <p:nvPr/>
        </p:nvSpPr>
        <p:spPr>
          <a:xfrm>
            <a:off x="7818120" y="3300984"/>
            <a:ext cx="3200400" cy="530352"/>
          </a:xfrm>
          <a:prstGeom prst="rect">
            <a:avLst/>
          </a:prstGeom>
          <a:noFill/>
          <a:ln/>
        </p:spPr>
        <p:txBody>
          <a:bodyPr wrap="square" lIns="0" tIns="0" rIns="0" bIns="0" rtlCol="0" anchor="ctr"/>
          <a:lstStyle/>
          <a:p>
            <a:pPr indent="0" marL="0">
              <a:buNone/>
            </a:pPr>
            <a:r>
              <a:rPr lang="en-US" sz="1400" b="1" dirty="0">
                <a:solidFill>
                  <a:srgbClr val="0A7D28"/>
                </a:solidFill>
                <a:latin typeface="Calibri" pitchFamily="34" charset="0"/>
                <a:ea typeface="Calibri" pitchFamily="34" charset="-122"/>
                <a:cs typeface="Calibri" pitchFamily="34" charset="-120"/>
              </a:rPr>
              <a:t>normal</a:t>
            </a:r>
            <a:endParaRPr lang="en-US" sz="1400" dirty="0"/>
          </a:p>
        </p:txBody>
      </p:sp>
      <p:sp>
        <p:nvSpPr>
          <p:cNvPr id="11" name="Text 9"/>
          <p:cNvSpPr/>
          <p:nvPr/>
        </p:nvSpPr>
        <p:spPr>
          <a:xfrm>
            <a:off x="1143000" y="3904488"/>
            <a:ext cx="292608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37.4 C</a:t>
            </a:r>
            <a:endParaRPr lang="en-US" sz="1400" dirty="0"/>
          </a:p>
        </p:txBody>
      </p:sp>
      <p:sp>
        <p:nvSpPr>
          <p:cNvPr id="12" name="Text 10"/>
          <p:cNvSpPr/>
          <p:nvPr/>
        </p:nvSpPr>
        <p:spPr>
          <a:xfrm>
            <a:off x="4343400" y="3904488"/>
            <a:ext cx="310896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safe 36.1 - 37.2</a:t>
            </a:r>
            <a:endParaRPr lang="en-US" sz="1400" dirty="0"/>
          </a:p>
        </p:txBody>
      </p:sp>
      <p:sp>
        <p:nvSpPr>
          <p:cNvPr id="13" name="Text 11"/>
          <p:cNvSpPr/>
          <p:nvPr/>
        </p:nvSpPr>
        <p:spPr>
          <a:xfrm>
            <a:off x="7818120" y="3904488"/>
            <a:ext cx="3200400" cy="530352"/>
          </a:xfrm>
          <a:prstGeom prst="rect">
            <a:avLst/>
          </a:prstGeom>
          <a:noFill/>
          <a:ln/>
        </p:spPr>
        <p:txBody>
          <a:bodyPr wrap="square" lIns="0" tIns="0" rIns="0" bIns="0" rtlCol="0" anchor="ctr"/>
          <a:lstStyle/>
          <a:p>
            <a:pPr indent="0" marL="0">
              <a:buNone/>
            </a:pPr>
            <a:r>
              <a:rPr lang="en-US" sz="1400" b="1" dirty="0">
                <a:solidFill>
                  <a:srgbClr val="A85F00"/>
                </a:solidFill>
                <a:latin typeface="Calibri" pitchFamily="34" charset="0"/>
                <a:ea typeface="Calibri" pitchFamily="34" charset="-122"/>
                <a:cs typeface="Calibri" pitchFamily="34" charset="-120"/>
              </a:rPr>
              <a:t>warning</a:t>
            </a:r>
            <a:endParaRPr lang="en-US" sz="1400" dirty="0"/>
          </a:p>
        </p:txBody>
      </p:sp>
      <p:sp>
        <p:nvSpPr>
          <p:cNvPr id="14" name="Shape 12"/>
          <p:cNvSpPr/>
          <p:nvPr/>
        </p:nvSpPr>
        <p:spPr>
          <a:xfrm>
            <a:off x="777240" y="4498848"/>
            <a:ext cx="10634472" cy="548640"/>
          </a:xfrm>
          <a:prstGeom prst="roundRect">
            <a:avLst>
              <a:gd name="adj" fmla="val 15000"/>
            </a:avLst>
          </a:prstGeom>
          <a:solidFill>
            <a:srgbClr val="F5F6F8"/>
          </a:solidFill>
          <a:ln w="12700">
            <a:solidFill>
              <a:srgbClr val="E1E4E9"/>
            </a:solidFill>
            <a:prstDash val="solid"/>
          </a:ln>
        </p:spPr>
      </p:sp>
      <p:sp>
        <p:nvSpPr>
          <p:cNvPr id="15" name="Text 13"/>
          <p:cNvSpPr/>
          <p:nvPr/>
        </p:nvSpPr>
        <p:spPr>
          <a:xfrm>
            <a:off x="1143000" y="4507992"/>
            <a:ext cx="292608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39.4 C</a:t>
            </a:r>
            <a:endParaRPr lang="en-US" sz="1400" dirty="0"/>
          </a:p>
        </p:txBody>
      </p:sp>
      <p:sp>
        <p:nvSpPr>
          <p:cNvPr id="16" name="Text 14"/>
          <p:cNvSpPr/>
          <p:nvPr/>
        </p:nvSpPr>
        <p:spPr>
          <a:xfrm>
            <a:off x="4343400" y="4507992"/>
            <a:ext cx="310896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safe 36.1 - 37.2</a:t>
            </a:r>
            <a:endParaRPr lang="en-US" sz="1400" dirty="0"/>
          </a:p>
        </p:txBody>
      </p:sp>
      <p:sp>
        <p:nvSpPr>
          <p:cNvPr id="17" name="Text 15"/>
          <p:cNvSpPr/>
          <p:nvPr/>
        </p:nvSpPr>
        <p:spPr>
          <a:xfrm>
            <a:off x="7818120" y="4507992"/>
            <a:ext cx="3200400" cy="530352"/>
          </a:xfrm>
          <a:prstGeom prst="rect">
            <a:avLst/>
          </a:prstGeom>
          <a:noFill/>
          <a:ln/>
        </p:spPr>
        <p:txBody>
          <a:bodyPr wrap="square" lIns="0" tIns="0" rIns="0" bIns="0" rtlCol="0" anchor="ctr"/>
          <a:lstStyle/>
          <a:p>
            <a:pPr indent="0" marL="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
        <p:nvSpPr>
          <p:cNvPr id="18" name="Text 16"/>
          <p:cNvSpPr/>
          <p:nvPr/>
        </p:nvSpPr>
        <p:spPr>
          <a:xfrm>
            <a:off x="1143000" y="5111496"/>
            <a:ext cx="292608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8 %</a:t>
            </a:r>
            <a:endParaRPr lang="en-US" sz="1400" dirty="0"/>
          </a:p>
        </p:txBody>
      </p:sp>
      <p:sp>
        <p:nvSpPr>
          <p:cNvPr id="19" name="Text 17"/>
          <p:cNvSpPr/>
          <p:nvPr/>
        </p:nvSpPr>
        <p:spPr>
          <a:xfrm>
            <a:off x="4343400" y="5111496"/>
            <a:ext cx="310896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safe 30 - 70</a:t>
            </a:r>
            <a:endParaRPr lang="en-US" sz="1400" dirty="0"/>
          </a:p>
        </p:txBody>
      </p:sp>
      <p:sp>
        <p:nvSpPr>
          <p:cNvPr id="20" name="Text 18"/>
          <p:cNvSpPr/>
          <p:nvPr/>
        </p:nvSpPr>
        <p:spPr>
          <a:xfrm>
            <a:off x="7818120" y="5111496"/>
            <a:ext cx="3200400" cy="530352"/>
          </a:xfrm>
          <a:prstGeom prst="rect">
            <a:avLst/>
          </a:prstGeom>
          <a:noFill/>
          <a:ln/>
        </p:spPr>
        <p:txBody>
          <a:bodyPr wrap="square" lIns="0" tIns="0" rIns="0" bIns="0" rtlCol="0" anchor="ctr"/>
          <a:lstStyle/>
          <a:p>
            <a:pPr indent="0" marL="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
        <p:nvSpPr>
          <p:cNvPr id="21" name="Shape 19"/>
          <p:cNvSpPr/>
          <p:nvPr/>
        </p:nvSpPr>
        <p:spPr>
          <a:xfrm>
            <a:off x="777240" y="5705856"/>
            <a:ext cx="10634472" cy="548640"/>
          </a:xfrm>
          <a:prstGeom prst="roundRect">
            <a:avLst>
              <a:gd name="adj" fmla="val 15000"/>
            </a:avLst>
          </a:prstGeom>
          <a:solidFill>
            <a:srgbClr val="F5F6F8"/>
          </a:solidFill>
          <a:ln w="12700">
            <a:solidFill>
              <a:srgbClr val="E1E4E9"/>
            </a:solidFill>
            <a:prstDash val="solid"/>
          </a:ln>
        </p:spPr>
      </p:sp>
      <p:sp>
        <p:nvSpPr>
          <p:cNvPr id="22" name="Text 20"/>
          <p:cNvSpPr/>
          <p:nvPr/>
        </p:nvSpPr>
        <p:spPr>
          <a:xfrm>
            <a:off x="1143000" y="5715000"/>
            <a:ext cx="292608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1450 ppm</a:t>
            </a:r>
            <a:endParaRPr lang="en-US" sz="1400" dirty="0"/>
          </a:p>
        </p:txBody>
      </p:sp>
      <p:sp>
        <p:nvSpPr>
          <p:cNvPr id="23" name="Text 21"/>
          <p:cNvSpPr/>
          <p:nvPr/>
        </p:nvSpPr>
        <p:spPr>
          <a:xfrm>
            <a:off x="4343400" y="5715000"/>
            <a:ext cx="310896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safe 400 - 1000</a:t>
            </a:r>
            <a:endParaRPr lang="en-US" sz="1400" dirty="0"/>
          </a:p>
        </p:txBody>
      </p:sp>
      <p:sp>
        <p:nvSpPr>
          <p:cNvPr id="24" name="Text 22"/>
          <p:cNvSpPr/>
          <p:nvPr/>
        </p:nvSpPr>
        <p:spPr>
          <a:xfrm>
            <a:off x="7818120" y="5715000"/>
            <a:ext cx="3200400" cy="530352"/>
          </a:xfrm>
          <a:prstGeom prst="rect">
            <a:avLst/>
          </a:prstGeom>
          <a:noFill/>
          <a:ln/>
        </p:spPr>
        <p:txBody>
          <a:bodyPr wrap="square" lIns="0" tIns="0" rIns="0" bIns="0" rtlCol="0" anchor="ctr"/>
          <a:lstStyle/>
          <a:p>
            <a:pPr indent="0" marL="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STAGE 3  ·  NOW BREAK IT ON PURPOSE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Send something invalid</a:t>
            </a:r>
            <a:endParaRPr lang="en-US" sz="3100" dirty="0"/>
          </a:p>
        </p:txBody>
      </p:sp>
      <p:sp>
        <p:nvSpPr>
          <p:cNvPr id="4" name="Shape 2"/>
          <p:cNvSpPr/>
          <p:nvPr/>
        </p:nvSpPr>
        <p:spPr>
          <a:xfrm>
            <a:off x="777240" y="1737360"/>
            <a:ext cx="10634472" cy="777240"/>
          </a:xfrm>
          <a:prstGeom prst="roundRect">
            <a:avLst>
              <a:gd name="adj" fmla="val 9412"/>
            </a:avLst>
          </a:prstGeom>
          <a:solidFill>
            <a:srgbClr val="1B1F2A"/>
          </a:solidFill>
          <a:ln w="12700">
            <a:solidFill>
              <a:srgbClr val="1B1F2A"/>
            </a:solidFill>
            <a:prstDash val="solid"/>
          </a:ln>
        </p:spPr>
      </p:sp>
      <p:sp>
        <p:nvSpPr>
          <p:cNvPr id="5" name="Text 3"/>
          <p:cNvSpPr/>
          <p:nvPr/>
        </p:nvSpPr>
        <p:spPr>
          <a:xfrm>
            <a:off x="1069848" y="1965960"/>
            <a:ext cx="10085832" cy="4114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"motor_temp", "value": "hot", "unit": "C", "low": 20, "high": 60 }</a:t>
            </a:r>
            <a:endParaRPr lang="en-US" sz="1500" dirty="0"/>
          </a:p>
        </p:txBody>
      </p:sp>
      <p:sp>
        <p:nvSpPr>
          <p:cNvPr id="6" name="Shape 4"/>
          <p:cNvSpPr/>
          <p:nvPr/>
        </p:nvSpPr>
        <p:spPr>
          <a:xfrm>
            <a:off x="777240" y="2743200"/>
            <a:ext cx="10634472" cy="1051560"/>
          </a:xfrm>
          <a:prstGeom prst="roundRect">
            <a:avLst>
              <a:gd name="adj" fmla="val 7826"/>
            </a:avLst>
          </a:prstGeom>
          <a:solidFill>
            <a:srgbClr val="FBF0EE"/>
          </a:solidFill>
          <a:ln w="12700">
            <a:solidFill>
              <a:srgbClr val="BE3A2B"/>
            </a:solidFill>
            <a:prstDash val="solid"/>
          </a:ln>
        </p:spPr>
      </p:sp>
      <p:sp>
        <p:nvSpPr>
          <p:cNvPr id="7" name="Text 5"/>
          <p:cNvSpPr/>
          <p:nvPr/>
        </p:nvSpPr>
        <p:spPr>
          <a:xfrm>
            <a:off x="1143000" y="2926080"/>
            <a:ext cx="10241280" cy="640080"/>
          </a:xfrm>
          <a:prstGeom prst="rect">
            <a:avLst/>
          </a:prstGeom>
          <a:noFill/>
          <a:ln/>
        </p:spPr>
        <p:txBody>
          <a:bodyPr wrap="square" lIns="0" tIns="0" rIns="0" bIns="0" rtlCol="0" anchor="ctr"/>
          <a:lstStyle/>
          <a:p>
            <a:pPr indent="0" marL="0">
              <a:buNone/>
            </a:pPr>
            <a:r>
              <a:rPr lang="en-US" sz="2000" b="1" dirty="0">
                <a:solidFill>
                  <a:srgbClr val="BE3A2B"/>
                </a:solidFill>
                <a:latin typeface="Cambria" pitchFamily="34" charset="0"/>
                <a:ea typeface="Cambria" pitchFamily="34" charset="-122"/>
                <a:cs typeface="Cambria" pitchFamily="34" charset="-120"/>
              </a:rPr>
              <a:t>HTTP 422  -  and your classify() function never ran.</a:t>
            </a:r>
            <a:endParaRPr lang="en-US" sz="2000" dirty="0"/>
          </a:p>
        </p:txBody>
      </p:sp>
      <p:sp>
        <p:nvSpPr>
          <p:cNvPr id="8" name="Text 6"/>
          <p:cNvSpPr/>
          <p:nvPr/>
        </p:nvSpPr>
        <p:spPr>
          <a:xfrm>
            <a:off x="777240" y="406908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Never trust incoming data.</a:t>
            </a:r>
            <a:endParaRPr lang="en-US" sz="2100" dirty="0"/>
          </a:p>
        </p:txBody>
      </p:sp>
      <p:sp>
        <p:nvSpPr>
          <p:cNvPr id="9" name="Text 7"/>
          <p:cNvSpPr/>
          <p:nvPr/>
        </p:nvSpPr>
        <p:spPr>
          <a:xfrm>
            <a:off x="777240" y="4617720"/>
            <a:ext cx="10634472" cy="128016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Once your address is public, anyone can send anything to it: a sensor with a loose wire, a teammate's typo, or a stranger deliberately probing your service. Declaring the shape you expect defends against all three at once - and you got it from one class definition.</a:t>
            </a:r>
            <a:endParaRPr lang="en-US" sz="1500" dirty="0"/>
          </a:p>
        </p:txBody>
      </p:sp>
      <p:sp>
        <p:nvSpPr>
          <p:cNvPr id="10" name="Text 8"/>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 habit worth keeping: describe your input at the edge of your application, every time.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Remember the readings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small database helper, a table,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and GET /readings so you can list</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what you have saved.</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history table under the verdict</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 and it is still there after you</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restart the server.</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  1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Open, use, and always close</a:t>
            </a:r>
            <a:endParaRPr lang="en-US" sz="3100" dirty="0"/>
          </a:p>
        </p:txBody>
      </p:sp>
      <p:sp>
        <p:nvSpPr>
          <p:cNvPr id="4" name="Shape 2"/>
          <p:cNvSpPr/>
          <p:nvPr/>
        </p:nvSpPr>
        <p:spPr>
          <a:xfrm>
            <a:off x="777240" y="1737360"/>
            <a:ext cx="10634472" cy="2852420"/>
          </a:xfrm>
          <a:prstGeom prst="roundRect">
            <a:avLst>
              <a:gd name="adj" fmla="val 2565"/>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3037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@contextmanager</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def db():</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"""Open the database, hand it over, then always close it."""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conn = sqlite3.connect(DB)</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conn.row_factory = sqlite3.Row     # read columns by name</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try:</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yield conn</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conn.commit()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finally:</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conn.close()</a:t>
            </a:r>
            <a:endParaRPr lang="en-US" sz="1500" dirty="0"/>
          </a:p>
        </p:txBody>
      </p:sp>
      <p:sp>
        <p:nvSpPr>
          <p:cNvPr id="7" name="Text 5"/>
          <p:cNvSpPr/>
          <p:nvPr/>
        </p:nvSpPr>
        <p:spPr>
          <a:xfrm>
            <a:off x="777240" y="4206240"/>
            <a:ext cx="10634472" cy="45720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The finally block is the point: whatever happens inside, the connection gets closed.</a:t>
            </a:r>
            <a:endParaRPr lang="en-US" sz="1600" dirty="0"/>
          </a:p>
        </p:txBody>
      </p:sp>
      <p:sp>
        <p:nvSpPr>
          <p:cNvPr id="8" name="Text 6"/>
          <p:cNvSpPr/>
          <p:nvPr/>
        </p:nvSpPr>
        <p:spPr>
          <a:xfrm>
            <a:off x="777240" y="4754880"/>
            <a:ext cx="10634472" cy="82296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 connection left open is a resource leak, and in a server that runs for weeks it eventually becomes a crash. Writing it once here makes every use safe.</a:t>
            </a:r>
            <a:endParaRPr lang="en-US" sz="1450" dirty="0"/>
          </a:p>
        </p:txBody>
      </p:sp>
      <p:sp>
        <p:nvSpPr>
          <p:cNvPr id="9" name="Shape 7"/>
          <p:cNvSpPr/>
          <p:nvPr/>
        </p:nvSpPr>
        <p:spPr>
          <a:xfrm>
            <a:off x="777240" y="5623560"/>
            <a:ext cx="10634472" cy="594360"/>
          </a:xfrm>
          <a:prstGeom prst="roundRect">
            <a:avLst>
              <a:gd name="adj" fmla="val 13846"/>
            </a:avLst>
          </a:prstGeom>
          <a:solidFill>
            <a:srgbClr val="FFF8E8"/>
          </a:solidFill>
          <a:ln w="12700">
            <a:solidFill>
              <a:srgbClr val="E5BC64"/>
            </a:solidFill>
            <a:prstDash val="solid"/>
          </a:ln>
        </p:spPr>
      </p:sp>
      <p:sp>
        <p:nvSpPr>
          <p:cNvPr id="10" name="Text 8"/>
          <p:cNvSpPr/>
          <p:nvPr/>
        </p:nvSpPr>
        <p:spPr>
          <a:xfrm>
            <a:off x="1051560" y="564184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SQLite</a:t>
            </a:r>
            <a:endParaRPr lang="en-US" sz="1400" dirty="0"/>
          </a:p>
        </p:txBody>
      </p:sp>
      <p:sp>
        <p:nvSpPr>
          <p:cNvPr id="11" name="Text 9"/>
          <p:cNvSpPr/>
          <p:nvPr/>
        </p:nvSpPr>
        <p:spPr>
          <a:xfrm>
            <a:off x="4251960" y="564184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whole database inside one file - nothing to install</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  2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the table, save, and list</a:t>
            </a:r>
            <a:endParaRPr lang="en-US" sz="3100" dirty="0"/>
          </a:p>
        </p:txBody>
      </p:sp>
      <p:sp>
        <p:nvSpPr>
          <p:cNvPr id="4" name="Shape 2"/>
          <p:cNvSpPr/>
          <p:nvPr/>
        </p:nvSpPr>
        <p:spPr>
          <a:xfrm>
            <a:off x="777240" y="1737360"/>
            <a:ext cx="10634472" cy="1920240"/>
          </a:xfrm>
          <a:prstGeom prst="roundRect">
            <a:avLst>
              <a:gd name="adj" fmla="val 3810"/>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137160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CREATE TABLE IF NOT EXISTS readings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id       INTEGER PRIMARY KEY AUTOINCREMENT,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created  TEXT DEFAULT CURRENT_TIMESTAMP,</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TEXT,   value REAL,   unit TEXT,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low      REAL,   high  REAL,   severity TEXT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t>
            </a:r>
            <a:endParaRPr lang="en-US" sz="1500" dirty="0"/>
          </a:p>
        </p:txBody>
      </p:sp>
      <p:sp>
        <p:nvSpPr>
          <p:cNvPr id="7" name="Shape 5"/>
          <p:cNvSpPr/>
          <p:nvPr/>
        </p:nvSpPr>
        <p:spPr>
          <a:xfrm>
            <a:off x="777240" y="3886200"/>
            <a:ext cx="10634472" cy="1463040"/>
          </a:xfrm>
          <a:prstGeom prst="roundRect">
            <a:avLst>
              <a:gd name="adj" fmla="val 5000"/>
            </a:avLst>
          </a:prstGeom>
          <a:solidFill>
            <a:srgbClr val="1B1F2A"/>
          </a:solidFill>
          <a:ln w="12700">
            <a:solidFill>
              <a:srgbClr val="1B1F2A"/>
            </a:solidFill>
            <a:prstDash val="solid"/>
          </a:ln>
        </p:spPr>
      </p:sp>
      <p:sp>
        <p:nvSpPr>
          <p:cNvPr id="8" name="Text 6"/>
          <p:cNvSpPr/>
          <p:nvPr/>
        </p:nvSpPr>
        <p:spPr>
          <a:xfrm>
            <a:off x="1069848" y="4114800"/>
            <a:ext cx="10085832" cy="10972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conn.execute("INSERT INTO readings (sensor, value, unit, low, high, severity)"</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 VALUES (?, ?, ?, ?, ?,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(reading.sensor, reading.value, ...))</a:t>
            </a:r>
            <a:endParaRPr lang="en-US" sz="1500" dirty="0"/>
          </a:p>
        </p:txBody>
      </p:sp>
      <p:sp>
        <p:nvSpPr>
          <p:cNvPr id="9" name="Shape 7"/>
          <p:cNvSpPr/>
          <p:nvPr/>
        </p:nvSpPr>
        <p:spPr>
          <a:xfrm>
            <a:off x="777240" y="5577840"/>
            <a:ext cx="10634472" cy="822960"/>
          </a:xfrm>
          <a:prstGeom prst="roundRect">
            <a:avLst>
              <a:gd name="adj" fmla="val 10000"/>
            </a:avLst>
          </a:prstGeom>
          <a:solidFill>
            <a:srgbClr val="FBF0EE"/>
          </a:solidFill>
          <a:ln w="12700">
            <a:solidFill>
              <a:srgbClr val="BE3A2B"/>
            </a:solidFill>
            <a:prstDash val="solid"/>
          </a:ln>
        </p:spPr>
      </p:sp>
      <p:sp>
        <p:nvSpPr>
          <p:cNvPr id="10" name="Text 8"/>
          <p:cNvSpPr/>
          <p:nvPr/>
        </p:nvSpPr>
        <p:spPr>
          <a:xfrm>
            <a:off x="1143000" y="5669280"/>
            <a:ext cx="10241280" cy="640080"/>
          </a:xfrm>
          <a:prstGeom prst="rect">
            <a:avLst/>
          </a:prstGeom>
          <a:noFill/>
          <a:ln/>
        </p:spPr>
        <p:txBody>
          <a:bodyPr wrap="square" lIns="0" tIns="0" rIns="0" bIns="0" rtlCol="0" anchor="ctr"/>
          <a:lstStyle/>
          <a:p>
            <a:pPr indent="0" marL="0">
              <a:buNone/>
            </a:pPr>
            <a:r>
              <a:rPr lang="en-US" sz="1450" b="1" dirty="0">
                <a:solidFill>
                  <a:srgbClr val="BE3A2B"/>
                </a:solidFill>
                <a:latin typeface="Calibri" pitchFamily="34" charset="0"/>
                <a:ea typeface="Calibri" pitchFamily="34" charset="-122"/>
                <a:cs typeface="Calibri" pitchFamily="34" charset="-120"/>
              </a:rPr>
              <a:t>Never build SQL by joining strings. The question marks are what stop SQL injection, and they cost nothing.</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Prove it survives a restart</a:t>
            </a:r>
            <a:endParaRPr lang="en-US" sz="3100" dirty="0"/>
          </a:p>
        </p:txBody>
      </p:sp>
      <p:sp>
        <p:nvSpPr>
          <p:cNvPr id="4" name="Shape 2"/>
          <p:cNvSpPr/>
          <p:nvPr/>
        </p:nvSpPr>
        <p:spPr>
          <a:xfrm>
            <a:off x="777240" y="1737360"/>
            <a:ext cx="10634472" cy="640080"/>
          </a:xfrm>
          <a:prstGeom prst="roundRect">
            <a:avLst>
              <a:gd name="adj" fmla="val 12857"/>
            </a:avLst>
          </a:prstGeom>
          <a:solidFill>
            <a:srgbClr val="F5F6F8"/>
          </a:solidFill>
          <a:ln w="12700">
            <a:solidFill>
              <a:srgbClr val="E1E4E9"/>
            </a:solidFill>
            <a:prstDash val="solid"/>
          </a:ln>
        </p:spPr>
      </p:sp>
      <p:sp>
        <p:nvSpPr>
          <p:cNvPr id="5" name="Shape 3"/>
          <p:cNvSpPr/>
          <p:nvPr/>
        </p:nvSpPr>
        <p:spPr>
          <a:xfrm>
            <a:off x="1051560" y="1901952"/>
            <a:ext cx="310896" cy="310896"/>
          </a:xfrm>
          <a:prstGeom prst="ellipse">
            <a:avLst/>
          </a:prstGeom>
          <a:solidFill>
            <a:srgbClr val="00776A"/>
          </a:solidFill>
          <a:ln/>
        </p:spPr>
      </p:sp>
      <p:sp>
        <p:nvSpPr>
          <p:cNvPr id="6" name="Text 4"/>
          <p:cNvSpPr/>
          <p:nvPr/>
        </p:nvSpPr>
        <p:spPr>
          <a:xfrm>
            <a:off x="1051560" y="19019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55648"/>
            <a:ext cx="9601200" cy="60350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Send three or four readings - they appear in a table</a:t>
            </a:r>
            <a:endParaRPr lang="en-US" sz="1500" dirty="0"/>
          </a:p>
        </p:txBody>
      </p:sp>
      <p:sp>
        <p:nvSpPr>
          <p:cNvPr id="8" name="Shape 6"/>
          <p:cNvSpPr/>
          <p:nvPr/>
        </p:nvSpPr>
        <p:spPr>
          <a:xfrm>
            <a:off x="777240" y="2487168"/>
            <a:ext cx="10634472" cy="640080"/>
          </a:xfrm>
          <a:prstGeom prst="roundRect">
            <a:avLst>
              <a:gd name="adj" fmla="val 12857"/>
            </a:avLst>
          </a:prstGeom>
          <a:solidFill>
            <a:srgbClr val="F5F6F8"/>
          </a:solidFill>
          <a:ln w="12700">
            <a:solidFill>
              <a:srgbClr val="E1E4E9"/>
            </a:solidFill>
            <a:prstDash val="solid"/>
          </a:ln>
        </p:spPr>
      </p:sp>
      <p:sp>
        <p:nvSpPr>
          <p:cNvPr id="9" name="Shape 7"/>
          <p:cNvSpPr/>
          <p:nvPr/>
        </p:nvSpPr>
        <p:spPr>
          <a:xfrm>
            <a:off x="1051560" y="2651760"/>
            <a:ext cx="310896" cy="310896"/>
          </a:xfrm>
          <a:prstGeom prst="ellipse">
            <a:avLst/>
          </a:prstGeom>
          <a:solidFill>
            <a:srgbClr val="00776A"/>
          </a:solidFill>
          <a:ln/>
        </p:spPr>
      </p:sp>
      <p:sp>
        <p:nvSpPr>
          <p:cNvPr id="10" name="Text 8"/>
          <p:cNvSpPr/>
          <p:nvPr/>
        </p:nvSpPr>
        <p:spPr>
          <a:xfrm>
            <a:off x="1051560" y="2651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505456"/>
            <a:ext cx="9601200" cy="60350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Stop the server with Ctrl + C</a:t>
            </a:r>
            <a:endParaRPr lang="en-US" sz="1500" dirty="0"/>
          </a:p>
        </p:txBody>
      </p:sp>
      <p:sp>
        <p:nvSpPr>
          <p:cNvPr id="12" name="Shape 10"/>
          <p:cNvSpPr/>
          <p:nvPr/>
        </p:nvSpPr>
        <p:spPr>
          <a:xfrm>
            <a:off x="777240" y="3236976"/>
            <a:ext cx="10634472" cy="640080"/>
          </a:xfrm>
          <a:prstGeom prst="roundRect">
            <a:avLst>
              <a:gd name="adj" fmla="val 12857"/>
            </a:avLst>
          </a:prstGeom>
          <a:solidFill>
            <a:srgbClr val="F5F6F8"/>
          </a:solidFill>
          <a:ln w="12700">
            <a:solidFill>
              <a:srgbClr val="E1E4E9"/>
            </a:solidFill>
            <a:prstDash val="solid"/>
          </a:ln>
        </p:spPr>
      </p:sp>
      <p:sp>
        <p:nvSpPr>
          <p:cNvPr id="13" name="Shape 11"/>
          <p:cNvSpPr/>
          <p:nvPr/>
        </p:nvSpPr>
        <p:spPr>
          <a:xfrm>
            <a:off x="1051560" y="3401568"/>
            <a:ext cx="310896" cy="310896"/>
          </a:xfrm>
          <a:prstGeom prst="ellipse">
            <a:avLst/>
          </a:prstGeom>
          <a:solidFill>
            <a:srgbClr val="00776A"/>
          </a:solidFill>
          <a:ln/>
        </p:spPr>
      </p:sp>
      <p:sp>
        <p:nvSpPr>
          <p:cNvPr id="14" name="Text 12"/>
          <p:cNvSpPr/>
          <p:nvPr/>
        </p:nvSpPr>
        <p:spPr>
          <a:xfrm>
            <a:off x="1051560" y="34015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255264"/>
            <a:ext cx="9601200" cy="60350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Start it again</a:t>
            </a:r>
            <a:endParaRPr lang="en-US" sz="1500" dirty="0"/>
          </a:p>
        </p:txBody>
      </p:sp>
      <p:sp>
        <p:nvSpPr>
          <p:cNvPr id="16" name="Shape 14"/>
          <p:cNvSpPr/>
          <p:nvPr/>
        </p:nvSpPr>
        <p:spPr>
          <a:xfrm>
            <a:off x="777240" y="3986784"/>
            <a:ext cx="10634472" cy="640080"/>
          </a:xfrm>
          <a:prstGeom prst="roundRect">
            <a:avLst>
              <a:gd name="adj" fmla="val 12857"/>
            </a:avLst>
          </a:prstGeom>
          <a:solidFill>
            <a:srgbClr val="F5F6F8"/>
          </a:solidFill>
          <a:ln w="12700">
            <a:solidFill>
              <a:srgbClr val="E1E4E9"/>
            </a:solidFill>
            <a:prstDash val="solid"/>
          </a:ln>
        </p:spPr>
      </p:sp>
      <p:sp>
        <p:nvSpPr>
          <p:cNvPr id="17" name="Shape 15"/>
          <p:cNvSpPr/>
          <p:nvPr/>
        </p:nvSpPr>
        <p:spPr>
          <a:xfrm>
            <a:off x="1051560" y="4151376"/>
            <a:ext cx="310896" cy="310896"/>
          </a:xfrm>
          <a:prstGeom prst="ellipse">
            <a:avLst/>
          </a:prstGeom>
          <a:solidFill>
            <a:srgbClr val="00776A"/>
          </a:solidFill>
          <a:ln/>
        </p:spPr>
      </p:sp>
      <p:sp>
        <p:nvSpPr>
          <p:cNvPr id="18" name="Text 16"/>
          <p:cNvSpPr/>
          <p:nvPr/>
        </p:nvSpPr>
        <p:spPr>
          <a:xfrm>
            <a:off x="1051560" y="41513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645920" y="4005072"/>
            <a:ext cx="9601200" cy="60350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Refresh the page</a:t>
            </a:r>
            <a:endParaRPr lang="en-US" sz="1500" dirty="0"/>
          </a:p>
        </p:txBody>
      </p:sp>
      <p:sp>
        <p:nvSpPr>
          <p:cNvPr id="20" name="Shape 18"/>
          <p:cNvSpPr/>
          <p:nvPr/>
        </p:nvSpPr>
        <p:spPr>
          <a:xfrm>
            <a:off x="777240" y="4892040"/>
            <a:ext cx="10634472" cy="1143000"/>
          </a:xfrm>
          <a:prstGeom prst="roundRect">
            <a:avLst>
              <a:gd name="adj" fmla="val 7200"/>
            </a:avLst>
          </a:prstGeom>
          <a:solidFill>
            <a:srgbClr val="EAF6F3"/>
          </a:solidFill>
          <a:ln w="12700">
            <a:solidFill>
              <a:srgbClr val="9CCFC6"/>
            </a:solidFill>
            <a:prstDash val="solid"/>
          </a:ln>
        </p:spPr>
      </p:sp>
      <p:sp>
        <p:nvSpPr>
          <p:cNvPr id="21" name="Text 19"/>
          <p:cNvSpPr/>
          <p:nvPr/>
        </p:nvSpPr>
        <p:spPr>
          <a:xfrm>
            <a:off x="1143000" y="5029200"/>
            <a:ext cx="10241280" cy="411480"/>
          </a:xfrm>
          <a:prstGeom prst="rect">
            <a:avLst/>
          </a:prstGeom>
          <a:noFill/>
          <a:ln/>
        </p:spPr>
        <p:txBody>
          <a:bodyPr wrap="square" lIns="0" tIns="0" rIns="0" bIns="0" rtlCol="0" anchor="ctr"/>
          <a:lstStyle/>
          <a:p>
            <a:pPr indent="0" marL="0">
              <a:buNone/>
            </a:pPr>
            <a:r>
              <a:rPr lang="en-US" sz="1700" b="1" dirty="0">
                <a:solidFill>
                  <a:srgbClr val="00776A"/>
                </a:solidFill>
                <a:latin typeface="Cambria" pitchFamily="34" charset="0"/>
                <a:ea typeface="Cambria" pitchFamily="34" charset="-122"/>
                <a:cs typeface="Cambria" pitchFamily="34" charset="-120"/>
              </a:rPr>
              <a:t>The readings are still there. And a file called readings.db has appeared in your folder.</a:t>
            </a:r>
            <a:endParaRPr lang="en-US" sz="1700" dirty="0"/>
          </a:p>
        </p:txBody>
      </p:sp>
      <p:sp>
        <p:nvSpPr>
          <p:cNvPr id="22" name="Text 20"/>
          <p:cNvSpPr/>
          <p:nvPr/>
        </p:nvSpPr>
        <p:spPr>
          <a:xfrm>
            <a:off x="1143000" y="5468112"/>
            <a:ext cx="10241280" cy="457200"/>
          </a:xfrm>
          <a:prstGeom prst="rect">
            <a:avLst/>
          </a:prstGeom>
          <a:noFill/>
          <a:ln/>
        </p:spPr>
        <p:txBody>
          <a:bodyPr wrap="square" lIns="0" tIns="0" rIns="0" bIns="0" rtlCol="0" anchor="ctr"/>
          <a:lstStyle/>
          <a:p>
            <a:pPr indent="0" marL="0">
              <a:buNone/>
            </a:pPr>
            <a:r>
              <a:rPr lang="en-US" sz="1500" dirty="0">
                <a:solidFill>
                  <a:srgbClr val="00776A"/>
                </a:solidFill>
                <a:latin typeface="Calibri" pitchFamily="34" charset="0"/>
                <a:ea typeface="Calibri" pitchFamily="34" charset="-122"/>
                <a:cs typeface="Calibri" pitchFamily="34" charset="-120"/>
              </a:rPr>
              <a:t>That file IS the database.</a:t>
            </a:r>
            <a:endParaRPr lang="en-US" sz="1500" dirty="0"/>
          </a:p>
        </p:txBody>
      </p:sp>
      <p:sp>
        <p:nvSpPr>
          <p:cNvPr id="23" name="Text 21"/>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Even better: open Stage 3 and Stage 4 side by side, restart both, refresh. Stage 3 is blank. Stage 4 is not.</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AI explains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.env with your settings, ai.py with</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the API call, and two new columns</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on the readings table.</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written explanation under every</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verdict - and it works with no</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API key at all.</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STAGE 5  ·  FIRST, A DESIGN DECISION</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Which half of the job should the AI do?</a:t>
            </a:r>
            <a:endParaRPr lang="en-US" sz="3100" dirty="0"/>
          </a:p>
        </p:txBody>
      </p:sp>
      <p:graphicFrame>
        <p:nvGraphicFramePr>
          <p:cNvPr id="4" name="Chart 0" descr=""/>
          <p:cNvGraphicFramePr/>
          <p:nvPr/>
        </p:nvGraphicFramePr>
        <p:xfrm>
          <a:off x="777240" y="169164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91640"/>
            <a:ext cx="4251960" cy="3200400"/>
          </a:xfrm>
          <a:prstGeom prst="roundRect">
            <a:avLst>
              <a:gd name="adj" fmla="val 2571"/>
            </a:avLst>
          </a:prstGeom>
          <a:solidFill>
            <a:srgbClr val="F5F6F8"/>
          </a:solidFill>
          <a:ln w="12700">
            <a:solidFill>
              <a:srgbClr val="E1E4E9"/>
            </a:solidFill>
            <a:prstDash val="solid"/>
          </a:ln>
        </p:spPr>
      </p:sp>
      <p:sp>
        <p:nvSpPr>
          <p:cNvPr id="6" name="Text 3"/>
          <p:cNvSpPr/>
          <p:nvPr/>
        </p:nvSpPr>
        <p:spPr>
          <a:xfrm>
            <a:off x="7452360" y="1874520"/>
            <a:ext cx="3703320" cy="36576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The question asked</a:t>
            </a:r>
            <a:endParaRPr lang="en-US" sz="1400" dirty="0"/>
          </a:p>
        </p:txBody>
      </p:sp>
      <p:sp>
        <p:nvSpPr>
          <p:cNvPr id="7" name="Text 4"/>
          <p:cNvSpPr/>
          <p:nvPr/>
        </p:nvSpPr>
        <p:spPr>
          <a:xfrm>
            <a:off x="7452360" y="2286000"/>
            <a:ext cx="3703320" cy="12801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"Is this reading inside the safe range?"</a:t>
            </a:r>
            <a:endParaRPr lang="en-US" sz="1350" dirty="0"/>
          </a:p>
          <a:p>
            <a:pPr indent="0" marL="0">
              <a:buNone/>
            </a:pPr>
            <a:endParaRPr lang="en-US" sz="1350" dirty="0"/>
          </a:p>
          <a:p>
            <a:pPr indent="0" marL="0">
              <a:buNone/>
            </a:pPr>
            <a:r>
              <a:rPr lang="en-US" sz="1350" dirty="0">
                <a:solidFill>
                  <a:srgbClr val="5C6470"/>
                </a:solidFill>
                <a:latin typeface="Calibri" pitchFamily="34" charset="0"/>
                <a:ea typeface="Calibri" pitchFamily="34" charset="-122"/>
                <a:cs typeface="Calibri" pitchFamily="34" charset="-120"/>
              </a:rPr>
              <a:t>8 readings, 3 runs each. There is a correct answer every time.</a:t>
            </a:r>
            <a:endParaRPr lang="en-US" sz="1350" dirty="0"/>
          </a:p>
        </p:txBody>
      </p:sp>
      <p:sp>
        <p:nvSpPr>
          <p:cNvPr id="8" name="Text 5"/>
          <p:cNvSpPr/>
          <p:nvPr/>
        </p:nvSpPr>
        <p:spPr>
          <a:xfrm>
            <a:off x="7452360" y="3657600"/>
            <a:ext cx="3703320" cy="1097280"/>
          </a:xfrm>
          <a:prstGeom prst="rect">
            <a:avLst/>
          </a:prstGeom>
          <a:noFill/>
          <a:ln/>
        </p:spPr>
        <p:txBody>
          <a:bodyPr wrap="square" lIns="0" tIns="0" rIns="0" bIns="0" rtlCol="0" anchor="ctr"/>
          <a:lstStyle/>
          <a:p>
            <a:pPr indent="0" marL="0">
              <a:buNone/>
            </a:pPr>
            <a:r>
              <a:rPr lang="en-US" sz="1350" b="1" dirty="0">
                <a:solidFill>
                  <a:srgbClr val="BE3A2B"/>
                </a:solidFill>
                <a:latin typeface="Calibri" pitchFamily="34" charset="0"/>
                <a:ea typeface="Calibri" pitchFamily="34" charset="-122"/>
                <a:cs typeface="Calibri" pitchFamily="34" charset="-120"/>
              </a:rPr>
              <a:t>The larger model called 87 C</a:t>
            </a:r>
            <a:endParaRPr lang="en-US" sz="1350" dirty="0"/>
          </a:p>
          <a:p>
            <a:pPr indent="0" marL="0">
              <a:buNone/>
            </a:pPr>
            <a:r>
              <a:rPr lang="en-US" sz="1350" b="1" dirty="0">
                <a:solidFill>
                  <a:srgbClr val="BE3A2B"/>
                </a:solidFill>
                <a:latin typeface="Calibri" pitchFamily="34" charset="0"/>
                <a:ea typeface="Calibri" pitchFamily="34" charset="-122"/>
                <a:cs typeface="Calibri" pitchFamily="34" charset="-120"/>
              </a:rPr>
              <a:t>"normal" when the safe range</a:t>
            </a:r>
            <a:endParaRPr lang="en-US" sz="1350" dirty="0"/>
          </a:p>
          <a:p>
            <a:pPr indent="0" marL="0">
              <a:buNone/>
            </a:pPr>
            <a:r>
              <a:rPr lang="en-US" sz="1350" b="1" dirty="0">
                <a:solidFill>
                  <a:srgbClr val="BE3A2B"/>
                </a:solidFill>
                <a:latin typeface="Calibri" pitchFamily="34" charset="0"/>
                <a:ea typeface="Calibri" pitchFamily="34" charset="-122"/>
                <a:cs typeface="Calibri" pitchFamily="34" charset="-120"/>
              </a:rPr>
              <a:t>was 20-60 C, twice in three runs.</a:t>
            </a:r>
            <a:endParaRPr lang="en-US" sz="1350" dirty="0"/>
          </a:p>
        </p:txBody>
      </p:sp>
      <p:sp>
        <p:nvSpPr>
          <p:cNvPr id="9" name="Text 6"/>
          <p:cNvSpPr/>
          <p:nvPr/>
        </p:nvSpPr>
        <p:spPr>
          <a:xfrm>
            <a:off x="777240" y="512064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Comparing two numbers is not a job for a language model.</a:t>
            </a:r>
            <a:endParaRPr lang="en-US" sz="2100" dirty="0"/>
          </a:p>
        </p:txBody>
      </p:sp>
      <p:sp>
        <p:nvSpPr>
          <p:cNvPr id="10" name="Text 7"/>
          <p:cNvSpPr/>
          <p:nvPr/>
        </p:nvSpPr>
        <p:spPr>
          <a:xfrm>
            <a:off x="777240" y="5669280"/>
            <a:ext cx="10634472" cy="54864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Your classify() function already does it: instantly, free, correctly every time, and you can test it.</a:t>
            </a:r>
            <a:endParaRPr lang="en-US" sz="1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So we split the work</a:t>
            </a:r>
            <a:endParaRPr lang="en-US" sz="3100" dirty="0"/>
          </a:p>
        </p:txBody>
      </p:sp>
      <p:sp>
        <p:nvSpPr>
          <p:cNvPr id="4" name="Shape 2"/>
          <p:cNvSpPr/>
          <p:nvPr/>
        </p:nvSpPr>
        <p:spPr>
          <a:xfrm>
            <a:off x="777240" y="1691640"/>
            <a:ext cx="5257800" cy="3200400"/>
          </a:xfrm>
          <a:prstGeom prst="roundRect">
            <a:avLst>
              <a:gd name="adj" fmla="val 2571"/>
            </a:avLst>
          </a:prstGeom>
          <a:solidFill>
            <a:srgbClr val="F5F6F8"/>
          </a:solidFill>
          <a:ln w="12700">
            <a:solidFill>
              <a:srgbClr val="E1E4E9"/>
            </a:solidFill>
            <a:prstDash val="solid"/>
          </a:ln>
        </p:spPr>
      </p:sp>
      <p:sp>
        <p:nvSpPr>
          <p:cNvPr id="5" name="Shape 3"/>
          <p:cNvSpPr/>
          <p:nvPr/>
        </p:nvSpPr>
        <p:spPr>
          <a:xfrm>
            <a:off x="1097280" y="1901952"/>
            <a:ext cx="411480" cy="411480"/>
          </a:xfrm>
          <a:prstGeom prst="ellipse">
            <a:avLst/>
          </a:prstGeom>
          <a:solidFill>
            <a:srgbClr val="00776A"/>
          </a:solidFill>
          <a:ln/>
        </p:spPr>
      </p:sp>
      <p:sp>
        <p:nvSpPr>
          <p:cNvPr id="6" name="Text 4"/>
          <p:cNvSpPr/>
          <p:nvPr/>
        </p:nvSpPr>
        <p:spPr>
          <a:xfrm>
            <a:off x="1097280" y="1901952"/>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73352" y="1901952"/>
            <a:ext cx="4114800" cy="411480"/>
          </a:xfrm>
          <a:prstGeom prst="rect">
            <a:avLst/>
          </a:prstGeom>
          <a:noFill/>
          <a:ln/>
        </p:spPr>
        <p:txBody>
          <a:bodyPr wrap="square" lIns="0" tIns="0" rIns="0" bIns="0" rtlCol="0" anchor="ctr"/>
          <a:lstStyle/>
          <a:p>
            <a:pPr indent="0" marL="0">
              <a:buNone/>
            </a:pPr>
            <a:r>
              <a:rPr lang="en-US" sz="1900" b="1" dirty="0">
                <a:solidFill>
                  <a:srgbClr val="00776A"/>
                </a:solidFill>
                <a:latin typeface="Cambria" pitchFamily="34" charset="0"/>
                <a:ea typeface="Cambria" pitchFamily="34" charset="-122"/>
                <a:cs typeface="Cambria" pitchFamily="34" charset="-120"/>
              </a:rPr>
              <a:t>Your code decides</a:t>
            </a:r>
            <a:endParaRPr lang="en-US" sz="1900" dirty="0"/>
          </a:p>
        </p:txBody>
      </p:sp>
      <p:sp>
        <p:nvSpPr>
          <p:cNvPr id="8" name="Text 6"/>
          <p:cNvSpPr/>
          <p:nvPr/>
        </p:nvSpPr>
        <p:spPr>
          <a:xfrm>
            <a:off x="1097280" y="2514600"/>
            <a:ext cx="4617720" cy="32004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the severity</a:t>
            </a:r>
            <a:endParaRPr lang="en-US" sz="1400" dirty="0"/>
          </a:p>
        </p:txBody>
      </p:sp>
      <p:sp>
        <p:nvSpPr>
          <p:cNvPr id="9" name="Text 7"/>
          <p:cNvSpPr/>
          <p:nvPr/>
        </p:nvSpPr>
        <p:spPr>
          <a:xfrm>
            <a:off x="1097280" y="2926080"/>
            <a:ext cx="4617720" cy="137160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Instant. Free. Correct every time.</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You can write a test for it.</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It cannot fail.</a:t>
            </a:r>
            <a:endParaRPr lang="en-US" sz="1500" dirty="0"/>
          </a:p>
        </p:txBody>
      </p:sp>
      <p:sp>
        <p:nvSpPr>
          <p:cNvPr id="10" name="Text 8"/>
          <p:cNvSpPr/>
          <p:nvPr/>
        </p:nvSpPr>
        <p:spPr>
          <a:xfrm>
            <a:off x="1097280" y="4343400"/>
            <a:ext cx="4617720" cy="365760"/>
          </a:xfrm>
          <a:prstGeom prst="rect">
            <a:avLst/>
          </a:prstGeom>
          <a:noFill/>
          <a:ln/>
        </p:spPr>
        <p:txBody>
          <a:bodyPr wrap="square" lIns="0" tIns="0" rIns="0" bIns="0" rtlCol="0" anchor="ctr"/>
          <a:lstStyle/>
          <a:p>
            <a:pPr indent="0" marL="0">
              <a:buNone/>
            </a:pPr>
            <a:r>
              <a:rPr lang="en-US" sz="1500" b="1" dirty="0">
                <a:solidFill>
                  <a:srgbClr val="00776A"/>
                </a:solidFill>
                <a:latin typeface="Calibri" pitchFamily="34" charset="0"/>
                <a:ea typeface="Calibri" pitchFamily="34" charset="-122"/>
                <a:cs typeface="Calibri" pitchFamily="34" charset="-120"/>
              </a:rPr>
              <a:t>It is a fact.</a:t>
            </a:r>
            <a:endParaRPr lang="en-US" sz="1500" dirty="0"/>
          </a:p>
        </p:txBody>
      </p:sp>
      <p:sp>
        <p:nvSpPr>
          <p:cNvPr id="11" name="Shape 9"/>
          <p:cNvSpPr/>
          <p:nvPr/>
        </p:nvSpPr>
        <p:spPr>
          <a:xfrm>
            <a:off x="6309360" y="1691640"/>
            <a:ext cx="5257800" cy="3200400"/>
          </a:xfrm>
          <a:prstGeom prst="roundRect">
            <a:avLst>
              <a:gd name="adj" fmla="val 2571"/>
            </a:avLst>
          </a:prstGeom>
          <a:solidFill>
            <a:srgbClr val="F5F6F8"/>
          </a:solidFill>
          <a:ln w="12700">
            <a:solidFill>
              <a:srgbClr val="E1E4E9"/>
            </a:solidFill>
            <a:prstDash val="solid"/>
          </a:ln>
        </p:spPr>
      </p:sp>
      <p:sp>
        <p:nvSpPr>
          <p:cNvPr id="12" name="Shape 10"/>
          <p:cNvSpPr/>
          <p:nvPr/>
        </p:nvSpPr>
        <p:spPr>
          <a:xfrm>
            <a:off x="6629400" y="1901952"/>
            <a:ext cx="411480" cy="411480"/>
          </a:xfrm>
          <a:prstGeom prst="ellipse">
            <a:avLst/>
          </a:prstGeom>
          <a:solidFill>
            <a:srgbClr val="5158BE"/>
          </a:solidFill>
          <a:ln/>
        </p:spPr>
      </p:sp>
      <p:sp>
        <p:nvSpPr>
          <p:cNvPr id="13" name="Text 11"/>
          <p:cNvSpPr/>
          <p:nvPr/>
        </p:nvSpPr>
        <p:spPr>
          <a:xfrm>
            <a:off x="6629400" y="1901952"/>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7205472" y="1901952"/>
            <a:ext cx="4114800" cy="411480"/>
          </a:xfrm>
          <a:prstGeom prst="rect">
            <a:avLst/>
          </a:prstGeom>
          <a:noFill/>
          <a:ln/>
        </p:spPr>
        <p:txBody>
          <a:bodyPr wrap="square" lIns="0" tIns="0" rIns="0" bIns="0" rtlCol="0" anchor="ctr"/>
          <a:lstStyle/>
          <a:p>
            <a:pPr indent="0" marL="0">
              <a:buNone/>
            </a:pPr>
            <a:r>
              <a:rPr lang="en-US" sz="1900" b="1" dirty="0">
                <a:solidFill>
                  <a:srgbClr val="5158BE"/>
                </a:solidFill>
                <a:latin typeface="Cambria" pitchFamily="34" charset="0"/>
                <a:ea typeface="Cambria" pitchFamily="34" charset="-122"/>
                <a:cs typeface="Cambria" pitchFamily="34" charset="-120"/>
              </a:rPr>
              <a:t>The AI explains</a:t>
            </a:r>
            <a:endParaRPr lang="en-US" sz="1900" dirty="0"/>
          </a:p>
        </p:txBody>
      </p:sp>
      <p:sp>
        <p:nvSpPr>
          <p:cNvPr id="15" name="Text 13"/>
          <p:cNvSpPr/>
          <p:nvPr/>
        </p:nvSpPr>
        <p:spPr>
          <a:xfrm>
            <a:off x="6629400" y="2514600"/>
            <a:ext cx="4617720" cy="32004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what it means</a:t>
            </a:r>
            <a:endParaRPr lang="en-US" sz="1400" dirty="0"/>
          </a:p>
        </p:txBody>
      </p:sp>
      <p:sp>
        <p:nvSpPr>
          <p:cNvPr id="16" name="Text 14"/>
          <p:cNvSpPr/>
          <p:nvPr/>
        </p:nvSpPr>
        <p:spPr>
          <a:xfrm>
            <a:off x="6629400" y="2926080"/>
            <a:ext cx="4617720" cy="137160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Slower. Sometimes wrong.</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But it writes a sentence a person</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actually wants to read.</a:t>
            </a:r>
            <a:endParaRPr lang="en-US" sz="1500" dirty="0"/>
          </a:p>
        </p:txBody>
      </p:sp>
      <p:sp>
        <p:nvSpPr>
          <p:cNvPr id="17" name="Text 15"/>
          <p:cNvSpPr/>
          <p:nvPr/>
        </p:nvSpPr>
        <p:spPr>
          <a:xfrm>
            <a:off x="6629400" y="4343400"/>
            <a:ext cx="4617720" cy="365760"/>
          </a:xfrm>
          <a:prstGeom prst="rect">
            <a:avLst/>
          </a:prstGeom>
          <a:noFill/>
          <a:ln/>
        </p:spPr>
        <p:txBody>
          <a:bodyPr wrap="square" lIns="0" tIns="0" rIns="0" bIns="0" rtlCol="0" anchor="ctr"/>
          <a:lstStyle/>
          <a:p>
            <a:pPr indent="0" marL="0">
              <a:buNone/>
            </a:pPr>
            <a:r>
              <a:rPr lang="en-US" sz="1500" b="1" dirty="0">
                <a:solidFill>
                  <a:srgbClr val="5158BE"/>
                </a:solidFill>
                <a:latin typeface="Calibri" pitchFamily="34" charset="0"/>
                <a:ea typeface="Calibri" pitchFamily="34" charset="-122"/>
                <a:cs typeface="Calibri" pitchFamily="34" charset="-120"/>
              </a:rPr>
              <a:t>Code cannot do that.</a:t>
            </a:r>
            <a:endParaRPr lang="en-US" sz="1500" dirty="0"/>
          </a:p>
        </p:txBody>
      </p:sp>
      <p:sp>
        <p:nvSpPr>
          <p:cNvPr id="18" name="Text 16"/>
          <p:cNvSpPr/>
          <p:nvPr/>
        </p:nvSpPr>
        <p:spPr>
          <a:xfrm>
            <a:off x="777240" y="516636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Put each one where it wins.</a:t>
            </a:r>
            <a:endParaRPr lang="en-US"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Two small files, before any AI code</a:t>
            </a:r>
            <a:endParaRPr lang="en-US" sz="3100" dirty="0"/>
          </a:p>
        </p:txBody>
      </p:sp>
      <p:sp>
        <p:nvSpPr>
          <p:cNvPr id="4" name="Shape 2"/>
          <p:cNvSpPr/>
          <p:nvPr/>
        </p:nvSpPr>
        <p:spPr>
          <a:xfrm>
            <a:off x="777240" y="1737360"/>
            <a:ext cx="10634472" cy="1600200"/>
          </a:xfrm>
          <a:prstGeom prst="roundRect">
            <a:avLst>
              <a:gd name="adj" fmla="val 4571"/>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.env</a:t>
            </a:r>
            <a:endParaRPr lang="en-US" sz="1050" dirty="0"/>
          </a:p>
        </p:txBody>
      </p:sp>
      <p:sp>
        <p:nvSpPr>
          <p:cNvPr id="6" name="Text 4"/>
          <p:cNvSpPr/>
          <p:nvPr/>
        </p:nvSpPr>
        <p:spPr>
          <a:xfrm>
            <a:off x="1069848" y="2148840"/>
            <a:ext cx="10085832" cy="10515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USE_MOCK=true</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ANTHROPIC_API_KEY=</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CLAUDE_MODEL=claude-haiku-4-5</a:t>
            </a:r>
            <a:endParaRPr lang="en-US" sz="1500" dirty="0"/>
          </a:p>
        </p:txBody>
      </p:sp>
      <p:sp>
        <p:nvSpPr>
          <p:cNvPr id="7" name="Shape 5"/>
          <p:cNvSpPr/>
          <p:nvPr/>
        </p:nvSpPr>
        <p:spPr>
          <a:xfrm>
            <a:off x="777240" y="3657600"/>
            <a:ext cx="10634472" cy="1828800"/>
          </a:xfrm>
          <a:prstGeom prst="roundRect">
            <a:avLst>
              <a:gd name="adj" fmla="val 4000"/>
            </a:avLst>
          </a:prstGeom>
          <a:solidFill>
            <a:srgbClr val="1B1F2A"/>
          </a:solidFill>
          <a:ln w="12700">
            <a:solidFill>
              <a:srgbClr val="1B1F2A"/>
            </a:solidFill>
            <a:prstDash val="solid"/>
          </a:ln>
        </p:spPr>
      </p:sp>
      <p:sp>
        <p:nvSpPr>
          <p:cNvPr id="8" name="Text 6"/>
          <p:cNvSpPr/>
          <p:nvPr/>
        </p:nvSpPr>
        <p:spPr>
          <a:xfrm>
            <a:off x="1069848" y="374904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.gitignore</a:t>
            </a:r>
            <a:endParaRPr lang="en-US" sz="1050" dirty="0"/>
          </a:p>
        </p:txBody>
      </p:sp>
      <p:sp>
        <p:nvSpPr>
          <p:cNvPr id="9" name="Text 7"/>
          <p:cNvSpPr/>
          <p:nvPr/>
        </p:nvSpPr>
        <p:spPr>
          <a:xfrm>
            <a:off x="1069848" y="4069080"/>
            <a:ext cx="10085832" cy="12801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.env</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*.db</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__pycache__/</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.venv/</a:t>
            </a:r>
            <a:endParaRPr lang="en-US" sz="1500" dirty="0"/>
          </a:p>
        </p:txBody>
      </p:sp>
      <p:sp>
        <p:nvSpPr>
          <p:cNvPr id="10" name="Shape 8"/>
          <p:cNvSpPr/>
          <p:nvPr/>
        </p:nvSpPr>
        <p:spPr>
          <a:xfrm>
            <a:off x="777240" y="5715000"/>
            <a:ext cx="10634472" cy="777240"/>
          </a:xfrm>
          <a:prstGeom prst="roundRect">
            <a:avLst>
              <a:gd name="adj" fmla="val 10588"/>
            </a:avLst>
          </a:prstGeom>
          <a:solidFill>
            <a:srgbClr val="FBF0EE"/>
          </a:solidFill>
          <a:ln w="12700">
            <a:solidFill>
              <a:srgbClr val="BE3A2B"/>
            </a:solidFill>
            <a:prstDash val="solid"/>
          </a:ln>
        </p:spPr>
      </p:sp>
      <p:sp>
        <p:nvSpPr>
          <p:cNvPr id="11" name="Text 9"/>
          <p:cNvSpPr/>
          <p:nvPr/>
        </p:nvSpPr>
        <p:spPr>
          <a:xfrm>
            <a:off x="1143000" y="5806440"/>
            <a:ext cx="10241280" cy="594360"/>
          </a:xfrm>
          <a:prstGeom prst="rect">
            <a:avLst/>
          </a:prstGeom>
          <a:noFill/>
          <a:ln/>
        </p:spPr>
        <p:txBody>
          <a:bodyPr wrap="square" lIns="0" tIns="0" rIns="0" bIns="0" rtlCol="0" anchor="ctr"/>
          <a:lstStyle/>
          <a:p>
            <a:pPr indent="0" marL="0">
              <a:buNone/>
            </a:pPr>
            <a:r>
              <a:rPr lang="en-US" sz="1500" b="1" dirty="0">
                <a:solidFill>
                  <a:srgbClr val="BE3A2B"/>
                </a:solidFill>
                <a:latin typeface="Calibri" pitchFamily="34" charset="0"/>
                <a:ea typeface="Calibri" pitchFamily="34" charset="-122"/>
                <a:cs typeface="Calibri" pitchFamily="34" charset="-120"/>
              </a:rPr>
              <a:t>Create these BEFORE there is ever a real key to lose. Most people add .gitignore afterwards.</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  ·  ai.py</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AI call, in its own file</a:t>
            </a:r>
            <a:endParaRPr lang="en-US" sz="3100" dirty="0"/>
          </a:p>
        </p:txBody>
      </p:sp>
      <p:sp>
        <p:nvSpPr>
          <p:cNvPr id="4" name="Shape 2"/>
          <p:cNvSpPr/>
          <p:nvPr/>
        </p:nvSpPr>
        <p:spPr>
          <a:xfrm>
            <a:off x="777240" y="1691640"/>
            <a:ext cx="10634472" cy="4185920"/>
          </a:xfrm>
          <a:prstGeom prst="roundRect">
            <a:avLst>
              <a:gd name="adj" fmla="val 1748"/>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ai.py</a:t>
            </a:r>
            <a:endParaRPr lang="en-US" sz="1050" dirty="0"/>
          </a:p>
        </p:txBody>
      </p:sp>
      <p:sp>
        <p:nvSpPr>
          <p:cNvPr id="6" name="Text 4"/>
          <p:cNvSpPr/>
          <p:nvPr/>
        </p:nvSpPr>
        <p:spPr>
          <a:xfrm>
            <a:off x="1069848" y="2103120"/>
            <a:ext cx="10085832" cy="3637280"/>
          </a:xfrm>
          <a:prstGeom prst="rect">
            <a:avLst/>
          </a:prstGeom>
          <a:noFill/>
          <a:ln/>
        </p:spPr>
        <p:txBody>
          <a:bodyPr wrap="square" lIns="0" tIns="0" rIns="0" bIns="0" rtlCol="0" anchor="t"/>
          <a:lstStyle/>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USE_MOCK = os.getenv("USE_MOCK", "true").lower() == "true"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MODEL = os.getenv("CLAUDE_MODEL", "claude-opus-5")</a:t>
            </a:r>
            <a:endParaRPr lang="en-US" sz="1200" dirty="0"/>
          </a:p>
          <a:p>
            <a:pPr indent="0" marL="0">
              <a:lnSpc>
                <a:spcPts val="1450"/>
              </a:lnSpc>
              <a:buNone/>
            </a:pP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class Advice(BaseModel):</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reason: str = Field(description="why the reading is at this level, under 15 words")</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action: str = Field(description="one concrete next step, under 10 words")</a:t>
            </a:r>
            <a:endParaRPr lang="en-US" sz="1200" dirty="0"/>
          </a:p>
          <a:p>
            <a:pPr indent="0" marL="0">
              <a:lnSpc>
                <a:spcPts val="1450"/>
              </a:lnSpc>
              <a:buNone/>
            </a:pP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def explain(sensor, value, unit, low, high, severity) -&gt; Advice: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if USE_MOCK:</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Advice(reason=..., action=...)</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client = anthropic.Anthropic()   # reads ANTHROPIC_API_KEY from the environment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response = client.messages.parse(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model=MODEL, max_tokens=256, system=SYSTEM,</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messages=[{"role": "user", "content": prompt}],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output_format=Advice,        # this is what forces the two fields</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response.parsed_output</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Three things worth noticing</a:t>
            </a:r>
            <a:endParaRPr lang="en-US" sz="3100" dirty="0"/>
          </a:p>
        </p:txBody>
      </p:sp>
      <p:sp>
        <p:nvSpPr>
          <p:cNvPr id="4" name="Shape 2"/>
          <p:cNvSpPr/>
          <p:nvPr/>
        </p:nvSpPr>
        <p:spPr>
          <a:xfrm>
            <a:off x="777240" y="1737360"/>
            <a:ext cx="10634472" cy="1234440"/>
          </a:xfrm>
          <a:prstGeom prst="roundRect">
            <a:avLst>
              <a:gd name="adj" fmla="val 6667"/>
            </a:avLst>
          </a:prstGeom>
          <a:solidFill>
            <a:srgbClr val="F5F6F8"/>
          </a:solidFill>
          <a:ln w="12700">
            <a:solidFill>
              <a:srgbClr val="E1E4E9"/>
            </a:solidFill>
            <a:prstDash val="solid"/>
          </a:ln>
        </p:spPr>
      </p:sp>
      <p:sp>
        <p:nvSpPr>
          <p:cNvPr id="5" name="Shape 3"/>
          <p:cNvSpPr/>
          <p:nvPr/>
        </p:nvSpPr>
        <p:spPr>
          <a:xfrm>
            <a:off x="1097280" y="2121408"/>
            <a:ext cx="438912" cy="438912"/>
          </a:xfrm>
          <a:prstGeom prst="ellipse">
            <a:avLst/>
          </a:prstGeom>
          <a:solidFill>
            <a:srgbClr val="00776A"/>
          </a:solidFill>
          <a:ln/>
        </p:spPr>
      </p:sp>
      <p:sp>
        <p:nvSpPr>
          <p:cNvPr id="6" name="Text 4"/>
          <p:cNvSpPr/>
          <p:nvPr/>
        </p:nvSpPr>
        <p:spPr>
          <a:xfrm>
            <a:off x="1097280" y="212140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783080" y="1901952"/>
            <a:ext cx="9418320" cy="411480"/>
          </a:xfrm>
          <a:prstGeom prst="rect">
            <a:avLst/>
          </a:prstGeom>
          <a:noFill/>
          <a:ln/>
        </p:spPr>
        <p:txBody>
          <a:bodyPr wrap="square" lIns="0" tIns="0" rIns="0" bIns="0" rtlCol="0" anchor="ctr"/>
          <a:lstStyle/>
          <a:p>
            <a:pPr indent="0" marL="0">
              <a:buNone/>
            </a:pPr>
            <a:r>
              <a:rPr lang="en-US" sz="1650" b="1" dirty="0">
                <a:solidFill>
                  <a:srgbClr val="15181F"/>
                </a:solidFill>
                <a:latin typeface="Cambria" pitchFamily="34" charset="0"/>
                <a:ea typeface="Cambria" pitchFamily="34" charset="-122"/>
                <a:cs typeface="Cambria" pitchFamily="34" charset="-120"/>
              </a:rPr>
              <a:t>anthropic.Anthropic() takes no arguments</a:t>
            </a:r>
            <a:endParaRPr lang="en-US" sz="1650" dirty="0"/>
          </a:p>
        </p:txBody>
      </p:sp>
      <p:sp>
        <p:nvSpPr>
          <p:cNvPr id="8" name="Text 6"/>
          <p:cNvSpPr/>
          <p:nvPr/>
        </p:nvSpPr>
        <p:spPr>
          <a:xfrm>
            <a:off x="1783080" y="2313432"/>
            <a:ext cx="9418320" cy="5943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It finds the key in the environment by itself. The key appears nowhere in your code.</a:t>
            </a:r>
            <a:endParaRPr lang="en-US" sz="1350" dirty="0"/>
          </a:p>
        </p:txBody>
      </p:sp>
      <p:sp>
        <p:nvSpPr>
          <p:cNvPr id="9" name="Shape 7"/>
          <p:cNvSpPr/>
          <p:nvPr/>
        </p:nvSpPr>
        <p:spPr>
          <a:xfrm>
            <a:off x="777240" y="3154680"/>
            <a:ext cx="10634472" cy="1234440"/>
          </a:xfrm>
          <a:prstGeom prst="roundRect">
            <a:avLst>
              <a:gd name="adj" fmla="val 6667"/>
            </a:avLst>
          </a:prstGeom>
          <a:solidFill>
            <a:srgbClr val="F5F6F8"/>
          </a:solidFill>
          <a:ln w="12700">
            <a:solidFill>
              <a:srgbClr val="E1E4E9"/>
            </a:solidFill>
            <a:prstDash val="solid"/>
          </a:ln>
        </p:spPr>
      </p:sp>
      <p:sp>
        <p:nvSpPr>
          <p:cNvPr id="10" name="Shape 8"/>
          <p:cNvSpPr/>
          <p:nvPr/>
        </p:nvSpPr>
        <p:spPr>
          <a:xfrm>
            <a:off x="1097280" y="3538728"/>
            <a:ext cx="438912" cy="438912"/>
          </a:xfrm>
          <a:prstGeom prst="ellipse">
            <a:avLst/>
          </a:prstGeom>
          <a:solidFill>
            <a:srgbClr val="5158BE"/>
          </a:solidFill>
          <a:ln/>
        </p:spPr>
      </p:sp>
      <p:sp>
        <p:nvSpPr>
          <p:cNvPr id="11" name="Text 9"/>
          <p:cNvSpPr/>
          <p:nvPr/>
        </p:nvSpPr>
        <p:spPr>
          <a:xfrm>
            <a:off x="1097280" y="353872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783080" y="3319272"/>
            <a:ext cx="9418320" cy="411480"/>
          </a:xfrm>
          <a:prstGeom prst="rect">
            <a:avLst/>
          </a:prstGeom>
          <a:noFill/>
          <a:ln/>
        </p:spPr>
        <p:txBody>
          <a:bodyPr wrap="square" lIns="0" tIns="0" rIns="0" bIns="0" rtlCol="0" anchor="ctr"/>
          <a:lstStyle/>
          <a:p>
            <a:pPr indent="0" marL="0">
              <a:buNone/>
            </a:pPr>
            <a:r>
              <a:rPr lang="en-US" sz="1650" b="1" dirty="0">
                <a:solidFill>
                  <a:srgbClr val="15181F"/>
                </a:solidFill>
                <a:latin typeface="Cambria" pitchFamily="34" charset="0"/>
                <a:ea typeface="Cambria" pitchFamily="34" charset="-122"/>
                <a:cs typeface="Cambria" pitchFamily="34" charset="-120"/>
              </a:rPr>
              <a:t>output_format=Advice guarantees the reply</a:t>
            </a:r>
            <a:endParaRPr lang="en-US" sz="1650" dirty="0"/>
          </a:p>
        </p:txBody>
      </p:sp>
      <p:sp>
        <p:nvSpPr>
          <p:cNvPr id="13" name="Text 11"/>
          <p:cNvSpPr/>
          <p:nvPr/>
        </p:nvSpPr>
        <p:spPr>
          <a:xfrm>
            <a:off x="1783080" y="3730752"/>
            <a:ext cx="9418320" cy="5943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The model cannot return a paragraph, a refusal, or a differently named field. You get a validated object, so you never write string-parsing code and hope.</a:t>
            </a:r>
            <a:endParaRPr lang="en-US" sz="1350" dirty="0"/>
          </a:p>
        </p:txBody>
      </p:sp>
      <p:sp>
        <p:nvSpPr>
          <p:cNvPr id="14" name="Shape 12"/>
          <p:cNvSpPr/>
          <p:nvPr/>
        </p:nvSpPr>
        <p:spPr>
          <a:xfrm>
            <a:off x="777240" y="4572000"/>
            <a:ext cx="10634472" cy="1234440"/>
          </a:xfrm>
          <a:prstGeom prst="roundRect">
            <a:avLst>
              <a:gd name="adj" fmla="val 6667"/>
            </a:avLst>
          </a:prstGeom>
          <a:solidFill>
            <a:srgbClr val="F5F6F8"/>
          </a:solidFill>
          <a:ln w="12700">
            <a:solidFill>
              <a:srgbClr val="E1E4E9"/>
            </a:solidFill>
            <a:prstDash val="solid"/>
          </a:ln>
        </p:spPr>
      </p:sp>
      <p:sp>
        <p:nvSpPr>
          <p:cNvPr id="15" name="Shape 13"/>
          <p:cNvSpPr/>
          <p:nvPr/>
        </p:nvSpPr>
        <p:spPr>
          <a:xfrm>
            <a:off x="1097280" y="4956048"/>
            <a:ext cx="438912" cy="438912"/>
          </a:xfrm>
          <a:prstGeom prst="ellipse">
            <a:avLst/>
          </a:prstGeom>
          <a:solidFill>
            <a:srgbClr val="0A7D28"/>
          </a:solidFill>
          <a:ln/>
        </p:spPr>
      </p:sp>
      <p:sp>
        <p:nvSpPr>
          <p:cNvPr id="16" name="Text 14"/>
          <p:cNvSpPr/>
          <p:nvPr/>
        </p:nvSpPr>
        <p:spPr>
          <a:xfrm>
            <a:off x="1097280" y="495604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783080" y="4736592"/>
            <a:ext cx="9418320" cy="411480"/>
          </a:xfrm>
          <a:prstGeom prst="rect">
            <a:avLst/>
          </a:prstGeom>
          <a:noFill/>
          <a:ln/>
        </p:spPr>
        <p:txBody>
          <a:bodyPr wrap="square" lIns="0" tIns="0" rIns="0" bIns="0" rtlCol="0" anchor="ctr"/>
          <a:lstStyle/>
          <a:p>
            <a:pPr indent="0" marL="0">
              <a:buNone/>
            </a:pPr>
            <a:r>
              <a:rPr lang="en-US" sz="1650" b="1" dirty="0">
                <a:solidFill>
                  <a:srgbClr val="15181F"/>
                </a:solidFill>
                <a:latin typeface="Cambria" pitchFamily="34" charset="0"/>
                <a:ea typeface="Cambria" pitchFamily="34" charset="-122"/>
                <a:cs typeface="Cambria" pitchFamily="34" charset="-120"/>
              </a:rPr>
              <a:t>USE_MOCK lets the whole app run with no key</a:t>
            </a:r>
            <a:endParaRPr lang="en-US" sz="1650" dirty="0"/>
          </a:p>
        </p:txBody>
      </p:sp>
      <p:sp>
        <p:nvSpPr>
          <p:cNvPr id="18" name="Text 16"/>
          <p:cNvSpPr/>
          <p:nvPr/>
        </p:nvSpPr>
        <p:spPr>
          <a:xfrm>
            <a:off x="1783080" y="5148072"/>
            <a:ext cx="9418320" cy="5943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You can build, test, and even deploy before you have an account. Everyone in this room finishes this stage.</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Wire it into main.py</a:t>
            </a:r>
            <a:endParaRPr lang="en-US" sz="3100" dirty="0"/>
          </a:p>
        </p:txBody>
      </p:sp>
      <p:sp>
        <p:nvSpPr>
          <p:cNvPr id="4" name="Shape 2"/>
          <p:cNvSpPr/>
          <p:nvPr/>
        </p:nvSpPr>
        <p:spPr>
          <a:xfrm>
            <a:off x="777240" y="1691640"/>
            <a:ext cx="10634472" cy="1600200"/>
          </a:xfrm>
          <a:prstGeom prst="roundRect">
            <a:avLst>
              <a:gd name="adj" fmla="val 4571"/>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at the very top</a:t>
            </a:r>
            <a:endParaRPr lang="en-US" sz="1050" dirty="0"/>
          </a:p>
        </p:txBody>
      </p:sp>
      <p:sp>
        <p:nvSpPr>
          <p:cNvPr id="6" name="Text 4"/>
          <p:cNvSpPr/>
          <p:nvPr/>
        </p:nvSpPr>
        <p:spPr>
          <a:xfrm>
            <a:off x="1069848" y="2103120"/>
            <a:ext cx="10085832" cy="10515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from dotenv import load_dotenv</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load_dotenv()   # read .env BEFORE anything else looks at the environment</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import ai</a:t>
            </a:r>
            <a:endParaRPr lang="en-US" sz="1500" dirty="0"/>
          </a:p>
        </p:txBody>
      </p:sp>
      <p:sp>
        <p:nvSpPr>
          <p:cNvPr id="7" name="Shape 5"/>
          <p:cNvSpPr/>
          <p:nvPr/>
        </p:nvSpPr>
        <p:spPr>
          <a:xfrm>
            <a:off x="777240" y="3611880"/>
            <a:ext cx="10634472" cy="1920240"/>
          </a:xfrm>
          <a:prstGeom prst="roundRect">
            <a:avLst>
              <a:gd name="adj" fmla="val 3810"/>
            </a:avLst>
          </a:prstGeom>
          <a:solidFill>
            <a:srgbClr val="1B1F2A"/>
          </a:solidFill>
          <a:ln w="12700">
            <a:solidFill>
              <a:srgbClr val="1B1F2A"/>
            </a:solidFill>
            <a:prstDash val="solid"/>
          </a:ln>
        </p:spPr>
      </p:sp>
      <p:sp>
        <p:nvSpPr>
          <p:cNvPr id="8" name="Text 6"/>
          <p:cNvSpPr/>
          <p:nvPr/>
        </p:nvSpPr>
        <p:spPr>
          <a:xfrm>
            <a:off x="1069848" y="370332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in create_reading</a:t>
            </a:r>
            <a:endParaRPr lang="en-US" sz="1050" dirty="0"/>
          </a:p>
        </p:txBody>
      </p:sp>
      <p:sp>
        <p:nvSpPr>
          <p:cNvPr id="9" name="Text 7"/>
          <p:cNvSpPr/>
          <p:nvPr/>
        </p:nvSpPr>
        <p:spPr>
          <a:xfrm>
            <a:off x="1069848" y="4023360"/>
            <a:ext cx="10085832" cy="137160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 1. Our own code decides how serious it is. Instant, always correct.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 classify(reading.value, reading.low, reading.high)</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 2. The AI turns that into a sentence a person can read.</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advice = ai.explain(reading.sensor, reading.value, reading.unit,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reading.low, reading.high, severity)</a:t>
            </a:r>
            <a:endParaRPr lang="en-US" sz="1500" dirty="0"/>
          </a:p>
        </p:txBody>
      </p:sp>
      <p:sp>
        <p:nvSpPr>
          <p:cNvPr id="10" name="Shape 8"/>
          <p:cNvSpPr/>
          <p:nvPr/>
        </p:nvSpPr>
        <p:spPr>
          <a:xfrm>
            <a:off x="777240" y="5806440"/>
            <a:ext cx="10634472" cy="731520"/>
          </a:xfrm>
          <a:prstGeom prst="roundRect">
            <a:avLst>
              <a:gd name="adj" fmla="val 11250"/>
            </a:avLst>
          </a:prstGeom>
          <a:solidFill>
            <a:srgbClr val="FFF8E8"/>
          </a:solidFill>
          <a:ln w="12700">
            <a:solidFill>
              <a:srgbClr val="E5BC64"/>
            </a:solidFill>
            <a:prstDash val="solid"/>
          </a:ln>
        </p:spPr>
      </p:sp>
      <p:sp>
        <p:nvSpPr>
          <p:cNvPr id="11" name="Text 9"/>
          <p:cNvSpPr/>
          <p:nvPr/>
        </p:nvSpPr>
        <p:spPr>
          <a:xfrm>
            <a:off x="1143000" y="5870448"/>
            <a:ext cx="10241280" cy="594360"/>
          </a:xfrm>
          <a:prstGeom prst="rect">
            <a:avLst/>
          </a:prstGeom>
          <a:noFill/>
          <a:ln/>
        </p:spPr>
        <p:txBody>
          <a:bodyPr wrap="square" lIns="0" tIns="0" rIns="0" bIns="0" rtlCol="0" anchor="ctr"/>
          <a:lstStyle/>
          <a:p>
            <a:pPr indent="0" marL="0">
              <a:buNone/>
            </a:pPr>
            <a:r>
              <a:rPr lang="en-US" sz="1450" b="1" dirty="0">
                <a:solidFill>
                  <a:srgbClr val="7A5200"/>
                </a:solidFill>
                <a:latin typeface="Calibri" pitchFamily="34" charset="0"/>
                <a:ea typeface="Calibri" pitchFamily="34" charset="-122"/>
                <a:cs typeface="Calibri" pitchFamily="34" charset="-120"/>
              </a:rPr>
              <a:t>Delete readings.db before restarting. CREATE TABLE IF NOT EXISTS will not add the new columns.</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A complete application</a:t>
            </a:r>
            <a:endParaRPr lang="en-US" sz="3100" dirty="0"/>
          </a:p>
        </p:txBody>
      </p:sp>
      <p:sp>
        <p:nvSpPr>
          <p:cNvPr id="4" name="Shape 2"/>
          <p:cNvSpPr/>
          <p:nvPr/>
        </p:nvSpPr>
        <p:spPr>
          <a:xfrm>
            <a:off x="777240" y="1691640"/>
            <a:ext cx="10634472" cy="1828800"/>
          </a:xfrm>
          <a:prstGeom prst="roundRect">
            <a:avLst>
              <a:gd name="adj" fmla="val 4500"/>
            </a:avLst>
          </a:prstGeom>
          <a:solidFill>
            <a:srgbClr val="F5F6F8"/>
          </a:solidFill>
          <a:ln w="12700">
            <a:solidFill>
              <a:srgbClr val="E1E4E9"/>
            </a:solidFill>
            <a:prstDash val="solid"/>
          </a:ln>
        </p:spPr>
      </p:sp>
      <p:sp>
        <p:nvSpPr>
          <p:cNvPr id="5" name="Text 3"/>
          <p:cNvSpPr/>
          <p:nvPr/>
        </p:nvSpPr>
        <p:spPr>
          <a:xfrm>
            <a:off x="1234440" y="1828800"/>
            <a:ext cx="5486400" cy="548640"/>
          </a:xfrm>
          <a:prstGeom prst="rect">
            <a:avLst/>
          </a:prstGeom>
          <a:noFill/>
          <a:ln/>
        </p:spPr>
        <p:txBody>
          <a:bodyPr wrap="square" lIns="0" tIns="0" rIns="0" bIns="0" rtlCol="0" anchor="ctr"/>
          <a:lstStyle/>
          <a:p>
            <a:pPr indent="0" marL="0">
              <a:buNone/>
            </a:pPr>
            <a:r>
              <a:rPr lang="en-US" sz="2800" b="1" dirty="0">
                <a:solidFill>
                  <a:srgbClr val="BE3A2B"/>
                </a:solidFill>
                <a:latin typeface="Cambria" pitchFamily="34" charset="0"/>
                <a:ea typeface="Cambria" pitchFamily="34" charset="-122"/>
                <a:cs typeface="Cambria" pitchFamily="34" charset="-120"/>
              </a:rPr>
              <a:t>CRITICAL</a:t>
            </a:r>
            <a:endParaRPr lang="en-US" sz="2800" dirty="0"/>
          </a:p>
        </p:txBody>
      </p:sp>
      <p:sp>
        <p:nvSpPr>
          <p:cNvPr id="6" name="Text 4"/>
          <p:cNvSpPr/>
          <p:nvPr/>
        </p:nvSpPr>
        <p:spPr>
          <a:xfrm>
            <a:off x="1234440" y="2377440"/>
            <a:ext cx="7315200" cy="320040"/>
          </a:xfrm>
          <a:prstGeom prst="rect">
            <a:avLst/>
          </a:prstGeom>
          <a:noFill/>
          <a:ln/>
        </p:spPr>
        <p:txBody>
          <a:bodyPr wrap="square" lIns="0" tIns="0" rIns="0" bIns="0" rtlCol="0" anchor="ctr"/>
          <a:lstStyle/>
          <a:p>
            <a:pPr indent="0" marL="0">
              <a:buNone/>
            </a:pPr>
            <a:r>
              <a:rPr lang="en-US" sz="1300" dirty="0">
                <a:solidFill>
                  <a:srgbClr val="5C6470"/>
                </a:solidFill>
                <a:latin typeface="Courier New" pitchFamily="34" charset="0"/>
                <a:ea typeface="Courier New" pitchFamily="34" charset="-122"/>
                <a:cs typeface="Courier New" pitchFamily="34" charset="-120"/>
              </a:rPr>
              <a:t>your code checked:  36.1 &lt;= 39.4 &lt;= 37.2</a:t>
            </a:r>
            <a:endParaRPr lang="en-US" sz="1300" dirty="0"/>
          </a:p>
        </p:txBody>
      </p:sp>
      <p:sp>
        <p:nvSpPr>
          <p:cNvPr id="7" name="Shape 5"/>
          <p:cNvSpPr/>
          <p:nvPr/>
        </p:nvSpPr>
        <p:spPr>
          <a:xfrm>
            <a:off x="1234440" y="2761488"/>
            <a:ext cx="9601200" cy="0"/>
          </a:xfrm>
          <a:prstGeom prst="line">
            <a:avLst/>
          </a:prstGeom>
          <a:noFill/>
          <a:ln w="12700">
            <a:solidFill>
              <a:srgbClr val="E1E4E9"/>
            </a:solidFill>
            <a:prstDash val="dash"/>
          </a:ln>
        </p:spPr>
      </p:sp>
      <p:sp>
        <p:nvSpPr>
          <p:cNvPr id="8" name="Text 6"/>
          <p:cNvSpPr/>
          <p:nvPr/>
        </p:nvSpPr>
        <p:spPr>
          <a:xfrm>
            <a:off x="1234440" y="2834640"/>
            <a:ext cx="9144000" cy="320040"/>
          </a:xfrm>
          <a:prstGeom prst="rect">
            <a:avLst/>
          </a:prstGeom>
          <a:noFill/>
          <a:ln/>
        </p:spPr>
        <p:txBody>
          <a:bodyPr wrap="square" lIns="0" tIns="0" rIns="0" bIns="0" rtlCol="0" anchor="ctr"/>
          <a:lstStyle/>
          <a:p>
            <a:pPr indent="0" marL="0">
              <a:buNone/>
            </a:pPr>
            <a:r>
              <a:rPr lang="en-US" sz="1400" dirty="0">
                <a:solidFill>
                  <a:srgbClr val="15181F"/>
                </a:solidFill>
                <a:latin typeface="Calibri" pitchFamily="34" charset="0"/>
                <a:ea typeface="Calibri" pitchFamily="34" charset="-122"/>
                <a:cs typeface="Calibri" pitchFamily="34" charset="-120"/>
              </a:rPr>
              <a:t>39.4C against a safe range of 36.1-37.2C.</a:t>
            </a:r>
            <a:endParaRPr lang="en-US" sz="1400" dirty="0"/>
          </a:p>
        </p:txBody>
      </p:sp>
      <p:sp>
        <p:nvSpPr>
          <p:cNvPr id="9" name="Text 7"/>
          <p:cNvSpPr/>
          <p:nvPr/>
        </p:nvSpPr>
        <p:spPr>
          <a:xfrm>
            <a:off x="1234440" y="3127248"/>
            <a:ext cx="9144000" cy="320040"/>
          </a:xfrm>
          <a:prstGeom prst="rect">
            <a:avLst/>
          </a:prstGeom>
          <a:noFill/>
          <a:ln/>
        </p:spPr>
        <p:txBody>
          <a:bodyPr wrap="square" lIns="0" tIns="0" rIns="0" bIns="0"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Set USE_MOCK=false to get a real AI answer.</a:t>
            </a:r>
            <a:endParaRPr lang="en-US" sz="1300" dirty="0"/>
          </a:p>
        </p:txBody>
      </p:sp>
      <p:sp>
        <p:nvSpPr>
          <p:cNvPr id="10" name="Shape 8"/>
          <p:cNvSpPr/>
          <p:nvPr/>
        </p:nvSpPr>
        <p:spPr>
          <a:xfrm>
            <a:off x="777240" y="3749040"/>
            <a:ext cx="10634472" cy="914400"/>
          </a:xfrm>
          <a:prstGeom prst="roundRect">
            <a:avLst>
              <a:gd name="adj" fmla="val 9000"/>
            </a:avLst>
          </a:prstGeom>
          <a:solidFill>
            <a:srgbClr val="EAF6F3"/>
          </a:solidFill>
          <a:ln w="12700">
            <a:solidFill>
              <a:srgbClr val="9CCFC6"/>
            </a:solidFill>
            <a:prstDash val="solid"/>
          </a:ln>
        </p:spPr>
      </p:sp>
      <p:sp>
        <p:nvSpPr>
          <p:cNvPr id="11" name="Text 9"/>
          <p:cNvSpPr/>
          <p:nvPr/>
        </p:nvSpPr>
        <p:spPr>
          <a:xfrm>
            <a:off x="1143000" y="3840480"/>
            <a:ext cx="10241280" cy="731520"/>
          </a:xfrm>
          <a:prstGeom prst="rect">
            <a:avLst/>
          </a:prstGeom>
          <a:noFill/>
          <a:ln/>
        </p:spPr>
        <p:txBody>
          <a:bodyPr wrap="square" lIns="0" tIns="0" rIns="0" bIns="0" rtlCol="0" anchor="ctr"/>
          <a:lstStyle/>
          <a:p>
            <a:pPr indent="0" marL="0">
              <a:buNone/>
            </a:pPr>
            <a:r>
              <a:rPr lang="en-US" sz="1600" b="1" dirty="0">
                <a:solidFill>
                  <a:srgbClr val="00776A"/>
                </a:solidFill>
                <a:latin typeface="Calibri" pitchFamily="34" charset="0"/>
                <a:ea typeface="Calibri" pitchFamily="34" charset="-122"/>
                <a:cs typeface="Calibri" pitchFamily="34" charset="-120"/>
              </a:rPr>
              <a:t>With USE_MOCK=true, the application is complete and working with no AI account at all.</a:t>
            </a:r>
            <a:endParaRPr lang="en-US" sz="1600" dirty="0"/>
          </a:p>
        </p:txBody>
      </p:sp>
      <p:sp>
        <p:nvSpPr>
          <p:cNvPr id="12" name="Text 10"/>
          <p:cNvSpPr/>
          <p:nvPr/>
        </p:nvSpPr>
        <p:spPr>
          <a:xfrm>
            <a:off x="777240" y="4846320"/>
            <a:ext cx="7315200" cy="36576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What it costs, if you do have a key</a:t>
            </a:r>
            <a:endParaRPr lang="en-US" sz="1400" dirty="0"/>
          </a:p>
        </p:txBody>
      </p:sp>
      <p:sp>
        <p:nvSpPr>
          <p:cNvPr id="13" name="Shape 11"/>
          <p:cNvSpPr/>
          <p:nvPr/>
        </p:nvSpPr>
        <p:spPr>
          <a:xfrm>
            <a:off x="777240" y="5230368"/>
            <a:ext cx="10634472" cy="493776"/>
          </a:xfrm>
          <a:prstGeom prst="roundRect">
            <a:avLst>
              <a:gd name="adj" fmla="val 16667"/>
            </a:avLst>
          </a:prstGeom>
          <a:solidFill>
            <a:srgbClr val="F5F6F8"/>
          </a:solidFill>
          <a:ln w="12700">
            <a:solidFill>
              <a:srgbClr val="E1E4E9"/>
            </a:solidFill>
            <a:prstDash val="solid"/>
          </a:ln>
        </p:spPr>
      </p:sp>
      <p:sp>
        <p:nvSpPr>
          <p:cNvPr id="14" name="Text 12"/>
          <p:cNvSpPr/>
          <p:nvPr/>
        </p:nvSpPr>
        <p:spPr>
          <a:xfrm>
            <a:off x="1069848" y="5239512"/>
            <a:ext cx="3291840" cy="475488"/>
          </a:xfrm>
          <a:prstGeom prst="rect">
            <a:avLst/>
          </a:prstGeom>
          <a:noFill/>
          <a:ln/>
        </p:spPr>
        <p:txBody>
          <a:bodyPr wrap="square" lIns="0" tIns="0" rIns="0" bIns="0" rtlCol="0" anchor="ctr"/>
          <a:lstStyle/>
          <a:p>
            <a:pPr indent="0" marL="0">
              <a:buNone/>
            </a:pPr>
            <a:r>
              <a:rPr lang="en-US" sz="1300" dirty="0">
                <a:solidFill>
                  <a:srgbClr val="00776A"/>
                </a:solidFill>
                <a:latin typeface="Courier New" pitchFamily="34" charset="0"/>
                <a:ea typeface="Courier New" pitchFamily="34" charset="-122"/>
                <a:cs typeface="Courier New" pitchFamily="34" charset="-120"/>
              </a:rPr>
              <a:t>claude-haiku-4-5</a:t>
            </a:r>
            <a:endParaRPr lang="en-US" sz="1300" dirty="0"/>
          </a:p>
        </p:txBody>
      </p:sp>
      <p:sp>
        <p:nvSpPr>
          <p:cNvPr id="15" name="Text 13"/>
          <p:cNvSpPr/>
          <p:nvPr/>
        </p:nvSpPr>
        <p:spPr>
          <a:xfrm>
            <a:off x="4526280" y="5239512"/>
            <a:ext cx="3108960" cy="475488"/>
          </a:xfrm>
          <a:prstGeom prst="rect">
            <a:avLst/>
          </a:prstGeom>
          <a:noFill/>
          <a:ln/>
        </p:spPr>
        <p:txBody>
          <a:bodyPr wrap="square" lIns="0" tIns="0" rIns="0" bIns="0" rtlCol="0" anchor="ctr"/>
          <a:lstStyle/>
          <a:p>
            <a:pPr indent="0" marL="0">
              <a:buNone/>
            </a:pPr>
            <a:r>
              <a:rPr lang="en-US" sz="1300" dirty="0">
                <a:solidFill>
                  <a:srgbClr val="15181F"/>
                </a:solidFill>
                <a:latin typeface="Calibri" pitchFamily="34" charset="0"/>
                <a:ea typeface="Calibri" pitchFamily="34" charset="-122"/>
                <a:cs typeface="Calibri" pitchFamily="34" charset="-120"/>
              </a:rPr>
              <a:t>$0.00125 per request</a:t>
            </a:r>
            <a:endParaRPr lang="en-US" sz="1300" dirty="0"/>
          </a:p>
        </p:txBody>
      </p:sp>
      <p:sp>
        <p:nvSpPr>
          <p:cNvPr id="16" name="Text 14"/>
          <p:cNvSpPr/>
          <p:nvPr/>
        </p:nvSpPr>
        <p:spPr>
          <a:xfrm>
            <a:off x="7818120" y="5239512"/>
            <a:ext cx="3474720" cy="47548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about 4,000 requests for $5</a:t>
            </a:r>
            <a:endParaRPr lang="en-US" sz="1300" dirty="0"/>
          </a:p>
        </p:txBody>
      </p:sp>
      <p:sp>
        <p:nvSpPr>
          <p:cNvPr id="17" name="Shape 15"/>
          <p:cNvSpPr/>
          <p:nvPr/>
        </p:nvSpPr>
        <p:spPr>
          <a:xfrm>
            <a:off x="777240" y="5797296"/>
            <a:ext cx="10634472" cy="493776"/>
          </a:xfrm>
          <a:prstGeom prst="roundRect">
            <a:avLst>
              <a:gd name="adj" fmla="val 16667"/>
            </a:avLst>
          </a:prstGeom>
          <a:solidFill>
            <a:srgbClr val="F5F6F8"/>
          </a:solidFill>
          <a:ln w="12700">
            <a:solidFill>
              <a:srgbClr val="E1E4E9"/>
            </a:solidFill>
            <a:prstDash val="solid"/>
          </a:ln>
        </p:spPr>
      </p:sp>
      <p:sp>
        <p:nvSpPr>
          <p:cNvPr id="18" name="Text 16"/>
          <p:cNvSpPr/>
          <p:nvPr/>
        </p:nvSpPr>
        <p:spPr>
          <a:xfrm>
            <a:off x="1069848" y="5806440"/>
            <a:ext cx="3291840" cy="475488"/>
          </a:xfrm>
          <a:prstGeom prst="rect">
            <a:avLst/>
          </a:prstGeom>
          <a:noFill/>
          <a:ln/>
        </p:spPr>
        <p:txBody>
          <a:bodyPr wrap="square" lIns="0" tIns="0" rIns="0" bIns="0" rtlCol="0" anchor="ctr"/>
          <a:lstStyle/>
          <a:p>
            <a:pPr indent="0" marL="0">
              <a:buNone/>
            </a:pPr>
            <a:r>
              <a:rPr lang="en-US" sz="1300" dirty="0">
                <a:solidFill>
                  <a:srgbClr val="00776A"/>
                </a:solidFill>
                <a:latin typeface="Courier New" pitchFamily="34" charset="0"/>
                <a:ea typeface="Courier New" pitchFamily="34" charset="-122"/>
                <a:cs typeface="Courier New" pitchFamily="34" charset="-120"/>
              </a:rPr>
              <a:t>claude-opus-5</a:t>
            </a:r>
            <a:endParaRPr lang="en-US" sz="1300" dirty="0"/>
          </a:p>
        </p:txBody>
      </p:sp>
      <p:sp>
        <p:nvSpPr>
          <p:cNvPr id="19" name="Text 17"/>
          <p:cNvSpPr/>
          <p:nvPr/>
        </p:nvSpPr>
        <p:spPr>
          <a:xfrm>
            <a:off x="4526280" y="5806440"/>
            <a:ext cx="3108960" cy="475488"/>
          </a:xfrm>
          <a:prstGeom prst="rect">
            <a:avLst/>
          </a:prstGeom>
          <a:noFill/>
          <a:ln/>
        </p:spPr>
        <p:txBody>
          <a:bodyPr wrap="square" lIns="0" tIns="0" rIns="0" bIns="0" rtlCol="0" anchor="ctr"/>
          <a:lstStyle/>
          <a:p>
            <a:pPr indent="0" marL="0">
              <a:buNone/>
            </a:pPr>
            <a:r>
              <a:rPr lang="en-US" sz="1300" dirty="0">
                <a:solidFill>
                  <a:srgbClr val="15181F"/>
                </a:solidFill>
                <a:latin typeface="Calibri" pitchFamily="34" charset="0"/>
                <a:ea typeface="Calibri" pitchFamily="34" charset="-122"/>
                <a:cs typeface="Calibri" pitchFamily="34" charset="-120"/>
              </a:rPr>
              <a:t>$0.00625 per request</a:t>
            </a:r>
            <a:endParaRPr lang="en-US" sz="1300" dirty="0"/>
          </a:p>
        </p:txBody>
      </p:sp>
      <p:sp>
        <p:nvSpPr>
          <p:cNvPr id="20" name="Text 18"/>
          <p:cNvSpPr/>
          <p:nvPr/>
        </p:nvSpPr>
        <p:spPr>
          <a:xfrm>
            <a:off x="7818120" y="5806440"/>
            <a:ext cx="3474720" cy="47548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about 800 requests for $5</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3</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Put it on the internet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Your application works on exactly one computer. Let's fix that.</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3.1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Three things have to happen</a:t>
            </a:r>
            <a:endParaRPr lang="en-US" sz="3100" dirty="0"/>
          </a:p>
        </p:txBody>
      </p:sp>
      <p:sp>
        <p:nvSpPr>
          <p:cNvPr id="4" name="Shape 2"/>
          <p:cNvSpPr/>
          <p:nvPr/>
        </p:nvSpPr>
        <p:spPr>
          <a:xfrm>
            <a:off x="777240" y="1828800"/>
            <a:ext cx="10634472" cy="1005840"/>
          </a:xfrm>
          <a:prstGeom prst="roundRect">
            <a:avLst>
              <a:gd name="adj" fmla="val 8182"/>
            </a:avLst>
          </a:prstGeom>
          <a:solidFill>
            <a:srgbClr val="F5F6F8"/>
          </a:solidFill>
          <a:ln w="12700">
            <a:solidFill>
              <a:srgbClr val="E1E4E9"/>
            </a:solidFill>
            <a:prstDash val="solid"/>
          </a:ln>
        </p:spPr>
      </p:sp>
      <p:sp>
        <p:nvSpPr>
          <p:cNvPr id="5" name="Shape 3"/>
          <p:cNvSpPr/>
          <p:nvPr/>
        </p:nvSpPr>
        <p:spPr>
          <a:xfrm>
            <a:off x="1051560" y="2176272"/>
            <a:ext cx="310896" cy="310896"/>
          </a:xfrm>
          <a:prstGeom prst="ellipse">
            <a:avLst/>
          </a:prstGeom>
          <a:solidFill>
            <a:srgbClr val="00776A"/>
          </a:solidFill>
          <a:ln/>
        </p:spPr>
      </p:sp>
      <p:sp>
        <p:nvSpPr>
          <p:cNvPr id="6" name="Text 4"/>
          <p:cNvSpPr/>
          <p:nvPr/>
        </p:nvSpPr>
        <p:spPr>
          <a:xfrm>
            <a:off x="1051560" y="21762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847088"/>
            <a:ext cx="4206240" cy="9692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Your code has to get there</a:t>
            </a:r>
            <a:endParaRPr lang="en-US" sz="1500" dirty="0"/>
          </a:p>
        </p:txBody>
      </p:sp>
      <p:sp>
        <p:nvSpPr>
          <p:cNvPr id="8" name="Text 6"/>
          <p:cNvSpPr/>
          <p:nvPr/>
        </p:nvSpPr>
        <p:spPr>
          <a:xfrm>
            <a:off x="5989320" y="1847088"/>
            <a:ext cx="5303520" cy="9692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you cannot email a folder to a server</a:t>
            </a:r>
            <a:endParaRPr lang="en-US" sz="1300" dirty="0"/>
          </a:p>
        </p:txBody>
      </p:sp>
      <p:sp>
        <p:nvSpPr>
          <p:cNvPr id="9" name="Shape 7"/>
          <p:cNvSpPr/>
          <p:nvPr/>
        </p:nvSpPr>
        <p:spPr>
          <a:xfrm>
            <a:off x="777240" y="3017520"/>
            <a:ext cx="10634472" cy="1005840"/>
          </a:xfrm>
          <a:prstGeom prst="roundRect">
            <a:avLst>
              <a:gd name="adj" fmla="val 8182"/>
            </a:avLst>
          </a:prstGeom>
          <a:solidFill>
            <a:srgbClr val="F5F6F8"/>
          </a:solidFill>
          <a:ln w="12700">
            <a:solidFill>
              <a:srgbClr val="E1E4E9"/>
            </a:solidFill>
            <a:prstDash val="solid"/>
          </a:ln>
        </p:spPr>
      </p:sp>
      <p:sp>
        <p:nvSpPr>
          <p:cNvPr id="10" name="Shape 8"/>
          <p:cNvSpPr/>
          <p:nvPr/>
        </p:nvSpPr>
        <p:spPr>
          <a:xfrm>
            <a:off x="1051560" y="3364992"/>
            <a:ext cx="310896" cy="310896"/>
          </a:xfrm>
          <a:prstGeom prst="ellipse">
            <a:avLst/>
          </a:prstGeom>
          <a:solidFill>
            <a:srgbClr val="00776A"/>
          </a:solidFill>
          <a:ln/>
        </p:spPr>
      </p:sp>
      <p:sp>
        <p:nvSpPr>
          <p:cNvPr id="11" name="Text 9"/>
          <p:cNvSpPr/>
          <p:nvPr/>
        </p:nvSpPr>
        <p:spPr>
          <a:xfrm>
            <a:off x="1051560" y="33649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645920" y="3035808"/>
            <a:ext cx="4206240" cy="9692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The server has to know how to run it</a:t>
            </a:r>
            <a:endParaRPr lang="en-US" sz="1500" dirty="0"/>
          </a:p>
        </p:txBody>
      </p:sp>
      <p:sp>
        <p:nvSpPr>
          <p:cNvPr id="13" name="Text 11"/>
          <p:cNvSpPr/>
          <p:nvPr/>
        </p:nvSpPr>
        <p:spPr>
          <a:xfrm>
            <a:off x="5989320" y="3035808"/>
            <a:ext cx="5303520" cy="9692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it starts empty: no packages, no start command</a:t>
            </a:r>
            <a:endParaRPr lang="en-US" sz="1300" dirty="0"/>
          </a:p>
        </p:txBody>
      </p:sp>
      <p:sp>
        <p:nvSpPr>
          <p:cNvPr id="14" name="Shape 12"/>
          <p:cNvSpPr/>
          <p:nvPr/>
        </p:nvSpPr>
        <p:spPr>
          <a:xfrm>
            <a:off x="777240" y="4206240"/>
            <a:ext cx="10634472" cy="1005840"/>
          </a:xfrm>
          <a:prstGeom prst="roundRect">
            <a:avLst>
              <a:gd name="adj" fmla="val 8182"/>
            </a:avLst>
          </a:prstGeom>
          <a:solidFill>
            <a:srgbClr val="F5F6F8"/>
          </a:solidFill>
          <a:ln w="12700">
            <a:solidFill>
              <a:srgbClr val="E1E4E9"/>
            </a:solidFill>
            <a:prstDash val="solid"/>
          </a:ln>
        </p:spPr>
      </p:sp>
      <p:sp>
        <p:nvSpPr>
          <p:cNvPr id="15" name="Shape 13"/>
          <p:cNvSpPr/>
          <p:nvPr/>
        </p:nvSpPr>
        <p:spPr>
          <a:xfrm>
            <a:off x="1051560" y="4553712"/>
            <a:ext cx="310896" cy="310896"/>
          </a:xfrm>
          <a:prstGeom prst="ellipse">
            <a:avLst/>
          </a:prstGeom>
          <a:solidFill>
            <a:srgbClr val="00776A"/>
          </a:solidFill>
          <a:ln/>
        </p:spPr>
      </p:sp>
      <p:sp>
        <p:nvSpPr>
          <p:cNvPr id="16" name="Text 14"/>
          <p:cNvSpPr/>
          <p:nvPr/>
        </p:nvSpPr>
        <p:spPr>
          <a:xfrm>
            <a:off x="1051560" y="45537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645920" y="4224528"/>
            <a:ext cx="4206240" cy="9692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It has to keep running</a:t>
            </a:r>
            <a:endParaRPr lang="en-US" sz="1500" dirty="0"/>
          </a:p>
        </p:txBody>
      </p:sp>
      <p:sp>
        <p:nvSpPr>
          <p:cNvPr id="18" name="Text 16"/>
          <p:cNvSpPr/>
          <p:nvPr/>
        </p:nvSpPr>
        <p:spPr>
          <a:xfrm>
            <a:off x="5989320" y="4224528"/>
            <a:ext cx="5303520" cy="9692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if it crashes at 3am, something must restart it</a:t>
            </a:r>
            <a:endParaRPr lang="en-US" sz="1300" dirty="0"/>
          </a:p>
        </p:txBody>
      </p:sp>
      <p:sp>
        <p:nvSpPr>
          <p:cNvPr id="19" name="Shape 17"/>
          <p:cNvSpPr/>
          <p:nvPr/>
        </p:nvSpPr>
        <p:spPr>
          <a:xfrm>
            <a:off x="777240" y="5486400"/>
            <a:ext cx="10634472" cy="914400"/>
          </a:xfrm>
          <a:prstGeom prst="roundRect">
            <a:avLst>
              <a:gd name="adj" fmla="val 9000"/>
            </a:avLst>
          </a:prstGeom>
          <a:solidFill>
            <a:srgbClr val="F5F6F8"/>
          </a:solidFill>
          <a:ln w="12700">
            <a:solidFill>
              <a:srgbClr val="E1E4E9"/>
            </a:solidFill>
            <a:prstDash val="solid"/>
          </a:ln>
        </p:spPr>
      </p:sp>
      <p:sp>
        <p:nvSpPr>
          <p:cNvPr id="20" name="Text 18"/>
          <p:cNvSpPr/>
          <p:nvPr/>
        </p:nvSpPr>
        <p:spPr>
          <a:xfrm>
            <a:off x="1143000" y="5577840"/>
            <a:ext cx="10241280" cy="731520"/>
          </a:xfrm>
          <a:prstGeom prst="rect">
            <a:avLst/>
          </a:prstGeom>
          <a:noFill/>
          <a:ln/>
        </p:spPr>
        <p:txBody>
          <a:bodyPr wrap="square" lIns="0" tIns="0" rIns="0" bIns="0" rtlCol="0" anchor="ctr"/>
          <a:lstStyle/>
          <a:p>
            <a:pPr indent="0" marL="0">
              <a:buNone/>
            </a:pPr>
            <a:r>
              <a:rPr lang="en-US" sz="1600" b="1" dirty="0">
                <a:solidFill>
                  <a:srgbClr val="15181F"/>
                </a:solidFill>
                <a:latin typeface="Calibri" pitchFamily="34" charset="0"/>
                <a:ea typeface="Calibri" pitchFamily="34" charset="-122"/>
                <a:cs typeface="Calibri" pitchFamily="34" charset="-120"/>
              </a:rPr>
              <a:t>Solved in that order: two small files, then GitHub, then Render.</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3.2  ·  FILE 1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Tell the server what to install</a:t>
            </a:r>
            <a:endParaRPr lang="en-US" sz="3100" dirty="0"/>
          </a:p>
        </p:txBody>
      </p:sp>
      <p:sp>
        <p:nvSpPr>
          <p:cNvPr id="4" name="Shape 2"/>
          <p:cNvSpPr/>
          <p:nvPr/>
        </p:nvSpPr>
        <p:spPr>
          <a:xfrm>
            <a:off x="777240" y="1737360"/>
            <a:ext cx="10634472" cy="2011680"/>
          </a:xfrm>
          <a:prstGeom prst="roundRect">
            <a:avLst>
              <a:gd name="adj" fmla="val 3636"/>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requirements.txt</a:t>
            </a:r>
            <a:endParaRPr lang="en-US" sz="1050" dirty="0"/>
          </a:p>
        </p:txBody>
      </p:sp>
      <p:sp>
        <p:nvSpPr>
          <p:cNvPr id="6" name="Text 4"/>
          <p:cNvSpPr/>
          <p:nvPr/>
        </p:nvSpPr>
        <p:spPr>
          <a:xfrm>
            <a:off x="1069848" y="2148840"/>
            <a:ext cx="10085832" cy="14630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fastapi==0.141.1</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uvicorn[standard]==0.34.0</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pydantic==2.10.4</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python-dotenv==1.0.1</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anthropic==1.0.0</a:t>
            </a:r>
            <a:endParaRPr lang="en-US" sz="1500" dirty="0"/>
          </a:p>
        </p:txBody>
      </p:sp>
      <p:sp>
        <p:nvSpPr>
          <p:cNvPr id="7" name="Shape 5"/>
          <p:cNvSpPr/>
          <p:nvPr/>
        </p:nvSpPr>
        <p:spPr>
          <a:xfrm>
            <a:off x="777240" y="4023360"/>
            <a:ext cx="10634472" cy="1463040"/>
          </a:xfrm>
          <a:prstGeom prst="roundRect">
            <a:avLst>
              <a:gd name="adj" fmla="val 5625"/>
            </a:avLst>
          </a:prstGeom>
          <a:solidFill>
            <a:srgbClr val="FFF8E8"/>
          </a:solidFill>
          <a:ln w="12700">
            <a:solidFill>
              <a:srgbClr val="E5BC64"/>
            </a:solidFill>
            <a:prstDash val="solid"/>
          </a:ln>
        </p:spPr>
      </p:sp>
      <p:sp>
        <p:nvSpPr>
          <p:cNvPr id="8" name="Text 6"/>
          <p:cNvSpPr/>
          <p:nvPr/>
        </p:nvSpPr>
        <p:spPr>
          <a:xfrm>
            <a:off x="1143000" y="4160520"/>
            <a:ext cx="10241280" cy="384048"/>
          </a:xfrm>
          <a:prstGeom prst="rect">
            <a:avLst/>
          </a:prstGeom>
          <a:noFill/>
          <a:ln/>
        </p:spPr>
        <p:txBody>
          <a:bodyPr wrap="square" lIns="0" tIns="0" rIns="0" bIns="0" rtlCol="0" anchor="ctr"/>
          <a:lstStyle/>
          <a:p>
            <a:pPr indent="0" marL="0">
              <a:buNone/>
            </a:pPr>
            <a:r>
              <a:rPr lang="en-US" sz="1800" b="1" dirty="0">
                <a:solidFill>
                  <a:srgbClr val="7A5200"/>
                </a:solidFill>
                <a:latin typeface="Cambria" pitchFamily="34" charset="0"/>
                <a:ea typeface="Cambria" pitchFamily="34" charset="-122"/>
                <a:cs typeface="Cambria" pitchFamily="34" charset="-120"/>
              </a:rPr>
              <a:t>Pin the versions.</a:t>
            </a:r>
            <a:endParaRPr lang="en-US" sz="1800" dirty="0"/>
          </a:p>
        </p:txBody>
      </p:sp>
      <p:sp>
        <p:nvSpPr>
          <p:cNvPr id="9" name="Text 7"/>
          <p:cNvSpPr/>
          <p:nvPr/>
        </p:nvSpPr>
        <p:spPr>
          <a:xfrm>
            <a:off x="1143000" y="4572000"/>
            <a:ext cx="10241280" cy="777240"/>
          </a:xfrm>
          <a:prstGeom prst="rect">
            <a:avLst/>
          </a:prstGeom>
          <a:noFill/>
          <a:ln/>
        </p:spPr>
        <p:txBody>
          <a:bodyPr wrap="square" lIns="0" tIns="0" rIns="0" bIns="0" rtlCol="0" anchor="ctr"/>
          <a:lstStyle/>
          <a:p>
            <a:pPr indent="0" marL="0">
              <a:buNone/>
            </a:pPr>
            <a:r>
              <a:rPr lang="en-US" sz="1450" dirty="0">
                <a:solidFill>
                  <a:srgbClr val="7A5200"/>
                </a:solidFill>
                <a:latin typeface="Calibri" pitchFamily="34" charset="0"/>
                <a:ea typeface="Calibri" pitchFamily="34" charset="-122"/>
                <a:cs typeface="Calibri" pitchFamily="34" charset="-120"/>
              </a:rPr>
              <a:t>Writing fastapi with no version means the server installs whatever is newest on the day it builds. Your application then breaks weeks later without you touching a single line of code.</a:t>
            </a:r>
            <a:endParaRPr lang="en-US" sz="1450" dirty="0"/>
          </a:p>
        </p:txBody>
      </p:sp>
      <p:sp>
        <p:nvSpPr>
          <p:cNvPr id="10" name="Shape 8"/>
          <p:cNvSpPr/>
          <p:nvPr/>
        </p:nvSpPr>
        <p:spPr>
          <a:xfrm>
            <a:off x="777240" y="5669280"/>
            <a:ext cx="10634472" cy="749808"/>
          </a:xfrm>
          <a:prstGeom prst="roundRect">
            <a:avLst>
              <a:gd name="adj" fmla="val 9756"/>
            </a:avLst>
          </a:prstGeom>
          <a:solidFill>
            <a:srgbClr val="1B1F2A"/>
          </a:solidFill>
          <a:ln w="12700">
            <a:solidFill>
              <a:srgbClr val="1B1F2A"/>
            </a:solidFill>
            <a:prstDash val="solid"/>
          </a:ln>
        </p:spPr>
      </p:sp>
      <p:sp>
        <p:nvSpPr>
          <p:cNvPr id="11" name="Text 9"/>
          <p:cNvSpPr/>
          <p:nvPr/>
        </p:nvSpPr>
        <p:spPr>
          <a:xfrm>
            <a:off x="1097280" y="589788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pip freeze</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3.2  ·  FILE 2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Tell Render how to run it</a:t>
            </a:r>
            <a:endParaRPr lang="en-US" sz="3100" dirty="0"/>
          </a:p>
        </p:txBody>
      </p:sp>
      <p:sp>
        <p:nvSpPr>
          <p:cNvPr id="4" name="Shape 2"/>
          <p:cNvSpPr/>
          <p:nvPr/>
        </p:nvSpPr>
        <p:spPr>
          <a:xfrm>
            <a:off x="777240" y="1737360"/>
            <a:ext cx="10634472" cy="3646170"/>
          </a:xfrm>
          <a:prstGeom prst="roundRect">
            <a:avLst>
              <a:gd name="adj" fmla="val 2006"/>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render.yaml</a:t>
            </a:r>
            <a:endParaRPr lang="en-US" sz="1050" dirty="0"/>
          </a:p>
        </p:txBody>
      </p:sp>
      <p:sp>
        <p:nvSpPr>
          <p:cNvPr id="6" name="Text 4"/>
          <p:cNvSpPr/>
          <p:nvPr/>
        </p:nvSpPr>
        <p:spPr>
          <a:xfrm>
            <a:off x="1069848" y="2148840"/>
            <a:ext cx="10085832" cy="3097530"/>
          </a:xfrm>
          <a:prstGeom prst="rect">
            <a:avLst/>
          </a:prstGeom>
          <a:noFill/>
          <a:ln/>
        </p:spPr>
        <p:txBody>
          <a:bodyPr wrap="square" lIns="0" tIns="0" rIns="0" bIns="0" rtlCol="0" anchor="t"/>
          <a:lstStyle/>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services: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name: sensor-triage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type: web</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runtime: python</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plan: free                  # no credit card required</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buildCommand: pip install -r requirements.txt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startCommand: uvicorn main:app --host 0.0.0.0 --port $PORT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healthCheckPath: /health    # Render calls this to check you are alive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envVars: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key: USE_MOCK</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value: "true"</a:t>
            </a: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value typed into the dashboard, never written in this file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key: ANTHROPIC_API_KEY</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sync: false</a:t>
            </a:r>
            <a:endParaRPr lang="en-US" sz="1350" dirty="0"/>
          </a:p>
        </p:txBody>
      </p:sp>
      <p:sp>
        <p:nvSpPr>
          <p:cNvPr id="7" name="Text 5"/>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buildCommand runs once when the code arrives. startCommand runs to keep it alive.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3.2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Three details worth understanding</a:t>
            </a:r>
            <a:endParaRPr lang="en-US" sz="3100" dirty="0"/>
          </a:p>
        </p:txBody>
      </p:sp>
      <p:sp>
        <p:nvSpPr>
          <p:cNvPr id="4" name="Shape 2"/>
          <p:cNvSpPr/>
          <p:nvPr/>
        </p:nvSpPr>
        <p:spPr>
          <a:xfrm>
            <a:off x="777240" y="1691640"/>
            <a:ext cx="10634472" cy="1188720"/>
          </a:xfrm>
          <a:prstGeom prst="roundRect">
            <a:avLst>
              <a:gd name="adj" fmla="val 6923"/>
            </a:avLst>
          </a:prstGeom>
          <a:solidFill>
            <a:srgbClr val="F5F6F8"/>
          </a:solidFill>
          <a:ln w="12700">
            <a:solidFill>
              <a:srgbClr val="E1E4E9"/>
            </a:solidFill>
            <a:prstDash val="solid"/>
          </a:ln>
        </p:spPr>
      </p:sp>
      <p:sp>
        <p:nvSpPr>
          <p:cNvPr id="5" name="Text 3"/>
          <p:cNvSpPr/>
          <p:nvPr/>
        </p:nvSpPr>
        <p:spPr>
          <a:xfrm>
            <a:off x="1143000" y="1828800"/>
            <a:ext cx="4572000" cy="365760"/>
          </a:xfrm>
          <a:prstGeom prst="rect">
            <a:avLst/>
          </a:prstGeom>
          <a:noFill/>
          <a:ln/>
        </p:spPr>
        <p:txBody>
          <a:bodyPr wrap="square" lIns="0" tIns="0" rIns="0" bIns="0" rtlCol="0" anchor="ctr"/>
          <a:lstStyle/>
          <a:p>
            <a:pPr indent="0" marL="0">
              <a:buNone/>
            </a:pPr>
            <a:r>
              <a:rPr lang="en-US" sz="1600" b="1" dirty="0">
                <a:solidFill>
                  <a:srgbClr val="00776A"/>
                </a:solidFill>
                <a:latin typeface="Courier New" pitchFamily="34" charset="0"/>
                <a:ea typeface="Courier New" pitchFamily="34" charset="-122"/>
                <a:cs typeface="Courier New" pitchFamily="34" charset="-120"/>
              </a:rPr>
              <a:t>--host 0.0.0.0</a:t>
            </a:r>
            <a:endParaRPr lang="en-US" sz="1600" dirty="0"/>
          </a:p>
        </p:txBody>
      </p:sp>
      <p:sp>
        <p:nvSpPr>
          <p:cNvPr id="6" name="Text 4"/>
          <p:cNvSpPr/>
          <p:nvPr/>
        </p:nvSpPr>
        <p:spPr>
          <a:xfrm>
            <a:off x="1143000" y="2240280"/>
            <a:ext cx="10241280" cy="548640"/>
          </a:xfrm>
          <a:prstGeom prst="rect">
            <a:avLst/>
          </a:prstGeom>
          <a:noFill/>
          <a:ln/>
        </p:spPr>
        <p:txBody>
          <a:bodyPr wrap="square" lIns="0" tIns="0" rIns="0" bIns="0" rtlCol="0" anchor="ctr"/>
          <a:lstStyle/>
          <a:p>
            <a:pPr indent="0" marL="0">
              <a:buNone/>
            </a:pPr>
            <a:r>
              <a:rPr lang="en-US" sz="1400" dirty="0">
                <a:solidFill>
                  <a:srgbClr val="5C6470"/>
                </a:solidFill>
                <a:latin typeface="Calibri" pitchFamily="34" charset="0"/>
                <a:ea typeface="Calibri" pitchFamily="34" charset="-122"/>
                <a:cs typeface="Calibri" pitchFamily="34" charset="-120"/>
              </a:rPr>
              <a:t>On your laptop, uvicorn listens only for requests from your own machine. On a server that makes it unreachable. 0.0.0.0 means accept requests from anywhere.</a:t>
            </a:r>
            <a:endParaRPr lang="en-US" sz="1400" dirty="0"/>
          </a:p>
        </p:txBody>
      </p:sp>
      <p:sp>
        <p:nvSpPr>
          <p:cNvPr id="7" name="Shape 5"/>
          <p:cNvSpPr/>
          <p:nvPr/>
        </p:nvSpPr>
        <p:spPr>
          <a:xfrm>
            <a:off x="777240" y="3063240"/>
            <a:ext cx="10634472" cy="1188720"/>
          </a:xfrm>
          <a:prstGeom prst="roundRect">
            <a:avLst>
              <a:gd name="adj" fmla="val 6923"/>
            </a:avLst>
          </a:prstGeom>
          <a:solidFill>
            <a:srgbClr val="F5F6F8"/>
          </a:solidFill>
          <a:ln w="12700">
            <a:solidFill>
              <a:srgbClr val="E1E4E9"/>
            </a:solidFill>
            <a:prstDash val="solid"/>
          </a:ln>
        </p:spPr>
      </p:sp>
      <p:sp>
        <p:nvSpPr>
          <p:cNvPr id="8" name="Text 6"/>
          <p:cNvSpPr/>
          <p:nvPr/>
        </p:nvSpPr>
        <p:spPr>
          <a:xfrm>
            <a:off x="1143000" y="3200400"/>
            <a:ext cx="4572000" cy="365760"/>
          </a:xfrm>
          <a:prstGeom prst="rect">
            <a:avLst/>
          </a:prstGeom>
          <a:noFill/>
          <a:ln/>
        </p:spPr>
        <p:txBody>
          <a:bodyPr wrap="square" lIns="0" tIns="0" rIns="0" bIns="0" rtlCol="0" anchor="ctr"/>
          <a:lstStyle/>
          <a:p>
            <a:pPr indent="0" marL="0">
              <a:buNone/>
            </a:pPr>
            <a:r>
              <a:rPr lang="en-US" sz="1600" b="1" dirty="0">
                <a:solidFill>
                  <a:srgbClr val="00776A"/>
                </a:solidFill>
                <a:latin typeface="Courier New" pitchFamily="34" charset="0"/>
                <a:ea typeface="Courier New" pitchFamily="34" charset="-122"/>
                <a:cs typeface="Courier New" pitchFamily="34" charset="-120"/>
              </a:rPr>
              <a:t>--port $PORT</a:t>
            </a:r>
            <a:endParaRPr lang="en-US" sz="1600" dirty="0"/>
          </a:p>
        </p:txBody>
      </p:sp>
      <p:sp>
        <p:nvSpPr>
          <p:cNvPr id="9" name="Text 7"/>
          <p:cNvSpPr/>
          <p:nvPr/>
        </p:nvSpPr>
        <p:spPr>
          <a:xfrm>
            <a:off x="1143000" y="3611880"/>
            <a:ext cx="10241280" cy="548640"/>
          </a:xfrm>
          <a:prstGeom prst="rect">
            <a:avLst/>
          </a:prstGeom>
          <a:noFill/>
          <a:ln/>
        </p:spPr>
        <p:txBody>
          <a:bodyPr wrap="square" lIns="0" tIns="0" rIns="0" bIns="0" rtlCol="0" anchor="ctr"/>
          <a:lstStyle/>
          <a:p>
            <a:pPr indent="0" marL="0">
              <a:buNone/>
            </a:pPr>
            <a:r>
              <a:rPr lang="en-US" sz="1400" dirty="0">
                <a:solidFill>
                  <a:srgbClr val="5C6470"/>
                </a:solidFill>
                <a:latin typeface="Calibri" pitchFamily="34" charset="0"/>
                <a:ea typeface="Calibri" pitchFamily="34" charset="-122"/>
                <a:cs typeface="Calibri" pitchFamily="34" charset="-120"/>
              </a:rPr>
              <a:t>The platform chooses the port and tells your app through an environment variable. Hardcode 8000 and the logs look healthy while the address shows nothing.</a:t>
            </a:r>
            <a:endParaRPr lang="en-US" sz="1400" dirty="0"/>
          </a:p>
        </p:txBody>
      </p:sp>
      <p:sp>
        <p:nvSpPr>
          <p:cNvPr id="10" name="Shape 8"/>
          <p:cNvSpPr/>
          <p:nvPr/>
        </p:nvSpPr>
        <p:spPr>
          <a:xfrm>
            <a:off x="777240" y="4434840"/>
            <a:ext cx="10634472" cy="1737360"/>
          </a:xfrm>
          <a:prstGeom prst="roundRect">
            <a:avLst>
              <a:gd name="adj" fmla="val 4737"/>
            </a:avLst>
          </a:prstGeom>
          <a:solidFill>
            <a:srgbClr val="FBF0EE"/>
          </a:solidFill>
          <a:ln w="12700">
            <a:solidFill>
              <a:srgbClr val="BE3A2B"/>
            </a:solidFill>
            <a:prstDash val="solid"/>
          </a:ln>
        </p:spPr>
      </p:sp>
      <p:sp>
        <p:nvSpPr>
          <p:cNvPr id="11" name="Text 9"/>
          <p:cNvSpPr/>
          <p:nvPr/>
        </p:nvSpPr>
        <p:spPr>
          <a:xfrm>
            <a:off x="1143000" y="4572000"/>
            <a:ext cx="4572000" cy="365760"/>
          </a:xfrm>
          <a:prstGeom prst="rect">
            <a:avLst/>
          </a:prstGeom>
          <a:noFill/>
          <a:ln/>
        </p:spPr>
        <p:txBody>
          <a:bodyPr wrap="square" lIns="0" tIns="0" rIns="0" bIns="0" rtlCol="0" anchor="ctr"/>
          <a:lstStyle/>
          <a:p>
            <a:pPr indent="0" marL="0">
              <a:buNone/>
            </a:pPr>
            <a:r>
              <a:rPr lang="en-US" sz="1600" b="1" dirty="0">
                <a:solidFill>
                  <a:srgbClr val="BE3A2B"/>
                </a:solidFill>
                <a:latin typeface="Courier New" pitchFamily="34" charset="0"/>
                <a:ea typeface="Courier New" pitchFamily="34" charset="-122"/>
                <a:cs typeface="Courier New" pitchFamily="34" charset="-120"/>
              </a:rPr>
              <a:t>sync: false</a:t>
            </a:r>
            <a:endParaRPr lang="en-US" sz="1600" dirty="0"/>
          </a:p>
        </p:txBody>
      </p:sp>
      <p:sp>
        <p:nvSpPr>
          <p:cNvPr id="12" name="Text 10"/>
          <p:cNvSpPr/>
          <p:nvPr/>
        </p:nvSpPr>
        <p:spPr>
          <a:xfrm>
            <a:off x="1143000" y="4983480"/>
            <a:ext cx="10241280" cy="731520"/>
          </a:xfrm>
          <a:prstGeom prst="rect">
            <a:avLst/>
          </a:prstGeom>
          <a:noFill/>
          <a:ln/>
        </p:spPr>
        <p:txBody>
          <a:bodyPr wrap="square" lIns="0" tIns="0" rIns="0" bIns="0" rtlCol="0" anchor="ctr"/>
          <a:lstStyle/>
          <a:p>
            <a:pPr indent="0" marL="0">
              <a:buNone/>
            </a:pPr>
            <a:r>
              <a:rPr lang="en-US" sz="1400" dirty="0">
                <a:solidFill>
                  <a:srgbClr val="BE3A2B"/>
                </a:solidFill>
                <a:latin typeface="Calibri" pitchFamily="34" charset="0"/>
                <a:ea typeface="Calibri" pitchFamily="34" charset="-122"/>
                <a:cs typeface="Calibri" pitchFamily="34" charset="-120"/>
              </a:rPr>
              <a:t>render.yaml is uploaded to GitHub. A key written as a value: here is published exactly as if you had pasted it into your source code. sync: false declares the setting without its value; you type the value into the dashboard afterwards.</a:t>
            </a:r>
            <a:endParaRPr lang="en-US" sz="1400" dirty="0"/>
          </a:p>
        </p:txBody>
      </p:sp>
      <p:sp>
        <p:nvSpPr>
          <p:cNvPr id="13" name="Text 11"/>
          <p:cNvSpPr/>
          <p:nvPr/>
        </p:nvSpPr>
        <p:spPr>
          <a:xfrm>
            <a:off x="1143000" y="5742432"/>
            <a:ext cx="10241280" cy="365760"/>
          </a:xfrm>
          <a:prstGeom prst="rect">
            <a:avLst/>
          </a:prstGeom>
          <a:noFill/>
          <a:ln/>
        </p:spPr>
        <p:txBody>
          <a:bodyPr wrap="square" lIns="0" tIns="0" rIns="0" bIns="0" rtlCol="0" anchor="ctr"/>
          <a:lstStyle/>
          <a:p>
            <a:pPr indent="0" marL="0">
              <a:buNone/>
            </a:pPr>
            <a:r>
              <a:rPr lang="en-US" sz="1450" b="1" dirty="0">
                <a:solidFill>
                  <a:srgbClr val="BE3A2B"/>
                </a:solidFill>
                <a:latin typeface="Calibri" pitchFamily="34" charset="0"/>
                <a:ea typeface="Calibri" pitchFamily="34" charset="-122"/>
                <a:cs typeface="Calibri" pitchFamily="34" charset="-120"/>
              </a:rPr>
              <a:t>Any file that gets committed is a place a secret can hide. .env is not the only one.</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Git, in four words</a:t>
            </a:r>
            <a:endParaRPr lang="en-US" sz="3100" dirty="0"/>
          </a:p>
        </p:txBody>
      </p:sp>
      <p:sp>
        <p:nvSpPr>
          <p:cNvPr id="4" name="Shape 2"/>
          <p:cNvSpPr/>
          <p:nvPr/>
        </p:nvSpPr>
        <p:spPr>
          <a:xfrm>
            <a:off x="777240" y="1691640"/>
            <a:ext cx="10634472" cy="594360"/>
          </a:xfrm>
          <a:prstGeom prst="roundRect">
            <a:avLst>
              <a:gd name="adj" fmla="val 13846"/>
            </a:avLst>
          </a:prstGeom>
          <a:solidFill>
            <a:srgbClr val="FFF8E8"/>
          </a:solidFill>
          <a:ln w="12700">
            <a:solidFill>
              <a:srgbClr val="E5BC64"/>
            </a:solidFill>
            <a:prstDash val="solid"/>
          </a:ln>
        </p:spPr>
      </p:sp>
      <p:sp>
        <p:nvSpPr>
          <p:cNvPr id="5" name="Text 3"/>
          <p:cNvSpPr/>
          <p:nvPr/>
        </p:nvSpPr>
        <p:spPr>
          <a:xfrm>
            <a:off x="1051560" y="17099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repository</a:t>
            </a:r>
            <a:endParaRPr lang="en-US" sz="1400" dirty="0"/>
          </a:p>
        </p:txBody>
      </p:sp>
      <p:sp>
        <p:nvSpPr>
          <p:cNvPr id="6" name="Text 4"/>
          <p:cNvSpPr/>
          <p:nvPr/>
        </p:nvSpPr>
        <p:spPr>
          <a:xfrm>
            <a:off x="4251960" y="17099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one project's folder, with all of its history</a:t>
            </a:r>
            <a:endParaRPr lang="en-US" sz="1350" dirty="0"/>
          </a:p>
        </p:txBody>
      </p:sp>
      <p:sp>
        <p:nvSpPr>
          <p:cNvPr id="7" name="Shape 5"/>
          <p:cNvSpPr/>
          <p:nvPr/>
        </p:nvSpPr>
        <p:spPr>
          <a:xfrm>
            <a:off x="777240" y="2377440"/>
            <a:ext cx="10634472" cy="594360"/>
          </a:xfrm>
          <a:prstGeom prst="roundRect">
            <a:avLst>
              <a:gd name="adj" fmla="val 13846"/>
            </a:avLst>
          </a:prstGeom>
          <a:solidFill>
            <a:srgbClr val="FFF8E8"/>
          </a:solidFill>
          <a:ln w="12700">
            <a:solidFill>
              <a:srgbClr val="E5BC64"/>
            </a:solidFill>
            <a:prstDash val="solid"/>
          </a:ln>
        </p:spPr>
      </p:sp>
      <p:sp>
        <p:nvSpPr>
          <p:cNvPr id="8" name="Text 6"/>
          <p:cNvSpPr/>
          <p:nvPr/>
        </p:nvSpPr>
        <p:spPr>
          <a:xfrm>
            <a:off x="1051560" y="23957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commit</a:t>
            </a:r>
            <a:endParaRPr lang="en-US" sz="1400" dirty="0"/>
          </a:p>
        </p:txBody>
      </p:sp>
      <p:sp>
        <p:nvSpPr>
          <p:cNvPr id="9" name="Text 7"/>
          <p:cNvSpPr/>
          <p:nvPr/>
        </p:nvSpPr>
        <p:spPr>
          <a:xfrm>
            <a:off x="4251960" y="23957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saved checkpoint - what every file looked like at that moment</a:t>
            </a:r>
            <a:endParaRPr lang="en-US" sz="1350" dirty="0"/>
          </a:p>
        </p:txBody>
      </p:sp>
      <p:sp>
        <p:nvSpPr>
          <p:cNvPr id="10" name="Shape 8"/>
          <p:cNvSpPr/>
          <p:nvPr/>
        </p:nvSpPr>
        <p:spPr>
          <a:xfrm>
            <a:off x="777240" y="3063240"/>
            <a:ext cx="10634472" cy="594360"/>
          </a:xfrm>
          <a:prstGeom prst="roundRect">
            <a:avLst>
              <a:gd name="adj" fmla="val 13846"/>
            </a:avLst>
          </a:prstGeom>
          <a:solidFill>
            <a:srgbClr val="FFF8E8"/>
          </a:solidFill>
          <a:ln w="12700">
            <a:solidFill>
              <a:srgbClr val="E5BC64"/>
            </a:solidFill>
            <a:prstDash val="solid"/>
          </a:ln>
        </p:spPr>
      </p:sp>
      <p:sp>
        <p:nvSpPr>
          <p:cNvPr id="11" name="Text 9"/>
          <p:cNvSpPr/>
          <p:nvPr/>
        </p:nvSpPr>
        <p:spPr>
          <a:xfrm>
            <a:off x="1051560" y="30815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remote</a:t>
            </a:r>
            <a:endParaRPr lang="en-US" sz="1400" dirty="0"/>
          </a:p>
        </p:txBody>
      </p:sp>
      <p:sp>
        <p:nvSpPr>
          <p:cNvPr id="12" name="Text 10"/>
          <p:cNvSpPr/>
          <p:nvPr/>
        </p:nvSpPr>
        <p:spPr>
          <a:xfrm>
            <a:off x="4251960" y="30815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copy of your repository somewhere else, such as GitHub</a:t>
            </a:r>
            <a:endParaRPr lang="en-US" sz="1350" dirty="0"/>
          </a:p>
        </p:txBody>
      </p:sp>
      <p:sp>
        <p:nvSpPr>
          <p:cNvPr id="13" name="Shape 11"/>
          <p:cNvSpPr/>
          <p:nvPr/>
        </p:nvSpPr>
        <p:spPr>
          <a:xfrm>
            <a:off x="777240" y="3749040"/>
            <a:ext cx="10634472" cy="594360"/>
          </a:xfrm>
          <a:prstGeom prst="roundRect">
            <a:avLst>
              <a:gd name="adj" fmla="val 13846"/>
            </a:avLst>
          </a:prstGeom>
          <a:solidFill>
            <a:srgbClr val="FFF8E8"/>
          </a:solidFill>
          <a:ln w="12700">
            <a:solidFill>
              <a:srgbClr val="E5BC64"/>
            </a:solidFill>
            <a:prstDash val="solid"/>
          </a:ln>
        </p:spPr>
      </p:sp>
      <p:sp>
        <p:nvSpPr>
          <p:cNvPr id="14" name="Text 12"/>
          <p:cNvSpPr/>
          <p:nvPr/>
        </p:nvSpPr>
        <p:spPr>
          <a:xfrm>
            <a:off x="1051560" y="37673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push</a:t>
            </a:r>
            <a:endParaRPr lang="en-US" sz="1400" dirty="0"/>
          </a:p>
        </p:txBody>
      </p:sp>
      <p:sp>
        <p:nvSpPr>
          <p:cNvPr id="15" name="Text 13"/>
          <p:cNvSpPr/>
          <p:nvPr/>
        </p:nvSpPr>
        <p:spPr>
          <a:xfrm>
            <a:off x="4251960" y="37673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send your commits to the remote</a:t>
            </a:r>
            <a:endParaRPr lang="en-US" sz="1350" dirty="0"/>
          </a:p>
        </p:txBody>
      </p:sp>
      <p:sp>
        <p:nvSpPr>
          <p:cNvPr id="16" name="Shape 14"/>
          <p:cNvSpPr/>
          <p:nvPr/>
        </p:nvSpPr>
        <p:spPr>
          <a:xfrm>
            <a:off x="777240" y="4709160"/>
            <a:ext cx="10634472" cy="914400"/>
          </a:xfrm>
          <a:prstGeom prst="roundRect">
            <a:avLst>
              <a:gd name="adj" fmla="val 9000"/>
            </a:avLst>
          </a:prstGeom>
          <a:solidFill>
            <a:srgbClr val="F5F6F8"/>
          </a:solidFill>
          <a:ln w="12700">
            <a:solidFill>
              <a:srgbClr val="E1E4E9"/>
            </a:solidFill>
            <a:prstDash val="solid"/>
          </a:ln>
        </p:spPr>
      </p:sp>
      <p:sp>
        <p:nvSpPr>
          <p:cNvPr id="17" name="Text 15"/>
          <p:cNvSpPr/>
          <p:nvPr/>
        </p:nvSpPr>
        <p:spPr>
          <a:xfrm>
            <a:off x="1143000" y="4800600"/>
            <a:ext cx="10241280" cy="731520"/>
          </a:xfrm>
          <a:prstGeom prst="rect">
            <a:avLst/>
          </a:prstGeom>
          <a:noFill/>
          <a:ln/>
        </p:spPr>
        <p:txBody>
          <a:bodyPr wrap="square" lIns="0" tIns="0" rIns="0" bIns="0" rtlCol="0" anchor="ctr"/>
          <a:lstStyle/>
          <a:p>
            <a:pPr indent="0" marL="0">
              <a:buNone/>
            </a:pPr>
            <a:r>
              <a:rPr lang="en-US" sz="1700" dirty="0">
                <a:solidFill>
                  <a:srgbClr val="15181F"/>
                </a:solidFill>
                <a:latin typeface="Courier New" pitchFamily="34" charset="0"/>
                <a:ea typeface="Courier New" pitchFamily="34" charset="-122"/>
                <a:cs typeface="Courier New" pitchFamily="34" charset="-120"/>
              </a:rPr>
              <a:t>your folder  --commit--&gt;  local history  --push--&gt;  GitHub</a:t>
            </a:r>
            <a:endParaRPr lang="en-US" sz="1700" dirty="0"/>
          </a:p>
        </p:txBody>
      </p:sp>
      <p:sp>
        <p:nvSpPr>
          <p:cNvPr id="18" name="Text 16"/>
          <p:cNvSpPr/>
          <p:nvPr/>
        </p:nvSpPr>
        <p:spPr>
          <a:xfrm>
            <a:off x="777240" y="5760720"/>
            <a:ext cx="10634472" cy="73152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Git records checkpoints on your machine first. Pushing copies them elsewhere. That is why git works offline, and why GitHub is optional until another computer needs your code.</a:t>
            </a:r>
            <a:endParaRPr lang="en-US" sz="14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3.4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Put your code on GitHub</a:t>
            </a:r>
            <a:endParaRPr lang="en-US" sz="3100" dirty="0"/>
          </a:p>
        </p:txBody>
      </p:sp>
      <p:sp>
        <p:nvSpPr>
          <p:cNvPr id="4" name="Shape 2"/>
          <p:cNvSpPr/>
          <p:nvPr/>
        </p:nvSpPr>
        <p:spPr>
          <a:xfrm>
            <a:off x="777240" y="1691640"/>
            <a:ext cx="10634472" cy="1042416"/>
          </a:xfrm>
          <a:prstGeom prst="roundRect">
            <a:avLst>
              <a:gd name="adj" fmla="val 7018"/>
            </a:avLst>
          </a:prstGeom>
          <a:solidFill>
            <a:srgbClr val="1B1F2A"/>
          </a:solidFill>
          <a:ln w="12700">
            <a:solidFill>
              <a:srgbClr val="1B1F2A"/>
            </a:solidFill>
            <a:prstDash val="solid"/>
          </a:ln>
        </p:spPr>
      </p:sp>
      <p:sp>
        <p:nvSpPr>
          <p:cNvPr id="5" name="Text 3"/>
          <p:cNvSpPr/>
          <p:nvPr/>
        </p:nvSpPr>
        <p:spPr>
          <a:xfrm>
            <a:off x="1097280" y="1920240"/>
            <a:ext cx="9994392" cy="585216"/>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init</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add .</a:t>
            </a:r>
            <a:endParaRPr lang="en-US" sz="1600" dirty="0"/>
          </a:p>
        </p:txBody>
      </p:sp>
      <p:sp>
        <p:nvSpPr>
          <p:cNvPr id="6" name="Shape 4"/>
          <p:cNvSpPr/>
          <p:nvPr/>
        </p:nvSpPr>
        <p:spPr>
          <a:xfrm>
            <a:off x="777240" y="2880360"/>
            <a:ext cx="10634472" cy="1417320"/>
          </a:xfrm>
          <a:prstGeom prst="roundRect">
            <a:avLst>
              <a:gd name="adj" fmla="val 5806"/>
            </a:avLst>
          </a:prstGeom>
          <a:solidFill>
            <a:srgbClr val="FBF0EE"/>
          </a:solidFill>
          <a:ln w="12700">
            <a:solidFill>
              <a:srgbClr val="BE3A2B"/>
            </a:solidFill>
            <a:prstDash val="solid"/>
          </a:ln>
        </p:spPr>
      </p:sp>
      <p:sp>
        <p:nvSpPr>
          <p:cNvPr id="7" name="Text 5"/>
          <p:cNvSpPr/>
          <p:nvPr/>
        </p:nvSpPr>
        <p:spPr>
          <a:xfrm>
            <a:off x="1143000" y="3017520"/>
            <a:ext cx="10241280" cy="365760"/>
          </a:xfrm>
          <a:prstGeom prst="rect">
            <a:avLst/>
          </a:prstGeom>
          <a:noFill/>
          <a:ln/>
        </p:spPr>
        <p:txBody>
          <a:bodyPr wrap="square" lIns="0" tIns="0" rIns="0" bIns="0" rtlCol="0" anchor="ctr"/>
          <a:lstStyle/>
          <a:p>
            <a:pPr indent="0" marL="0">
              <a:buNone/>
            </a:pPr>
            <a:r>
              <a:rPr lang="en-US" sz="1500" b="1" dirty="0">
                <a:solidFill>
                  <a:srgbClr val="BE3A2B"/>
                </a:solidFill>
                <a:latin typeface="Calibri" pitchFamily="34" charset="0"/>
                <a:ea typeface="Calibri" pitchFamily="34" charset="-122"/>
                <a:cs typeface="Calibri" pitchFamily="34" charset="-120"/>
              </a:rPr>
              <a:t>Then, before you push - the most important command in this workshop:</a:t>
            </a:r>
            <a:endParaRPr lang="en-US" sz="1500" dirty="0"/>
          </a:p>
        </p:txBody>
      </p:sp>
      <p:sp>
        <p:nvSpPr>
          <p:cNvPr id="8" name="Text 6"/>
          <p:cNvSpPr/>
          <p:nvPr/>
        </p:nvSpPr>
        <p:spPr>
          <a:xfrm>
            <a:off x="1143000" y="3429000"/>
            <a:ext cx="4572000" cy="411480"/>
          </a:xfrm>
          <a:prstGeom prst="rect">
            <a:avLst/>
          </a:prstGeom>
          <a:noFill/>
          <a:ln/>
        </p:spPr>
        <p:txBody>
          <a:bodyPr wrap="square" lIns="0" tIns="0" rIns="0" bIns="0" rtlCol="0" anchor="ctr"/>
          <a:lstStyle/>
          <a:p>
            <a:pPr indent="0" marL="0">
              <a:buNone/>
            </a:pPr>
            <a:r>
              <a:rPr lang="en-US" sz="2200" b="1" dirty="0">
                <a:solidFill>
                  <a:srgbClr val="BE3A2B"/>
                </a:solidFill>
                <a:latin typeface="Courier New" pitchFamily="34" charset="0"/>
                <a:ea typeface="Courier New" pitchFamily="34" charset="-122"/>
                <a:cs typeface="Courier New" pitchFamily="34" charset="-120"/>
              </a:rPr>
              <a:t>git status</a:t>
            </a:r>
            <a:endParaRPr lang="en-US" sz="2200" dirty="0"/>
          </a:p>
        </p:txBody>
      </p:sp>
      <p:sp>
        <p:nvSpPr>
          <p:cNvPr id="9" name="Text 7"/>
          <p:cNvSpPr/>
          <p:nvPr/>
        </p:nvSpPr>
        <p:spPr>
          <a:xfrm>
            <a:off x="1143000" y="3886200"/>
            <a:ext cx="10241280" cy="365760"/>
          </a:xfrm>
          <a:prstGeom prst="rect">
            <a:avLst/>
          </a:prstGeom>
          <a:noFill/>
          <a:ln/>
        </p:spPr>
        <p:txBody>
          <a:bodyPr wrap="square" lIns="0" tIns="0" rIns="0" bIns="0" rtlCol="0" anchor="ctr"/>
          <a:lstStyle/>
          <a:p>
            <a:pPr indent="0" marL="0">
              <a:buNone/>
            </a:pPr>
            <a:r>
              <a:rPr lang="en-US" sz="1500" b="1" dirty="0">
                <a:solidFill>
                  <a:srgbClr val="BE3A2B"/>
                </a:solidFill>
                <a:latin typeface="Calibri" pitchFamily="34" charset="0"/>
                <a:ea typeface="Calibri" pitchFamily="34" charset="-122"/>
                <a:cs typeface="Calibri" pitchFamily="34" charset="-120"/>
              </a:rPr>
              <a:t>.env must NOT be in that list. If it is, stop and fix .gitignore.</a:t>
            </a:r>
            <a:endParaRPr lang="en-US" sz="1500" dirty="0"/>
          </a:p>
        </p:txBody>
      </p:sp>
      <p:sp>
        <p:nvSpPr>
          <p:cNvPr id="10" name="Shape 8"/>
          <p:cNvSpPr/>
          <p:nvPr/>
        </p:nvSpPr>
        <p:spPr>
          <a:xfrm>
            <a:off x="777240" y="4526280"/>
            <a:ext cx="10634472" cy="1335024"/>
          </a:xfrm>
          <a:prstGeom prst="roundRect">
            <a:avLst>
              <a:gd name="adj" fmla="val 5479"/>
            </a:avLst>
          </a:prstGeom>
          <a:solidFill>
            <a:srgbClr val="1B1F2A"/>
          </a:solidFill>
          <a:ln w="12700">
            <a:solidFill>
              <a:srgbClr val="1B1F2A"/>
            </a:solidFill>
            <a:prstDash val="solid"/>
          </a:ln>
        </p:spPr>
      </p:sp>
      <p:sp>
        <p:nvSpPr>
          <p:cNvPr id="11" name="Text 9"/>
          <p:cNvSpPr/>
          <p:nvPr/>
        </p:nvSpPr>
        <p:spPr>
          <a:xfrm>
            <a:off x="1097280" y="4754880"/>
            <a:ext cx="9994392" cy="877824"/>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commit -m "Sensor triage service"</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remote add origin https://github.com/YOU/sensor-triage.git</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push -u origin main</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3.5  ·  WHY THAT CHECK MATTERS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"I uploaded my key, but I deleted it"</a:t>
            </a:r>
            <a:endParaRPr lang="en-US" sz="3100" dirty="0"/>
          </a:p>
        </p:txBody>
      </p:sp>
      <p:sp>
        <p:nvSpPr>
          <p:cNvPr id="4" name="Shape 2"/>
          <p:cNvSpPr/>
          <p:nvPr/>
        </p:nvSpPr>
        <p:spPr>
          <a:xfrm>
            <a:off x="777240" y="1691640"/>
            <a:ext cx="10634472" cy="621792"/>
          </a:xfrm>
          <a:prstGeom prst="roundRect">
            <a:avLst>
              <a:gd name="adj" fmla="val 13235"/>
            </a:avLst>
          </a:prstGeom>
          <a:solidFill>
            <a:srgbClr val="F5F6F8"/>
          </a:solidFill>
          <a:ln w="12700">
            <a:solidFill>
              <a:srgbClr val="E1E4E9"/>
            </a:solidFill>
            <a:prstDash val="solid"/>
          </a:ln>
        </p:spPr>
      </p:sp>
      <p:sp>
        <p:nvSpPr>
          <p:cNvPr id="5" name="Shape 3"/>
          <p:cNvSpPr/>
          <p:nvPr/>
        </p:nvSpPr>
        <p:spPr>
          <a:xfrm>
            <a:off x="1051560" y="1847088"/>
            <a:ext cx="310896" cy="310896"/>
          </a:xfrm>
          <a:prstGeom prst="ellipse">
            <a:avLst/>
          </a:prstGeom>
          <a:solidFill>
            <a:srgbClr val="5C6470"/>
          </a:solidFill>
          <a:ln/>
        </p:spPr>
      </p:sp>
      <p:sp>
        <p:nvSpPr>
          <p:cNvPr id="6" name="Text 4"/>
          <p:cNvSpPr/>
          <p:nvPr/>
        </p:nvSpPr>
        <p:spPr>
          <a:xfrm>
            <a:off x="1051560" y="1847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09928"/>
            <a:ext cx="9601200" cy="585216"/>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You commit a file with your key in it, by accident</a:t>
            </a:r>
            <a:endParaRPr lang="en-US" sz="1500" dirty="0"/>
          </a:p>
        </p:txBody>
      </p:sp>
      <p:sp>
        <p:nvSpPr>
          <p:cNvPr id="8" name="Shape 6"/>
          <p:cNvSpPr/>
          <p:nvPr/>
        </p:nvSpPr>
        <p:spPr>
          <a:xfrm>
            <a:off x="777240" y="2423160"/>
            <a:ext cx="10634472" cy="621792"/>
          </a:xfrm>
          <a:prstGeom prst="roundRect">
            <a:avLst>
              <a:gd name="adj" fmla="val 13235"/>
            </a:avLst>
          </a:prstGeom>
          <a:solidFill>
            <a:srgbClr val="F5F6F8"/>
          </a:solidFill>
          <a:ln w="12700">
            <a:solidFill>
              <a:srgbClr val="E1E4E9"/>
            </a:solidFill>
            <a:prstDash val="solid"/>
          </a:ln>
        </p:spPr>
      </p:sp>
      <p:sp>
        <p:nvSpPr>
          <p:cNvPr id="9" name="Shape 7"/>
          <p:cNvSpPr/>
          <p:nvPr/>
        </p:nvSpPr>
        <p:spPr>
          <a:xfrm>
            <a:off x="1051560" y="2578608"/>
            <a:ext cx="310896" cy="310896"/>
          </a:xfrm>
          <a:prstGeom prst="ellipse">
            <a:avLst/>
          </a:prstGeom>
          <a:solidFill>
            <a:srgbClr val="5C6470"/>
          </a:solidFill>
          <a:ln/>
        </p:spPr>
      </p:sp>
      <p:sp>
        <p:nvSpPr>
          <p:cNvPr id="10" name="Text 8"/>
          <p:cNvSpPr/>
          <p:nvPr/>
        </p:nvSpPr>
        <p:spPr>
          <a:xfrm>
            <a:off x="1051560" y="25786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441448"/>
            <a:ext cx="9601200" cy="585216"/>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You notice, delete the key, commit again</a:t>
            </a:r>
            <a:endParaRPr lang="en-US" sz="1500" dirty="0"/>
          </a:p>
        </p:txBody>
      </p:sp>
      <p:sp>
        <p:nvSpPr>
          <p:cNvPr id="12" name="Shape 10"/>
          <p:cNvSpPr/>
          <p:nvPr/>
        </p:nvSpPr>
        <p:spPr>
          <a:xfrm>
            <a:off x="777240" y="3154680"/>
            <a:ext cx="10634472" cy="621792"/>
          </a:xfrm>
          <a:prstGeom prst="roundRect">
            <a:avLst>
              <a:gd name="adj" fmla="val 13235"/>
            </a:avLst>
          </a:prstGeom>
          <a:solidFill>
            <a:srgbClr val="F5F6F8"/>
          </a:solidFill>
          <a:ln w="12700">
            <a:solidFill>
              <a:srgbClr val="E1E4E9"/>
            </a:solidFill>
            <a:prstDash val="solid"/>
          </a:ln>
        </p:spPr>
      </p:sp>
      <p:sp>
        <p:nvSpPr>
          <p:cNvPr id="13" name="Shape 11"/>
          <p:cNvSpPr/>
          <p:nvPr/>
        </p:nvSpPr>
        <p:spPr>
          <a:xfrm>
            <a:off x="1051560" y="3310128"/>
            <a:ext cx="310896" cy="310896"/>
          </a:xfrm>
          <a:prstGeom prst="ellipse">
            <a:avLst/>
          </a:prstGeom>
          <a:solidFill>
            <a:srgbClr val="5C6470"/>
          </a:solidFill>
          <a:ln/>
        </p:spPr>
      </p:sp>
      <p:sp>
        <p:nvSpPr>
          <p:cNvPr id="14" name="Text 12"/>
          <p:cNvSpPr/>
          <p:nvPr/>
        </p:nvSpPr>
        <p:spPr>
          <a:xfrm>
            <a:off x="1051560" y="33101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172968"/>
            <a:ext cx="9601200" cy="585216"/>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The file now looks completely clean</a:t>
            </a:r>
            <a:endParaRPr lang="en-US" sz="1500" dirty="0"/>
          </a:p>
        </p:txBody>
      </p:sp>
      <p:sp>
        <p:nvSpPr>
          <p:cNvPr id="16" name="Shape 14"/>
          <p:cNvSpPr/>
          <p:nvPr/>
        </p:nvSpPr>
        <p:spPr>
          <a:xfrm>
            <a:off x="777240" y="4023360"/>
            <a:ext cx="10634472" cy="1325880"/>
          </a:xfrm>
          <a:prstGeom prst="roundRect">
            <a:avLst>
              <a:gd name="adj" fmla="val 6207"/>
            </a:avLst>
          </a:prstGeom>
          <a:solidFill>
            <a:srgbClr val="FBF0EE"/>
          </a:solidFill>
          <a:ln w="12700">
            <a:solidFill>
              <a:srgbClr val="BE3A2B"/>
            </a:solidFill>
            <a:prstDash val="solid"/>
          </a:ln>
        </p:spPr>
      </p:sp>
      <p:sp>
        <p:nvSpPr>
          <p:cNvPr id="17" name="Text 15"/>
          <p:cNvSpPr/>
          <p:nvPr/>
        </p:nvSpPr>
        <p:spPr>
          <a:xfrm>
            <a:off x="1143000" y="4133088"/>
            <a:ext cx="10241280" cy="365760"/>
          </a:xfrm>
          <a:prstGeom prst="rect">
            <a:avLst/>
          </a:prstGeom>
          <a:noFill/>
          <a:ln/>
        </p:spPr>
        <p:txBody>
          <a:bodyPr wrap="square" lIns="0" tIns="0" rIns="0" bIns="0" rtlCol="0" anchor="ctr"/>
          <a:lstStyle/>
          <a:p>
            <a:pPr indent="0" marL="0">
              <a:buNone/>
            </a:pPr>
            <a:r>
              <a:rPr lang="en-US" sz="1450" b="1" dirty="0">
                <a:solidFill>
                  <a:srgbClr val="BE3A2B"/>
                </a:solidFill>
                <a:latin typeface="Calibri" pitchFamily="34" charset="0"/>
                <a:ea typeface="Calibri" pitchFamily="34" charset="-122"/>
                <a:cs typeface="Calibri" pitchFamily="34" charset="-120"/>
              </a:rPr>
              <a:t>But anyone who clones your repository can run:</a:t>
            </a:r>
            <a:endParaRPr lang="en-US" sz="1450" dirty="0"/>
          </a:p>
        </p:txBody>
      </p:sp>
      <p:sp>
        <p:nvSpPr>
          <p:cNvPr id="18" name="Text 16"/>
          <p:cNvSpPr/>
          <p:nvPr/>
        </p:nvSpPr>
        <p:spPr>
          <a:xfrm>
            <a:off x="1143000" y="4526280"/>
            <a:ext cx="10241280" cy="365760"/>
          </a:xfrm>
          <a:prstGeom prst="rect">
            <a:avLst/>
          </a:prstGeom>
          <a:noFill/>
          <a:ln/>
        </p:spPr>
        <p:txBody>
          <a:bodyPr wrap="square" lIns="0" tIns="0" rIns="0" bIns="0" rtlCol="0" anchor="ctr"/>
          <a:lstStyle/>
          <a:p>
            <a:pPr indent="0" marL="0">
              <a:buNone/>
            </a:pPr>
            <a:r>
              <a:rPr lang="en-US" sz="1600" dirty="0">
                <a:solidFill>
                  <a:srgbClr val="BE3A2B"/>
                </a:solidFill>
                <a:latin typeface="Courier New" pitchFamily="34" charset="0"/>
                <a:ea typeface="Courier New" pitchFamily="34" charset="-122"/>
                <a:cs typeface="Courier New" pitchFamily="34" charset="-120"/>
              </a:rPr>
              <a:t>git show &lt;earlier-commit&gt;:main.py</a:t>
            </a:r>
            <a:endParaRPr lang="en-US" sz="1600" dirty="0"/>
          </a:p>
        </p:txBody>
      </p:sp>
      <p:sp>
        <p:nvSpPr>
          <p:cNvPr id="19" name="Text 17"/>
          <p:cNvSpPr/>
          <p:nvPr/>
        </p:nvSpPr>
        <p:spPr>
          <a:xfrm>
            <a:off x="1143000" y="4919472"/>
            <a:ext cx="10241280" cy="365760"/>
          </a:xfrm>
          <a:prstGeom prst="rect">
            <a:avLst/>
          </a:prstGeom>
          <a:noFill/>
          <a:ln/>
        </p:spPr>
        <p:txBody>
          <a:bodyPr wrap="square" lIns="0" tIns="0" rIns="0" bIns="0" rtlCol="0" anchor="ctr"/>
          <a:lstStyle/>
          <a:p>
            <a:pPr indent="0" marL="0">
              <a:buNone/>
            </a:pPr>
            <a:r>
              <a:rPr lang="en-US" sz="1400" dirty="0">
                <a:solidFill>
                  <a:srgbClr val="BE3A2B"/>
                </a:solidFill>
                <a:latin typeface="Courier New" pitchFamily="34" charset="0"/>
                <a:ea typeface="Courier New" pitchFamily="34" charset="-122"/>
                <a:cs typeface="Courier New" pitchFamily="34" charset="-120"/>
              </a:rPr>
              <a:t>client = anthropic.Anthropic(api_key="sk-ant-api03-REDACTED")</a:t>
            </a:r>
            <a:endParaRPr lang="en-US" sz="1400" dirty="0"/>
          </a:p>
        </p:txBody>
      </p:sp>
      <p:sp>
        <p:nvSpPr>
          <p:cNvPr id="20" name="Text 18"/>
          <p:cNvSpPr/>
          <p:nvPr/>
        </p:nvSpPr>
        <p:spPr>
          <a:xfrm>
            <a:off x="777240" y="5532120"/>
            <a:ext cx="10634472" cy="822960"/>
          </a:xfrm>
          <a:prstGeom prst="rect">
            <a:avLst/>
          </a:prstGeom>
          <a:noFill/>
          <a:ln/>
        </p:spPr>
        <p:txBody>
          <a:bodyPr wrap="square" lIns="0" tIns="0" rIns="0" bIns="0" rtlCol="0" anchor="ctr"/>
          <a:lstStyle/>
          <a:p>
            <a:pPr indent="0" marL="0">
              <a:buNone/>
            </a:pPr>
            <a:r>
              <a:rPr lang="en-US" sz="1800" b="1" dirty="0">
                <a:solidFill>
                  <a:srgbClr val="BE3A2B"/>
                </a:solidFill>
                <a:latin typeface="Cambria" pitchFamily="34" charset="0"/>
                <a:ea typeface="Cambria" pitchFamily="34" charset="-122"/>
                <a:cs typeface="Cambria" pitchFamily="34" charset="-120"/>
              </a:rPr>
              <a:t>Git keeps every past version. Delete the key at the provider and make a new one.</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731520"/>
            <a:ext cx="1005840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Deploy</a:t>
            </a:r>
            <a:endParaRPr lang="en-US" sz="3600" dirty="0"/>
          </a:p>
        </p:txBody>
      </p:sp>
      <p:sp>
        <p:nvSpPr>
          <p:cNvPr id="3" name="Shape 1"/>
          <p:cNvSpPr/>
          <p:nvPr/>
        </p:nvSpPr>
        <p:spPr>
          <a:xfrm>
            <a:off x="777240" y="1920240"/>
            <a:ext cx="10634472" cy="658368"/>
          </a:xfrm>
          <a:prstGeom prst="roundRect">
            <a:avLst>
              <a:gd name="adj" fmla="val 9722"/>
            </a:avLst>
          </a:prstGeom>
          <a:solidFill>
            <a:srgbClr val="222732"/>
          </a:solidFill>
          <a:ln w="12700">
            <a:solidFill>
              <a:srgbClr val="222732"/>
            </a:solidFill>
            <a:prstDash val="solid"/>
          </a:ln>
        </p:spPr>
      </p:sp>
      <p:sp>
        <p:nvSpPr>
          <p:cNvPr id="4" name="Shape 2"/>
          <p:cNvSpPr/>
          <p:nvPr/>
        </p:nvSpPr>
        <p:spPr>
          <a:xfrm>
            <a:off x="1051560" y="2093976"/>
            <a:ext cx="310896" cy="310896"/>
          </a:xfrm>
          <a:prstGeom prst="ellipse">
            <a:avLst/>
          </a:prstGeom>
          <a:solidFill>
            <a:srgbClr val="3ACFB6"/>
          </a:solidFill>
          <a:ln/>
        </p:spPr>
      </p:sp>
      <p:sp>
        <p:nvSpPr>
          <p:cNvPr id="5" name="Text 3"/>
          <p:cNvSpPr/>
          <p:nvPr/>
        </p:nvSpPr>
        <p:spPr>
          <a:xfrm>
            <a:off x="1051560" y="209397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645920" y="193852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Go to render.com and sign in with GitHub</a:t>
            </a:r>
            <a:endParaRPr lang="en-US" sz="1550" dirty="0"/>
          </a:p>
        </p:txBody>
      </p:sp>
      <p:sp>
        <p:nvSpPr>
          <p:cNvPr id="7" name="Shape 5"/>
          <p:cNvSpPr/>
          <p:nvPr/>
        </p:nvSpPr>
        <p:spPr>
          <a:xfrm>
            <a:off x="777240" y="2697480"/>
            <a:ext cx="10634472" cy="658368"/>
          </a:xfrm>
          <a:prstGeom prst="roundRect">
            <a:avLst>
              <a:gd name="adj" fmla="val 9722"/>
            </a:avLst>
          </a:prstGeom>
          <a:solidFill>
            <a:srgbClr val="222732"/>
          </a:solidFill>
          <a:ln w="12700">
            <a:solidFill>
              <a:srgbClr val="222732"/>
            </a:solidFill>
            <a:prstDash val="solid"/>
          </a:ln>
        </p:spPr>
      </p:sp>
      <p:sp>
        <p:nvSpPr>
          <p:cNvPr id="8" name="Shape 6"/>
          <p:cNvSpPr/>
          <p:nvPr/>
        </p:nvSpPr>
        <p:spPr>
          <a:xfrm>
            <a:off x="1051560" y="2871216"/>
            <a:ext cx="310896" cy="310896"/>
          </a:xfrm>
          <a:prstGeom prst="ellipse">
            <a:avLst/>
          </a:prstGeom>
          <a:solidFill>
            <a:srgbClr val="3ACFB6"/>
          </a:solidFill>
          <a:ln/>
        </p:spPr>
      </p:sp>
      <p:sp>
        <p:nvSpPr>
          <p:cNvPr id="9" name="Text 7"/>
          <p:cNvSpPr/>
          <p:nvPr/>
        </p:nvSpPr>
        <p:spPr>
          <a:xfrm>
            <a:off x="1051560" y="287121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645920" y="271576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Click New, then Blueprint</a:t>
            </a:r>
            <a:endParaRPr lang="en-US" sz="1550" dirty="0"/>
          </a:p>
        </p:txBody>
      </p:sp>
      <p:sp>
        <p:nvSpPr>
          <p:cNvPr id="11" name="Shape 9"/>
          <p:cNvSpPr/>
          <p:nvPr/>
        </p:nvSpPr>
        <p:spPr>
          <a:xfrm>
            <a:off x="777240" y="3474720"/>
            <a:ext cx="10634472" cy="658368"/>
          </a:xfrm>
          <a:prstGeom prst="roundRect">
            <a:avLst>
              <a:gd name="adj" fmla="val 9722"/>
            </a:avLst>
          </a:prstGeom>
          <a:solidFill>
            <a:srgbClr val="222732"/>
          </a:solidFill>
          <a:ln w="12700">
            <a:solidFill>
              <a:srgbClr val="222732"/>
            </a:solidFill>
            <a:prstDash val="solid"/>
          </a:ln>
        </p:spPr>
      </p:sp>
      <p:sp>
        <p:nvSpPr>
          <p:cNvPr id="12" name="Shape 10"/>
          <p:cNvSpPr/>
          <p:nvPr/>
        </p:nvSpPr>
        <p:spPr>
          <a:xfrm>
            <a:off x="1051560" y="3648456"/>
            <a:ext cx="310896" cy="310896"/>
          </a:xfrm>
          <a:prstGeom prst="ellipse">
            <a:avLst/>
          </a:prstGeom>
          <a:solidFill>
            <a:srgbClr val="3ACFB6"/>
          </a:solidFill>
          <a:ln/>
        </p:spPr>
      </p:sp>
      <p:sp>
        <p:nvSpPr>
          <p:cNvPr id="13" name="Text 11"/>
          <p:cNvSpPr/>
          <p:nvPr/>
        </p:nvSpPr>
        <p:spPr>
          <a:xfrm>
            <a:off x="1051560" y="364845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645920" y="349300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Select your repository, then Apply</a:t>
            </a:r>
            <a:endParaRPr lang="en-US" sz="1550" dirty="0"/>
          </a:p>
        </p:txBody>
      </p:sp>
      <p:sp>
        <p:nvSpPr>
          <p:cNvPr id="15" name="Shape 13"/>
          <p:cNvSpPr/>
          <p:nvPr/>
        </p:nvSpPr>
        <p:spPr>
          <a:xfrm>
            <a:off x="777240" y="4251960"/>
            <a:ext cx="10634472" cy="658368"/>
          </a:xfrm>
          <a:prstGeom prst="roundRect">
            <a:avLst>
              <a:gd name="adj" fmla="val 9722"/>
            </a:avLst>
          </a:prstGeom>
          <a:solidFill>
            <a:srgbClr val="222732"/>
          </a:solidFill>
          <a:ln w="12700">
            <a:solidFill>
              <a:srgbClr val="222732"/>
            </a:solidFill>
            <a:prstDash val="solid"/>
          </a:ln>
        </p:spPr>
      </p:sp>
      <p:sp>
        <p:nvSpPr>
          <p:cNvPr id="16" name="Shape 14"/>
          <p:cNvSpPr/>
          <p:nvPr/>
        </p:nvSpPr>
        <p:spPr>
          <a:xfrm>
            <a:off x="1051560" y="4425696"/>
            <a:ext cx="310896" cy="310896"/>
          </a:xfrm>
          <a:prstGeom prst="ellipse">
            <a:avLst/>
          </a:prstGeom>
          <a:solidFill>
            <a:srgbClr val="3ACFB6"/>
          </a:solidFill>
          <a:ln/>
        </p:spPr>
      </p:sp>
      <p:sp>
        <p:nvSpPr>
          <p:cNvPr id="17" name="Text 15"/>
          <p:cNvSpPr/>
          <p:nvPr/>
        </p:nvSpPr>
        <p:spPr>
          <a:xfrm>
            <a:off x="1051560" y="442569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645920" y="427024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Wait two to four minutes. Errors during the build are normal.</a:t>
            </a:r>
            <a:endParaRPr lang="en-US" sz="1550" dirty="0"/>
          </a:p>
        </p:txBody>
      </p:sp>
      <p:sp>
        <p:nvSpPr>
          <p:cNvPr id="19" name="Shape 17"/>
          <p:cNvSpPr/>
          <p:nvPr/>
        </p:nvSpPr>
        <p:spPr>
          <a:xfrm>
            <a:off x="777240" y="5029200"/>
            <a:ext cx="10634472" cy="658368"/>
          </a:xfrm>
          <a:prstGeom prst="roundRect">
            <a:avLst>
              <a:gd name="adj" fmla="val 9722"/>
            </a:avLst>
          </a:prstGeom>
          <a:solidFill>
            <a:srgbClr val="222732"/>
          </a:solidFill>
          <a:ln w="12700">
            <a:solidFill>
              <a:srgbClr val="222732"/>
            </a:solidFill>
            <a:prstDash val="solid"/>
          </a:ln>
        </p:spPr>
      </p:sp>
      <p:sp>
        <p:nvSpPr>
          <p:cNvPr id="20" name="Shape 18"/>
          <p:cNvSpPr/>
          <p:nvPr/>
        </p:nvSpPr>
        <p:spPr>
          <a:xfrm>
            <a:off x="1051560" y="5202936"/>
            <a:ext cx="310896" cy="310896"/>
          </a:xfrm>
          <a:prstGeom prst="ellipse">
            <a:avLst/>
          </a:prstGeom>
          <a:solidFill>
            <a:srgbClr val="3ACFB6"/>
          </a:solidFill>
          <a:ln/>
        </p:spPr>
      </p:sp>
      <p:sp>
        <p:nvSpPr>
          <p:cNvPr id="21" name="Text 19"/>
          <p:cNvSpPr/>
          <p:nvPr/>
        </p:nvSpPr>
        <p:spPr>
          <a:xfrm>
            <a:off x="1051560" y="520293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645920" y="504748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Open your public address. On your phone.</a:t>
            </a:r>
            <a:endParaRPr lang="en-US" sz="1550" dirty="0"/>
          </a:p>
        </p:txBody>
      </p:sp>
      <p:sp>
        <p:nvSpPr>
          <p:cNvPr id="23" name="Text 21"/>
          <p:cNvSpPr/>
          <p:nvPr/>
        </p:nvSpPr>
        <p:spPr>
          <a:xfrm>
            <a:off x="777240" y="5943600"/>
            <a:ext cx="10607040" cy="411480"/>
          </a:xfrm>
          <a:prstGeom prst="rect">
            <a:avLst/>
          </a:prstGeom>
          <a:noFill/>
          <a:ln/>
        </p:spPr>
        <p:txBody>
          <a:bodyPr wrap="square" lIns="0" tIns="0" rIns="0" bIns="0" rtlCol="0" anchor="ctr"/>
          <a:lstStyle/>
          <a:p>
            <a:pPr indent="0" marL="0">
              <a:buNone/>
            </a:pPr>
            <a:r>
              <a:rPr lang="en-US" sz="1800" dirty="0">
                <a:solidFill>
                  <a:srgbClr val="3ACFB6"/>
                </a:solidFill>
                <a:latin typeface="Courier New" pitchFamily="34" charset="0"/>
                <a:ea typeface="Courier New" pitchFamily="34" charset="-122"/>
                <a:cs typeface="Courier New" pitchFamily="34" charset="-120"/>
              </a:rPr>
              <a:t>https://sensor-triage-xxxx.onrender.com</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3.7</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Adding your key in production</a:t>
            </a:r>
            <a:endParaRPr lang="en-US" sz="3100" dirty="0"/>
          </a:p>
        </p:txBody>
      </p:sp>
      <p:sp>
        <p:nvSpPr>
          <p:cNvPr id="4" name="Shape 2"/>
          <p:cNvSpPr/>
          <p:nvPr/>
        </p:nvSpPr>
        <p:spPr>
          <a:xfrm>
            <a:off x="777240" y="1737360"/>
            <a:ext cx="10634472" cy="685800"/>
          </a:xfrm>
          <a:prstGeom prst="roundRect">
            <a:avLst>
              <a:gd name="adj" fmla="val 12000"/>
            </a:avLst>
          </a:prstGeom>
          <a:solidFill>
            <a:srgbClr val="F5F6F8"/>
          </a:solidFill>
          <a:ln w="12700">
            <a:solidFill>
              <a:srgbClr val="E1E4E9"/>
            </a:solidFill>
            <a:prstDash val="solid"/>
          </a:ln>
        </p:spPr>
      </p:sp>
      <p:sp>
        <p:nvSpPr>
          <p:cNvPr id="5" name="Shape 3"/>
          <p:cNvSpPr/>
          <p:nvPr/>
        </p:nvSpPr>
        <p:spPr>
          <a:xfrm>
            <a:off x="1051560" y="1924812"/>
            <a:ext cx="310896" cy="310896"/>
          </a:xfrm>
          <a:prstGeom prst="ellipse">
            <a:avLst/>
          </a:prstGeom>
          <a:solidFill>
            <a:srgbClr val="00776A"/>
          </a:solidFill>
          <a:ln/>
        </p:spPr>
      </p:sp>
      <p:sp>
        <p:nvSpPr>
          <p:cNvPr id="6" name="Text 4"/>
          <p:cNvSpPr/>
          <p:nvPr/>
        </p:nvSpPr>
        <p:spPr>
          <a:xfrm>
            <a:off x="1051560" y="19248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55648"/>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In Render, open Environment</a:t>
            </a:r>
            <a:endParaRPr lang="en-US" sz="1500" dirty="0"/>
          </a:p>
        </p:txBody>
      </p:sp>
      <p:sp>
        <p:nvSpPr>
          <p:cNvPr id="8" name="Shape 6"/>
          <p:cNvSpPr/>
          <p:nvPr/>
        </p:nvSpPr>
        <p:spPr>
          <a:xfrm>
            <a:off x="777240" y="2542032"/>
            <a:ext cx="10634472" cy="685800"/>
          </a:xfrm>
          <a:prstGeom prst="roundRect">
            <a:avLst>
              <a:gd name="adj" fmla="val 12000"/>
            </a:avLst>
          </a:prstGeom>
          <a:solidFill>
            <a:srgbClr val="F5F6F8"/>
          </a:solidFill>
          <a:ln w="12700">
            <a:solidFill>
              <a:srgbClr val="E1E4E9"/>
            </a:solidFill>
            <a:prstDash val="solid"/>
          </a:ln>
        </p:spPr>
      </p:sp>
      <p:sp>
        <p:nvSpPr>
          <p:cNvPr id="9" name="Shape 7"/>
          <p:cNvSpPr/>
          <p:nvPr/>
        </p:nvSpPr>
        <p:spPr>
          <a:xfrm>
            <a:off x="1051560" y="2729484"/>
            <a:ext cx="310896" cy="310896"/>
          </a:xfrm>
          <a:prstGeom prst="ellipse">
            <a:avLst/>
          </a:prstGeom>
          <a:solidFill>
            <a:srgbClr val="00776A"/>
          </a:solidFill>
          <a:ln/>
        </p:spPr>
      </p:sp>
      <p:sp>
        <p:nvSpPr>
          <p:cNvPr id="10" name="Text 8"/>
          <p:cNvSpPr/>
          <p:nvPr/>
        </p:nvSpPr>
        <p:spPr>
          <a:xfrm>
            <a:off x="1051560" y="27294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560320"/>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Set the value of ANTHROPIC_API_KEY and save</a:t>
            </a:r>
            <a:endParaRPr lang="en-US" sz="1500" dirty="0"/>
          </a:p>
        </p:txBody>
      </p:sp>
      <p:sp>
        <p:nvSpPr>
          <p:cNvPr id="12" name="Shape 10"/>
          <p:cNvSpPr/>
          <p:nvPr/>
        </p:nvSpPr>
        <p:spPr>
          <a:xfrm>
            <a:off x="777240" y="3346704"/>
            <a:ext cx="10634472" cy="685800"/>
          </a:xfrm>
          <a:prstGeom prst="roundRect">
            <a:avLst>
              <a:gd name="adj" fmla="val 12000"/>
            </a:avLst>
          </a:prstGeom>
          <a:solidFill>
            <a:srgbClr val="F5F6F8"/>
          </a:solidFill>
          <a:ln w="12700">
            <a:solidFill>
              <a:srgbClr val="E1E4E9"/>
            </a:solidFill>
            <a:prstDash val="solid"/>
          </a:ln>
        </p:spPr>
      </p:sp>
      <p:sp>
        <p:nvSpPr>
          <p:cNvPr id="13" name="Shape 11"/>
          <p:cNvSpPr/>
          <p:nvPr/>
        </p:nvSpPr>
        <p:spPr>
          <a:xfrm>
            <a:off x="1051560" y="3534156"/>
            <a:ext cx="310896" cy="310896"/>
          </a:xfrm>
          <a:prstGeom prst="ellipse">
            <a:avLst/>
          </a:prstGeom>
          <a:solidFill>
            <a:srgbClr val="00776A"/>
          </a:solidFill>
          <a:ln/>
        </p:spPr>
      </p:sp>
      <p:sp>
        <p:nvSpPr>
          <p:cNvPr id="14" name="Text 12"/>
          <p:cNvSpPr/>
          <p:nvPr/>
        </p:nvSpPr>
        <p:spPr>
          <a:xfrm>
            <a:off x="1051560" y="35341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364992"/>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Change USE_MOCK to "false" in render.yaml, and push</a:t>
            </a:r>
            <a:endParaRPr lang="en-US" sz="1500" dirty="0"/>
          </a:p>
        </p:txBody>
      </p:sp>
      <p:sp>
        <p:nvSpPr>
          <p:cNvPr id="16" name="Shape 14"/>
          <p:cNvSpPr/>
          <p:nvPr/>
        </p:nvSpPr>
        <p:spPr>
          <a:xfrm>
            <a:off x="777240" y="4297680"/>
            <a:ext cx="10634472" cy="1645920"/>
          </a:xfrm>
          <a:prstGeom prst="roundRect">
            <a:avLst>
              <a:gd name="adj" fmla="val 5000"/>
            </a:avLst>
          </a:prstGeom>
          <a:solidFill>
            <a:srgbClr val="FFF8E8"/>
          </a:solidFill>
          <a:ln w="12700">
            <a:solidFill>
              <a:srgbClr val="E5BC64"/>
            </a:solidFill>
            <a:prstDash val="solid"/>
          </a:ln>
        </p:spPr>
      </p:sp>
      <p:sp>
        <p:nvSpPr>
          <p:cNvPr id="17" name="Text 15"/>
          <p:cNvSpPr/>
          <p:nvPr/>
        </p:nvSpPr>
        <p:spPr>
          <a:xfrm>
            <a:off x="1143000" y="4434840"/>
            <a:ext cx="10241280" cy="384048"/>
          </a:xfrm>
          <a:prstGeom prst="rect">
            <a:avLst/>
          </a:prstGeom>
          <a:noFill/>
          <a:ln/>
        </p:spPr>
        <p:txBody>
          <a:bodyPr wrap="square" lIns="0" tIns="0" rIns="0" bIns="0" rtlCol="0" anchor="ctr"/>
          <a:lstStyle/>
          <a:p>
            <a:pPr indent="0" marL="0">
              <a:buNone/>
            </a:pPr>
            <a:r>
              <a:rPr lang="en-US" sz="1800" b="1" dirty="0">
                <a:solidFill>
                  <a:srgbClr val="7A5200"/>
                </a:solidFill>
                <a:latin typeface="Cambria" pitchFamily="34" charset="0"/>
                <a:ea typeface="Cambria" pitchFamily="34" charset="-122"/>
                <a:cs typeface="Cambria" pitchFamily="34" charset="-120"/>
              </a:rPr>
              <a:t>Changing USE_MOCK in the dashboard will not work.</a:t>
            </a:r>
            <a:endParaRPr lang="en-US" sz="1800" dirty="0"/>
          </a:p>
        </p:txBody>
      </p:sp>
      <p:sp>
        <p:nvSpPr>
          <p:cNvPr id="18" name="Text 16"/>
          <p:cNvSpPr/>
          <p:nvPr/>
        </p:nvSpPr>
        <p:spPr>
          <a:xfrm>
            <a:off x="1143000" y="4846320"/>
            <a:ext cx="10241280" cy="548640"/>
          </a:xfrm>
          <a:prstGeom prst="rect">
            <a:avLst/>
          </a:prstGeom>
          <a:noFill/>
          <a:ln/>
        </p:spPr>
        <p:txBody>
          <a:bodyPr wrap="square" lIns="0" tIns="0" rIns="0" bIns="0" rtlCol="0" anchor="ctr"/>
          <a:lstStyle/>
          <a:p>
            <a:pPr indent="0" marL="0">
              <a:buNone/>
            </a:pPr>
            <a:r>
              <a:rPr lang="en-US" sz="1450" dirty="0">
                <a:solidFill>
                  <a:srgbClr val="7A5200"/>
                </a:solidFill>
                <a:latin typeface="Calibri" pitchFamily="34" charset="0"/>
                <a:ea typeface="Calibri" pitchFamily="34" charset="-122"/>
                <a:cs typeface="Calibri" pitchFamily="34" charset="-120"/>
              </a:rPr>
              <a:t>render.yaml gives it a value:, and the file is the source of truth. I lost fifteen minutes to this while preparing this workshop.</a:t>
            </a:r>
            <a:endParaRPr lang="en-US" sz="1450" dirty="0"/>
          </a:p>
        </p:txBody>
      </p:sp>
      <p:sp>
        <p:nvSpPr>
          <p:cNvPr id="19" name="Text 17"/>
          <p:cNvSpPr/>
          <p:nvPr/>
        </p:nvSpPr>
        <p:spPr>
          <a:xfrm>
            <a:off x="1143000" y="5440680"/>
            <a:ext cx="10241280" cy="411480"/>
          </a:xfrm>
          <a:prstGeom prst="rect">
            <a:avLst/>
          </a:prstGeom>
          <a:noFill/>
          <a:ln/>
        </p:spPr>
        <p:txBody>
          <a:bodyPr wrap="square" lIns="0" tIns="0" rIns="0" bIns="0" rtlCol="0" anchor="ctr"/>
          <a:lstStyle/>
          <a:p>
            <a:pPr indent="0" marL="0">
              <a:buNone/>
            </a:pPr>
            <a:r>
              <a:rPr lang="en-US" sz="1400" b="1" dirty="0">
                <a:solidFill>
                  <a:srgbClr val="7A5200"/>
                </a:solidFill>
                <a:latin typeface="Calibri" pitchFamily="34" charset="0"/>
                <a:ea typeface="Calibri" pitchFamily="34" charset="-122"/>
                <a:cs typeface="Calibri" pitchFamily="34" charset="-120"/>
              </a:rPr>
              <a:t>Rule:  a value: in the file -&gt; change the file and push.        sync: false -&gt; change it in the dashboard.</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3.8</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Updating it from now on</a:t>
            </a:r>
            <a:endParaRPr lang="en-US" sz="3100" dirty="0"/>
          </a:p>
        </p:txBody>
      </p:sp>
      <p:sp>
        <p:nvSpPr>
          <p:cNvPr id="4" name="Shape 2"/>
          <p:cNvSpPr/>
          <p:nvPr/>
        </p:nvSpPr>
        <p:spPr>
          <a:xfrm>
            <a:off x="777240" y="1920240"/>
            <a:ext cx="10634472" cy="1335024"/>
          </a:xfrm>
          <a:prstGeom prst="roundRect">
            <a:avLst>
              <a:gd name="adj" fmla="val 5479"/>
            </a:avLst>
          </a:prstGeom>
          <a:solidFill>
            <a:srgbClr val="1B1F2A"/>
          </a:solidFill>
          <a:ln w="12700">
            <a:solidFill>
              <a:srgbClr val="1B1F2A"/>
            </a:solidFill>
            <a:prstDash val="solid"/>
          </a:ln>
        </p:spPr>
      </p:sp>
      <p:sp>
        <p:nvSpPr>
          <p:cNvPr id="5" name="Text 3"/>
          <p:cNvSpPr/>
          <p:nvPr/>
        </p:nvSpPr>
        <p:spPr>
          <a:xfrm>
            <a:off x="1097280" y="2148840"/>
            <a:ext cx="9994392" cy="877824"/>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add .</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commit -m "what you changed"</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push</a:t>
            </a:r>
            <a:endParaRPr lang="en-US" sz="1600" dirty="0"/>
          </a:p>
        </p:txBody>
      </p:sp>
      <p:sp>
        <p:nvSpPr>
          <p:cNvPr id="6" name="Text 4"/>
          <p:cNvSpPr/>
          <p:nvPr/>
        </p:nvSpPr>
        <p:spPr>
          <a:xfrm>
            <a:off x="777240" y="3931920"/>
            <a:ext cx="10634472" cy="822960"/>
          </a:xfrm>
          <a:prstGeom prst="rect">
            <a:avLst/>
          </a:prstGeom>
          <a:noFill/>
          <a:ln/>
        </p:spPr>
        <p:txBody>
          <a:bodyPr wrap="square" lIns="0" tIns="0" rIns="0" bIns="0" rtlCol="0" anchor="ctr"/>
          <a:lstStyle/>
          <a:p>
            <a:pPr indent="0" marL="0">
              <a:buNone/>
            </a:pPr>
            <a:r>
              <a:rPr lang="en-US" sz="2100" b="1" dirty="0">
                <a:solidFill>
                  <a:srgbClr val="00776A"/>
                </a:solidFill>
                <a:latin typeface="Cambria" pitchFamily="34" charset="0"/>
                <a:ea typeface="Cambria" pitchFamily="34" charset="-122"/>
                <a:cs typeface="Cambria" pitchFamily="34" charset="-120"/>
              </a:rPr>
              <a:t>That is it. Render notices the push and rebuilds automatically.</a:t>
            </a:r>
            <a:endParaRPr lang="en-US" sz="2100" dirty="0"/>
          </a:p>
        </p:txBody>
      </p:sp>
      <p:sp>
        <p:nvSpPr>
          <p:cNvPr id="7" name="Text 5"/>
          <p:cNvSpPr/>
          <p:nvPr/>
        </p:nvSpPr>
        <p:spPr>
          <a:xfrm>
            <a:off x="777240" y="4526280"/>
            <a:ext cx="10634472" cy="45720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A minute or two later your change is live.</a:t>
            </a:r>
            <a:endParaRPr lang="en-US" sz="1600" dirty="0"/>
          </a:p>
        </p:txBody>
      </p:sp>
      <p:sp>
        <p:nvSpPr>
          <p:cNvPr id="8" name="Shape 6"/>
          <p:cNvSpPr/>
          <p:nvPr/>
        </p:nvSpPr>
        <p:spPr>
          <a:xfrm>
            <a:off x="777240" y="5120640"/>
            <a:ext cx="10634472" cy="1051560"/>
          </a:xfrm>
          <a:prstGeom prst="roundRect">
            <a:avLst>
              <a:gd name="adj" fmla="val 7826"/>
            </a:avLst>
          </a:prstGeom>
          <a:solidFill>
            <a:srgbClr val="EAF6F3"/>
          </a:solidFill>
          <a:ln w="12700">
            <a:solidFill>
              <a:srgbClr val="9CCFC6"/>
            </a:solidFill>
            <a:prstDash val="solid"/>
          </a:ln>
        </p:spPr>
      </p:sp>
      <p:sp>
        <p:nvSpPr>
          <p:cNvPr id="9" name="Text 7"/>
          <p:cNvSpPr/>
          <p:nvPr/>
        </p:nvSpPr>
        <p:spPr>
          <a:xfrm>
            <a:off x="1143000" y="5257800"/>
            <a:ext cx="10241280" cy="777240"/>
          </a:xfrm>
          <a:prstGeom prst="rect">
            <a:avLst/>
          </a:prstGeom>
          <a:noFill/>
          <a:ln/>
        </p:spPr>
        <p:txBody>
          <a:bodyPr wrap="square" lIns="0" tIns="0" rIns="0" bIns="0" rtlCol="0" anchor="ctr"/>
          <a:lstStyle/>
          <a:p>
            <a:pPr indent="0" marL="0">
              <a:buNone/>
            </a:pPr>
            <a:r>
              <a:rPr lang="en-US" sz="1800" b="1" dirty="0">
                <a:solidFill>
                  <a:srgbClr val="00776A"/>
                </a:solidFill>
                <a:latin typeface="Courier New" pitchFamily="34" charset="0"/>
                <a:ea typeface="Courier New" pitchFamily="34" charset="-122"/>
                <a:cs typeface="Courier New" pitchFamily="34" charset="-120"/>
              </a:rPr>
              <a:t>edit locally  -&gt;  test locally  -&gt;  commit  -&gt;  push  -&gt;  it is live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A85F00"/>
                </a:solidFill>
                <a:latin typeface="Calibri" pitchFamily="34" charset="0"/>
                <a:ea typeface="Calibri" pitchFamily="34" charset="-122"/>
                <a:cs typeface="Calibri" pitchFamily="34" charset="-120"/>
              </a:rPr>
              <a:t>3.9  ·  EXPECT THESE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Things that will surprise you</a:t>
            </a:r>
            <a:endParaRPr lang="en-US" sz="3100" dirty="0"/>
          </a:p>
        </p:txBody>
      </p:sp>
      <p:sp>
        <p:nvSpPr>
          <p:cNvPr id="4" name="Shape 2"/>
          <p:cNvSpPr/>
          <p:nvPr/>
        </p:nvSpPr>
        <p:spPr>
          <a:xfrm>
            <a:off x="777240" y="1737360"/>
            <a:ext cx="10634472" cy="960120"/>
          </a:xfrm>
          <a:prstGeom prst="roundRect">
            <a:avLst>
              <a:gd name="adj" fmla="val 8571"/>
            </a:avLst>
          </a:prstGeom>
          <a:solidFill>
            <a:srgbClr val="F5F6F8"/>
          </a:solidFill>
          <a:ln w="12700">
            <a:solidFill>
              <a:srgbClr val="E1E4E9"/>
            </a:solidFill>
            <a:prstDash val="solid"/>
          </a:ln>
        </p:spPr>
      </p:sp>
      <p:sp>
        <p:nvSpPr>
          <p:cNvPr id="5" name="Shape 3"/>
          <p:cNvSpPr/>
          <p:nvPr/>
        </p:nvSpPr>
        <p:spPr>
          <a:xfrm>
            <a:off x="1069848" y="2048256"/>
            <a:ext cx="365760" cy="365760"/>
          </a:xfrm>
          <a:prstGeom prst="ellipse">
            <a:avLst/>
          </a:prstGeom>
          <a:solidFill>
            <a:srgbClr val="A85F00"/>
          </a:solidFill>
          <a:ln/>
        </p:spPr>
      </p:sp>
      <p:sp>
        <p:nvSpPr>
          <p:cNvPr id="6" name="Text 4"/>
          <p:cNvSpPr/>
          <p:nvPr/>
        </p:nvSpPr>
        <p:spPr>
          <a:xfrm>
            <a:off x="1069848" y="20482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4708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First visit takes 30-60 seconds</a:t>
            </a:r>
            <a:endParaRPr lang="en-US" sz="1600" dirty="0"/>
          </a:p>
        </p:txBody>
      </p:sp>
      <p:sp>
        <p:nvSpPr>
          <p:cNvPr id="8" name="Text 6"/>
          <p:cNvSpPr/>
          <p:nvPr/>
        </p:nvSpPr>
        <p:spPr>
          <a:xfrm>
            <a:off x="1691640" y="224028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free services sleep after 15 minutes idle; open your link before a demo</a:t>
            </a:r>
            <a:endParaRPr lang="en-US" sz="1350" dirty="0"/>
          </a:p>
        </p:txBody>
      </p:sp>
      <p:sp>
        <p:nvSpPr>
          <p:cNvPr id="9" name="Shape 7"/>
          <p:cNvSpPr/>
          <p:nvPr/>
        </p:nvSpPr>
        <p:spPr>
          <a:xfrm>
            <a:off x="777240" y="2834640"/>
            <a:ext cx="10634472" cy="960120"/>
          </a:xfrm>
          <a:prstGeom prst="roundRect">
            <a:avLst>
              <a:gd name="adj" fmla="val 8571"/>
            </a:avLst>
          </a:prstGeom>
          <a:solidFill>
            <a:srgbClr val="F5F6F8"/>
          </a:solidFill>
          <a:ln w="12700">
            <a:solidFill>
              <a:srgbClr val="E1E4E9"/>
            </a:solidFill>
            <a:prstDash val="solid"/>
          </a:ln>
        </p:spPr>
      </p:sp>
      <p:sp>
        <p:nvSpPr>
          <p:cNvPr id="10" name="Shape 8"/>
          <p:cNvSpPr/>
          <p:nvPr/>
        </p:nvSpPr>
        <p:spPr>
          <a:xfrm>
            <a:off x="1069848" y="3145536"/>
            <a:ext cx="365760" cy="365760"/>
          </a:xfrm>
          <a:prstGeom prst="ellipse">
            <a:avLst/>
          </a:prstGeom>
          <a:solidFill>
            <a:srgbClr val="A85F00"/>
          </a:solidFill>
          <a:ln/>
        </p:spPr>
      </p:sp>
      <p:sp>
        <p:nvSpPr>
          <p:cNvPr id="11" name="Text 9"/>
          <p:cNvSpPr/>
          <p:nvPr/>
        </p:nvSpPr>
        <p:spPr>
          <a:xfrm>
            <a:off x="1069848"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4436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Saved readings disappear after deploying</a:t>
            </a:r>
            <a:endParaRPr lang="en-US" sz="1600" dirty="0"/>
          </a:p>
        </p:txBody>
      </p:sp>
      <p:sp>
        <p:nvSpPr>
          <p:cNvPr id="13" name="Text 11"/>
          <p:cNvSpPr/>
          <p:nvPr/>
        </p:nvSpPr>
        <p:spPr>
          <a:xfrm>
            <a:off x="1691640" y="333756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free plans wipe the disk; use a managed database if the data matters</a:t>
            </a:r>
            <a:endParaRPr lang="en-US" sz="1350" dirty="0"/>
          </a:p>
        </p:txBody>
      </p:sp>
      <p:sp>
        <p:nvSpPr>
          <p:cNvPr id="14" name="Shape 12"/>
          <p:cNvSpPr/>
          <p:nvPr/>
        </p:nvSpPr>
        <p:spPr>
          <a:xfrm>
            <a:off x="777240" y="3931920"/>
            <a:ext cx="10634472" cy="960120"/>
          </a:xfrm>
          <a:prstGeom prst="roundRect">
            <a:avLst>
              <a:gd name="adj" fmla="val 8571"/>
            </a:avLst>
          </a:prstGeom>
          <a:solidFill>
            <a:srgbClr val="F5F6F8"/>
          </a:solidFill>
          <a:ln w="12700">
            <a:solidFill>
              <a:srgbClr val="E1E4E9"/>
            </a:solidFill>
            <a:prstDash val="solid"/>
          </a:ln>
        </p:spPr>
      </p:sp>
      <p:sp>
        <p:nvSpPr>
          <p:cNvPr id="15" name="Shape 13"/>
          <p:cNvSpPr/>
          <p:nvPr/>
        </p:nvSpPr>
        <p:spPr>
          <a:xfrm>
            <a:off x="1069848" y="4242816"/>
            <a:ext cx="365760" cy="365760"/>
          </a:xfrm>
          <a:prstGeom prst="ellipse">
            <a:avLst/>
          </a:prstGeom>
          <a:solidFill>
            <a:srgbClr val="A85F00"/>
          </a:solidFill>
          <a:ln/>
        </p:spPr>
      </p:sp>
      <p:sp>
        <p:nvSpPr>
          <p:cNvPr id="16" name="Text 14"/>
          <p:cNvSpPr/>
          <p:nvPr/>
        </p:nvSpPr>
        <p:spPr>
          <a:xfrm>
            <a:off x="1069848" y="42428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4164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Build failed</a:t>
            </a:r>
            <a:endParaRPr lang="en-US" sz="1600" dirty="0"/>
          </a:p>
        </p:txBody>
      </p:sp>
      <p:sp>
        <p:nvSpPr>
          <p:cNvPr id="18" name="Text 16"/>
          <p:cNvSpPr/>
          <p:nvPr/>
        </p:nvSpPr>
        <p:spPr>
          <a:xfrm>
            <a:off x="1691640" y="443484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open the Logs tab and read from the top - the first error is the real one</a:t>
            </a:r>
            <a:endParaRPr lang="en-US" sz="1350" dirty="0"/>
          </a:p>
        </p:txBody>
      </p:sp>
      <p:sp>
        <p:nvSpPr>
          <p:cNvPr id="19" name="Shape 17"/>
          <p:cNvSpPr/>
          <p:nvPr/>
        </p:nvSpPr>
        <p:spPr>
          <a:xfrm>
            <a:off x="777240" y="5029200"/>
            <a:ext cx="10634472" cy="960120"/>
          </a:xfrm>
          <a:prstGeom prst="roundRect">
            <a:avLst>
              <a:gd name="adj" fmla="val 8571"/>
            </a:avLst>
          </a:prstGeom>
          <a:solidFill>
            <a:srgbClr val="F5F6F8"/>
          </a:solidFill>
          <a:ln w="12700">
            <a:solidFill>
              <a:srgbClr val="E1E4E9"/>
            </a:solidFill>
            <a:prstDash val="solid"/>
          </a:ln>
        </p:spPr>
      </p:sp>
      <p:sp>
        <p:nvSpPr>
          <p:cNvPr id="20" name="Shape 18"/>
          <p:cNvSpPr/>
          <p:nvPr/>
        </p:nvSpPr>
        <p:spPr>
          <a:xfrm>
            <a:off x="1069848" y="5340096"/>
            <a:ext cx="365760" cy="365760"/>
          </a:xfrm>
          <a:prstGeom prst="ellipse">
            <a:avLst/>
          </a:prstGeom>
          <a:solidFill>
            <a:srgbClr val="A85F00"/>
          </a:solidFill>
          <a:ln/>
        </p:spPr>
      </p:sp>
      <p:sp>
        <p:nvSpPr>
          <p:cNvPr id="21" name="Text 19"/>
          <p:cNvSpPr/>
          <p:nvPr/>
        </p:nvSpPr>
        <p:spPr>
          <a:xfrm>
            <a:off x="1069848" y="53400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3892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Works locally, not deployed</a:t>
            </a:r>
            <a:endParaRPr lang="en-US" sz="1600" dirty="0"/>
          </a:p>
        </p:txBody>
      </p:sp>
      <p:sp>
        <p:nvSpPr>
          <p:cNvPr id="23" name="Text 21"/>
          <p:cNvSpPr/>
          <p:nvPr/>
        </p:nvSpPr>
        <p:spPr>
          <a:xfrm>
            <a:off x="1691640" y="553212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something exists on your machine only: a package, a file, a setting</a:t>
            </a:r>
            <a:endParaRPr lang="en-US" sz="1350" dirty="0"/>
          </a:p>
        </p:txBody>
      </p:sp>
      <p:sp>
        <p:nvSpPr>
          <p:cNvPr id="24" name="Text 22"/>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I hit every one of these while building the version you just ran. Not while reading about it.</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4</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Where to go next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Including how the other nine workshops plug into what you built.</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4.1  ·  WHAT MOST OF YOU ACTUALLY NEED</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Connect a real device</a:t>
            </a:r>
            <a:endParaRPr lang="en-US" sz="3100" dirty="0"/>
          </a:p>
        </p:txBody>
      </p:sp>
      <p:sp>
        <p:nvSpPr>
          <p:cNvPr id="4" name="Text 2"/>
          <p:cNvSpPr/>
          <p:nvPr/>
        </p:nvSpPr>
        <p:spPr>
          <a:xfrm>
            <a:off x="777240" y="1417320"/>
            <a:ext cx="10634472" cy="82296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This requires no change to your server at all.</a:t>
            </a:r>
            <a:endParaRPr lang="en-US" sz="2000" dirty="0"/>
          </a:p>
        </p:txBody>
      </p:sp>
      <p:sp>
        <p:nvSpPr>
          <p:cNvPr id="5" name="Shape 3"/>
          <p:cNvSpPr/>
          <p:nvPr/>
        </p:nvSpPr>
        <p:spPr>
          <a:xfrm>
            <a:off x="777240" y="2057400"/>
            <a:ext cx="10634472" cy="3087370"/>
          </a:xfrm>
          <a:prstGeom prst="roundRect">
            <a:avLst>
              <a:gd name="adj" fmla="val 2369"/>
            </a:avLst>
          </a:prstGeom>
          <a:solidFill>
            <a:srgbClr val="1B1F2A"/>
          </a:solidFill>
          <a:ln w="12700">
            <a:solidFill>
              <a:srgbClr val="1B1F2A"/>
            </a:solidFill>
            <a:prstDash val="solid"/>
          </a:ln>
        </p:spPr>
      </p:sp>
      <p:sp>
        <p:nvSpPr>
          <p:cNvPr id="6" name="Text 4"/>
          <p:cNvSpPr/>
          <p:nvPr/>
        </p:nvSpPr>
        <p:spPr>
          <a:xfrm>
            <a:off x="1069848" y="214884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ESP32 / Arduino</a:t>
            </a:r>
            <a:endParaRPr lang="en-US" sz="1050" dirty="0"/>
          </a:p>
        </p:txBody>
      </p:sp>
      <p:sp>
        <p:nvSpPr>
          <p:cNvPr id="7" name="Text 5"/>
          <p:cNvSpPr/>
          <p:nvPr/>
        </p:nvSpPr>
        <p:spPr>
          <a:xfrm>
            <a:off x="1069848" y="2468880"/>
            <a:ext cx="10085832" cy="253873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WiFiClientSecure client;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client.setInsecure();</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HTTPClient http;</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http.begin(client, ENDPOINT);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http.addHeader("Content-Type", "application/json");</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String body = String("{\"sensor\":\"motor_temp\",\"value\":") + reading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",\"unit\":\"C\",\"low\":20,\"high\":60}";</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int status = http.POST(body);</a:t>
            </a:r>
            <a:endParaRPr lang="en-US" sz="1500" dirty="0"/>
          </a:p>
        </p:txBody>
      </p:sp>
      <p:sp>
        <p:nvSpPr>
          <p:cNvPr id="8" name="Text 6"/>
          <p:cNvSpPr/>
          <p:nvPr/>
        </p:nvSpPr>
        <p:spPr>
          <a:xfrm>
            <a:off x="777240" y="5349240"/>
            <a:ext cx="10634472" cy="8229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Your /readings endpoint accepts JSON. It does not know or care whether that JSON came from a browser, a phone, a Python script, or a microcontroller.</a:t>
            </a:r>
            <a:endParaRPr lang="en-US" sz="15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4.2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Where the other workshops plug in</a:t>
            </a:r>
            <a:endParaRPr lang="en-US" sz="3100" dirty="0"/>
          </a:p>
        </p:txBody>
      </p:sp>
      <p:sp>
        <p:nvSpPr>
          <p:cNvPr id="4" name="Text 2"/>
          <p:cNvSpPr/>
          <p:nvPr/>
        </p:nvSpPr>
        <p:spPr>
          <a:xfrm>
            <a:off x="777240" y="1371600"/>
            <a:ext cx="10634472" cy="73152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Every other session in this series produces something that lives on a laptop or a device. Yours is the only one that ends with something anyone can open.</a:t>
            </a:r>
            <a:endParaRPr lang="en-US" sz="1600" dirty="0"/>
          </a:p>
        </p:txBody>
      </p:sp>
      <p:sp>
        <p:nvSpPr>
          <p:cNvPr id="5" name="Shape 3"/>
          <p:cNvSpPr/>
          <p:nvPr/>
        </p:nvSpPr>
        <p:spPr>
          <a:xfrm>
            <a:off x="777240" y="2286000"/>
            <a:ext cx="10634472" cy="640080"/>
          </a:xfrm>
          <a:prstGeom prst="roundRect">
            <a:avLst>
              <a:gd name="adj" fmla="val 12857"/>
            </a:avLst>
          </a:prstGeom>
          <a:solidFill>
            <a:srgbClr val="F5F6F8"/>
          </a:solidFill>
          <a:ln w="12700">
            <a:solidFill>
              <a:srgbClr val="E1E4E9"/>
            </a:solidFill>
            <a:prstDash val="solid"/>
          </a:ln>
        </p:spPr>
      </p:sp>
      <p:sp>
        <p:nvSpPr>
          <p:cNvPr id="6" name="Text 4"/>
          <p:cNvSpPr/>
          <p:nvPr/>
        </p:nvSpPr>
        <p:spPr>
          <a:xfrm>
            <a:off x="1097280" y="2304288"/>
            <a:ext cx="4846320" cy="603504"/>
          </a:xfrm>
          <a:prstGeom prst="rect">
            <a:avLst/>
          </a:prstGeom>
          <a:noFill/>
          <a:ln/>
        </p:spPr>
        <p:txBody>
          <a:bodyPr wrap="square" lIns="0" tIns="0" rIns="0" bIns="0" rtlCol="0" anchor="ctr"/>
          <a:lstStyle/>
          <a:p>
            <a:pPr indent="0" marL="0">
              <a:buNone/>
            </a:pPr>
            <a:r>
              <a:rPr lang="en-US" sz="1400" b="1" dirty="0">
                <a:solidFill>
                  <a:srgbClr val="5158BE"/>
                </a:solidFill>
                <a:latin typeface="Cambria" pitchFamily="34" charset="0"/>
                <a:ea typeface="Cambria" pitchFamily="34" charset="-122"/>
                <a:cs typeface="Cambria" pitchFamily="34" charset="-120"/>
              </a:rPr>
              <a:t>Predictive Analytics &amp; AI Modelling</a:t>
            </a:r>
            <a:endParaRPr lang="en-US" sz="1400" dirty="0"/>
          </a:p>
        </p:txBody>
      </p:sp>
      <p:sp>
        <p:nvSpPr>
          <p:cNvPr id="7" name="Text 5"/>
          <p:cNvSpPr/>
          <p:nvPr/>
        </p:nvSpPr>
        <p:spPr>
          <a:xfrm>
            <a:off x="6172200" y="2304288"/>
            <a:ext cx="5120640" cy="60350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replace classify() with your model's prediction</a:t>
            </a:r>
            <a:endParaRPr lang="en-US" sz="1300" dirty="0"/>
          </a:p>
        </p:txBody>
      </p:sp>
      <p:sp>
        <p:nvSpPr>
          <p:cNvPr id="8" name="Shape 6"/>
          <p:cNvSpPr/>
          <p:nvPr/>
        </p:nvSpPr>
        <p:spPr>
          <a:xfrm>
            <a:off x="777240" y="3035808"/>
            <a:ext cx="10634472" cy="640080"/>
          </a:xfrm>
          <a:prstGeom prst="roundRect">
            <a:avLst>
              <a:gd name="adj" fmla="val 12857"/>
            </a:avLst>
          </a:prstGeom>
          <a:solidFill>
            <a:srgbClr val="F5F6F8"/>
          </a:solidFill>
          <a:ln w="12700">
            <a:solidFill>
              <a:srgbClr val="E1E4E9"/>
            </a:solidFill>
            <a:prstDash val="solid"/>
          </a:ln>
        </p:spPr>
      </p:sp>
      <p:sp>
        <p:nvSpPr>
          <p:cNvPr id="9" name="Text 7"/>
          <p:cNvSpPr/>
          <p:nvPr/>
        </p:nvSpPr>
        <p:spPr>
          <a:xfrm>
            <a:off x="1097280" y="3054096"/>
            <a:ext cx="4846320" cy="603504"/>
          </a:xfrm>
          <a:prstGeom prst="rect">
            <a:avLst/>
          </a:prstGeom>
          <a:noFill/>
          <a:ln/>
        </p:spPr>
        <p:txBody>
          <a:bodyPr wrap="square" lIns="0" tIns="0" rIns="0" bIns="0" rtlCol="0" anchor="ctr"/>
          <a:lstStyle/>
          <a:p>
            <a:pPr indent="0" marL="0">
              <a:buNone/>
            </a:pPr>
            <a:r>
              <a:rPr lang="en-US" sz="1400" b="1" dirty="0">
                <a:solidFill>
                  <a:srgbClr val="5158BE"/>
                </a:solidFill>
                <a:latin typeface="Cambria" pitchFamily="34" charset="0"/>
                <a:ea typeface="Cambria" pitchFamily="34" charset="-122"/>
                <a:cs typeface="Cambria" pitchFamily="34" charset="-120"/>
              </a:rPr>
              <a:t>TinyML - Edge AI on Small Devices</a:t>
            </a:r>
            <a:endParaRPr lang="en-US" sz="1400" dirty="0"/>
          </a:p>
        </p:txBody>
      </p:sp>
      <p:sp>
        <p:nvSpPr>
          <p:cNvPr id="10" name="Text 8"/>
          <p:cNvSpPr/>
          <p:nvPr/>
        </p:nvSpPr>
        <p:spPr>
          <a:xfrm>
            <a:off x="6172200" y="3054096"/>
            <a:ext cx="5120640" cy="60350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chip POSTs its prediction as the value</a:t>
            </a:r>
            <a:endParaRPr lang="en-US" sz="1300" dirty="0"/>
          </a:p>
        </p:txBody>
      </p:sp>
      <p:sp>
        <p:nvSpPr>
          <p:cNvPr id="11" name="Shape 9"/>
          <p:cNvSpPr/>
          <p:nvPr/>
        </p:nvSpPr>
        <p:spPr>
          <a:xfrm>
            <a:off x="777240" y="3785616"/>
            <a:ext cx="10634472" cy="640080"/>
          </a:xfrm>
          <a:prstGeom prst="roundRect">
            <a:avLst>
              <a:gd name="adj" fmla="val 12857"/>
            </a:avLst>
          </a:prstGeom>
          <a:solidFill>
            <a:srgbClr val="F5F6F8"/>
          </a:solidFill>
          <a:ln w="12700">
            <a:solidFill>
              <a:srgbClr val="E1E4E9"/>
            </a:solidFill>
            <a:prstDash val="solid"/>
          </a:ln>
        </p:spPr>
      </p:sp>
      <p:sp>
        <p:nvSpPr>
          <p:cNvPr id="12" name="Text 10"/>
          <p:cNvSpPr/>
          <p:nvPr/>
        </p:nvSpPr>
        <p:spPr>
          <a:xfrm>
            <a:off x="1097280" y="3803904"/>
            <a:ext cx="4846320" cy="603504"/>
          </a:xfrm>
          <a:prstGeom prst="rect">
            <a:avLst/>
          </a:prstGeom>
          <a:noFill/>
          <a:ln/>
        </p:spPr>
        <p:txBody>
          <a:bodyPr wrap="square" lIns="0" tIns="0" rIns="0" bIns="0" rtlCol="0" anchor="ctr"/>
          <a:lstStyle/>
          <a:p>
            <a:pPr indent="0" marL="0">
              <a:buNone/>
            </a:pPr>
            <a:r>
              <a:rPr lang="en-US" sz="1400" b="1" dirty="0">
                <a:solidFill>
                  <a:srgbClr val="5158BE"/>
                </a:solidFill>
                <a:latin typeface="Cambria" pitchFamily="34" charset="0"/>
                <a:ea typeface="Cambria" pitchFamily="34" charset="-122"/>
                <a:cs typeface="Cambria" pitchFamily="34" charset="-120"/>
              </a:rPr>
              <a:t>Edge AI &amp; Sensor Monitoring</a:t>
            </a:r>
            <a:endParaRPr lang="en-US" sz="1400" dirty="0"/>
          </a:p>
        </p:txBody>
      </p:sp>
      <p:sp>
        <p:nvSpPr>
          <p:cNvPr id="13" name="Text 11"/>
          <p:cNvSpPr/>
          <p:nvPr/>
        </p:nvSpPr>
        <p:spPr>
          <a:xfrm>
            <a:off x="6172200" y="3803904"/>
            <a:ext cx="5120640" cy="60350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exactly section 4.1 - no server changes at all</a:t>
            </a:r>
            <a:endParaRPr lang="en-US" sz="1300" dirty="0"/>
          </a:p>
        </p:txBody>
      </p:sp>
      <p:sp>
        <p:nvSpPr>
          <p:cNvPr id="14" name="Shape 12"/>
          <p:cNvSpPr/>
          <p:nvPr/>
        </p:nvSpPr>
        <p:spPr>
          <a:xfrm>
            <a:off x="777240" y="4535424"/>
            <a:ext cx="10634472" cy="640080"/>
          </a:xfrm>
          <a:prstGeom prst="roundRect">
            <a:avLst>
              <a:gd name="adj" fmla="val 12857"/>
            </a:avLst>
          </a:prstGeom>
          <a:solidFill>
            <a:srgbClr val="F5F6F8"/>
          </a:solidFill>
          <a:ln w="12700">
            <a:solidFill>
              <a:srgbClr val="E1E4E9"/>
            </a:solidFill>
            <a:prstDash val="solid"/>
          </a:ln>
        </p:spPr>
      </p:sp>
      <p:sp>
        <p:nvSpPr>
          <p:cNvPr id="15" name="Text 13"/>
          <p:cNvSpPr/>
          <p:nvPr/>
        </p:nvSpPr>
        <p:spPr>
          <a:xfrm>
            <a:off x="1097280" y="4553712"/>
            <a:ext cx="4846320" cy="603504"/>
          </a:xfrm>
          <a:prstGeom prst="rect">
            <a:avLst/>
          </a:prstGeom>
          <a:noFill/>
          <a:ln/>
        </p:spPr>
        <p:txBody>
          <a:bodyPr wrap="square" lIns="0" tIns="0" rIns="0" bIns="0" rtlCol="0" anchor="ctr"/>
          <a:lstStyle/>
          <a:p>
            <a:pPr indent="0" marL="0">
              <a:buNone/>
            </a:pPr>
            <a:r>
              <a:rPr lang="en-US" sz="1400" b="1" dirty="0">
                <a:solidFill>
                  <a:srgbClr val="5158BE"/>
                </a:solidFill>
                <a:latin typeface="Cambria" pitchFamily="34" charset="0"/>
                <a:ea typeface="Cambria" pitchFamily="34" charset="-122"/>
                <a:cs typeface="Cambria" pitchFamily="34" charset="-120"/>
              </a:rPr>
              <a:t>Designing IoT Systems for Energy Saving</a:t>
            </a:r>
            <a:endParaRPr lang="en-US" sz="1400" dirty="0"/>
          </a:p>
        </p:txBody>
      </p:sp>
      <p:sp>
        <p:nvSpPr>
          <p:cNvPr id="16" name="Text 14"/>
          <p:cNvSpPr/>
          <p:nvPr/>
        </p:nvSpPr>
        <p:spPr>
          <a:xfrm>
            <a:off x="6172200" y="4553712"/>
            <a:ext cx="5120640" cy="60350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same endpoint; the reading is watts</a:t>
            </a:r>
            <a:endParaRPr lang="en-US" sz="1300" dirty="0"/>
          </a:p>
        </p:txBody>
      </p:sp>
      <p:sp>
        <p:nvSpPr>
          <p:cNvPr id="17" name="Shape 15"/>
          <p:cNvSpPr/>
          <p:nvPr/>
        </p:nvSpPr>
        <p:spPr>
          <a:xfrm>
            <a:off x="777240" y="5285232"/>
            <a:ext cx="10634472" cy="640080"/>
          </a:xfrm>
          <a:prstGeom prst="roundRect">
            <a:avLst>
              <a:gd name="adj" fmla="val 12857"/>
            </a:avLst>
          </a:prstGeom>
          <a:solidFill>
            <a:srgbClr val="F5F6F8"/>
          </a:solidFill>
          <a:ln w="12700">
            <a:solidFill>
              <a:srgbClr val="E1E4E9"/>
            </a:solidFill>
            <a:prstDash val="solid"/>
          </a:ln>
        </p:spPr>
      </p:sp>
      <p:sp>
        <p:nvSpPr>
          <p:cNvPr id="18" name="Text 16"/>
          <p:cNvSpPr/>
          <p:nvPr/>
        </p:nvSpPr>
        <p:spPr>
          <a:xfrm>
            <a:off x="1097280" y="5303520"/>
            <a:ext cx="4846320" cy="603504"/>
          </a:xfrm>
          <a:prstGeom prst="rect">
            <a:avLst/>
          </a:prstGeom>
          <a:noFill/>
          <a:ln/>
        </p:spPr>
        <p:txBody>
          <a:bodyPr wrap="square" lIns="0" tIns="0" rIns="0" bIns="0" rtlCol="0" anchor="ctr"/>
          <a:lstStyle/>
          <a:p>
            <a:pPr indent="0" marL="0">
              <a:buNone/>
            </a:pPr>
            <a:r>
              <a:rPr lang="en-US" sz="1400" b="1" dirty="0">
                <a:solidFill>
                  <a:srgbClr val="5158BE"/>
                </a:solidFill>
                <a:latin typeface="Cambria" pitchFamily="34" charset="0"/>
                <a:ea typeface="Cambria" pitchFamily="34" charset="-122"/>
                <a:cs typeface="Cambria" pitchFamily="34" charset="-120"/>
              </a:rPr>
              <a:t>Engineering AI Prompting</a:t>
            </a:r>
            <a:endParaRPr lang="en-US" sz="1400" dirty="0"/>
          </a:p>
        </p:txBody>
      </p:sp>
      <p:sp>
        <p:nvSpPr>
          <p:cNvPr id="19" name="Text 17"/>
          <p:cNvSpPr/>
          <p:nvPr/>
        </p:nvSpPr>
        <p:spPr>
          <a:xfrm>
            <a:off x="6172200" y="5303520"/>
            <a:ext cx="5120640" cy="60350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SYSTEM and prompt strings in ai.py</a:t>
            </a:r>
            <a:endParaRPr lang="en-US" sz="1300" dirty="0"/>
          </a:p>
        </p:txBody>
      </p:sp>
      <p:sp>
        <p:nvSpPr>
          <p:cNvPr id="20" name="Text 18"/>
          <p:cNvSpPr/>
          <p:nvPr/>
        </p:nvSpPr>
        <p:spPr>
          <a:xfrm>
            <a:off x="777240" y="5943600"/>
            <a:ext cx="10634472" cy="822960"/>
          </a:xfrm>
          <a:prstGeom prst="rect">
            <a:avLst/>
          </a:prstGeom>
          <a:noFill/>
          <a:ln/>
        </p:spPr>
        <p:txBody>
          <a:bodyPr wrap="square" lIns="0" tIns="0" rIns="0" bIns="0" rtlCol="0" anchor="ctr"/>
          <a:lstStyle/>
          <a:p>
            <a:pPr indent="0" marL="0">
              <a:buNone/>
            </a:pPr>
            <a:r>
              <a:rPr lang="en-US" sz="1800" b="1" dirty="0">
                <a:solidFill>
                  <a:srgbClr val="5158BE"/>
                </a:solidFill>
                <a:latin typeface="Cambria" pitchFamily="34" charset="0"/>
                <a:ea typeface="Cambria" pitchFamily="34" charset="-122"/>
                <a:cs typeface="Cambria" pitchFamily="34" charset="-120"/>
              </a:rPr>
              <a:t>This is the session that makes the other nine visible.</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4.3 - 4.7</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Five more things, when you need them</a:t>
            </a:r>
            <a:endParaRPr lang="en-US" sz="3100" dirty="0"/>
          </a:p>
        </p:txBody>
      </p:sp>
      <p:sp>
        <p:nvSpPr>
          <p:cNvPr id="4" name="Shape 2"/>
          <p:cNvSpPr/>
          <p:nvPr/>
        </p:nvSpPr>
        <p:spPr>
          <a:xfrm>
            <a:off x="777240" y="1737360"/>
            <a:ext cx="10634472" cy="777240"/>
          </a:xfrm>
          <a:prstGeom prst="roundRect">
            <a:avLst>
              <a:gd name="adj" fmla="val 10588"/>
            </a:avLst>
          </a:prstGeom>
          <a:solidFill>
            <a:srgbClr val="F5F6F8"/>
          </a:solidFill>
          <a:ln w="12700">
            <a:solidFill>
              <a:srgbClr val="E1E4E9"/>
            </a:solidFill>
            <a:prstDash val="solid"/>
          </a:ln>
        </p:spPr>
      </p:sp>
      <p:sp>
        <p:nvSpPr>
          <p:cNvPr id="5" name="Shape 3"/>
          <p:cNvSpPr/>
          <p:nvPr/>
        </p:nvSpPr>
        <p:spPr>
          <a:xfrm>
            <a:off x="1069848" y="1975104"/>
            <a:ext cx="310896" cy="310896"/>
          </a:xfrm>
          <a:prstGeom prst="ellipse">
            <a:avLst/>
          </a:prstGeom>
          <a:solidFill>
            <a:srgbClr val="00776A"/>
          </a:solidFill>
          <a:ln/>
        </p:spPr>
      </p:sp>
      <p:sp>
        <p:nvSpPr>
          <p:cNvPr id="6" name="Text 4"/>
          <p:cNvSpPr/>
          <p:nvPr/>
        </p:nvSpPr>
        <p:spPr>
          <a:xfrm>
            <a:off x="1600200" y="1755648"/>
            <a:ext cx="3657600" cy="7406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Keep your data</a:t>
            </a:r>
            <a:endParaRPr lang="en-US" sz="1500" dirty="0"/>
          </a:p>
        </p:txBody>
      </p:sp>
      <p:sp>
        <p:nvSpPr>
          <p:cNvPr id="7" name="Text 5"/>
          <p:cNvSpPr/>
          <p:nvPr/>
        </p:nvSpPr>
        <p:spPr>
          <a:xfrm>
            <a:off x="5440680" y="1755648"/>
            <a:ext cx="5852160" cy="7406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 managed database instead of a file - Render offers a free Postgres</a:t>
            </a:r>
            <a:endParaRPr lang="en-US" sz="1300" dirty="0"/>
          </a:p>
        </p:txBody>
      </p:sp>
      <p:sp>
        <p:nvSpPr>
          <p:cNvPr id="8" name="Shape 6"/>
          <p:cNvSpPr/>
          <p:nvPr/>
        </p:nvSpPr>
        <p:spPr>
          <a:xfrm>
            <a:off x="777240" y="2651760"/>
            <a:ext cx="10634472" cy="777240"/>
          </a:xfrm>
          <a:prstGeom prst="roundRect">
            <a:avLst>
              <a:gd name="adj" fmla="val 10588"/>
            </a:avLst>
          </a:prstGeom>
          <a:solidFill>
            <a:srgbClr val="F5F6F8"/>
          </a:solidFill>
          <a:ln w="12700">
            <a:solidFill>
              <a:srgbClr val="E1E4E9"/>
            </a:solidFill>
            <a:prstDash val="solid"/>
          </a:ln>
        </p:spPr>
      </p:sp>
      <p:sp>
        <p:nvSpPr>
          <p:cNvPr id="9" name="Shape 7"/>
          <p:cNvSpPr/>
          <p:nvPr/>
        </p:nvSpPr>
        <p:spPr>
          <a:xfrm>
            <a:off x="1069848" y="2889504"/>
            <a:ext cx="310896" cy="310896"/>
          </a:xfrm>
          <a:prstGeom prst="ellipse">
            <a:avLst/>
          </a:prstGeom>
          <a:solidFill>
            <a:srgbClr val="5158BE"/>
          </a:solidFill>
          <a:ln/>
        </p:spPr>
      </p:sp>
      <p:sp>
        <p:nvSpPr>
          <p:cNvPr id="10" name="Text 8"/>
          <p:cNvSpPr/>
          <p:nvPr/>
        </p:nvSpPr>
        <p:spPr>
          <a:xfrm>
            <a:off x="1600200" y="2670048"/>
            <a:ext cx="3657600" cy="7406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Make it feel fast</a:t>
            </a:r>
            <a:endParaRPr lang="en-US" sz="1500" dirty="0"/>
          </a:p>
        </p:txBody>
      </p:sp>
      <p:sp>
        <p:nvSpPr>
          <p:cNvPr id="11" name="Text 9"/>
          <p:cNvSpPr/>
          <p:nvPr/>
        </p:nvSpPr>
        <p:spPr>
          <a:xfrm>
            <a:off x="5440680" y="2670048"/>
            <a:ext cx="5852160" cy="7406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answer immediately, fill in the AI explanation afterwards</a:t>
            </a:r>
            <a:endParaRPr lang="en-US" sz="1300" dirty="0"/>
          </a:p>
        </p:txBody>
      </p:sp>
      <p:sp>
        <p:nvSpPr>
          <p:cNvPr id="12" name="Shape 10"/>
          <p:cNvSpPr/>
          <p:nvPr/>
        </p:nvSpPr>
        <p:spPr>
          <a:xfrm>
            <a:off x="777240" y="3566160"/>
            <a:ext cx="10634472" cy="777240"/>
          </a:xfrm>
          <a:prstGeom prst="roundRect">
            <a:avLst>
              <a:gd name="adj" fmla="val 10588"/>
            </a:avLst>
          </a:prstGeom>
          <a:solidFill>
            <a:srgbClr val="F5F6F8"/>
          </a:solidFill>
          <a:ln w="12700">
            <a:solidFill>
              <a:srgbClr val="E1E4E9"/>
            </a:solidFill>
            <a:prstDash val="solid"/>
          </a:ln>
        </p:spPr>
      </p:sp>
      <p:sp>
        <p:nvSpPr>
          <p:cNvPr id="13" name="Shape 11"/>
          <p:cNvSpPr/>
          <p:nvPr/>
        </p:nvSpPr>
        <p:spPr>
          <a:xfrm>
            <a:off x="1069848" y="3803904"/>
            <a:ext cx="310896" cy="310896"/>
          </a:xfrm>
          <a:prstGeom prst="ellipse">
            <a:avLst/>
          </a:prstGeom>
          <a:solidFill>
            <a:srgbClr val="A85F00"/>
          </a:solidFill>
          <a:ln/>
        </p:spPr>
      </p:sp>
      <p:sp>
        <p:nvSpPr>
          <p:cNvPr id="14" name="Text 12"/>
          <p:cNvSpPr/>
          <p:nvPr/>
        </p:nvSpPr>
        <p:spPr>
          <a:xfrm>
            <a:off x="1600200" y="3584448"/>
            <a:ext cx="3657600" cy="7406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Run the AI free, locally</a:t>
            </a:r>
            <a:endParaRPr lang="en-US" sz="1500" dirty="0"/>
          </a:p>
        </p:txBody>
      </p:sp>
      <p:sp>
        <p:nvSpPr>
          <p:cNvPr id="15" name="Text 13"/>
          <p:cNvSpPr/>
          <p:nvPr/>
        </p:nvSpPr>
        <p:spPr>
          <a:xfrm>
            <a:off x="5440680" y="3584448"/>
            <a:ext cx="5852160" cy="7406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Ollama on your own machine - but localhost means the server once deployed</a:t>
            </a:r>
            <a:endParaRPr lang="en-US" sz="1300" dirty="0"/>
          </a:p>
        </p:txBody>
      </p:sp>
      <p:sp>
        <p:nvSpPr>
          <p:cNvPr id="16" name="Shape 14"/>
          <p:cNvSpPr/>
          <p:nvPr/>
        </p:nvSpPr>
        <p:spPr>
          <a:xfrm>
            <a:off x="777240" y="4480560"/>
            <a:ext cx="10634472" cy="777240"/>
          </a:xfrm>
          <a:prstGeom prst="roundRect">
            <a:avLst>
              <a:gd name="adj" fmla="val 10588"/>
            </a:avLst>
          </a:prstGeom>
          <a:solidFill>
            <a:srgbClr val="F5F6F8"/>
          </a:solidFill>
          <a:ln w="12700">
            <a:solidFill>
              <a:srgbClr val="E1E4E9"/>
            </a:solidFill>
            <a:prstDash val="solid"/>
          </a:ln>
        </p:spPr>
      </p:sp>
      <p:sp>
        <p:nvSpPr>
          <p:cNvPr id="17" name="Shape 15"/>
          <p:cNvSpPr/>
          <p:nvPr/>
        </p:nvSpPr>
        <p:spPr>
          <a:xfrm>
            <a:off x="1069848" y="4718304"/>
            <a:ext cx="310896" cy="310896"/>
          </a:xfrm>
          <a:prstGeom prst="ellipse">
            <a:avLst/>
          </a:prstGeom>
          <a:solidFill>
            <a:srgbClr val="0A7D28"/>
          </a:solidFill>
          <a:ln/>
        </p:spPr>
      </p:sp>
      <p:sp>
        <p:nvSpPr>
          <p:cNvPr id="18" name="Text 16"/>
          <p:cNvSpPr/>
          <p:nvPr/>
        </p:nvSpPr>
        <p:spPr>
          <a:xfrm>
            <a:off x="1600200" y="4498848"/>
            <a:ext cx="3657600" cy="7406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Control what you spend</a:t>
            </a:r>
            <a:endParaRPr lang="en-US" sz="1500" dirty="0"/>
          </a:p>
        </p:txBody>
      </p:sp>
      <p:sp>
        <p:nvSpPr>
          <p:cNvPr id="19" name="Text 17"/>
          <p:cNvSpPr/>
          <p:nvPr/>
        </p:nvSpPr>
        <p:spPr>
          <a:xfrm>
            <a:off x="5440680" y="4498848"/>
            <a:ext cx="5852160" cy="7406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a cap on your provider account, and a check in your code</a:t>
            </a:r>
            <a:endParaRPr lang="en-US" sz="1300" dirty="0"/>
          </a:p>
        </p:txBody>
      </p:sp>
      <p:sp>
        <p:nvSpPr>
          <p:cNvPr id="20" name="Shape 18"/>
          <p:cNvSpPr/>
          <p:nvPr/>
        </p:nvSpPr>
        <p:spPr>
          <a:xfrm>
            <a:off x="777240" y="5394960"/>
            <a:ext cx="10634472" cy="777240"/>
          </a:xfrm>
          <a:prstGeom prst="roundRect">
            <a:avLst>
              <a:gd name="adj" fmla="val 10588"/>
            </a:avLst>
          </a:prstGeom>
          <a:solidFill>
            <a:srgbClr val="F5F6F8"/>
          </a:solidFill>
          <a:ln w="12700">
            <a:solidFill>
              <a:srgbClr val="E1E4E9"/>
            </a:solidFill>
            <a:prstDash val="solid"/>
          </a:ln>
        </p:spPr>
      </p:sp>
      <p:sp>
        <p:nvSpPr>
          <p:cNvPr id="21" name="Shape 19"/>
          <p:cNvSpPr/>
          <p:nvPr/>
        </p:nvSpPr>
        <p:spPr>
          <a:xfrm>
            <a:off x="1069848" y="5632704"/>
            <a:ext cx="310896" cy="310896"/>
          </a:xfrm>
          <a:prstGeom prst="ellipse">
            <a:avLst/>
          </a:prstGeom>
          <a:solidFill>
            <a:srgbClr val="BE3A2B"/>
          </a:solidFill>
          <a:ln/>
        </p:spPr>
      </p:sp>
      <p:sp>
        <p:nvSpPr>
          <p:cNvPr id="22" name="Text 20"/>
          <p:cNvSpPr/>
          <p:nvPr/>
        </p:nvSpPr>
        <p:spPr>
          <a:xfrm>
            <a:off x="1600200" y="5413248"/>
            <a:ext cx="3657600" cy="740664"/>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Know when the AI failed</a:t>
            </a:r>
            <a:endParaRPr lang="en-US" sz="1500" dirty="0"/>
          </a:p>
        </p:txBody>
      </p:sp>
      <p:sp>
        <p:nvSpPr>
          <p:cNvPr id="23" name="Text 21"/>
          <p:cNvSpPr/>
          <p:nvPr/>
        </p:nvSpPr>
        <p:spPr>
          <a:xfrm>
            <a:off x="5440680" y="5413248"/>
            <a:ext cx="5852160" cy="740664"/>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log every fallback; never let the UI claim a model wrote something it did not</a:t>
            </a:r>
            <a:endParaRPr lang="en-US" sz="1300" dirty="0"/>
          </a:p>
        </p:txBody>
      </p:sp>
      <p:sp>
        <p:nvSpPr>
          <p:cNvPr id="24" name="Text 22"/>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All five are written up with code in Part 4 of the guide.</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777240"/>
            <a:ext cx="100584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actually learned</a:t>
            </a:r>
            <a:endParaRPr lang="en-US" sz="3200" dirty="0"/>
          </a:p>
        </p:txBody>
      </p:sp>
      <p:sp>
        <p:nvSpPr>
          <p:cNvPr id="3" name="Text 1"/>
          <p:cNvSpPr/>
          <p:nvPr/>
        </p:nvSpPr>
        <p:spPr>
          <a:xfrm>
            <a:off x="777240" y="1463040"/>
            <a:ext cx="10058400" cy="365760"/>
          </a:xfrm>
          <a:prstGeom prst="rect">
            <a:avLst/>
          </a:prstGeom>
          <a:noFill/>
          <a:ln/>
        </p:spPr>
        <p:txBody>
          <a:bodyPr wrap="square" lIns="0" tIns="0" rIns="0" bIns="0" rtlCol="0" anchor="ctr"/>
          <a:lstStyle/>
          <a:p>
            <a:pPr indent="0" marL="0">
              <a:buNone/>
            </a:pPr>
            <a:r>
              <a:rPr lang="en-US" sz="1400" dirty="0">
                <a:solidFill>
                  <a:srgbClr val="98A0AC"/>
                </a:solidFill>
                <a:latin typeface="Calibri" pitchFamily="34" charset="0"/>
                <a:ea typeface="Calibri" pitchFamily="34" charset="-122"/>
                <a:cs typeface="Calibri" pitchFamily="34" charset="-120"/>
              </a:rPr>
              <a:t>The application is a vehicle. What transfers is underneath it.</a:t>
            </a:r>
            <a:endParaRPr lang="en-US" sz="1400" dirty="0"/>
          </a:p>
        </p:txBody>
      </p:sp>
      <p:sp>
        <p:nvSpPr>
          <p:cNvPr id="4" name="Shape 2"/>
          <p:cNvSpPr/>
          <p:nvPr/>
        </p:nvSpPr>
        <p:spPr>
          <a:xfrm>
            <a:off x="822960" y="2176272"/>
            <a:ext cx="256032" cy="256032"/>
          </a:xfrm>
          <a:prstGeom prst="ellipse">
            <a:avLst/>
          </a:prstGeom>
          <a:solidFill>
            <a:srgbClr val="3ACFB6"/>
          </a:solidFill>
          <a:ln/>
        </p:spPr>
      </p:sp>
      <p:sp>
        <p:nvSpPr>
          <p:cNvPr id="5" name="Text 3"/>
          <p:cNvSpPr/>
          <p:nvPr/>
        </p:nvSpPr>
        <p:spPr>
          <a:xfrm>
            <a:off x="1325880" y="2057400"/>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backend receives requests and decides what to send back</a:t>
            </a:r>
            <a:endParaRPr lang="en-US" sz="1500" dirty="0"/>
          </a:p>
        </p:txBody>
      </p:sp>
      <p:sp>
        <p:nvSpPr>
          <p:cNvPr id="6" name="Shape 4"/>
          <p:cNvSpPr/>
          <p:nvPr/>
        </p:nvSpPr>
        <p:spPr>
          <a:xfrm>
            <a:off x="822960" y="2779776"/>
            <a:ext cx="256032" cy="256032"/>
          </a:xfrm>
          <a:prstGeom prst="ellipse">
            <a:avLst/>
          </a:prstGeom>
          <a:solidFill>
            <a:srgbClr val="3ACFB6"/>
          </a:solidFill>
          <a:ln/>
        </p:spPr>
      </p:sp>
      <p:sp>
        <p:nvSpPr>
          <p:cNvPr id="7" name="Text 5"/>
          <p:cNvSpPr/>
          <p:nvPr/>
        </p:nvSpPr>
        <p:spPr>
          <a:xfrm>
            <a:off x="1325880" y="2660904"/>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frontend is public and the backend is not - that decides where secrets live</a:t>
            </a:r>
            <a:endParaRPr lang="en-US" sz="1500" dirty="0"/>
          </a:p>
        </p:txBody>
      </p:sp>
      <p:sp>
        <p:nvSpPr>
          <p:cNvPr id="8" name="Shape 6"/>
          <p:cNvSpPr/>
          <p:nvPr/>
        </p:nvSpPr>
        <p:spPr>
          <a:xfrm>
            <a:off x="822960" y="3383280"/>
            <a:ext cx="256032" cy="256032"/>
          </a:xfrm>
          <a:prstGeom prst="ellipse">
            <a:avLst/>
          </a:prstGeom>
          <a:solidFill>
            <a:srgbClr val="3ACFB6"/>
          </a:solidFill>
          <a:ln/>
        </p:spPr>
      </p:sp>
      <p:sp>
        <p:nvSpPr>
          <p:cNvPr id="9" name="Text 7"/>
          <p:cNvSpPr/>
          <p:nvPr/>
        </p:nvSpPr>
        <p:spPr>
          <a:xfrm>
            <a:off x="1325880" y="3264408"/>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Validate input at the edge, because anyone can send anything</a:t>
            </a:r>
            <a:endParaRPr lang="en-US" sz="1500" dirty="0"/>
          </a:p>
        </p:txBody>
      </p:sp>
      <p:sp>
        <p:nvSpPr>
          <p:cNvPr id="10" name="Shape 8"/>
          <p:cNvSpPr/>
          <p:nvPr/>
        </p:nvSpPr>
        <p:spPr>
          <a:xfrm>
            <a:off x="822960" y="3986784"/>
            <a:ext cx="256032" cy="256032"/>
          </a:xfrm>
          <a:prstGeom prst="ellipse">
            <a:avLst/>
          </a:prstGeom>
          <a:solidFill>
            <a:srgbClr val="3ACFB6"/>
          </a:solidFill>
          <a:ln/>
        </p:spPr>
      </p:sp>
      <p:sp>
        <p:nvSpPr>
          <p:cNvPr id="11" name="Text 9"/>
          <p:cNvSpPr/>
          <p:nvPr/>
        </p:nvSpPr>
        <p:spPr>
          <a:xfrm>
            <a:off x="1325880" y="3867912"/>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Know what each component is good at, and do not route work to the wrong one</a:t>
            </a:r>
            <a:endParaRPr lang="en-US" sz="1500" dirty="0"/>
          </a:p>
        </p:txBody>
      </p:sp>
      <p:sp>
        <p:nvSpPr>
          <p:cNvPr id="12" name="Shape 10"/>
          <p:cNvSpPr/>
          <p:nvPr/>
        </p:nvSpPr>
        <p:spPr>
          <a:xfrm>
            <a:off x="822960" y="4590288"/>
            <a:ext cx="256032" cy="256032"/>
          </a:xfrm>
          <a:prstGeom prst="ellipse">
            <a:avLst/>
          </a:prstGeom>
          <a:solidFill>
            <a:srgbClr val="3ACFB6"/>
          </a:solidFill>
          <a:ln/>
        </p:spPr>
      </p:sp>
      <p:sp>
        <p:nvSpPr>
          <p:cNvPr id="13" name="Text 11"/>
          <p:cNvSpPr/>
          <p:nvPr/>
        </p:nvSpPr>
        <p:spPr>
          <a:xfrm>
            <a:off x="1325880" y="4471416"/>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Anything slow or external is allowed to fail - but make the failure visible</a:t>
            </a:r>
            <a:endParaRPr lang="en-US" sz="1500" dirty="0"/>
          </a:p>
        </p:txBody>
      </p:sp>
      <p:sp>
        <p:nvSpPr>
          <p:cNvPr id="14" name="Shape 12"/>
          <p:cNvSpPr/>
          <p:nvPr/>
        </p:nvSpPr>
        <p:spPr>
          <a:xfrm>
            <a:off x="822960" y="5193792"/>
            <a:ext cx="256032" cy="256032"/>
          </a:xfrm>
          <a:prstGeom prst="ellipse">
            <a:avLst/>
          </a:prstGeom>
          <a:solidFill>
            <a:srgbClr val="3ACFB6"/>
          </a:solidFill>
          <a:ln/>
        </p:spPr>
      </p:sp>
      <p:sp>
        <p:nvSpPr>
          <p:cNvPr id="15" name="Text 13"/>
          <p:cNvSpPr/>
          <p:nvPr/>
        </p:nvSpPr>
        <p:spPr>
          <a:xfrm>
            <a:off x="1325880" y="5074920"/>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Pin your dependencies, or your build breaks on a day you did not touch it</a:t>
            </a:r>
            <a:endParaRPr lang="en-US" sz="1500" dirty="0"/>
          </a:p>
        </p:txBody>
      </p:sp>
      <p:sp>
        <p:nvSpPr>
          <p:cNvPr id="16" name="Shape 14"/>
          <p:cNvSpPr/>
          <p:nvPr/>
        </p:nvSpPr>
        <p:spPr>
          <a:xfrm>
            <a:off x="822960" y="5797296"/>
            <a:ext cx="256032" cy="256032"/>
          </a:xfrm>
          <a:prstGeom prst="ellipse">
            <a:avLst/>
          </a:prstGeom>
          <a:solidFill>
            <a:srgbClr val="3ACFB6"/>
          </a:solidFill>
          <a:ln/>
        </p:spPr>
      </p:sp>
      <p:sp>
        <p:nvSpPr>
          <p:cNvPr id="17" name="Text 15"/>
          <p:cNvSpPr/>
          <p:nvPr/>
        </p:nvSpPr>
        <p:spPr>
          <a:xfrm>
            <a:off x="1325880" y="5678424"/>
            <a:ext cx="10058400" cy="47548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Config belongs outside your code, so the same program runs anywhere</a:t>
            </a:r>
            <a:endParaRPr lang="en-US" sz="1500" dirty="0"/>
          </a:p>
        </p:txBody>
      </p:sp>
      <p:sp>
        <p:nvSpPr>
          <p:cNvPr id="18" name="Text 16"/>
          <p:cNvSpPr/>
          <p:nvPr/>
        </p:nvSpPr>
        <p:spPr>
          <a:xfrm>
            <a:off x="777240" y="6355080"/>
            <a:ext cx="10607040" cy="411480"/>
          </a:xfrm>
          <a:prstGeom prst="rect">
            <a:avLst/>
          </a:prstGeom>
          <a:noFill/>
          <a:ln/>
        </p:spPr>
        <p:txBody>
          <a:bodyPr wrap="square" lIns="0" tIns="0" rIns="0" bIns="0" rtlCol="0" anchor="ctr"/>
          <a:lstStyle/>
          <a:p>
            <a:pPr indent="0" marL="0">
              <a:buNone/>
            </a:pPr>
            <a:r>
              <a:rPr lang="en-US" sz="1600" b="1" dirty="0">
                <a:solidFill>
                  <a:srgbClr val="3ACFB6"/>
                </a:solidFill>
                <a:latin typeface="Cambria" pitchFamily="34" charset="0"/>
                <a:ea typeface="Cambria" pitchFamily="34" charset="-122"/>
                <a:cs typeface="Cambria" pitchFamily="34" charset="-120"/>
              </a:rPr>
              <a:t>None of that is FastAPI, Render, or this application. It is how software gets built.</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103120"/>
            <a:ext cx="100584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Questions</a:t>
            </a:r>
            <a:endParaRPr lang="en-US" sz="5000" dirty="0"/>
          </a:p>
        </p:txBody>
      </p:sp>
      <p:sp>
        <p:nvSpPr>
          <p:cNvPr id="3" name="Text 1"/>
          <p:cNvSpPr/>
          <p:nvPr/>
        </p:nvSpPr>
        <p:spPr>
          <a:xfrm>
            <a:off x="777240" y="3291840"/>
            <a:ext cx="9875520" cy="73152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The written guide has every command, the full code for all six stages, a glossary, a command reference and a troubleshooting table.</a:t>
            </a:r>
            <a:endParaRPr lang="en-US" sz="1600" dirty="0"/>
          </a:p>
        </p:txBody>
      </p:sp>
      <p:sp>
        <p:nvSpPr>
          <p:cNvPr id="4" name="Text 2"/>
          <p:cNvSpPr/>
          <p:nvPr/>
        </p:nvSpPr>
        <p:spPr>
          <a:xfrm>
            <a:off x="777240" y="4160520"/>
            <a:ext cx="10058400" cy="457200"/>
          </a:xfrm>
          <a:prstGeom prst="rect">
            <a:avLst/>
          </a:prstGeom>
          <a:noFill/>
          <a:ln/>
        </p:spPr>
        <p:txBody>
          <a:bodyPr wrap="square" lIns="0" tIns="0" rIns="0" bIns="0" rtlCol="0" anchor="ctr"/>
          <a:lstStyle/>
          <a:p>
            <a:pPr indent="0" marL="0">
              <a:buNone/>
            </a:pPr>
            <a:r>
              <a:rPr lang="en-US" sz="2000" dirty="0">
                <a:solidFill>
                  <a:srgbClr val="3ACFB6"/>
                </a:solidFill>
                <a:latin typeface="Courier New" pitchFamily="34" charset="0"/>
                <a:ea typeface="Courier New" pitchFamily="34" charset="-122"/>
                <a:cs typeface="Courier New" pitchFamily="34" charset="-120"/>
              </a:rPr>
              <a:t>github.com/Shamsu3100/demon-</a:t>
            </a:r>
            <a:endParaRPr lang="en-US" sz="2000" dirty="0"/>
          </a:p>
        </p:txBody>
      </p:sp>
      <p:sp>
        <p:nvSpPr>
          <p:cNvPr id="5" name="Text 3"/>
          <p:cNvSpPr/>
          <p:nvPr/>
        </p:nvSpPr>
        <p:spPr>
          <a:xfrm>
            <a:off x="777240" y="4937760"/>
            <a:ext cx="10058400"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Take it, change it, use it for your project.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Full-Stack App Deployment with AI APIs &amp; Cloud</dc:title>
  <dc:subject>PptxGenJS Presentation</dc:subject>
  <dc:creator>Project Nexus 2026</dc:creator>
  <cp:lastModifiedBy>Project Nexus 2026</cp:lastModifiedBy>
  <cp:revision>1</cp:revision>
  <dcterms:created xsi:type="dcterms:W3CDTF">2026-08-25T06:06:22Z</dcterms:created>
  <dcterms:modified xsi:type="dcterms:W3CDTF">2026-08-25T06:06:22Z</dcterms:modified>
</cp:coreProperties>
</file>