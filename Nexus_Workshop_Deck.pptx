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before you say anything about what they will build.
The point of the slide is the red box. A trained model is invisible to anyone not sitting at the laptop that trained it. A sensor reading in a terminal cannot be shown to a judge, a supervisor, or a collaborator in another city. That is a real gap, and it is one nobody else in this series covers.
Say the one-line version out loud, because it is the version they will remember:
"Nine of these workshops teach you to build something. This is the one where somebody else gets to see it."
Then be honest about scope: this session is not about AI, and it is not about hardware. It is about the step that turns either one into something with an address.
Come back to this slide at the end -- Part 4 shows exactly where each of the other workshops plugs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 tool they were taught is the only one, or the best one. Show them the field.
Say why we chose FastAPI honestly: not because it is objectively best, but because this room already writes Python for AI and engineering work, so there is no second language to learn. The automatic validation and the free /docs page are genuine advantages over Flask and Express, both of which need extra libraries for the same thing.
If someone in the room already knows Express or Spring, tell them the concepts transfer completely. Routes, request bodies, status codes and middleware exist in all of them. Only the spelling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teal box is the slide. Everything above it is context.
This is the reason the frontend/backend split exists at all, and it is worth saying slowly. They are not building a web page that happens to have some Python behind it. They are building a service, and the web page is one client of it.
Concrete consequence for their projects: if they later decide they want a phone app instead of a web page, they do not rebuild anything. The backend is already done.
Worth a specific note on Streamlit and Gradio, because for some projects they are genuinely the better choice. Both let you build an interface in pure Python with no HTML, and a dashboard that takes an hour here takes fifteen lines there. But neither can receive a POST from a device -- they have no route handlers. If your project has a microcontroller, you need a real backend. If it is software only, Streamlit will save you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tables, one lesson each.
On databases, the categories matter more than the brands. Relational means tables with fixed columns queried with SQL -- right when your data has a consistent shape, which sensor data does. Document means records that are JSON objects and need not all match -- right when the shape varies. Key-value is a very fast lookup, usually a cache in front of something else.
On AI providers, the point is at the bottom. They all take text and a key and return text. Students worry about being locked in to one company. They are not, and the reason is architectural: the call lives in one file.
If someone asks which provider is best, be honest -- it changes every few months, and the sensible engineering answer is to keep the call isolated so the question stays cheap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whole landscape section. The tables are reference; this is the transferable skill.
Walk through how our own choices fall out of it. Question 1: an ESP32 needs to send readings, so we need a real backend, which removes static hosting and Streamlit. Question 2: we have an API key, same answer. Question 3: this room writes Python, so FastAPI rather than Express. Question 4: a prototype for an exhibition, so free hosting is exactly right and a managed database is not needed yet.
Four questions, and every technology choice in this workshop is explained.
Tell them to actually use this. The most common failure in student projects is picking a tool because it appeared in a tutorial, discovering three weeks later that it cannot do something essential, and having to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demonstration, not a build-along. Tell them that: watch this one, type the next one.
Why it goes first: an early win. They see a live public URL at about minute twenty, so the longer build that follows has a payoff they already believe in.
Why it matters for this room specifically: the organisers asked for options at both skill levels, and this is the accessible one. No HTML, no server code, no configuration file. A student with foundational programming can do all of it today.
It is also the path that matches where most of them actually are: a model that works, in a notebook, on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 model or a script that works, but only on your own machine?" Most hands go up.
That is the situation this part solves, and naming it makes the next twenty minutes feel relevant rather than abstract.
Then walk the four steps at the bottom slowly. Each one is a single thing:
- the notebook trains it
- one line saves it to a file
- thirty lines wrap it in an interface
- uploading three files puts it online
No step is difficult. What stops people is not knowing the sequence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notebook and run it live. It takes about five seconds and produces a 2 KB file.
The teal box is the whole slide. Students treat the notebook as the project. It is not -- it is the workshop where the project was made. The deliverable is the file.
Point at the folder afterwards and show model.pkl sitting there. That physical moment does more than the explanation.
Worth thirty seconds on the feature: we give the model one number, "where does this reading sit in its safe range", rather than three raw numbers. That lets one model handle a body temperature and a motor temperature without being confused by scale. Choosing what to feed a model matters more than choosing which model.
If anyone already has a trained model from Workshop 3, they save it the same way and skip straight to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python app.py, then open 127.0.0.1:7860. Input boxes, a button, results, and clickable examples appear from about thirty lines.
The slide shows a shortened version so it stays readable. The full file, with proper labels and examples, is in the guide and in fastpath/app.py.
The idea to land: you described a function and its inputs and outputs, and Gradio did the interface. That is the entire trade -- you give up control over how it looks, and you get an interface for free.
Streamlit does the same job in a different style. Either is fine. Gradio suits "one function, some inputs, some outputs", which is exactly the shape of a model.
Note the position line is the same feature calculation as the notebook. Whatever you feed the model when training, you must feed it the same thing later. That catches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libraries take a Python function and generate a web interface around it. Neither requires HTML.
Gradio suits the shape of a model: fixed inputs, one function, some outputs. Streamlit suits a page with several sections, charts, and a narrative layout.
The practical difference in behaviour is worth mentioning: Streamlit re-runs the entire script every time the user interacts with anything, which surprises people the first time. Gradio calls only your function.
Say which you would choose and why. For this workshop the deciding factor is hosting, and that is the next slide.
One detail that catches people in both: the position calculation appears in the training notebook and again in the application. Whatever you compute before training, you must compute again before predicting. Get it wrong and the application runs perfectly and returns nonsense.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August 2026, and worth re-checking before you present.
Hugging Face Spaces was until recently the simplest route for a Gradio application: upload three files through a web page, no repository required. Gradio and Docker Spaces now require a paid subscription. Only Static Spaces remain free, and those cannot execute Python, so they cannot serve a model.
That change is worth presenting as a lesson rather than an inconvenience. Free tiers move, sometimes without notice. Anything you build should survive its host changing terms, which is a further argument for keeping the model and the logic separate from whatever wraps them.
The recommendation for this session is Streamlit Community Cloud: free, approximately 1 GB of memory, and the application sleeps only after roughly twelve hours without traffic. That sleep window is considerably more forgiving than most free hosting, which matters at an exhibition.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 this live, narrating each step. Including the build it takes about four minutes.
Step 1 is the one that differs from the earlier Hugging Face route: Streamlit Community Cloud reads from a repository rather than accepting uploads. Part 0 already created a GitHub account, so this is not new ground, but it does mean the rapid path is no longer entirely free of git.
Be explicit that this is still substantially simpler than Part 4: no configuration file, no start command, no environment variables, and no port settings. Selecting a repository and a filename is the whole configuration.
Warn them that a "Building" status for the first few minutes is expected and is not an error.
When the application is live, open it on a phone. Then note that everything required to repeat it is in Part 2 of the guide and in the fastpath folder of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and it is why we do not simply stop after Part 2.
The highlighted row is the one that decides it for this cohort. Many of these teams have an ESP32 or similar sending readings. Gradio has no route handlers, so there is nowhere for a device to send anything, and no amount of configuration changes that.
Be fair to the fast path while saying it. Everything in the other rows is genuinely fine for a model demonstration. If a project is a model that people type inputs into, this really is all it needs.
Then set up the choice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a competition between the two. Both are correct answers to different questions.
The realistic advice for a Project Nexus team with hardware: build the full path for the prototype, and build the fast path as well, because it is twenty minutes and gives you a second thing to show judges -- your model, on its own, that anyone can try.
For a team with no hardware, the fast path may genuinely be the whole answer, and they should not feel they have done less.
Then move on: Part 3 builds the full path, and everyone types along for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seam from Part 1, paying off.
One setting chooses the provider. Anthropic has its own library, so it gets its own function. OpenAI, DeepSeek, Gemini, Groq and a locally running Ollama all speak the same protocol, so a single function serves all five with a different address and model name.
The consequence worth stating: changing provider edits one file. Nothing else in the application notices, because everything downstream only ever sees an Advice object.
Tell them why this matters practically. Free credits run out. Providers change pricing. A key gets revoked. When that happens the question is only ever "how many files do I have to edit", and the answer here is one.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5.1 and 5.2 properly and point at the rest in the guide.
5.1 is the section most of this room needs, because many of these teams have hardware. It deserves full attention, and the message is that it requires no change to the server at all.
5.2 is the positioning slide: every other workshop in this series produces something that runs on a laptop or a device. This is the only one that ends with a public address. Saying that explicitly reframes what they have just built.
The remaining five items are pointers with code in the guide. If you have time for only one, take the second: answering immediately and completing the AI response afterwards. That pattern applies well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the room will have: why does the hardware code look so different?
It does not. Walk the table row by row and show that each line has a direct equivalent in the JavaScript they wrote in Stage 2. Address, header, body, send. The same four things.
Two differences worth naming:
The browser negotiates HTTPS for you. On a microcontroller you do it yourself, and setInsecure() skips certificate checking, which is acceptable for a prototype against your own service and is not what you would ship.
The ESP32 has no JSON library, so the body is assembled as a string and every quote has to be escaped. That is why it looks awkward. It is the same JSON.
The message to land: your endpoint accepts JSON and does not know or care what sent it. A browser, a phone, a Python script and a microcontroller are indistinguishable to it. That is why no server change is required.
Practical note: if the device posts once an hour, a sleeping free service will be asleep every time. Posting every few minutes keeps it awake.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WHY THIS WORKSHOP EXISTS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2700" b="1" dirty="0">
                <a:solidFill>
                  <a:srgbClr val="15181F"/>
                </a:solidFill>
                <a:latin typeface="Cambria" pitchFamily="34" charset="0"/>
                <a:ea typeface="Cambria" pitchFamily="34" charset="-122"/>
                <a:cs typeface="Cambria" pitchFamily="34" charset="-120"/>
              </a:rPr>
              <a:t>From a working prototype to an externally accessible system</a:t>
            </a:r>
            <a:endParaRPr lang="en-US" sz="2700" dirty="0"/>
          </a:p>
        </p:txBody>
      </p:sp>
      <p:sp>
        <p:nvSpPr>
          <p:cNvPr id="4" name="Shape 2"/>
          <p:cNvSpPr/>
          <p:nvPr/>
        </p:nvSpPr>
        <p:spPr>
          <a:xfrm>
            <a:off x="777240" y="1600200"/>
            <a:ext cx="4846320"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96012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Your engineering idea</a:t>
            </a:r>
            <a:endParaRPr lang="en-US" sz="1400" dirty="0"/>
          </a:p>
        </p:txBody>
      </p:sp>
      <p:sp>
        <p:nvSpPr>
          <p:cNvPr id="6" name="Text 4"/>
          <p:cNvSpPr/>
          <p:nvPr/>
        </p:nvSpPr>
        <p:spPr>
          <a:xfrm>
            <a:off x="96012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the problem your team is solving</a:t>
            </a:r>
            <a:endParaRPr lang="en-US" sz="1150" dirty="0"/>
          </a:p>
        </p:txBody>
      </p:sp>
      <p:sp>
        <p:nvSpPr>
          <p:cNvPr id="7" name="Shape 5"/>
          <p:cNvSpPr/>
          <p:nvPr/>
        </p:nvSpPr>
        <p:spPr>
          <a:xfrm>
            <a:off x="6629400" y="1600200"/>
            <a:ext cx="4846320"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681228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The other nine workshops</a:t>
            </a:r>
            <a:endParaRPr lang="en-US" sz="1400" dirty="0"/>
          </a:p>
        </p:txBody>
      </p:sp>
      <p:sp>
        <p:nvSpPr>
          <p:cNvPr id="9" name="Text 7"/>
          <p:cNvSpPr/>
          <p:nvPr/>
        </p:nvSpPr>
        <p:spPr>
          <a:xfrm>
            <a:off x="681228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a model  ·  a sensor rig  ·  an algorithm  ·  a PCB</a:t>
            </a:r>
            <a:endParaRPr lang="en-US" sz="1150" dirty="0"/>
          </a:p>
        </p:txBody>
      </p:sp>
      <p:sp>
        <p:nvSpPr>
          <p:cNvPr id="10" name="Shape 8"/>
          <p:cNvSpPr/>
          <p:nvPr/>
        </p:nvSpPr>
        <p:spPr>
          <a:xfrm>
            <a:off x="5897880" y="2606040"/>
            <a:ext cx="411480" cy="292608"/>
          </a:xfrm>
          <a:prstGeom prst="downArrow">
            <a:avLst/>
          </a:prstGeom>
          <a:solidFill>
            <a:srgbClr val="A9B0BB"/>
          </a:solidFill>
          <a:ln/>
        </p:spPr>
      </p:sp>
      <p:sp>
        <p:nvSpPr>
          <p:cNvPr id="11" name="Shape 9"/>
          <p:cNvSpPr/>
          <p:nvPr/>
        </p:nvSpPr>
        <p:spPr>
          <a:xfrm>
            <a:off x="3355848" y="2999232"/>
            <a:ext cx="5486400" cy="658368"/>
          </a:xfrm>
          <a:prstGeom prst="roundRect">
            <a:avLst>
              <a:gd name="adj" fmla="val 11111"/>
            </a:avLst>
          </a:prstGeom>
          <a:solidFill>
            <a:srgbClr val="FBF0EE"/>
          </a:solidFill>
          <a:ln w="12700">
            <a:solidFill>
              <a:srgbClr val="BE3A2B"/>
            </a:solidFill>
            <a:prstDash val="solid"/>
          </a:ln>
        </p:spPr>
      </p:sp>
      <p:sp>
        <p:nvSpPr>
          <p:cNvPr id="12" name="Text 10"/>
          <p:cNvSpPr/>
          <p:nvPr/>
        </p:nvSpPr>
        <p:spPr>
          <a:xfrm>
            <a:off x="3355848" y="2999232"/>
            <a:ext cx="5486400" cy="658368"/>
          </a:xfrm>
          <a:prstGeom prst="rect">
            <a:avLst/>
          </a:prstGeom>
          <a:noFill/>
          <a:ln/>
        </p:spPr>
        <p:txBody>
          <a:bodyPr wrap="square" lIns="0" tIns="0" rIns="0" bIns="0" rtlCol="0" anchor="ctr"/>
          <a:lstStyle/>
          <a:p>
            <a:pPr algn="ctr" indent="0" marL="0">
              <a:buNone/>
            </a:pPr>
            <a:r>
              <a:rPr lang="en-US" sz="1600" b="1" dirty="0">
                <a:solidFill>
                  <a:srgbClr val="BE3A2B"/>
                </a:solidFill>
                <a:latin typeface="Cambria" pitchFamily="34" charset="0"/>
                <a:ea typeface="Cambria" pitchFamily="34" charset="-122"/>
                <a:cs typeface="Cambria" pitchFamily="34" charset="-120"/>
              </a:rPr>
              <a:t>CONFINED TO A SINGLE MACHINE</a:t>
            </a:r>
            <a:endParaRPr lang="en-US" sz="1600" dirty="0"/>
          </a:p>
        </p:txBody>
      </p:sp>
      <p:sp>
        <p:nvSpPr>
          <p:cNvPr id="13" name="Shape 11"/>
          <p:cNvSpPr/>
          <p:nvPr/>
        </p:nvSpPr>
        <p:spPr>
          <a:xfrm>
            <a:off x="5897880" y="3730752"/>
            <a:ext cx="411480" cy="292608"/>
          </a:xfrm>
          <a:prstGeom prst="downArrow">
            <a:avLst/>
          </a:prstGeom>
          <a:solidFill>
            <a:srgbClr val="A9B0BB"/>
          </a:solidFill>
          <a:ln/>
        </p:spPr>
      </p:sp>
      <p:sp>
        <p:nvSpPr>
          <p:cNvPr id="14" name="Shape 12"/>
          <p:cNvSpPr/>
          <p:nvPr/>
        </p:nvSpPr>
        <p:spPr>
          <a:xfrm>
            <a:off x="3355848" y="4114800"/>
            <a:ext cx="5486400" cy="1325880"/>
          </a:xfrm>
          <a:prstGeom prst="roundRect">
            <a:avLst>
              <a:gd name="adj" fmla="val 5517"/>
            </a:avLst>
          </a:prstGeom>
          <a:solidFill>
            <a:srgbClr val="00776A"/>
          </a:solidFill>
          <a:ln w="12700">
            <a:solidFill>
              <a:srgbClr val="00776A"/>
            </a:solidFill>
            <a:prstDash val="solid"/>
          </a:ln>
        </p:spPr>
      </p:sp>
      <p:sp>
        <p:nvSpPr>
          <p:cNvPr id="15" name="Text 13"/>
          <p:cNvSpPr/>
          <p:nvPr/>
        </p:nvSpPr>
        <p:spPr>
          <a:xfrm>
            <a:off x="3355848" y="4224528"/>
            <a:ext cx="5486400" cy="365760"/>
          </a:xfrm>
          <a:prstGeom prst="rect">
            <a:avLst/>
          </a:prstGeom>
          <a:noFill/>
          <a:ln/>
        </p:spPr>
        <p:txBody>
          <a:bodyPr wrap="square" lIns="0" tIns="0" rIns="0" bIns="0" rtlCol="0" anchor="ctr"/>
          <a:lstStyle/>
          <a:p>
            <a:pPr algn="ctr" indent="0" marL="0">
              <a:buNone/>
            </a:pPr>
            <a:r>
              <a:rPr lang="en-US" sz="1600" b="1" spc="150" kern="0" dirty="0">
                <a:solidFill>
                  <a:srgbClr val="FFFFFF"/>
                </a:solidFill>
                <a:latin typeface="Cambria" pitchFamily="34" charset="0"/>
                <a:ea typeface="Cambria" pitchFamily="34" charset="-122"/>
                <a:cs typeface="Cambria" pitchFamily="34" charset="-120"/>
              </a:rPr>
              <a:t>THIS WORKSHOP</a:t>
            </a:r>
            <a:endParaRPr lang="en-US" sz="1600" dirty="0"/>
          </a:p>
        </p:txBody>
      </p:sp>
      <p:sp>
        <p:nvSpPr>
          <p:cNvPr id="16" name="Text 14"/>
          <p:cNvSpPr/>
          <p:nvPr/>
        </p:nvSpPr>
        <p:spPr>
          <a:xfrm>
            <a:off x="3401568" y="4645152"/>
            <a:ext cx="5394960" cy="685800"/>
          </a:xfrm>
          <a:prstGeom prst="rect">
            <a:avLst/>
          </a:prstGeom>
          <a:noFill/>
          <a:ln/>
        </p:spPr>
        <p:txBody>
          <a:bodyPr wrap="square" lIns="0" tIns="0" rIns="0" bIns="0" rtlCol="0" anchor="ctr"/>
          <a:lstStyle/>
          <a:p>
            <a:pPr algn="ctr" indent="0" marL="0">
              <a:buNone/>
            </a:pPr>
            <a:r>
              <a:rPr lang="en-US" sz="1300" dirty="0">
                <a:solidFill>
                  <a:srgbClr val="C9F0E9"/>
                </a:solidFill>
                <a:latin typeface="Calibri" pitchFamily="34" charset="0"/>
                <a:ea typeface="Calibri" pitchFamily="34" charset="-122"/>
                <a:cs typeface="Calibri" pitchFamily="34" charset="-120"/>
              </a:rPr>
              <a:t>full-stack app   ·   AI integration   ·   cloud deployment</a:t>
            </a:r>
            <a:endParaRPr lang="en-US" sz="1300" dirty="0"/>
          </a:p>
        </p:txBody>
      </p:sp>
      <p:sp>
        <p:nvSpPr>
          <p:cNvPr id="17" name="Shape 15"/>
          <p:cNvSpPr/>
          <p:nvPr/>
        </p:nvSpPr>
        <p:spPr>
          <a:xfrm>
            <a:off x="5897880" y="5513832"/>
            <a:ext cx="411480" cy="292608"/>
          </a:xfrm>
          <a:prstGeom prst="downArrow">
            <a:avLst/>
          </a:prstGeom>
          <a:solidFill>
            <a:srgbClr val="A9B0BB"/>
          </a:solidFill>
          <a:ln/>
        </p:spPr>
      </p:sp>
      <p:sp>
        <p:nvSpPr>
          <p:cNvPr id="18" name="Text 16"/>
          <p:cNvSpPr/>
          <p:nvPr/>
        </p:nvSpPr>
        <p:spPr>
          <a:xfrm>
            <a:off x="3355848" y="5897880"/>
            <a:ext cx="5486400" cy="411480"/>
          </a:xfrm>
          <a:prstGeom prst="rect">
            <a:avLst/>
          </a:prstGeom>
          <a:noFill/>
          <a:ln/>
        </p:spPr>
        <p:txBody>
          <a:bodyPr wrap="square" lIns="0" tIns="0" rIns="0" bIns="0" rtlCol="0" anchor="ctr"/>
          <a:lstStyle/>
          <a:p>
            <a:pPr algn="ctr" indent="0" marL="0">
              <a:buNone/>
            </a:pPr>
            <a:r>
              <a:rPr lang="en-US" sz="2000" b="1" dirty="0">
                <a:solidFill>
                  <a:srgbClr val="00776A"/>
                </a:solidFill>
                <a:latin typeface="Cambria" pitchFamily="34" charset="0"/>
                <a:ea typeface="Cambria" pitchFamily="34" charset="-122"/>
                <a:cs typeface="Cambria" pitchFamily="34" charset="-120"/>
              </a:rPr>
              <a:t>a publicly accessible address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payment method, or paid account is required.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contain no code.</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concepts</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hands on</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Every stage exists as a complete working copy, so anyone who falls behind can resume from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COMMON SETUP FAILURES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failures with no diagnostic message</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None of these produces an informative error. All four are documented in the guide.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Concepts only. The foundations for everything that follows.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DEMONSTRATION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This property determines where credentials may be stored.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status codes to recognise</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 request succeeded</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indicate entirely different faults.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Computing resources in a remote data centre,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on demand.</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The term implies something abstract. In practice it denotes physical hardware in a facility, operated and maintained by a provider on your behalf.</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is being rented:  availability  ·  a permanent address  ·  maintenance  ·  capacity on demand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They differ in one dimension: how much responsibility is delegated to the provider.</a:t>
            </a:r>
            <a:endParaRPr lang="en-US" sz="16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This workshop uses platform hosting. The following slide derives that choice.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Possession alone grants full access to your account.</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There is no second factor, no confirmation step, and no approval process. Any party holding the key can consume your quota and incur charges against your account.</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It must therefore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recording, or a message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The database file resides on that disk, so its contents are lost on every deployment. The application continues to function; the stored history is empty. Acceptable for a prototype, not where the data must persist.</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Everything here is one choice out of several</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What could run your server code:</a:t>
            </a:r>
            <a:endParaRPr lang="en-US" sz="1500" dirty="0"/>
          </a:p>
        </p:txBody>
      </p:sp>
      <p:sp>
        <p:nvSpPr>
          <p:cNvPr id="5" name="Shape 3"/>
          <p:cNvSpPr/>
          <p:nvPr/>
        </p:nvSpPr>
        <p:spPr>
          <a:xfrm>
            <a:off x="777240" y="1783080"/>
            <a:ext cx="10634472" cy="521208"/>
          </a:xfrm>
          <a:prstGeom prst="roundRect">
            <a:avLst>
              <a:gd name="adj" fmla="val 15789"/>
            </a:avLst>
          </a:prstGeom>
          <a:solidFill>
            <a:srgbClr val="EAF6F3"/>
          </a:solidFill>
          <a:ln w="12700">
            <a:solidFill>
              <a:srgbClr val="9CCFC6"/>
            </a:solidFill>
            <a:prstDash val="solid"/>
          </a:ln>
        </p:spPr>
      </p:sp>
      <p:sp>
        <p:nvSpPr>
          <p:cNvPr id="6" name="Text 4"/>
          <p:cNvSpPr/>
          <p:nvPr/>
        </p:nvSpPr>
        <p:spPr>
          <a:xfrm>
            <a:off x="1051560" y="1792224"/>
            <a:ext cx="2377440" cy="502920"/>
          </a:xfrm>
          <a:prstGeom prst="rect">
            <a:avLst/>
          </a:prstGeom>
          <a:noFill/>
          <a:ln/>
        </p:spPr>
        <p:txBody>
          <a:bodyPr wrap="square" lIns="0" tIns="0" rIns="0" bIns="0" rtlCol="0" anchor="ctr"/>
          <a:lstStyle/>
          <a:p>
            <a:pPr indent="0" marL="0">
              <a:buNone/>
            </a:pPr>
            <a:r>
              <a:rPr lang="en-US" sz="1350" b="1" dirty="0">
                <a:solidFill>
                  <a:srgbClr val="00776A"/>
                </a:solidFill>
                <a:latin typeface="Courier New" pitchFamily="34" charset="0"/>
                <a:ea typeface="Courier New" pitchFamily="34" charset="-122"/>
                <a:cs typeface="Courier New" pitchFamily="34" charset="-120"/>
              </a:rPr>
              <a:t>FastAPI</a:t>
            </a:r>
            <a:endParaRPr lang="en-US" sz="1350" dirty="0"/>
          </a:p>
        </p:txBody>
      </p:sp>
      <p:sp>
        <p:nvSpPr>
          <p:cNvPr id="7" name="Text 5"/>
          <p:cNvSpPr/>
          <p:nvPr/>
        </p:nvSpPr>
        <p:spPr>
          <a:xfrm>
            <a:off x="3611880" y="179222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5623560" y="179222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automatic validation and a free test page</a:t>
            </a:r>
            <a:endParaRPr lang="en-US" sz="1300" dirty="0"/>
          </a:p>
        </p:txBody>
      </p:sp>
      <p:sp>
        <p:nvSpPr>
          <p:cNvPr id="9" name="Shape 7"/>
          <p:cNvSpPr/>
          <p:nvPr/>
        </p:nvSpPr>
        <p:spPr>
          <a:xfrm>
            <a:off x="777240" y="2359152"/>
            <a:ext cx="10634472" cy="521208"/>
          </a:xfrm>
          <a:prstGeom prst="roundRect">
            <a:avLst>
              <a:gd name="adj" fmla="val 15789"/>
            </a:avLst>
          </a:prstGeom>
          <a:solidFill>
            <a:srgbClr val="F5F6F8"/>
          </a:solidFill>
          <a:ln w="12700">
            <a:solidFill>
              <a:srgbClr val="E1E4E9"/>
            </a:solidFill>
            <a:prstDash val="solid"/>
          </a:ln>
        </p:spPr>
      </p:sp>
      <p:sp>
        <p:nvSpPr>
          <p:cNvPr id="10" name="Text 8"/>
          <p:cNvSpPr/>
          <p:nvPr/>
        </p:nvSpPr>
        <p:spPr>
          <a:xfrm>
            <a:off x="1051560" y="236829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Flask</a:t>
            </a:r>
            <a:endParaRPr lang="en-US" sz="1350" dirty="0"/>
          </a:p>
        </p:txBody>
      </p:sp>
      <p:sp>
        <p:nvSpPr>
          <p:cNvPr id="11" name="Text 9"/>
          <p:cNvSpPr/>
          <p:nvPr/>
        </p:nvSpPr>
        <p:spPr>
          <a:xfrm>
            <a:off x="3611880" y="236829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2" name="Text 10"/>
          <p:cNvSpPr/>
          <p:nvPr/>
        </p:nvSpPr>
        <p:spPr>
          <a:xfrm>
            <a:off x="5623560" y="236829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older and simpler; no validation or docs</a:t>
            </a:r>
            <a:endParaRPr lang="en-US" sz="1300" dirty="0"/>
          </a:p>
        </p:txBody>
      </p:sp>
      <p:sp>
        <p:nvSpPr>
          <p:cNvPr id="13" name="Shape 11"/>
          <p:cNvSpPr/>
          <p:nvPr/>
        </p:nvSpPr>
        <p:spPr>
          <a:xfrm>
            <a:off x="777240" y="2935224"/>
            <a:ext cx="10634472" cy="521208"/>
          </a:xfrm>
          <a:prstGeom prst="roundRect">
            <a:avLst>
              <a:gd name="adj" fmla="val 15789"/>
            </a:avLst>
          </a:prstGeom>
          <a:solidFill>
            <a:srgbClr val="F5F6F8"/>
          </a:solidFill>
          <a:ln w="12700">
            <a:solidFill>
              <a:srgbClr val="E1E4E9"/>
            </a:solidFill>
            <a:prstDash val="solid"/>
          </a:ln>
        </p:spPr>
      </p:sp>
      <p:sp>
        <p:nvSpPr>
          <p:cNvPr id="14" name="Text 12"/>
          <p:cNvSpPr/>
          <p:nvPr/>
        </p:nvSpPr>
        <p:spPr>
          <a:xfrm>
            <a:off x="1051560" y="2944368"/>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Django</a:t>
            </a:r>
            <a:endParaRPr lang="en-US" sz="1350" dirty="0"/>
          </a:p>
        </p:txBody>
      </p:sp>
      <p:sp>
        <p:nvSpPr>
          <p:cNvPr id="15" name="Text 13"/>
          <p:cNvSpPr/>
          <p:nvPr/>
        </p:nvSpPr>
        <p:spPr>
          <a:xfrm>
            <a:off x="3611880" y="2944368"/>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6" name="Text 14"/>
          <p:cNvSpPr/>
          <p:nvPr/>
        </p:nvSpPr>
        <p:spPr>
          <a:xfrm>
            <a:off x="5623560" y="2944368"/>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batteries included: admin, accounts, database</a:t>
            </a:r>
            <a:endParaRPr lang="en-US" sz="1300" dirty="0"/>
          </a:p>
        </p:txBody>
      </p:sp>
      <p:sp>
        <p:nvSpPr>
          <p:cNvPr id="17" name="Shape 15"/>
          <p:cNvSpPr/>
          <p:nvPr/>
        </p:nvSpPr>
        <p:spPr>
          <a:xfrm>
            <a:off x="777240" y="3511296"/>
            <a:ext cx="10634472" cy="521208"/>
          </a:xfrm>
          <a:prstGeom prst="roundRect">
            <a:avLst>
              <a:gd name="adj" fmla="val 15789"/>
            </a:avLst>
          </a:prstGeom>
          <a:solidFill>
            <a:srgbClr val="F5F6F8"/>
          </a:solidFill>
          <a:ln w="12700">
            <a:solidFill>
              <a:srgbClr val="E1E4E9"/>
            </a:solidFill>
            <a:prstDash val="solid"/>
          </a:ln>
        </p:spPr>
      </p:sp>
      <p:sp>
        <p:nvSpPr>
          <p:cNvPr id="18" name="Text 16"/>
          <p:cNvSpPr/>
          <p:nvPr/>
        </p:nvSpPr>
        <p:spPr>
          <a:xfrm>
            <a:off x="1051560" y="3520440"/>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Express</a:t>
            </a:r>
            <a:endParaRPr lang="en-US" sz="1350" dirty="0"/>
          </a:p>
        </p:txBody>
      </p:sp>
      <p:sp>
        <p:nvSpPr>
          <p:cNvPr id="19" name="Text 17"/>
          <p:cNvSpPr/>
          <p:nvPr/>
        </p:nvSpPr>
        <p:spPr>
          <a:xfrm>
            <a:off x="3611880" y="3520440"/>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JavaScript</a:t>
            </a:r>
            <a:endParaRPr lang="en-US" sz="1300" dirty="0"/>
          </a:p>
        </p:txBody>
      </p:sp>
      <p:sp>
        <p:nvSpPr>
          <p:cNvPr id="20" name="Text 18"/>
          <p:cNvSpPr/>
          <p:nvPr/>
        </p:nvSpPr>
        <p:spPr>
          <a:xfrm>
            <a:off x="5623560" y="3520440"/>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default in the Node world</a:t>
            </a:r>
            <a:endParaRPr lang="en-US" sz="1300" dirty="0"/>
          </a:p>
        </p:txBody>
      </p:sp>
      <p:sp>
        <p:nvSpPr>
          <p:cNvPr id="21" name="Shape 19"/>
          <p:cNvSpPr/>
          <p:nvPr/>
        </p:nvSpPr>
        <p:spPr>
          <a:xfrm>
            <a:off x="777240" y="4087368"/>
            <a:ext cx="10634472" cy="521208"/>
          </a:xfrm>
          <a:prstGeom prst="roundRect">
            <a:avLst>
              <a:gd name="adj" fmla="val 15789"/>
            </a:avLst>
          </a:prstGeom>
          <a:solidFill>
            <a:srgbClr val="F5F6F8"/>
          </a:solidFill>
          <a:ln w="12700">
            <a:solidFill>
              <a:srgbClr val="E1E4E9"/>
            </a:solidFill>
            <a:prstDash val="solid"/>
          </a:ln>
        </p:spPr>
      </p:sp>
      <p:sp>
        <p:nvSpPr>
          <p:cNvPr id="22" name="Text 20"/>
          <p:cNvSpPr/>
          <p:nvPr/>
        </p:nvSpPr>
        <p:spPr>
          <a:xfrm>
            <a:off x="1051560" y="4096512"/>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Spring Boot</a:t>
            </a:r>
            <a:endParaRPr lang="en-US" sz="1350" dirty="0"/>
          </a:p>
        </p:txBody>
      </p:sp>
      <p:sp>
        <p:nvSpPr>
          <p:cNvPr id="23" name="Text 21"/>
          <p:cNvSpPr/>
          <p:nvPr/>
        </p:nvSpPr>
        <p:spPr>
          <a:xfrm>
            <a:off x="3611880" y="4096512"/>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a:t>
            </a:r>
            <a:endParaRPr lang="en-US" sz="1300" dirty="0"/>
          </a:p>
        </p:txBody>
      </p:sp>
      <p:sp>
        <p:nvSpPr>
          <p:cNvPr id="24" name="Text 22"/>
          <p:cNvSpPr/>
          <p:nvPr/>
        </p:nvSpPr>
        <p:spPr>
          <a:xfrm>
            <a:off x="5623560" y="4096512"/>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enterprise standard</a:t>
            </a:r>
            <a:endParaRPr lang="en-US" sz="1300" dirty="0"/>
          </a:p>
        </p:txBody>
      </p:sp>
      <p:sp>
        <p:nvSpPr>
          <p:cNvPr id="25" name="Shape 23"/>
          <p:cNvSpPr/>
          <p:nvPr/>
        </p:nvSpPr>
        <p:spPr>
          <a:xfrm>
            <a:off x="777240" y="4663440"/>
            <a:ext cx="10634472" cy="521208"/>
          </a:xfrm>
          <a:prstGeom prst="roundRect">
            <a:avLst>
              <a:gd name="adj" fmla="val 15789"/>
            </a:avLst>
          </a:prstGeom>
          <a:solidFill>
            <a:srgbClr val="F5F6F8"/>
          </a:solidFill>
          <a:ln w="12700">
            <a:solidFill>
              <a:srgbClr val="E1E4E9"/>
            </a:solidFill>
            <a:prstDash val="solid"/>
          </a:ln>
        </p:spPr>
      </p:sp>
      <p:sp>
        <p:nvSpPr>
          <p:cNvPr id="26" name="Text 24"/>
          <p:cNvSpPr/>
          <p:nvPr/>
        </p:nvSpPr>
        <p:spPr>
          <a:xfrm>
            <a:off x="1051560" y="4672584"/>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Gin / net-http</a:t>
            </a:r>
            <a:endParaRPr lang="en-US" sz="1350" dirty="0"/>
          </a:p>
        </p:txBody>
      </p:sp>
      <p:sp>
        <p:nvSpPr>
          <p:cNvPr id="27" name="Text 25"/>
          <p:cNvSpPr/>
          <p:nvPr/>
        </p:nvSpPr>
        <p:spPr>
          <a:xfrm>
            <a:off x="3611880" y="467258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Go</a:t>
            </a:r>
            <a:endParaRPr lang="en-US" sz="1300" dirty="0"/>
          </a:p>
        </p:txBody>
      </p:sp>
      <p:sp>
        <p:nvSpPr>
          <p:cNvPr id="28" name="Text 26"/>
          <p:cNvSpPr/>
          <p:nvPr/>
        </p:nvSpPr>
        <p:spPr>
          <a:xfrm>
            <a:off x="5623560" y="467258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compiled and very fast</a:t>
            </a:r>
            <a:endParaRPr lang="en-US" sz="1300" dirty="0"/>
          </a:p>
        </p:txBody>
      </p:sp>
      <p:sp>
        <p:nvSpPr>
          <p:cNvPr id="29" name="Shape 27"/>
          <p:cNvSpPr/>
          <p:nvPr/>
        </p:nvSpPr>
        <p:spPr>
          <a:xfrm>
            <a:off x="777240" y="5239512"/>
            <a:ext cx="10634472" cy="521208"/>
          </a:xfrm>
          <a:prstGeom prst="roundRect">
            <a:avLst>
              <a:gd name="adj" fmla="val 15789"/>
            </a:avLst>
          </a:prstGeom>
          <a:solidFill>
            <a:srgbClr val="F5F6F8"/>
          </a:solidFill>
          <a:ln w="12700">
            <a:solidFill>
              <a:srgbClr val="E1E4E9"/>
            </a:solidFill>
            <a:prstDash val="solid"/>
          </a:ln>
        </p:spPr>
      </p:sp>
      <p:sp>
        <p:nvSpPr>
          <p:cNvPr id="30" name="Text 28"/>
          <p:cNvSpPr/>
          <p:nvPr/>
        </p:nvSpPr>
        <p:spPr>
          <a:xfrm>
            <a:off x="1051560" y="524865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Rails / Laravel</a:t>
            </a:r>
            <a:endParaRPr lang="en-US" sz="1350" dirty="0"/>
          </a:p>
        </p:txBody>
      </p:sp>
      <p:sp>
        <p:nvSpPr>
          <p:cNvPr id="31" name="Text 29"/>
          <p:cNvSpPr/>
          <p:nvPr/>
        </p:nvSpPr>
        <p:spPr>
          <a:xfrm>
            <a:off x="3611880" y="524865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Ruby, PHP</a:t>
            </a:r>
            <a:endParaRPr lang="en-US" sz="1300" dirty="0"/>
          </a:p>
        </p:txBody>
      </p:sp>
      <p:sp>
        <p:nvSpPr>
          <p:cNvPr id="32" name="Text 30"/>
          <p:cNvSpPr/>
          <p:nvPr/>
        </p:nvSpPr>
        <p:spPr>
          <a:xfrm>
            <a:off x="5623560" y="524865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mature and highly opinionated</a:t>
            </a:r>
            <a:endParaRPr lang="en-US" sz="1300" dirty="0"/>
          </a:p>
        </p:txBody>
      </p:sp>
      <p:sp>
        <p:nvSpPr>
          <p:cNvPr id="33" name="Text 3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Why FastAPI: you already write Python, and the validation and /docs page do real work for you.</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could draw the page</a:t>
            </a:r>
            <a:endParaRPr lang="en-US" sz="3100" dirty="0"/>
          </a:p>
        </p:txBody>
      </p:sp>
      <p:sp>
        <p:nvSpPr>
          <p:cNvPr id="4" name="Shape 2"/>
          <p:cNvSpPr/>
          <p:nvPr/>
        </p:nvSpPr>
        <p:spPr>
          <a:xfrm>
            <a:off x="777240" y="1737360"/>
            <a:ext cx="10634472" cy="566928"/>
          </a:xfrm>
          <a:prstGeom prst="roundRect">
            <a:avLst>
              <a:gd name="adj" fmla="val 14516"/>
            </a:avLst>
          </a:prstGeom>
          <a:solidFill>
            <a:srgbClr val="EAF6F3"/>
          </a:solidFill>
          <a:ln w="12700">
            <a:solidFill>
              <a:srgbClr val="9CCFC6"/>
            </a:solidFill>
            <a:prstDash val="solid"/>
          </a:ln>
        </p:spPr>
      </p:sp>
      <p:sp>
        <p:nvSpPr>
          <p:cNvPr id="5" name="Text 3"/>
          <p:cNvSpPr/>
          <p:nvPr/>
        </p:nvSpPr>
        <p:spPr>
          <a:xfrm>
            <a:off x="1051560" y="1746504"/>
            <a:ext cx="3931920" cy="548640"/>
          </a:xfrm>
          <a:prstGeom prst="rect">
            <a:avLst/>
          </a:prstGeom>
          <a:noFill/>
          <a:ln/>
        </p:spPr>
        <p:txBody>
          <a:bodyPr wrap="square" lIns="0" tIns="0" rIns="0" bIns="0" rtlCol="0" anchor="ctr"/>
          <a:lstStyle/>
          <a:p>
            <a:pPr indent="0" marL="0">
              <a:buNone/>
            </a:pPr>
            <a:r>
              <a:rPr lang="en-US" sz="1400" b="1" dirty="0">
                <a:solidFill>
                  <a:srgbClr val="00776A"/>
                </a:solidFill>
                <a:latin typeface="Cambria" pitchFamily="34" charset="0"/>
                <a:ea typeface="Cambria" pitchFamily="34" charset="-122"/>
                <a:cs typeface="Cambria" pitchFamily="34" charset="-120"/>
              </a:rPr>
              <a:t>Plain HTML + JavaScript</a:t>
            </a:r>
            <a:endParaRPr lang="en-US" sz="1400" dirty="0"/>
          </a:p>
        </p:txBody>
      </p:sp>
      <p:sp>
        <p:nvSpPr>
          <p:cNvPr id="6" name="Text 4"/>
          <p:cNvSpPr/>
          <p:nvPr/>
        </p:nvSpPr>
        <p:spPr>
          <a:xfrm>
            <a:off x="5166360" y="1746504"/>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no build step, nothing to install, works everywhere</a:t>
            </a:r>
            <a:endParaRPr lang="en-US" sz="1300" dirty="0"/>
          </a:p>
        </p:txBody>
      </p:sp>
      <p:sp>
        <p:nvSpPr>
          <p:cNvPr id="7" name="Shape 5"/>
          <p:cNvSpPr/>
          <p:nvPr/>
        </p:nvSpPr>
        <p:spPr>
          <a:xfrm>
            <a:off x="777240" y="2395728"/>
            <a:ext cx="10634472" cy="566928"/>
          </a:xfrm>
          <a:prstGeom prst="roundRect">
            <a:avLst>
              <a:gd name="adj" fmla="val 14516"/>
            </a:avLst>
          </a:prstGeom>
          <a:solidFill>
            <a:srgbClr val="F5F6F8"/>
          </a:solidFill>
          <a:ln w="12700">
            <a:solidFill>
              <a:srgbClr val="E1E4E9"/>
            </a:solidFill>
            <a:prstDash val="solid"/>
          </a:ln>
        </p:spPr>
      </p:sp>
      <p:sp>
        <p:nvSpPr>
          <p:cNvPr id="8" name="Text 6"/>
          <p:cNvSpPr/>
          <p:nvPr/>
        </p:nvSpPr>
        <p:spPr>
          <a:xfrm>
            <a:off x="1051560" y="2404872"/>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React / Vue / Svelte</a:t>
            </a:r>
            <a:endParaRPr lang="en-US" sz="1400" dirty="0"/>
          </a:p>
        </p:txBody>
      </p:sp>
      <p:sp>
        <p:nvSpPr>
          <p:cNvPr id="9" name="Text 7"/>
          <p:cNvSpPr/>
          <p:nvPr/>
        </p:nvSpPr>
        <p:spPr>
          <a:xfrm>
            <a:off x="5166360" y="2404872"/>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component frameworks for large interfaces; need a build step</a:t>
            </a:r>
            <a:endParaRPr lang="en-US" sz="1300" dirty="0"/>
          </a:p>
        </p:txBody>
      </p:sp>
      <p:sp>
        <p:nvSpPr>
          <p:cNvPr id="10" name="Shape 8"/>
          <p:cNvSpPr/>
          <p:nvPr/>
        </p:nvSpPr>
        <p:spPr>
          <a:xfrm>
            <a:off x="777240" y="3054096"/>
            <a:ext cx="10634472" cy="566928"/>
          </a:xfrm>
          <a:prstGeom prst="roundRect">
            <a:avLst>
              <a:gd name="adj" fmla="val 14516"/>
            </a:avLst>
          </a:prstGeom>
          <a:solidFill>
            <a:srgbClr val="F5F6F8"/>
          </a:solidFill>
          <a:ln w="12700">
            <a:solidFill>
              <a:srgbClr val="E1E4E9"/>
            </a:solidFill>
            <a:prstDash val="solid"/>
          </a:ln>
        </p:spPr>
      </p:sp>
      <p:sp>
        <p:nvSpPr>
          <p:cNvPr id="11" name="Text 9"/>
          <p:cNvSpPr/>
          <p:nvPr/>
        </p:nvSpPr>
        <p:spPr>
          <a:xfrm>
            <a:off x="1051560" y="3063240"/>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Streamlit / Gradio</a:t>
            </a:r>
            <a:endParaRPr lang="en-US" sz="1400" dirty="0"/>
          </a:p>
        </p:txBody>
      </p:sp>
      <p:sp>
        <p:nvSpPr>
          <p:cNvPr id="12" name="Text 10"/>
          <p:cNvSpPr/>
          <p:nvPr/>
        </p:nvSpPr>
        <p:spPr>
          <a:xfrm>
            <a:off x="5166360" y="3063240"/>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pure Python, no HTML at all; extremely fast for a dashboard</a:t>
            </a:r>
            <a:endParaRPr lang="en-US" sz="1300" dirty="0"/>
          </a:p>
        </p:txBody>
      </p:sp>
      <p:sp>
        <p:nvSpPr>
          <p:cNvPr id="13" name="Shape 11"/>
          <p:cNvSpPr/>
          <p:nvPr/>
        </p:nvSpPr>
        <p:spPr>
          <a:xfrm>
            <a:off x="777240" y="3712464"/>
            <a:ext cx="10634472" cy="566928"/>
          </a:xfrm>
          <a:prstGeom prst="roundRect">
            <a:avLst>
              <a:gd name="adj" fmla="val 14516"/>
            </a:avLst>
          </a:prstGeom>
          <a:solidFill>
            <a:srgbClr val="F5F6F8"/>
          </a:solidFill>
          <a:ln w="12700">
            <a:solidFill>
              <a:srgbClr val="E1E4E9"/>
            </a:solidFill>
            <a:prstDash val="solid"/>
          </a:ln>
        </p:spPr>
      </p:sp>
      <p:sp>
        <p:nvSpPr>
          <p:cNvPr id="14" name="Text 12"/>
          <p:cNvSpPr/>
          <p:nvPr/>
        </p:nvSpPr>
        <p:spPr>
          <a:xfrm>
            <a:off x="1051560" y="3721608"/>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Flutter / React Native</a:t>
            </a:r>
            <a:endParaRPr lang="en-US" sz="1400" dirty="0"/>
          </a:p>
        </p:txBody>
      </p:sp>
      <p:sp>
        <p:nvSpPr>
          <p:cNvPr id="15" name="Text 13"/>
          <p:cNvSpPr/>
          <p:nvPr/>
        </p:nvSpPr>
        <p:spPr>
          <a:xfrm>
            <a:off x="5166360" y="3721608"/>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mobile applications</a:t>
            </a:r>
            <a:endParaRPr lang="en-US" sz="1300" dirty="0"/>
          </a:p>
        </p:txBody>
      </p:sp>
      <p:sp>
        <p:nvSpPr>
          <p:cNvPr id="16" name="Shape 14"/>
          <p:cNvSpPr/>
          <p:nvPr/>
        </p:nvSpPr>
        <p:spPr>
          <a:xfrm>
            <a:off x="777240" y="4370832"/>
            <a:ext cx="10634472" cy="566928"/>
          </a:xfrm>
          <a:prstGeom prst="roundRect">
            <a:avLst>
              <a:gd name="adj" fmla="val 14516"/>
            </a:avLst>
          </a:prstGeom>
          <a:solidFill>
            <a:srgbClr val="F5F6F8"/>
          </a:solidFill>
          <a:ln w="12700">
            <a:solidFill>
              <a:srgbClr val="E1E4E9"/>
            </a:solidFill>
            <a:prstDash val="solid"/>
          </a:ln>
        </p:spPr>
      </p:sp>
      <p:sp>
        <p:nvSpPr>
          <p:cNvPr id="17" name="Text 15"/>
          <p:cNvSpPr/>
          <p:nvPr/>
        </p:nvSpPr>
        <p:spPr>
          <a:xfrm>
            <a:off x="1051560" y="4379976"/>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Native iOS / Android</a:t>
            </a:r>
            <a:endParaRPr lang="en-US" sz="1400" dirty="0"/>
          </a:p>
        </p:txBody>
      </p:sp>
      <p:sp>
        <p:nvSpPr>
          <p:cNvPr id="18" name="Text 16"/>
          <p:cNvSpPr/>
          <p:nvPr/>
        </p:nvSpPr>
        <p:spPr>
          <a:xfrm>
            <a:off x="5166360" y="4379976"/>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full platform access</a:t>
            </a:r>
            <a:endParaRPr lang="en-US" sz="1300" dirty="0"/>
          </a:p>
        </p:txBody>
      </p:sp>
      <p:sp>
        <p:nvSpPr>
          <p:cNvPr id="19" name="Shape 17"/>
          <p:cNvSpPr/>
          <p:nvPr/>
        </p:nvSpPr>
        <p:spPr>
          <a:xfrm>
            <a:off x="777240" y="5120640"/>
            <a:ext cx="10634472" cy="1371600"/>
          </a:xfrm>
          <a:prstGeom prst="roundRect">
            <a:avLst>
              <a:gd name="adj" fmla="val 6000"/>
            </a:avLst>
          </a:prstGeom>
          <a:solidFill>
            <a:srgbClr val="EAF6F3"/>
          </a:solidFill>
          <a:ln w="12700">
            <a:solidFill>
              <a:srgbClr val="9CCFC6"/>
            </a:solidFill>
            <a:prstDash val="solid"/>
          </a:ln>
        </p:spPr>
      </p:sp>
      <p:sp>
        <p:nvSpPr>
          <p:cNvPr id="20" name="Text 18"/>
          <p:cNvSpPr/>
          <p:nvPr/>
        </p:nvSpPr>
        <p:spPr>
          <a:xfrm>
            <a:off x="1143000" y="52578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Every one of those talks to the same backend, in the same way.</a:t>
            </a:r>
            <a:endParaRPr lang="en-US" sz="1700" dirty="0"/>
          </a:p>
        </p:txBody>
      </p:sp>
      <p:sp>
        <p:nvSpPr>
          <p:cNvPr id="21" name="Text 19"/>
          <p:cNvSpPr/>
          <p:nvPr/>
        </p:nvSpPr>
        <p:spPr>
          <a:xfrm>
            <a:off x="1143000" y="5669280"/>
            <a:ext cx="10241280" cy="73152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Your /readings endpoint does not know whether the request came from plain JavaScript, a React app, a phone, or a microcontroller. Build the backend once and every kind of client can use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Databases, and AI providers</a:t>
            </a:r>
            <a:endParaRPr lang="en-US" sz="3100" dirty="0"/>
          </a:p>
        </p:txBody>
      </p:sp>
      <p:sp>
        <p:nvSpPr>
          <p:cNvPr id="4" name="Text 2"/>
          <p:cNvSpPr/>
          <p:nvPr/>
        </p:nvSpPr>
        <p:spPr>
          <a:xfrm>
            <a:off x="77724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Where data lives</a:t>
            </a:r>
            <a:endParaRPr lang="en-US" sz="1400" dirty="0"/>
          </a:p>
        </p:txBody>
      </p:sp>
      <p:sp>
        <p:nvSpPr>
          <p:cNvPr id="5" name="Shape 3"/>
          <p:cNvSpPr/>
          <p:nvPr/>
        </p:nvSpPr>
        <p:spPr>
          <a:xfrm>
            <a:off x="777240" y="1737360"/>
            <a:ext cx="5257800" cy="475488"/>
          </a:xfrm>
          <a:prstGeom prst="roundRect">
            <a:avLst>
              <a:gd name="adj" fmla="val 17308"/>
            </a:avLst>
          </a:prstGeom>
          <a:solidFill>
            <a:srgbClr val="EAF6F3"/>
          </a:solidFill>
          <a:ln w="12700">
            <a:solidFill>
              <a:srgbClr val="9CCFC6"/>
            </a:solidFill>
            <a:prstDash val="solid"/>
          </a:ln>
        </p:spPr>
      </p:sp>
      <p:sp>
        <p:nvSpPr>
          <p:cNvPr id="6" name="Text 4"/>
          <p:cNvSpPr/>
          <p:nvPr/>
        </p:nvSpPr>
        <p:spPr>
          <a:xfrm>
            <a:off x="1005840" y="1746504"/>
            <a:ext cx="2103120" cy="457200"/>
          </a:xfrm>
          <a:prstGeom prst="rect">
            <a:avLst/>
          </a:prstGeom>
          <a:noFill/>
          <a:ln/>
        </p:spPr>
        <p:txBody>
          <a:bodyPr wrap="square" lIns="0" tIns="0" rIns="0" bIns="0" rtlCol="0" anchor="ctr"/>
          <a:lstStyle/>
          <a:p>
            <a:pPr indent="0" marL="0">
              <a:buNone/>
            </a:pPr>
            <a:r>
              <a:rPr lang="en-US" sz="1250" b="1" dirty="0">
                <a:solidFill>
                  <a:srgbClr val="00776A"/>
                </a:solidFill>
                <a:latin typeface="Courier New" pitchFamily="34" charset="0"/>
                <a:ea typeface="Courier New" pitchFamily="34" charset="-122"/>
                <a:cs typeface="Courier New" pitchFamily="34" charset="-120"/>
              </a:rPr>
              <a:t>SQLite</a:t>
            </a:r>
            <a:endParaRPr lang="en-US" sz="1250" dirty="0"/>
          </a:p>
        </p:txBody>
      </p:sp>
      <p:sp>
        <p:nvSpPr>
          <p:cNvPr id="7" name="Text 5"/>
          <p:cNvSpPr/>
          <p:nvPr/>
        </p:nvSpPr>
        <p:spPr>
          <a:xfrm>
            <a:off x="3154680" y="174650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8" name="Text 6"/>
          <p:cNvSpPr/>
          <p:nvPr/>
        </p:nvSpPr>
        <p:spPr>
          <a:xfrm>
            <a:off x="4617720" y="174650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one file</a:t>
            </a:r>
            <a:endParaRPr lang="en-US" sz="1150" dirty="0"/>
          </a:p>
        </p:txBody>
      </p:sp>
      <p:sp>
        <p:nvSpPr>
          <p:cNvPr id="9" name="Shape 7"/>
          <p:cNvSpPr/>
          <p:nvPr/>
        </p:nvSpPr>
        <p:spPr>
          <a:xfrm>
            <a:off x="777240" y="2286000"/>
            <a:ext cx="5257800" cy="475488"/>
          </a:xfrm>
          <a:prstGeom prst="roundRect">
            <a:avLst>
              <a:gd name="adj" fmla="val 17308"/>
            </a:avLst>
          </a:prstGeom>
          <a:solidFill>
            <a:srgbClr val="F5F6F8"/>
          </a:solidFill>
          <a:ln w="12700">
            <a:solidFill>
              <a:srgbClr val="E1E4E9"/>
            </a:solidFill>
            <a:prstDash val="solid"/>
          </a:ln>
        </p:spPr>
      </p:sp>
      <p:sp>
        <p:nvSpPr>
          <p:cNvPr id="10" name="Text 8"/>
          <p:cNvSpPr/>
          <p:nvPr/>
        </p:nvSpPr>
        <p:spPr>
          <a:xfrm>
            <a:off x="1005840" y="229514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PostgreSQL</a:t>
            </a:r>
            <a:endParaRPr lang="en-US" sz="1250" dirty="0"/>
          </a:p>
        </p:txBody>
      </p:sp>
      <p:sp>
        <p:nvSpPr>
          <p:cNvPr id="11" name="Text 9"/>
          <p:cNvSpPr/>
          <p:nvPr/>
        </p:nvSpPr>
        <p:spPr>
          <a:xfrm>
            <a:off x="3154680" y="229514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2" name="Text 10"/>
          <p:cNvSpPr/>
          <p:nvPr/>
        </p:nvSpPr>
        <p:spPr>
          <a:xfrm>
            <a:off x="4617720" y="229514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the usual next step</a:t>
            </a:r>
            <a:endParaRPr lang="en-US" sz="1150" dirty="0"/>
          </a:p>
        </p:txBody>
      </p:sp>
      <p:sp>
        <p:nvSpPr>
          <p:cNvPr id="13" name="Shape 11"/>
          <p:cNvSpPr/>
          <p:nvPr/>
        </p:nvSpPr>
        <p:spPr>
          <a:xfrm>
            <a:off x="777240" y="2834640"/>
            <a:ext cx="5257800" cy="475488"/>
          </a:xfrm>
          <a:prstGeom prst="roundRect">
            <a:avLst>
              <a:gd name="adj" fmla="val 17308"/>
            </a:avLst>
          </a:prstGeom>
          <a:solidFill>
            <a:srgbClr val="F5F6F8"/>
          </a:solidFill>
          <a:ln w="12700">
            <a:solidFill>
              <a:srgbClr val="E1E4E9"/>
            </a:solidFill>
            <a:prstDash val="solid"/>
          </a:ln>
        </p:spPr>
      </p:sp>
      <p:sp>
        <p:nvSpPr>
          <p:cNvPr id="14" name="Text 12"/>
          <p:cNvSpPr/>
          <p:nvPr/>
        </p:nvSpPr>
        <p:spPr>
          <a:xfrm>
            <a:off x="1005840" y="284378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MySQL / MariaDB</a:t>
            </a:r>
            <a:endParaRPr lang="en-US" sz="1250" dirty="0"/>
          </a:p>
        </p:txBody>
      </p:sp>
      <p:sp>
        <p:nvSpPr>
          <p:cNvPr id="15" name="Text 13"/>
          <p:cNvSpPr/>
          <p:nvPr/>
        </p:nvSpPr>
        <p:spPr>
          <a:xfrm>
            <a:off x="3154680" y="284378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6" name="Text 14"/>
          <p:cNvSpPr/>
          <p:nvPr/>
        </p:nvSpPr>
        <p:spPr>
          <a:xfrm>
            <a:off x="4617720" y="284378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very widely deployed</a:t>
            </a:r>
            <a:endParaRPr lang="en-US" sz="1150" dirty="0"/>
          </a:p>
        </p:txBody>
      </p:sp>
      <p:sp>
        <p:nvSpPr>
          <p:cNvPr id="17" name="Shape 15"/>
          <p:cNvSpPr/>
          <p:nvPr/>
        </p:nvSpPr>
        <p:spPr>
          <a:xfrm>
            <a:off x="777240" y="3383280"/>
            <a:ext cx="5257800" cy="475488"/>
          </a:xfrm>
          <a:prstGeom prst="roundRect">
            <a:avLst>
              <a:gd name="adj" fmla="val 17308"/>
            </a:avLst>
          </a:prstGeom>
          <a:solidFill>
            <a:srgbClr val="F5F6F8"/>
          </a:solidFill>
          <a:ln w="12700">
            <a:solidFill>
              <a:srgbClr val="E1E4E9"/>
            </a:solidFill>
            <a:prstDash val="solid"/>
          </a:ln>
        </p:spPr>
      </p:sp>
      <p:sp>
        <p:nvSpPr>
          <p:cNvPr id="18" name="Text 16"/>
          <p:cNvSpPr/>
          <p:nvPr/>
        </p:nvSpPr>
        <p:spPr>
          <a:xfrm>
            <a:off x="1005840" y="339242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MongoDB</a:t>
            </a:r>
            <a:endParaRPr lang="en-US" sz="1250" dirty="0"/>
          </a:p>
        </p:txBody>
      </p:sp>
      <p:sp>
        <p:nvSpPr>
          <p:cNvPr id="19" name="Text 17"/>
          <p:cNvSpPr/>
          <p:nvPr/>
        </p:nvSpPr>
        <p:spPr>
          <a:xfrm>
            <a:off x="3154680" y="339242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document</a:t>
            </a:r>
            <a:endParaRPr lang="en-US" sz="1150" dirty="0"/>
          </a:p>
        </p:txBody>
      </p:sp>
      <p:sp>
        <p:nvSpPr>
          <p:cNvPr id="20" name="Text 18"/>
          <p:cNvSpPr/>
          <p:nvPr/>
        </p:nvSpPr>
        <p:spPr>
          <a:xfrm>
            <a:off x="4617720" y="339242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JSON-shaped records</a:t>
            </a:r>
            <a:endParaRPr lang="en-US" sz="1150" dirty="0"/>
          </a:p>
        </p:txBody>
      </p:sp>
      <p:sp>
        <p:nvSpPr>
          <p:cNvPr id="21" name="Shape 19"/>
          <p:cNvSpPr/>
          <p:nvPr/>
        </p:nvSpPr>
        <p:spPr>
          <a:xfrm>
            <a:off x="777240" y="3931920"/>
            <a:ext cx="5257800" cy="475488"/>
          </a:xfrm>
          <a:prstGeom prst="roundRect">
            <a:avLst>
              <a:gd name="adj" fmla="val 17308"/>
            </a:avLst>
          </a:prstGeom>
          <a:solidFill>
            <a:srgbClr val="F5F6F8"/>
          </a:solidFill>
          <a:ln w="12700">
            <a:solidFill>
              <a:srgbClr val="E1E4E9"/>
            </a:solidFill>
            <a:prstDash val="solid"/>
          </a:ln>
        </p:spPr>
      </p:sp>
      <p:sp>
        <p:nvSpPr>
          <p:cNvPr id="22" name="Text 20"/>
          <p:cNvSpPr/>
          <p:nvPr/>
        </p:nvSpPr>
        <p:spPr>
          <a:xfrm>
            <a:off x="1005840" y="394106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Redis</a:t>
            </a:r>
            <a:endParaRPr lang="en-US" sz="1250" dirty="0"/>
          </a:p>
        </p:txBody>
      </p:sp>
      <p:sp>
        <p:nvSpPr>
          <p:cNvPr id="23" name="Text 21"/>
          <p:cNvSpPr/>
          <p:nvPr/>
        </p:nvSpPr>
        <p:spPr>
          <a:xfrm>
            <a:off x="3154680" y="394106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key-value</a:t>
            </a:r>
            <a:endParaRPr lang="en-US" sz="1150" dirty="0"/>
          </a:p>
        </p:txBody>
      </p:sp>
      <p:sp>
        <p:nvSpPr>
          <p:cNvPr id="24" name="Text 22"/>
          <p:cNvSpPr/>
          <p:nvPr/>
        </p:nvSpPr>
        <p:spPr>
          <a:xfrm>
            <a:off x="4617720" y="394106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in-memory, caching</a:t>
            </a:r>
            <a:endParaRPr lang="en-US" sz="1150" dirty="0"/>
          </a:p>
        </p:txBody>
      </p:sp>
      <p:sp>
        <p:nvSpPr>
          <p:cNvPr id="25" name="Text 23"/>
          <p:cNvSpPr/>
          <p:nvPr/>
        </p:nvSpPr>
        <p:spPr>
          <a:xfrm>
            <a:off x="630936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Which AI service</a:t>
            </a:r>
            <a:endParaRPr lang="en-US" sz="1400" dirty="0"/>
          </a:p>
        </p:txBody>
      </p:sp>
      <p:sp>
        <p:nvSpPr>
          <p:cNvPr id="26" name="Shape 24"/>
          <p:cNvSpPr/>
          <p:nvPr/>
        </p:nvSpPr>
        <p:spPr>
          <a:xfrm>
            <a:off x="6309360" y="1737360"/>
            <a:ext cx="5257800" cy="475488"/>
          </a:xfrm>
          <a:prstGeom prst="roundRect">
            <a:avLst>
              <a:gd name="adj" fmla="val 17308"/>
            </a:avLst>
          </a:prstGeom>
          <a:solidFill>
            <a:srgbClr val="EEF0FC"/>
          </a:solidFill>
          <a:ln w="12700">
            <a:solidFill>
              <a:srgbClr val="B6BAE8"/>
            </a:solidFill>
            <a:prstDash val="solid"/>
          </a:ln>
        </p:spPr>
      </p:sp>
      <p:sp>
        <p:nvSpPr>
          <p:cNvPr id="27" name="Text 25"/>
          <p:cNvSpPr/>
          <p:nvPr/>
        </p:nvSpPr>
        <p:spPr>
          <a:xfrm>
            <a:off x="6537960" y="1746504"/>
            <a:ext cx="2651760" cy="457200"/>
          </a:xfrm>
          <a:prstGeom prst="rect">
            <a:avLst/>
          </a:prstGeom>
          <a:noFill/>
          <a:ln/>
        </p:spPr>
        <p:txBody>
          <a:bodyPr wrap="square" lIns="0" tIns="0" rIns="0" bIns="0" rtlCol="0" anchor="ctr"/>
          <a:lstStyle/>
          <a:p>
            <a:pPr indent="0" marL="0">
              <a:buNone/>
            </a:pPr>
            <a:r>
              <a:rPr lang="en-US" sz="1250" b="1" dirty="0">
                <a:solidFill>
                  <a:srgbClr val="5158BE"/>
                </a:solidFill>
                <a:latin typeface="Courier New" pitchFamily="34" charset="0"/>
                <a:ea typeface="Courier New" pitchFamily="34" charset="-122"/>
                <a:cs typeface="Courier New" pitchFamily="34" charset="-120"/>
              </a:rPr>
              <a:t>Anthropic (Claude)</a:t>
            </a:r>
            <a:endParaRPr lang="en-US" sz="1250" dirty="0"/>
          </a:p>
        </p:txBody>
      </p:sp>
      <p:sp>
        <p:nvSpPr>
          <p:cNvPr id="28" name="Text 26"/>
          <p:cNvSpPr/>
          <p:nvPr/>
        </p:nvSpPr>
        <p:spPr>
          <a:xfrm>
            <a:off x="9281160" y="174650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what we use</a:t>
            </a:r>
            <a:endParaRPr lang="en-US" sz="1150" dirty="0"/>
          </a:p>
        </p:txBody>
      </p:sp>
      <p:sp>
        <p:nvSpPr>
          <p:cNvPr id="29" name="Shape 27"/>
          <p:cNvSpPr/>
          <p:nvPr/>
        </p:nvSpPr>
        <p:spPr>
          <a:xfrm>
            <a:off x="6309360" y="2286000"/>
            <a:ext cx="5257800" cy="475488"/>
          </a:xfrm>
          <a:prstGeom prst="roundRect">
            <a:avLst>
              <a:gd name="adj" fmla="val 17308"/>
            </a:avLst>
          </a:prstGeom>
          <a:solidFill>
            <a:srgbClr val="F5F6F8"/>
          </a:solidFill>
          <a:ln w="12700">
            <a:solidFill>
              <a:srgbClr val="E1E4E9"/>
            </a:solidFill>
            <a:prstDash val="solid"/>
          </a:ln>
        </p:spPr>
      </p:sp>
      <p:sp>
        <p:nvSpPr>
          <p:cNvPr id="30" name="Text 28"/>
          <p:cNvSpPr/>
          <p:nvPr/>
        </p:nvSpPr>
        <p:spPr>
          <a:xfrm>
            <a:off x="6537960" y="229514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OpenAI</a:t>
            </a:r>
            <a:endParaRPr lang="en-US" sz="1250" dirty="0"/>
          </a:p>
        </p:txBody>
      </p:sp>
      <p:sp>
        <p:nvSpPr>
          <p:cNvPr id="31" name="Text 29"/>
          <p:cNvSpPr/>
          <p:nvPr/>
        </p:nvSpPr>
        <p:spPr>
          <a:xfrm>
            <a:off x="9281160" y="229514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shape</a:t>
            </a:r>
            <a:endParaRPr lang="en-US" sz="1150" dirty="0"/>
          </a:p>
        </p:txBody>
      </p:sp>
      <p:sp>
        <p:nvSpPr>
          <p:cNvPr id="32" name="Shape 30"/>
          <p:cNvSpPr/>
          <p:nvPr/>
        </p:nvSpPr>
        <p:spPr>
          <a:xfrm>
            <a:off x="6309360" y="2834640"/>
            <a:ext cx="5257800" cy="475488"/>
          </a:xfrm>
          <a:prstGeom prst="roundRect">
            <a:avLst>
              <a:gd name="adj" fmla="val 17308"/>
            </a:avLst>
          </a:prstGeom>
          <a:solidFill>
            <a:srgbClr val="F5F6F8"/>
          </a:solidFill>
          <a:ln w="12700">
            <a:solidFill>
              <a:srgbClr val="E1E4E9"/>
            </a:solidFill>
            <a:prstDash val="solid"/>
          </a:ln>
        </p:spPr>
      </p:sp>
      <p:sp>
        <p:nvSpPr>
          <p:cNvPr id="33" name="Text 31"/>
          <p:cNvSpPr/>
          <p:nvPr/>
        </p:nvSpPr>
        <p:spPr>
          <a:xfrm>
            <a:off x="6537960" y="284378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Google Gemini</a:t>
            </a:r>
            <a:endParaRPr lang="en-US" sz="1250" dirty="0"/>
          </a:p>
        </p:txBody>
      </p:sp>
      <p:sp>
        <p:nvSpPr>
          <p:cNvPr id="34" name="Text 32"/>
          <p:cNvSpPr/>
          <p:nvPr/>
        </p:nvSpPr>
        <p:spPr>
          <a:xfrm>
            <a:off x="9281160" y="284378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often a free tier</a:t>
            </a:r>
            <a:endParaRPr lang="en-US" sz="1150" dirty="0"/>
          </a:p>
        </p:txBody>
      </p:sp>
      <p:sp>
        <p:nvSpPr>
          <p:cNvPr id="35" name="Shape 33"/>
          <p:cNvSpPr/>
          <p:nvPr/>
        </p:nvSpPr>
        <p:spPr>
          <a:xfrm>
            <a:off x="6309360" y="3383280"/>
            <a:ext cx="5257800" cy="475488"/>
          </a:xfrm>
          <a:prstGeom prst="roundRect">
            <a:avLst>
              <a:gd name="adj" fmla="val 17308"/>
            </a:avLst>
          </a:prstGeom>
          <a:solidFill>
            <a:srgbClr val="F5F6F8"/>
          </a:solidFill>
          <a:ln w="12700">
            <a:solidFill>
              <a:srgbClr val="E1E4E9"/>
            </a:solidFill>
            <a:prstDash val="solid"/>
          </a:ln>
        </p:spPr>
      </p:sp>
      <p:sp>
        <p:nvSpPr>
          <p:cNvPr id="36" name="Text 34"/>
          <p:cNvSpPr/>
          <p:nvPr/>
        </p:nvSpPr>
        <p:spPr>
          <a:xfrm>
            <a:off x="6537960" y="339242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Ollama / vLLM</a:t>
            </a:r>
            <a:endParaRPr lang="en-US" sz="1250" dirty="0"/>
          </a:p>
        </p:txBody>
      </p:sp>
      <p:sp>
        <p:nvSpPr>
          <p:cNvPr id="37" name="Text 35"/>
          <p:cNvSpPr/>
          <p:nvPr/>
        </p:nvSpPr>
        <p:spPr>
          <a:xfrm>
            <a:off x="9281160" y="339242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run open models yourself</a:t>
            </a:r>
            <a:endParaRPr lang="en-US" sz="1150" dirty="0"/>
          </a:p>
        </p:txBody>
      </p:sp>
      <p:sp>
        <p:nvSpPr>
          <p:cNvPr id="38" name="Shape 36"/>
          <p:cNvSpPr/>
          <p:nvPr/>
        </p:nvSpPr>
        <p:spPr>
          <a:xfrm>
            <a:off x="6309360" y="3931920"/>
            <a:ext cx="5257800" cy="475488"/>
          </a:xfrm>
          <a:prstGeom prst="roundRect">
            <a:avLst>
              <a:gd name="adj" fmla="val 17308"/>
            </a:avLst>
          </a:prstGeom>
          <a:solidFill>
            <a:srgbClr val="F5F6F8"/>
          </a:solidFill>
          <a:ln w="12700">
            <a:solidFill>
              <a:srgbClr val="E1E4E9"/>
            </a:solidFill>
            <a:prstDash val="solid"/>
          </a:ln>
        </p:spPr>
      </p:sp>
      <p:sp>
        <p:nvSpPr>
          <p:cNvPr id="39" name="Text 37"/>
          <p:cNvSpPr/>
          <p:nvPr/>
        </p:nvSpPr>
        <p:spPr>
          <a:xfrm>
            <a:off x="6537960" y="394106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Bedrock / Vertex</a:t>
            </a:r>
            <a:endParaRPr lang="en-US" sz="1250" dirty="0"/>
          </a:p>
        </p:txBody>
      </p:sp>
      <p:sp>
        <p:nvSpPr>
          <p:cNvPr id="40" name="Text 38"/>
          <p:cNvSpPr/>
          <p:nvPr/>
        </p:nvSpPr>
        <p:spPr>
          <a:xfrm>
            <a:off x="9281160" y="394106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models, cloud billing</a:t>
            </a:r>
            <a:endParaRPr lang="en-US" sz="1150" dirty="0"/>
          </a:p>
        </p:txBody>
      </p:sp>
      <p:sp>
        <p:nvSpPr>
          <p:cNvPr id="41" name="Shape 39"/>
          <p:cNvSpPr/>
          <p:nvPr/>
        </p:nvSpPr>
        <p:spPr>
          <a:xfrm>
            <a:off x="777240" y="4663440"/>
            <a:ext cx="10634472" cy="1691640"/>
          </a:xfrm>
          <a:prstGeom prst="roundRect">
            <a:avLst>
              <a:gd name="adj" fmla="val 4865"/>
            </a:avLst>
          </a:prstGeom>
          <a:solidFill>
            <a:srgbClr val="F5F6F8"/>
          </a:solidFill>
          <a:ln w="12700">
            <a:solidFill>
              <a:srgbClr val="E1E4E9"/>
            </a:solidFill>
            <a:prstDash val="solid"/>
          </a:ln>
        </p:spPr>
      </p:sp>
      <p:sp>
        <p:nvSpPr>
          <p:cNvPr id="42" name="Text 40"/>
          <p:cNvSpPr/>
          <p:nvPr/>
        </p:nvSpPr>
        <p:spPr>
          <a:xfrm>
            <a:off x="1143000" y="480060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They nearly all follow the same shape: send text plus a key, get text back.</a:t>
            </a:r>
            <a:endParaRPr lang="en-US" sz="1700" dirty="0"/>
          </a:p>
        </p:txBody>
      </p:sp>
      <p:sp>
        <p:nvSpPr>
          <p:cNvPr id="43" name="Text 41"/>
          <p:cNvSpPr/>
          <p:nvPr/>
        </p:nvSpPr>
        <p:spPr>
          <a:xfrm>
            <a:off x="1143000" y="5230368"/>
            <a:ext cx="10241280" cy="9144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library differs, the endpoint differs, the parameter names differ slightly. The idea does not. That is exactly why our AI call lives alone in ai.py - changing provider means editing one file, and nothing else in the application notices.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How to choose, on your next project</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Four questions, in this order:</a:t>
            </a:r>
            <a:endParaRPr lang="en-US" sz="1600" dirty="0"/>
          </a:p>
        </p:txBody>
      </p:sp>
      <p:sp>
        <p:nvSpPr>
          <p:cNvPr id="5" name="Shape 3"/>
          <p:cNvSpPr/>
          <p:nvPr/>
        </p:nvSpPr>
        <p:spPr>
          <a:xfrm>
            <a:off x="777240" y="1783080"/>
            <a:ext cx="10634472" cy="932688"/>
          </a:xfrm>
          <a:prstGeom prst="roundRect">
            <a:avLst>
              <a:gd name="adj" fmla="val 8824"/>
            </a:avLst>
          </a:prstGeom>
          <a:solidFill>
            <a:srgbClr val="F5F6F8"/>
          </a:solidFill>
          <a:ln w="12700">
            <a:solidFill>
              <a:srgbClr val="E1E4E9"/>
            </a:solidFill>
            <a:prstDash val="solid"/>
          </a:ln>
        </p:spPr>
      </p:sp>
      <p:sp>
        <p:nvSpPr>
          <p:cNvPr id="6" name="Shape 4"/>
          <p:cNvSpPr/>
          <p:nvPr/>
        </p:nvSpPr>
        <p:spPr>
          <a:xfrm>
            <a:off x="1069848" y="2084832"/>
            <a:ext cx="365760" cy="365760"/>
          </a:xfrm>
          <a:prstGeom prst="ellipse">
            <a:avLst/>
          </a:prstGeom>
          <a:solidFill>
            <a:srgbClr val="00776A"/>
          </a:solidFill>
          <a:ln/>
        </p:spPr>
      </p:sp>
      <p:sp>
        <p:nvSpPr>
          <p:cNvPr id="7" name="Text 5"/>
          <p:cNvSpPr/>
          <p:nvPr/>
        </p:nvSpPr>
        <p:spPr>
          <a:xfrm>
            <a:off x="1069848" y="2084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691640" y="1874520"/>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Does anything need to send data to it?</a:t>
            </a:r>
            <a:endParaRPr lang="en-US" sz="1600" dirty="0"/>
          </a:p>
        </p:txBody>
      </p:sp>
      <p:sp>
        <p:nvSpPr>
          <p:cNvPr id="9" name="Text 7"/>
          <p:cNvSpPr/>
          <p:nvPr/>
        </p:nvSpPr>
        <p:spPr>
          <a:xfrm>
            <a:off x="1691640" y="2267712"/>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real backend - that rules out static hosting, Streamlit and Gradio</a:t>
            </a:r>
            <a:endParaRPr lang="en-US" sz="1300" dirty="0"/>
          </a:p>
        </p:txBody>
      </p:sp>
      <p:sp>
        <p:nvSpPr>
          <p:cNvPr id="10" name="Shape 8"/>
          <p:cNvSpPr/>
          <p:nvPr/>
        </p:nvSpPr>
        <p:spPr>
          <a:xfrm>
            <a:off x="777240" y="2862072"/>
            <a:ext cx="10634472" cy="932688"/>
          </a:xfrm>
          <a:prstGeom prst="roundRect">
            <a:avLst>
              <a:gd name="adj" fmla="val 8824"/>
            </a:avLst>
          </a:prstGeom>
          <a:solidFill>
            <a:srgbClr val="F5F6F8"/>
          </a:solidFill>
          <a:ln w="12700">
            <a:solidFill>
              <a:srgbClr val="E1E4E9"/>
            </a:solidFill>
            <a:prstDash val="solid"/>
          </a:ln>
        </p:spPr>
      </p:sp>
      <p:sp>
        <p:nvSpPr>
          <p:cNvPr id="11" name="Shape 9"/>
          <p:cNvSpPr/>
          <p:nvPr/>
        </p:nvSpPr>
        <p:spPr>
          <a:xfrm>
            <a:off x="1069848" y="3163824"/>
            <a:ext cx="365760" cy="365760"/>
          </a:xfrm>
          <a:prstGeom prst="ellipse">
            <a:avLst/>
          </a:prstGeom>
          <a:solidFill>
            <a:srgbClr val="00776A"/>
          </a:solidFill>
          <a:ln/>
        </p:spPr>
      </p:sp>
      <p:sp>
        <p:nvSpPr>
          <p:cNvPr id="12" name="Text 10"/>
          <p:cNvSpPr/>
          <p:nvPr/>
        </p:nvSpPr>
        <p:spPr>
          <a:xfrm>
            <a:off x="1069848" y="31638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691640" y="2953512"/>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 you have a secret to protect?</a:t>
            </a:r>
            <a:endParaRPr lang="en-US" sz="1600" dirty="0"/>
          </a:p>
        </p:txBody>
      </p:sp>
      <p:sp>
        <p:nvSpPr>
          <p:cNvPr id="14" name="Text 12"/>
          <p:cNvSpPr/>
          <p:nvPr/>
        </p:nvSpPr>
        <p:spPr>
          <a:xfrm>
            <a:off x="1691640" y="3346704"/>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backend. Same conclusion</a:t>
            </a:r>
            <a:endParaRPr lang="en-US" sz="1300" dirty="0"/>
          </a:p>
        </p:txBody>
      </p:sp>
      <p:sp>
        <p:nvSpPr>
          <p:cNvPr id="15" name="Shape 13"/>
          <p:cNvSpPr/>
          <p:nvPr/>
        </p:nvSpPr>
        <p:spPr>
          <a:xfrm>
            <a:off x="777240" y="3941064"/>
            <a:ext cx="10634472" cy="932688"/>
          </a:xfrm>
          <a:prstGeom prst="roundRect">
            <a:avLst>
              <a:gd name="adj" fmla="val 8824"/>
            </a:avLst>
          </a:prstGeom>
          <a:solidFill>
            <a:srgbClr val="F5F6F8"/>
          </a:solidFill>
          <a:ln w="12700">
            <a:solidFill>
              <a:srgbClr val="E1E4E9"/>
            </a:solidFill>
            <a:prstDash val="solid"/>
          </a:ln>
        </p:spPr>
      </p:sp>
      <p:sp>
        <p:nvSpPr>
          <p:cNvPr id="16" name="Shape 14"/>
          <p:cNvSpPr/>
          <p:nvPr/>
        </p:nvSpPr>
        <p:spPr>
          <a:xfrm>
            <a:off x="1069848" y="4242816"/>
            <a:ext cx="365760" cy="365760"/>
          </a:xfrm>
          <a:prstGeom prst="ellipse">
            <a:avLst/>
          </a:prstGeom>
          <a:solidFill>
            <a:srgbClr val="00776A"/>
          </a:solidFill>
          <a:ln/>
        </p:spPr>
      </p:sp>
      <p:sp>
        <p:nvSpPr>
          <p:cNvPr id="17" name="Text 15"/>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1691640" y="4032504"/>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What language do you already write?</a:t>
            </a:r>
            <a:endParaRPr lang="en-US" sz="1600" dirty="0"/>
          </a:p>
        </p:txBody>
      </p:sp>
      <p:sp>
        <p:nvSpPr>
          <p:cNvPr id="19" name="Text 17"/>
          <p:cNvSpPr/>
          <p:nvPr/>
        </p:nvSpPr>
        <p:spPr>
          <a:xfrm>
            <a:off x="1691640" y="4425696"/>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use it. Learning a framework is quick; learning a language while learning deployment is not</a:t>
            </a:r>
            <a:endParaRPr lang="en-US" sz="1300" dirty="0"/>
          </a:p>
        </p:txBody>
      </p:sp>
      <p:sp>
        <p:nvSpPr>
          <p:cNvPr id="20" name="Shape 18"/>
          <p:cNvSpPr/>
          <p:nvPr/>
        </p:nvSpPr>
        <p:spPr>
          <a:xfrm>
            <a:off x="777240" y="5020056"/>
            <a:ext cx="10634472" cy="932688"/>
          </a:xfrm>
          <a:prstGeom prst="roundRect">
            <a:avLst>
              <a:gd name="adj" fmla="val 8824"/>
            </a:avLst>
          </a:prstGeom>
          <a:solidFill>
            <a:srgbClr val="F5F6F8"/>
          </a:solidFill>
          <a:ln w="12700">
            <a:solidFill>
              <a:srgbClr val="E1E4E9"/>
            </a:solidFill>
            <a:prstDash val="solid"/>
          </a:ln>
        </p:spPr>
      </p:sp>
      <p:sp>
        <p:nvSpPr>
          <p:cNvPr id="21" name="Shape 19"/>
          <p:cNvSpPr/>
          <p:nvPr/>
        </p:nvSpPr>
        <p:spPr>
          <a:xfrm>
            <a:off x="1069848" y="5321808"/>
            <a:ext cx="365760" cy="365760"/>
          </a:xfrm>
          <a:prstGeom prst="ellipse">
            <a:avLst/>
          </a:prstGeom>
          <a:solidFill>
            <a:srgbClr val="00776A"/>
          </a:solidFill>
          <a:ln/>
        </p:spPr>
      </p:sp>
      <p:sp>
        <p:nvSpPr>
          <p:cNvPr id="22" name="Text 20"/>
          <p:cNvSpPr/>
          <p:nvPr/>
        </p:nvSpPr>
        <p:spPr>
          <a:xfrm>
            <a:off x="1069848" y="532180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1691640" y="5111496"/>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How long does it need to live?</a:t>
            </a:r>
            <a:endParaRPr lang="en-US" sz="1600" dirty="0"/>
          </a:p>
        </p:txBody>
      </p:sp>
      <p:sp>
        <p:nvSpPr>
          <p:cNvPr id="24" name="Text 22"/>
          <p:cNvSpPr/>
          <p:nvPr/>
        </p:nvSpPr>
        <p:spPr>
          <a:xfrm>
            <a:off x="1691640" y="5504688"/>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demo, a term project and a product have very different answers</a:t>
            </a:r>
            <a:endParaRPr lang="en-US" sz="1300" dirty="0"/>
          </a:p>
        </p:txBody>
      </p:sp>
      <p:sp>
        <p:nvSpPr>
          <p:cNvPr id="25" name="Text 23"/>
          <p:cNvSpPr/>
          <p:nvPr/>
        </p:nvSpPr>
        <p:spPr>
          <a:xfrm>
            <a:off x="777240" y="603504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These four questions resolve most technology selection decisions.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rapid path</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A trained model taken from a notebook to a public address in approximately twenty minutes.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point at which most projects halt</a:t>
            </a:r>
            <a:endParaRPr lang="en-US" sz="3100" dirty="0"/>
          </a:p>
        </p:txBody>
      </p:sp>
      <p:sp>
        <p:nvSpPr>
          <p:cNvPr id="4" name="Shape 2"/>
          <p:cNvSpPr/>
          <p:nvPr/>
        </p:nvSpPr>
        <p:spPr>
          <a:xfrm>
            <a:off x="777240" y="19202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143000" y="1920240"/>
            <a:ext cx="10241280" cy="1371600"/>
          </a:xfrm>
          <a:prstGeom prst="rect">
            <a:avLst/>
          </a:prstGeom>
          <a:noFill/>
          <a:ln/>
        </p:spPr>
        <p:txBody>
          <a:bodyPr wrap="square" lIns="0" tIns="0" rIns="0" bIns="0" rtlCol="0" anchor="ctr"/>
          <a:lstStyle/>
          <a:p>
            <a:pPr algn="ctr" indent="0" marL="0">
              <a:buNone/>
            </a:pPr>
            <a:r>
              <a:rPr lang="en-US" sz="1900" dirty="0">
                <a:solidFill>
                  <a:srgbClr val="15181F"/>
                </a:solidFill>
                <a:latin typeface="Calibri" pitchFamily="34" charset="0"/>
                <a:ea typeface="Calibri" pitchFamily="34" charset="-122"/>
                <a:cs typeface="Calibri" pitchFamily="34" charset="-120"/>
              </a:rPr>
              <a:t>a working notebook        on a single machine        inaccessible to others</a:t>
            </a:r>
            <a:endParaRPr lang="en-US" sz="1900" dirty="0"/>
          </a:p>
        </p:txBody>
      </p:sp>
      <p:sp>
        <p:nvSpPr>
          <p:cNvPr id="6" name="Text 4"/>
          <p:cNvSpPr/>
          <p:nvPr/>
        </p:nvSpPr>
        <p:spPr>
          <a:xfrm>
            <a:off x="777240" y="3657600"/>
            <a:ext cx="10634472" cy="82296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trained model that performs correctly, but only where it was produced.</a:t>
            </a:r>
            <a:endParaRPr lang="en-US" sz="2000" dirty="0"/>
          </a:p>
        </p:txBody>
      </p:sp>
      <p:sp>
        <p:nvSpPr>
          <p:cNvPr id="7" name="Shape 5"/>
          <p:cNvSpPr/>
          <p:nvPr/>
        </p:nvSpPr>
        <p:spPr>
          <a:xfrm>
            <a:off x="777240" y="4754880"/>
            <a:ext cx="10634472" cy="1371600"/>
          </a:xfrm>
          <a:prstGeom prst="roundRect">
            <a:avLst>
              <a:gd name="adj" fmla="val 6000"/>
            </a:avLst>
          </a:prstGeom>
          <a:solidFill>
            <a:srgbClr val="EAF6F3"/>
          </a:solidFill>
          <a:ln w="12700">
            <a:solidFill>
              <a:srgbClr val="9CCFC6"/>
            </a:solidFill>
            <a:prstDash val="solid"/>
          </a:ln>
        </p:spPr>
      </p:sp>
      <p:sp>
        <p:nvSpPr>
          <p:cNvPr id="8" name="Text 6"/>
          <p:cNvSpPr/>
          <p:nvPr/>
        </p:nvSpPr>
        <p:spPr>
          <a:xfrm>
            <a:off x="1143000" y="4892040"/>
            <a:ext cx="10241280" cy="457200"/>
          </a:xfrm>
          <a:prstGeom prst="rect">
            <a:avLst/>
          </a:prstGeom>
          <a:noFill/>
          <a:ln/>
        </p:spPr>
        <p:txBody>
          <a:bodyPr wrap="square" lIns="0" tIns="0" rIns="0" bIns="0" rtlCol="0" anchor="ctr"/>
          <a:lstStyle/>
          <a:p>
            <a:pPr algn="ctr" indent="0" marL="0">
              <a:buNone/>
            </a:pPr>
            <a:r>
              <a:rPr lang="en-US" sz="1700" b="1" dirty="0">
                <a:solidFill>
                  <a:srgbClr val="00776A"/>
                </a:solidFill>
                <a:latin typeface="Courier New" pitchFamily="34" charset="0"/>
                <a:ea typeface="Courier New" pitchFamily="34" charset="-122"/>
                <a:cs typeface="Courier New" pitchFamily="34" charset="-120"/>
              </a:rPr>
              <a:t>train_model.ipynb    -&gt;    model.pkl    -&gt;    app.py    -&gt;    a public URL</a:t>
            </a:r>
            <a:endParaRPr lang="en-US" sz="1700" dirty="0"/>
          </a:p>
        </p:txBody>
      </p:sp>
      <p:sp>
        <p:nvSpPr>
          <p:cNvPr id="9" name="Text 7"/>
          <p:cNvSpPr/>
          <p:nvPr/>
        </p:nvSpPr>
        <p:spPr>
          <a:xfrm>
            <a:off x="1143000" y="5394960"/>
            <a:ext cx="10241280" cy="457200"/>
          </a:xfrm>
          <a:prstGeom prst="rect">
            <a:avLst/>
          </a:prstGeom>
          <a:noFill/>
          <a:ln/>
        </p:spPr>
        <p:txBody>
          <a:bodyPr wrap="square" lIns="0" tIns="0" rIns="0" bIns="0" rtlCol="0" anchor="ctr"/>
          <a:lstStyle/>
          <a:p>
            <a:pPr algn="ctr" indent="0" marL="0">
              <a:buNone/>
            </a:pPr>
            <a:r>
              <a:rPr lang="en-US" sz="1300" dirty="0">
                <a:solidFill>
                  <a:srgbClr val="00776A"/>
                </a:solidFill>
                <a:latin typeface="Calibri" pitchFamily="34" charset="0"/>
                <a:ea typeface="Calibri" pitchFamily="34" charset="-122"/>
                <a:cs typeface="Calibri" pitchFamily="34" charset="-120"/>
              </a:rPr>
              <a:t>train                       persist               present            publish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2.2  ·  STEP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Get the model out of the notebook</a:t>
            </a:r>
            <a:endParaRPr lang="en-US" sz="3100" dirty="0"/>
          </a:p>
        </p:txBody>
      </p:sp>
      <p:sp>
        <p:nvSpPr>
          <p:cNvPr id="4" name="Text 2"/>
          <p:cNvSpPr/>
          <p:nvPr/>
        </p:nvSpPr>
        <p:spPr>
          <a:xfrm>
            <a:off x="777240" y="141732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training notebook always does the same four things:</a:t>
            </a:r>
            <a:endParaRPr lang="en-US" sz="1600" dirty="0"/>
          </a:p>
        </p:txBody>
      </p:sp>
      <p:sp>
        <p:nvSpPr>
          <p:cNvPr id="5" name="Shape 3"/>
          <p:cNvSpPr/>
          <p:nvPr/>
        </p:nvSpPr>
        <p:spPr>
          <a:xfrm>
            <a:off x="777240" y="1920240"/>
            <a:ext cx="10634472" cy="1920240"/>
          </a:xfrm>
          <a:prstGeom prst="roundRect">
            <a:avLst>
              <a:gd name="adj" fmla="val 3810"/>
            </a:avLst>
          </a:prstGeom>
          <a:solidFill>
            <a:srgbClr val="1B1F2A"/>
          </a:solidFill>
          <a:ln w="12700">
            <a:solidFill>
              <a:srgbClr val="1B1F2A"/>
            </a:solidFill>
            <a:prstDash val="solid"/>
          </a:ln>
        </p:spPr>
      </p:sp>
      <p:sp>
        <p:nvSpPr>
          <p:cNvPr id="6" name="Text 4"/>
          <p:cNvSpPr/>
          <p:nvPr/>
        </p:nvSpPr>
        <p:spPr>
          <a:xfrm>
            <a:off x="1069848" y="20116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train_model.ipynb</a:t>
            </a:r>
            <a:endParaRPr lang="en-US" sz="1050" dirty="0"/>
          </a:p>
        </p:txBody>
      </p:sp>
      <p:sp>
        <p:nvSpPr>
          <p:cNvPr id="7" name="Text 5"/>
          <p:cNvSpPr/>
          <p:nvPr/>
        </p:nvSpPr>
        <p:spPr>
          <a:xfrm>
            <a:off x="1069848" y="233172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make data          3,000 example readings with known answers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choose a feature   where the reading sits in its safe range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train              a decision tree learns the pattern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joblib.dump(model, "model.pkl")     # &lt;-- save it</a:t>
            </a:r>
            <a:endParaRPr lang="en-US" sz="1500" dirty="0"/>
          </a:p>
        </p:txBody>
      </p:sp>
      <p:sp>
        <p:nvSpPr>
          <p:cNvPr id="8" name="Shape 6"/>
          <p:cNvSpPr/>
          <p:nvPr/>
        </p:nvSpPr>
        <p:spPr>
          <a:xfrm>
            <a:off x="777240" y="4114800"/>
            <a:ext cx="10634472" cy="1737360"/>
          </a:xfrm>
          <a:prstGeom prst="roundRect">
            <a:avLst>
              <a:gd name="adj" fmla="val 4737"/>
            </a:avLst>
          </a:prstGeom>
          <a:solidFill>
            <a:srgbClr val="EAF6F3"/>
          </a:solidFill>
          <a:ln w="12700">
            <a:solidFill>
              <a:srgbClr val="9CCFC6"/>
            </a:solidFill>
            <a:prstDash val="solid"/>
          </a:ln>
        </p:spPr>
      </p:sp>
      <p:sp>
        <p:nvSpPr>
          <p:cNvPr id="9" name="Text 7"/>
          <p:cNvSpPr/>
          <p:nvPr/>
        </p:nvSpPr>
        <p:spPr>
          <a:xfrm>
            <a:off x="1143000" y="4251960"/>
            <a:ext cx="10241280" cy="45720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model.pkl IS the model.</a:t>
            </a:r>
            <a:endParaRPr lang="en-US" sz="2000" dirty="0"/>
          </a:p>
        </p:txBody>
      </p:sp>
      <p:sp>
        <p:nvSpPr>
          <p:cNvPr id="10" name="Text 8"/>
          <p:cNvSpPr/>
          <p:nvPr/>
        </p:nvSpPr>
        <p:spPr>
          <a:xfrm>
            <a:off x="1143000" y="4709160"/>
            <a:ext cx="10241280" cy="105156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A file of roughly two kilobytes, and the only artefact that needs to leave the notebook. Every cell above that line executes once and is not required again.</a:t>
            </a:r>
            <a:endParaRPr lang="en-US" sz="1500" dirty="0"/>
          </a:p>
          <a:p>
            <a:pPr indent="0" marL="0">
              <a:buNone/>
            </a:pPr>
            <a:endParaRPr lang="en-US" sz="1500" dirty="0"/>
          </a:p>
          <a:p>
            <a:pPr indent="0" marL="0">
              <a:buNone/>
            </a:pPr>
            <a:r>
              <a:rPr lang="en-US" sz="1500" dirty="0">
                <a:solidFill>
                  <a:srgbClr val="00776A"/>
                </a:solidFill>
                <a:latin typeface="Calibri" pitchFamily="34" charset="0"/>
                <a:ea typeface="Calibri" pitchFamily="34" charset="-122"/>
                <a:cs typeface="Calibri" pitchFamily="34" charset="-120"/>
              </a:rPr>
              <a:t>A notebook is where a model is produced. It is not where the model resides afterwards.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Wrap it in an interface</a:t>
            </a:r>
            <a:endParaRPr lang="en-US" sz="3100" dirty="0"/>
          </a:p>
        </p:txBody>
      </p:sp>
      <p:sp>
        <p:nvSpPr>
          <p:cNvPr id="4" name="Shape 2"/>
          <p:cNvSpPr/>
          <p:nvPr/>
        </p:nvSpPr>
        <p:spPr>
          <a:xfrm>
            <a:off x="777240" y="1691640"/>
            <a:ext cx="10634472" cy="4065270"/>
          </a:xfrm>
          <a:prstGeom prst="roundRect">
            <a:avLst>
              <a:gd name="adj" fmla="val 1799"/>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app.py</a:t>
            </a:r>
            <a:endParaRPr lang="en-US" sz="1050" dirty="0"/>
          </a:p>
        </p:txBody>
      </p:sp>
      <p:sp>
        <p:nvSpPr>
          <p:cNvPr id="6" name="Text 4"/>
          <p:cNvSpPr/>
          <p:nvPr/>
        </p:nvSpPr>
        <p:spPr>
          <a:xfrm>
            <a:off x="1069848" y="2103120"/>
            <a:ext cx="10085832" cy="35166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gradio as gr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joblib</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model = joblib.load("model.pkl")</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check_reading(value, low, high):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span = (high - low) or 1</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position = (value - low) / span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return model.predict([[position]])[0]</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gr.Interface(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fn=check_reading,</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inputs=["number", "number", "number"],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outputs="text",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).launch()</a:t>
            </a:r>
            <a:endParaRPr lang="en-US" sz="1350" dirty="0"/>
          </a:p>
        </p:txBody>
      </p:sp>
      <p:sp>
        <p:nvSpPr>
          <p:cNvPr id="7" name="Text 5"/>
          <p:cNvSpPr/>
          <p:nvPr/>
        </p:nvSpPr>
        <p:spPr>
          <a:xfrm>
            <a:off x="777240" y="548640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No HTML, no CSS, and no server code.</a:t>
            </a:r>
            <a:endParaRPr lang="en-US" sz="2100" dirty="0"/>
          </a:p>
        </p:txBody>
      </p:sp>
      <p:sp>
        <p:nvSpPr>
          <p:cNvPr id="8" name="Text 6"/>
          <p:cNvSpPr/>
          <p:nvPr/>
        </p:nvSpPr>
        <p:spPr>
          <a:xfrm>
            <a:off x="777240" y="603504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A Python function and a description of its inputs and outputs. The library generates the interface.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libraries do the same job</a:t>
            </a:r>
            <a:endParaRPr lang="en-US" sz="3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2743200"/>
                <a:gridCol w="3931920"/>
                <a:gridCol w="3959352"/>
              </a:tblGrid>
              <a:tr h="603504">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Gradio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Streamlit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Style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describe inputs and outputs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write the page top to bottom</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Best suited to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single function: a model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dashboards and several sections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Re-runs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your function, on submit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the whole script, on interaction</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Free hosting</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Render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Streamlit Community Cloud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029200"/>
            <a:ext cx="10634472" cy="1371600"/>
          </a:xfrm>
          <a:prstGeom prst="roundRect">
            <a:avLst>
              <a:gd name="adj" fmla="val 6000"/>
            </a:avLst>
          </a:prstGeom>
          <a:solidFill>
            <a:srgbClr val="F5F6F8"/>
          </a:solidFill>
          <a:ln w="12700">
            <a:solidFill>
              <a:srgbClr val="E1E4E9"/>
            </a:solidFill>
            <a:prstDash val="solid"/>
          </a:ln>
        </p:spPr>
      </p:sp>
      <p:sp>
        <p:nvSpPr>
          <p:cNvPr id="6" name="Text 3"/>
          <p:cNvSpPr/>
          <p:nvPr/>
        </p:nvSpPr>
        <p:spPr>
          <a:xfrm>
            <a:off x="1143000" y="516636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 model file, and everything before this step, is identical for both.</a:t>
            </a:r>
            <a:endParaRPr lang="en-US" sz="1700" dirty="0"/>
          </a:p>
        </p:txBody>
      </p:sp>
      <p:sp>
        <p:nvSpPr>
          <p:cNvPr id="7" name="Text 4"/>
          <p:cNvSpPr/>
          <p:nvPr/>
        </p:nvSpPr>
        <p:spPr>
          <a:xfrm>
            <a:off x="1143000" y="5623560"/>
            <a:ext cx="10241280" cy="6400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Streamlit currently has the more accessible free hosting route, which is the deciding factor for this session. Both are shown in the guide.</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current free hosting options</a:t>
            </a:r>
            <a:endParaRPr lang="en-US" sz="3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4023360"/>
                <a:gridCol w="2103120"/>
                <a:gridCol w="2103120"/>
                <a:gridCol w="2404872"/>
              </a:tblGrid>
              <a:tr h="548640">
                <a:tc>
                  <a:txBody>
                    <a:bodyPr/>
                    <a:lstStyle/>
                    <a:p>
                      <a:pPr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Runs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Free</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15181F"/>
                          </a:solidFill>
                          <a:latin typeface="Calibri" pitchFamily="34" charset="0"/>
                          <a:ea typeface="Calibri" pitchFamily="34" charset="-122"/>
                          <a:cs typeface="Calibri" pitchFamily="34" charset="-120"/>
                        </a:rPr>
                        <a:t>Requires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5158BE"/>
                          </a:solidFill>
                          <a:latin typeface="Calibri" pitchFamily="34" charset="0"/>
                          <a:ea typeface="Calibri" pitchFamily="34" charset="-122"/>
                          <a:cs typeface="Calibri" pitchFamily="34" charset="-120"/>
                        </a:rPr>
                        <a:t>Streamlit Community Cloud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Streamlit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00776A"/>
                          </a:solidFill>
                          <a:latin typeface="Calibri" pitchFamily="34" charset="0"/>
                          <a:ea typeface="Calibri" pitchFamily="34" charset="-122"/>
                          <a:cs typeface="Calibri" pitchFamily="34" charset="-120"/>
                        </a:rPr>
                        <a:t>Render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either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0A7D28"/>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 GitHub repository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Static</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HTML only</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cannot run Python</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Gradio</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Hugging Face Spaces - Docker</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anything</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b="1" dirty="0">
                          <a:solidFill>
                            <a:srgbClr val="BE3A2B"/>
                          </a:solidFill>
                          <a:latin typeface="Calibri" pitchFamily="34" charset="0"/>
                          <a:ea typeface="Calibri" pitchFamily="34" charset="-122"/>
                          <a:cs typeface="Calibri" pitchFamily="34" charset="-120"/>
                        </a:rPr>
                        <a:t>no, paid</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350" dirty="0">
                          <a:solidFill>
                            <a:srgbClr val="15181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394960"/>
            <a:ext cx="10634472" cy="1051560"/>
          </a:xfrm>
          <a:prstGeom prst="roundRect">
            <a:avLst>
              <a:gd name="adj" fmla="val 7826"/>
            </a:avLst>
          </a:prstGeom>
          <a:solidFill>
            <a:srgbClr val="FFF8E8"/>
          </a:solidFill>
          <a:ln w="12700">
            <a:solidFill>
              <a:srgbClr val="E5BC64"/>
            </a:solidFill>
            <a:prstDash val="solid"/>
          </a:ln>
        </p:spPr>
      </p:sp>
      <p:sp>
        <p:nvSpPr>
          <p:cNvPr id="6" name="Text 3"/>
          <p:cNvSpPr/>
          <p:nvPr/>
        </p:nvSpPr>
        <p:spPr>
          <a:xfrm>
            <a:off x="1143000" y="5486400"/>
            <a:ext cx="10241280" cy="868680"/>
          </a:xfrm>
          <a:prstGeom prst="rect">
            <a:avLst/>
          </a:prstGeom>
          <a:noFill/>
          <a:ln/>
        </p:spPr>
        <p:txBody>
          <a:bodyPr wrap="square" lIns="0" tIns="0" rIns="0" bIns="0" rtlCol="0" anchor="ctr"/>
          <a:lstStyle/>
          <a:p>
            <a:pPr indent="0" marL="0">
              <a:buNone/>
            </a:pPr>
            <a:r>
              <a:rPr lang="en-US" sz="1600" b="1" dirty="0">
                <a:solidFill>
                  <a:srgbClr val="7A5200"/>
                </a:solidFill>
                <a:latin typeface="Calibri" pitchFamily="34" charset="0"/>
                <a:ea typeface="Calibri" pitchFamily="34" charset="-122"/>
                <a:cs typeface="Calibri" pitchFamily="34" charset="-120"/>
              </a:rPr>
              <a:t>Free tiers change. Verify current terms before depending on any of them.</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3ACFB6"/>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868680"/>
            <a:ext cx="1042416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Deploying to Streamlit Community Cloud</a:t>
            </a:r>
            <a:endParaRPr lang="en-US" sz="3200" dirty="0"/>
          </a:p>
        </p:txBody>
      </p:sp>
      <p:sp>
        <p:nvSpPr>
          <p:cNvPr id="4" name="Shape 2"/>
          <p:cNvSpPr/>
          <p:nvPr/>
        </p:nvSpPr>
        <p:spPr>
          <a:xfrm>
            <a:off x="777240" y="2103120"/>
            <a:ext cx="10634472" cy="658368"/>
          </a:xfrm>
          <a:prstGeom prst="roundRect">
            <a:avLst>
              <a:gd name="adj" fmla="val 9722"/>
            </a:avLst>
          </a:prstGeom>
          <a:solidFill>
            <a:srgbClr val="222732"/>
          </a:solidFill>
          <a:ln w="12700">
            <a:solidFill>
              <a:srgbClr val="222732"/>
            </a:solidFill>
            <a:prstDash val="solid"/>
          </a:ln>
        </p:spPr>
      </p:sp>
      <p:sp>
        <p:nvSpPr>
          <p:cNvPr id="5" name="Text 3"/>
          <p:cNvSpPr/>
          <p:nvPr/>
        </p:nvSpPr>
        <p:spPr>
          <a:xfrm>
            <a:off x="1234440" y="212140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1     Place three files in a GitHub repository</a:t>
            </a:r>
            <a:endParaRPr lang="en-US" sz="1550" dirty="0"/>
          </a:p>
        </p:txBody>
      </p:sp>
      <p:sp>
        <p:nvSpPr>
          <p:cNvPr id="6" name="Shape 4"/>
          <p:cNvSpPr/>
          <p:nvPr/>
        </p:nvSpPr>
        <p:spPr>
          <a:xfrm>
            <a:off x="777240" y="2880360"/>
            <a:ext cx="10634472" cy="658368"/>
          </a:xfrm>
          <a:prstGeom prst="roundRect">
            <a:avLst>
              <a:gd name="adj" fmla="val 9722"/>
            </a:avLst>
          </a:prstGeom>
          <a:solidFill>
            <a:srgbClr val="222732"/>
          </a:solidFill>
          <a:ln w="12700">
            <a:solidFill>
              <a:srgbClr val="222732"/>
            </a:solidFill>
            <a:prstDash val="solid"/>
          </a:ln>
        </p:spPr>
      </p:sp>
      <p:sp>
        <p:nvSpPr>
          <p:cNvPr id="7" name="Text 5"/>
          <p:cNvSpPr/>
          <p:nvPr/>
        </p:nvSpPr>
        <p:spPr>
          <a:xfrm>
            <a:off x="1234440" y="289864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2     streamlit_app.py, model.pkl, requirements.txt</a:t>
            </a:r>
            <a:endParaRPr lang="en-US" sz="1550" dirty="0"/>
          </a:p>
        </p:txBody>
      </p:sp>
      <p:sp>
        <p:nvSpPr>
          <p:cNvPr id="8" name="Shape 6"/>
          <p:cNvSpPr/>
          <p:nvPr/>
        </p:nvSpPr>
        <p:spPr>
          <a:xfrm>
            <a:off x="777240" y="3657600"/>
            <a:ext cx="10634472" cy="658368"/>
          </a:xfrm>
          <a:prstGeom prst="roundRect">
            <a:avLst>
              <a:gd name="adj" fmla="val 9722"/>
            </a:avLst>
          </a:prstGeom>
          <a:solidFill>
            <a:srgbClr val="222732"/>
          </a:solidFill>
          <a:ln w="12700">
            <a:solidFill>
              <a:srgbClr val="222732"/>
            </a:solidFill>
            <a:prstDash val="solid"/>
          </a:ln>
        </p:spPr>
      </p:sp>
      <p:sp>
        <p:nvSpPr>
          <p:cNvPr id="9" name="Text 7"/>
          <p:cNvSpPr/>
          <p:nvPr/>
        </p:nvSpPr>
        <p:spPr>
          <a:xfrm>
            <a:off x="1234440" y="367588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3     Sign in at share.streamlit.io with GitHub</a:t>
            </a:r>
            <a:endParaRPr lang="en-US" sz="1550" dirty="0"/>
          </a:p>
        </p:txBody>
      </p:sp>
      <p:sp>
        <p:nvSpPr>
          <p:cNvPr id="10" name="Shape 8"/>
          <p:cNvSpPr/>
          <p:nvPr/>
        </p:nvSpPr>
        <p:spPr>
          <a:xfrm>
            <a:off x="777240" y="4434840"/>
            <a:ext cx="10634472" cy="658368"/>
          </a:xfrm>
          <a:prstGeom prst="roundRect">
            <a:avLst>
              <a:gd name="adj" fmla="val 9722"/>
            </a:avLst>
          </a:prstGeom>
          <a:solidFill>
            <a:srgbClr val="222732"/>
          </a:solidFill>
          <a:ln w="12700">
            <a:solidFill>
              <a:srgbClr val="222732"/>
            </a:solidFill>
            <a:prstDash val="solid"/>
          </a:ln>
        </p:spPr>
      </p:sp>
      <p:sp>
        <p:nvSpPr>
          <p:cNvPr id="11" name="Text 9"/>
          <p:cNvSpPr/>
          <p:nvPr/>
        </p:nvSpPr>
        <p:spPr>
          <a:xfrm>
            <a:off x="1234440" y="445312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4     Create app, select the repository and the main file</a:t>
            </a:r>
            <a:endParaRPr lang="en-US" sz="1550" dirty="0"/>
          </a:p>
        </p:txBody>
      </p:sp>
      <p:sp>
        <p:nvSpPr>
          <p:cNvPr id="12" name="Shape 10"/>
          <p:cNvSpPr/>
          <p:nvPr/>
        </p:nvSpPr>
        <p:spPr>
          <a:xfrm>
            <a:off x="777240" y="5212080"/>
            <a:ext cx="10634472" cy="658368"/>
          </a:xfrm>
          <a:prstGeom prst="roundRect">
            <a:avLst>
              <a:gd name="adj" fmla="val 9722"/>
            </a:avLst>
          </a:prstGeom>
          <a:solidFill>
            <a:srgbClr val="222732"/>
          </a:solidFill>
          <a:ln w="12700">
            <a:solidFill>
              <a:srgbClr val="222732"/>
            </a:solidFill>
            <a:prstDash val="solid"/>
          </a:ln>
        </p:spPr>
      </p:sp>
      <p:sp>
        <p:nvSpPr>
          <p:cNvPr id="13" name="Text 11"/>
          <p:cNvSpPr/>
          <p:nvPr/>
        </p:nvSpPr>
        <p:spPr>
          <a:xfrm>
            <a:off x="1234440" y="5230368"/>
            <a:ext cx="100584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5     Deploy, and wait two to three minutes</a:t>
            </a:r>
            <a:endParaRPr lang="en-US" sz="1550" dirty="0"/>
          </a:p>
        </p:txBody>
      </p:sp>
      <p:sp>
        <p:nvSpPr>
          <p:cNvPr id="14" name="Text 12"/>
          <p:cNvSpPr/>
          <p:nvPr/>
        </p:nvSpPr>
        <p:spPr>
          <a:xfrm>
            <a:off x="777240" y="608076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The application is then live at an address ending in .streamlit.app</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2.5  ·  CONSTRAINTS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Limitations of the rapid path</a:t>
            </a:r>
            <a:endParaRPr lang="en-US" sz="3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5120640"/>
                <a:gridCol w="2651760"/>
                <a:gridCol w="2862072"/>
              </a:tblGrid>
              <a:tr h="548640">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Rapid path</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Full path (Part 3)</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Time to a public URL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about an hour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HTML or server code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some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person can use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A DEVICE can send readings to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A7D28"/>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Store results between visits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Another program can call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awkward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 it is an API</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Text 2"/>
          <p:cNvSpPr/>
          <p:nvPr/>
        </p:nvSpPr>
        <p:spPr>
          <a:xfrm>
            <a:off x="777240" y="5806440"/>
            <a:ext cx="10634472" cy="822960"/>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Both libraries generate a page for a person to complete. Neither exposes an address a microcontroller can submit data to.</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2.6</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Selecting a path</a:t>
            </a:r>
            <a:endParaRPr lang="en-US" sz="3100" dirty="0"/>
          </a:p>
        </p:txBody>
      </p:sp>
      <p:sp>
        <p:nvSpPr>
          <p:cNvPr id="4" name="Shape 2"/>
          <p:cNvSpPr/>
          <p:nvPr/>
        </p:nvSpPr>
        <p:spPr>
          <a:xfrm>
            <a:off x="777240" y="1737360"/>
            <a:ext cx="5257800" cy="3017520"/>
          </a:xfrm>
          <a:prstGeom prst="roundRect">
            <a:avLst>
              <a:gd name="adj" fmla="val 2727"/>
            </a:avLst>
          </a:prstGeom>
          <a:solidFill>
            <a:srgbClr val="EAF6F3"/>
          </a:solidFill>
          <a:ln w="12700">
            <a:solidFill>
              <a:srgbClr val="9CCFC6"/>
            </a:solidFill>
            <a:prstDash val="solid"/>
          </a:ln>
        </p:spPr>
      </p:sp>
      <p:sp>
        <p:nvSpPr>
          <p:cNvPr id="5" name="Text 3"/>
          <p:cNvSpPr/>
          <p:nvPr/>
        </p:nvSpPr>
        <p:spPr>
          <a:xfrm>
            <a:off x="1143000" y="1920240"/>
            <a:ext cx="45720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Use the rapid path when</a:t>
            </a:r>
            <a:endParaRPr lang="en-US" sz="1900" dirty="0"/>
          </a:p>
        </p:txBody>
      </p:sp>
      <p:sp>
        <p:nvSpPr>
          <p:cNvPr id="6" name="Text 4"/>
          <p:cNvSpPr/>
          <p:nvPr/>
        </p:nvSpPr>
        <p:spPr>
          <a:xfrm>
            <a:off x="114300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your project is a model, and people type inputs into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something online today</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are showing a capability, not running a system</a:t>
            </a:r>
            <a:endParaRPr lang="en-US" sz="1500" dirty="0"/>
          </a:p>
        </p:txBody>
      </p:sp>
      <p:sp>
        <p:nvSpPr>
          <p:cNvPr id="7" name="Shape 5"/>
          <p:cNvSpPr/>
          <p:nvPr/>
        </p:nvSpPr>
        <p:spPr>
          <a:xfrm>
            <a:off x="6309360" y="1737360"/>
            <a:ext cx="5257800" cy="3017520"/>
          </a:xfrm>
          <a:prstGeom prst="roundRect">
            <a:avLst>
              <a:gd name="adj" fmla="val 2727"/>
            </a:avLst>
          </a:prstGeom>
          <a:solidFill>
            <a:srgbClr val="EEF0FC"/>
          </a:solidFill>
          <a:ln w="12700">
            <a:solidFill>
              <a:srgbClr val="B6BAE8"/>
            </a:solidFill>
            <a:prstDash val="solid"/>
          </a:ln>
        </p:spPr>
      </p:sp>
      <p:sp>
        <p:nvSpPr>
          <p:cNvPr id="8" name="Text 6"/>
          <p:cNvSpPr/>
          <p:nvPr/>
        </p:nvSpPr>
        <p:spPr>
          <a:xfrm>
            <a:off x="6675120" y="1920240"/>
            <a:ext cx="45720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Use the full path when</a:t>
            </a:r>
            <a:endParaRPr lang="en-US" sz="1900" dirty="0"/>
          </a:p>
        </p:txBody>
      </p:sp>
      <p:sp>
        <p:nvSpPr>
          <p:cNvPr id="9" name="Text 7"/>
          <p:cNvSpPr/>
          <p:nvPr/>
        </p:nvSpPr>
        <p:spPr>
          <a:xfrm>
            <a:off x="667512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hardware sends data 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to store results</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another program needs to call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want control over the interface</a:t>
            </a:r>
            <a:endParaRPr lang="en-US" sz="1500" dirty="0"/>
          </a:p>
        </p:txBody>
      </p:sp>
      <p:sp>
        <p:nvSpPr>
          <p:cNvPr id="10" name="Text 8"/>
          <p:cNvSpPr/>
          <p:nvPr/>
        </p:nvSpPr>
        <p:spPr>
          <a:xfrm>
            <a:off x="777240" y="5029200"/>
            <a:ext cx="10634472" cy="82296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Many teams should implement both.</a:t>
            </a:r>
            <a:endParaRPr lang="en-US" sz="2200" dirty="0"/>
          </a:p>
        </p:txBody>
      </p:sp>
      <p:sp>
        <p:nvSpPr>
          <p:cNvPr id="11" name="Text 9"/>
          <p:cNvSpPr/>
          <p:nvPr/>
        </p:nvSpPr>
        <p:spPr>
          <a:xfrm>
            <a:off x="777240" y="5577840"/>
            <a:ext cx="10634472" cy="8229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The rapid path demonstrates the model in isolation. The full path is the prototype itself. They serve different purposes, and the first requires approximately twenty minutes.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3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INPUT VALIDATION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Submit a malformed request, from /docs</a:t>
            </a:r>
            <a:endParaRPr lang="en-US" sz="3100" dirty="0"/>
          </a:p>
        </p:txBody>
      </p:sp>
      <p:sp>
        <p:nvSpPr>
          <p:cNvPr id="4" name="Shape 2"/>
          <p:cNvSpPr/>
          <p:nvPr/>
        </p:nvSpPr>
        <p:spPr>
          <a:xfrm>
            <a:off x="777240" y="1737360"/>
            <a:ext cx="10634472" cy="1005840"/>
          </a:xfrm>
          <a:prstGeom prst="roundRect">
            <a:avLst>
              <a:gd name="adj" fmla="val 7273"/>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POST /readings   in the /docs page</a:t>
            </a:r>
            <a:endParaRPr lang="en-US" sz="1050" dirty="0"/>
          </a:p>
        </p:txBody>
      </p:sp>
      <p:sp>
        <p:nvSpPr>
          <p:cNvPr id="6" name="Text 4"/>
          <p:cNvSpPr/>
          <p:nvPr/>
        </p:nvSpPr>
        <p:spPr>
          <a:xfrm>
            <a:off x="1069848" y="2148840"/>
            <a:ext cx="10085832" cy="4572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7" name="Shape 5"/>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8" name="Text 6"/>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9" name="Text 7"/>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Incoming data must never be trusted.</a:t>
            </a:r>
            <a:endParaRPr lang="en-US" sz="2100" dirty="0"/>
          </a:p>
        </p:txBody>
      </p:sp>
      <p:sp>
        <p:nvSpPr>
          <p:cNvPr id="10" name="Text 8"/>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the address is public, arbitrary data can be submitted to it: a faulty sensor, an error in a colleague's code, or deliberate probing. Declaring the expected structure defends against all three, and it is obtained from a single class definition.</a:t>
            </a:r>
            <a:endParaRPr lang="en-US" sz="15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The web page cannot send this: its input is type=number. The /docs page bypasses the page entirely.</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Verifying persistence</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remain, and a file named readings.db has appeared in the project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For comparison: run Stage 3 and Stage 4 concurrently, restart both, and reload. Stage 3 is empty; Stage 4 is not.</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Immediate, without cost, and</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correct in every case.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Testable, and 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and not always correct.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produces a sentence an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engineer can act on.</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Assign each component the work it performs best.</a:t>
            </a:r>
            <a:endParaRPr lang="en-US" sz="2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One file, any provider</a:t>
            </a:r>
            <a:endParaRPr lang="en-US" sz="3100" dirty="0"/>
          </a:p>
        </p:txBody>
      </p:sp>
      <p:sp>
        <p:nvSpPr>
          <p:cNvPr id="4" name="Shape 2"/>
          <p:cNvSpPr/>
          <p:nvPr/>
        </p:nvSpPr>
        <p:spPr>
          <a:xfrm>
            <a:off x="777240" y="1691640"/>
            <a:ext cx="10634472" cy="4274820"/>
          </a:xfrm>
          <a:prstGeom prst="roundRect">
            <a:avLst>
              <a:gd name="adj" fmla="val 171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72618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PROVIDER = os.getenv("AI_PROVIDER", "mock").lower()</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Providers that speak the OpenAI protocol. Only the address and the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model name differ, which is why one function serves all of them.</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OPENAI_COMPATIBLE = {</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"openai":   ("https://api.openai.com/v1",   "OPENAI_API_KEY",   "gpt-4o-mini"),</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"deepseek": ("https://api.deepseek.com/v1", "DEEPSEEK_API_KEY", "deepseek-chat"),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"gemini":   (".../v1beta/openai/",          "GEMINI_API_KEY",   "gemini-2.0-flash"),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"groq":     ("https://api.groq.com/openai/v1", "GROQ_API_KEY",  "llama-3.3-70b"),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"ollama":   ("http://localhost:11434/v1",   "OLLAMA_API_KEY",   "llama3.2:3b"),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 "mock":      return 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 "anthropic": return _anthropic(...)</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if PROVIDER in OPENAI_COMPATIBLE: return _openai_compatible(...)</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points of note</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application currently runs on a single machine.</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free tier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4.5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4.9  ·  ANTICIPATED ISSUES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Behaviour to expect after deployment</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Each of these occurred during development of the application used in this session.</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5</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connect to what you have built.</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5.1  ·  DEVICE INTEGRATION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device sends the same request your page already sends</a:t>
            </a:r>
            <a:endParaRPr lang="en-US" sz="31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914400"/>
        </p:xfrm>
        <a:graphic>
          <a:graphicData uri="http://schemas.openxmlformats.org/drawingml/2006/table">
            <a:tbl>
              <a:tblPr/>
              <a:tblGrid>
                <a:gridCol w="4114800"/>
                <a:gridCol w="3931920"/>
                <a:gridCol w="2587752"/>
              </a:tblGrid>
              <a:tr h="713232">
                <a:tc>
                  <a:txBody>
                    <a:bodyPr/>
                    <a:lstStyle/>
                    <a:p>
                      <a:pPr indent="0" marL="0">
                        <a:buNone/>
                      </a:pPr>
                      <a:r>
                        <a:rPr lang="en-US" sz="1100" b="1" dirty="0">
                          <a:solidFill>
                            <a:srgbClr val="00776A"/>
                          </a:solidFill>
                          <a:latin typeface="Courier New" pitchFamily="34" charset="0"/>
                          <a:ea typeface="Courier New" pitchFamily="34" charset="-122"/>
                          <a:cs typeface="Courier New" pitchFamily="34" charset="-120"/>
                        </a:rPr>
                        <a:t>On an ESP32, in C++</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b="1" dirty="0">
                          <a:solidFill>
                            <a:srgbClr val="5158BE"/>
                          </a:solidFill>
                          <a:latin typeface="Courier New" pitchFamily="34" charset="0"/>
                          <a:ea typeface="Courier New" pitchFamily="34" charset="-122"/>
                          <a:cs typeface="Courier New" pitchFamily="34" charset="-120"/>
                        </a:rPr>
                        <a:t>In your web page</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b="1" dirty="0">
                          <a:solidFill>
                            <a:srgbClr val="15181F"/>
                          </a:solidFill>
                          <a:latin typeface="Courier New" pitchFamily="34" charset="0"/>
                          <a:ea typeface="Courier New" pitchFamily="34" charset="-122"/>
                          <a:cs typeface="Courier New" pitchFamily="34" charset="-120"/>
                        </a:rPr>
                        <a:t>What it does</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713232">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WiFiClientSecure client;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the browser does this</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establish HTTPS</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713232">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http.begin(client, ENDPOINT)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fetch(url, ...)</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the address</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713232">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http.addHeader(Content-Type)</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headers: Content-Type</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declare it as JSON</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713232">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String body = ...</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body: JSON.stringify(...)</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build the data</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713232">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http.POST(body)</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method: POST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100" dirty="0">
                          <a:solidFill>
                            <a:srgbClr val="15181F"/>
                          </a:solidFill>
                          <a:latin typeface="Courier New" pitchFamily="34" charset="0"/>
                          <a:ea typeface="Courier New" pitchFamily="34" charset="-122"/>
                          <a:cs typeface="Courier New" pitchFamily="34" charset="-120"/>
                        </a:rPr>
                        <a:t>send it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777240" y="5486400"/>
            <a:ext cx="10634472" cy="1005840"/>
          </a:xfrm>
          <a:prstGeom prst="roundRect">
            <a:avLst>
              <a:gd name="adj" fmla="val 8182"/>
            </a:avLst>
          </a:prstGeom>
          <a:solidFill>
            <a:srgbClr val="EAF6F3"/>
          </a:solidFill>
          <a:ln w="12700">
            <a:solidFill>
              <a:srgbClr val="9CCFC6"/>
            </a:solidFill>
            <a:prstDash val="solid"/>
          </a:ln>
        </p:spPr>
      </p:sp>
      <p:sp>
        <p:nvSpPr>
          <p:cNvPr id="6" name="Text 3"/>
          <p:cNvSpPr/>
          <p:nvPr/>
        </p:nvSpPr>
        <p:spPr>
          <a:xfrm>
            <a:off x="1143000" y="5577840"/>
            <a:ext cx="10241280" cy="82296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Identical request. No change to your server. The C++ is longer only because a microcontroller has no JSON library, so the text is assembled by hand.</a:t>
            </a:r>
            <a:endParaRPr lang="en-US" sz="15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5.2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5.3 - 5.7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Transferable principles</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These are the principles beneath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these is specific to FastAPI, to Render, or to this application.</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github.com/Shamsu3100/demon-</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2026-08-27T13:52:19Z</dcterms:created>
  <dcterms:modified xsi:type="dcterms:W3CDTF">2026-08-27T13:52:19Z</dcterms:modified>
</cp:coreProperties>
</file>